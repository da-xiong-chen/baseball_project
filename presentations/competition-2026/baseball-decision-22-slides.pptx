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75" r:id="rId26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7" r:id="rId28"/>
    <p:sldId id="276" r:id="rId27"/>
    <p:sldId id="274" r:id="rId25"/>
  </p:sldIdLst>
  <p:sldSz cx="12192000" cy="6858000" type="screen16x9"/>
  <p:notesSz cx="6858000" cy="9144000"/>
  <p:defaultTextStyle>
    <a:defPPr>
      <a:defRPr lang="zh-TW"/>
    </a:defPPr>
    <a:lvl1pPr marL="0" algn="l" defTabSz="457200" rtl="0" eaLnBrk="1" latinLnBrk="0" hangingPunct="1">
      <a:defRPr sz="1800" kern="1200" lang="zh-TW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TW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TW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TW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TW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TW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TW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TW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TW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2.xml"/><Relationship Id="rId26" Type="http://schemas.openxmlformats.org/officeDocument/2006/relationships/slide" Target="slides/slide9.xml"/><Relationship Id="rId27" Type="http://schemas.openxmlformats.org/officeDocument/2006/relationships/slide" Target="slides/slide21.xml"/><Relationship Id="rId28" Type="http://schemas.openxmlformats.org/officeDocument/2006/relationships/slide" Target="slides/slide20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baseball_competition_polished19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TW" smtClean="0"/>
              <a:t>1/27/13</a:t>
            </a:fld>
            <a:endParaRPr lang="zh-TW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TW" smtClean="0"/>
              <a:t>‹#›</a:t>
            </a:fld>
            <a:endParaRPr lang="zh-TW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baseball_competition_polished19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TW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TW" smtClean="0"/>
              <a:t>1/27/13</a:t>
            </a:fld>
            <a:endParaRPr lang="zh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TW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TW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TW" smtClean="0"/>
              <a:t>‹#›</a:t>
            </a:fld>
            <a:endParaRPr 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300" kern="1200" lang="zh-TW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100" kern="1200" lang="zh-TW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950" kern="1200" lang="zh-TW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850" kern="1200" lang="zh-TW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700" kern="1200" lang="zh-TW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600" kern="1200" lang="zh-TW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450" kern="1200" lang="zh-TW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300" kern="1200" lang="zh-TW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 lang="zh-TW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 lang="zh-TW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457200" rtl="0" eaLnBrk="1" latinLnBrk="0" hangingPunct="1">
        <a:defRPr sz="2100" kern="1200" lang="zh-TW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950" kern="1200" lang="zh-TW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50" kern="1200" lang="zh-TW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700" kern="1200" lang="zh-TW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600" kern="1200" lang="zh-TW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450" kern="1200" lang="zh-TW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300" kern="1200" lang="zh-TW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200" kern="1200" lang="zh-TW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050" kern="1200" lang="zh-TW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_e281946dee02391a.png"/><Relationship Id="rId3" Type="http://schemas.openxmlformats.org/officeDocument/2006/relationships/hyperlink" Target="https://da-xiong-chen.github.io/baseball_project/" TargetMode="External"/><Relationship Id="rId4" Type="http://schemas.openxmlformats.org/officeDocument/2006/relationships/hyperlink" Target="https://github.com/Da-Xiong-Chen/baseball_project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6.xml"/><Relationship Id="rId4" Type="http://schemas.openxmlformats.org/officeDocument/2006/relationships/slide" Target="slide10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_001c33347c23998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_001c33347c23998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ebas-tw/rebas.tw-open-data" TargetMode="External"/><Relationship Id="rId3" Type="http://schemas.openxmlformats.org/officeDocument/2006/relationships/hyperlink" Target="https://github.com/ldkrsi/cpbl-opendata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_001c33347c23998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_0ae6de2bd5180305.jpg"/><Relationship Id="rId3" Type="http://schemas.microsoft.com/office/2007/relationships/media" Target="../media/media1.mp4"/><Relationship Id="rId4" Type="http://schemas.openxmlformats.org/officeDocument/2006/relationships/video" Target="../media/media1.mp4"/><Relationship Id="rId5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_1cd136df4f4abfb0.jpg"/><Relationship Id="rId3" Type="http://schemas.openxmlformats.org/officeDocument/2006/relationships/image" Target="../media/image_2a0683c262ba5e3f.jpg"/><Relationship Id="rId4" Type="http://schemas.openxmlformats.org/officeDocument/2006/relationships/image" Target="../media/image_ccaac0f82facf0e9.jp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_fde741cb0cf6af4b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_9aa79764314f600d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_8e462619b9e79f8e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_e915bc76cc43f753.jpg"/><Relationship Id="rId3" Type="http://schemas.openxmlformats.org/officeDocument/2006/relationships/image" Target="../media/image_31962202b34f4cda.jpg"/><Relationship Id="rId4" Type="http://schemas.openxmlformats.org/officeDocument/2006/relationships/image" Target="../media/image_58598c2162cbc342.jp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_ea2b3a54fef83679.jpg"/><Relationship Id="rId3" Type="http://schemas.openxmlformats.org/officeDocument/2006/relationships/image" Target="../media/image_f686771611030518.jpg"/><Relationship Id="rId4" Type="http://schemas.openxmlformats.org/officeDocument/2006/relationships/image" Target="../media/image_f781bcb7ad584fa6.jpg"/><Relationship Id="rId5" Type="http://schemas.openxmlformats.org/officeDocument/2006/relationships/image" Target="../media/image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_44de3d25c6c01d2f.png"/><Relationship Id="rId3" Type="http://schemas.openxmlformats.org/officeDocument/2006/relationships/hyperlink" Target="https://da-xiong-chen.github.io/baseball_project/" TargetMode="External"/><Relationship Id="rId4" Type="http://schemas.openxmlformats.org/officeDocument/2006/relationships/hyperlink" Target="https://github.com/Da-Xiong-Chen/baseball_projec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eam"/>
          <p:cNvGrpSpPr/>
          <p:nvPr/>
        </p:nvGrpSpPr>
        <p:grpSpPr>
          <a:xfrm>
            <a:off x="592836" y="488950"/>
            <a:ext cx="3468053" cy="1021207"/>
            <a:chOff x="592836" y="488950"/>
            <a:chExt cx="3468053" cy="1021207"/>
          </a:xfrm>
        </p:grpSpPr>
        <p:sp>
          <p:nvSpPr>
            <p:cNvPr id="2" name="TextBox 2"/>
            <p:cNvSpPr txBox="1"/>
            <p:nvPr/>
          </p:nvSpPr>
          <p:spPr>
            <a:xfrm>
              <a:off x="592836" y="488950"/>
              <a:ext cx="92202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隊名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01218" y="1187450"/>
              <a:ext cx="34596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6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2026 野革盃　台灣棒球數據黑客松</a:t>
              </a:r>
            </a:p>
          </p:txBody>
        </p:sp>
      </p:grpSp>
      <p:grpSp>
        <p:nvGrpSpPr>
          <p:cNvPr id="7" name="hero"/>
          <p:cNvGrpSpPr/>
          <p:nvPr/>
        </p:nvGrpSpPr>
        <p:grpSpPr>
          <a:xfrm>
            <a:off x="590550" y="1930400"/>
            <a:ext cx="5561838" cy="1542542"/>
            <a:chOff x="590550" y="1930400"/>
            <a:chExt cx="5561838" cy="1542542"/>
          </a:xfrm>
        </p:grpSpPr>
        <p:sp>
          <p:nvSpPr>
            <p:cNvPr id="5" name="TextBox 5"/>
            <p:cNvSpPr txBox="1"/>
            <p:nvPr/>
          </p:nvSpPr>
          <p:spPr>
            <a:xfrm>
              <a:off x="590550" y="1930400"/>
              <a:ext cx="4642104" cy="1104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57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臨場用人決策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35508" y="3003550"/>
              <a:ext cx="551688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20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以公開中職資料，比較代打與換投人選</a:t>
              </a:r>
            </a:p>
          </p:txBody>
        </p:sp>
      </p:grpSp>
      <p:grpSp>
        <p:nvGrpSpPr>
          <p:cNvPr id="9" name="baseball"/>
          <p:cNvGrpSpPr/>
          <p:nvPr/>
        </p:nvGrpSpPr>
        <p:grpSpPr>
          <a:xfrm>
            <a:off x="8001000" y="1714500"/>
            <a:ext cx="3905250" cy="3905250"/>
            <a:chOff x="8001000" y="1714500"/>
            <a:chExt cx="3905250" cy="3905250"/>
          </a:xfrm>
        </p:grpSpPr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001000" y="1714500"/>
              <a:ext cx="3905250" cy="3905250"/>
            </a:xfrm>
            <a:prstGeom prst="rect">
              <a:avLst/>
            </a:prstGeom>
          </p:spPr>
        </p:pic>
      </p:grpSp>
      <p:grpSp>
        <p:nvGrpSpPr>
          <p:cNvPr id="12" name="promise"/>
          <p:cNvGrpSpPr/>
          <p:nvPr/>
        </p:nvGrpSpPr>
        <p:grpSpPr>
          <a:xfrm>
            <a:off x="592836" y="3860800"/>
            <a:ext cx="5364480" cy="1191768"/>
            <a:chOff x="592836" y="3860800"/>
            <a:chExt cx="5364480" cy="1191768"/>
          </a:xfrm>
        </p:grpSpPr>
        <p:sp>
          <p:nvSpPr>
            <p:cNvPr id="10" name="TextBox 10"/>
            <p:cNvSpPr txBox="1"/>
            <p:nvPr/>
          </p:nvSpPr>
          <p:spPr>
            <a:xfrm>
              <a:off x="592836" y="3860800"/>
              <a:ext cx="53644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差多少？誰接守？憑什麼？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98932" y="4641850"/>
              <a:ext cx="284835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參賽者　蘇櫟、陳信安</a:t>
              </a:r>
            </a:p>
          </p:txBody>
        </p:sp>
      </p:grpSp>
      <p:grpSp>
        <p:nvGrpSpPr>
          <p:cNvPr id="15" name="links"/>
          <p:cNvGrpSpPr/>
          <p:nvPr/>
        </p:nvGrpSpPr>
        <p:grpSpPr>
          <a:xfrm>
            <a:off x="597408" y="5422900"/>
            <a:ext cx="5732953" cy="469392"/>
            <a:chOff x="597408" y="5422900"/>
            <a:chExt cx="5732953" cy="469392"/>
          </a:xfrm>
        </p:grpSpPr>
        <p:sp>
          <p:nvSpPr>
            <p:cNvPr id="13" name="TextBox 13">
              <a:hlinkClick r:id="rId3"/>
            </p:cNvPr>
            <p:cNvSpPr txBox="1"/>
            <p:nvPr/>
          </p:nvSpPr>
          <p:spPr>
            <a:xfrm>
              <a:off x="597408" y="5422900"/>
              <a:ext cx="224565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20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開啟網站 Demo</a:t>
              </a:r>
            </a:p>
          </p:txBody>
        </p:sp>
        <p:sp>
          <p:nvSpPr>
            <p:cNvPr id="14" name="TextBox 14">
              <a:hlinkClick r:id="rId4"/>
            </p:cNvPr>
            <p:cNvSpPr txBox="1"/>
            <p:nvPr/>
          </p:nvSpPr>
          <p:spPr>
            <a:xfrm>
              <a:off x="4178808" y="5422900"/>
              <a:ext cx="215155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20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GitHub 原始碼</a:t>
              </a: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1375631" y="6445250"/>
            <a:ext cx="2136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TW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chapter-kicker"/>
          <p:cNvGrpSpPr/>
          <p:nvPr/>
        </p:nvGrpSpPr>
        <p:grpSpPr>
          <a:xfrm>
            <a:off x="602742" y="177800"/>
            <a:ext cx="1921955" cy="264033"/>
            <a:chOff x="602742" y="177800"/>
            <a:chExt cx="1921955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177800"/>
              <a:ext cx="19219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6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2026 野革盃　簡報目錄</a:t>
              </a:r>
            </a:p>
          </p:txBody>
        </p:sp>
      </p:grpSp>
      <p:grpSp>
        <p:nvGrpSpPr>
          <p:cNvPr id="5" name="title"/>
          <p:cNvGrpSpPr/>
          <p:nvPr/>
        </p:nvGrpSpPr>
        <p:grpSpPr>
          <a:xfrm>
            <a:off x="592836" y="546100"/>
            <a:ext cx="4475988" cy="645414"/>
            <a:chOff x="592836" y="546100"/>
            <a:chExt cx="4475988" cy="645414"/>
          </a:xfrm>
        </p:grpSpPr>
        <p:sp>
          <p:nvSpPr>
            <p:cNvPr id="4" name="TextBox 4"/>
            <p:cNvSpPr txBox="1"/>
            <p:nvPr/>
          </p:nvSpPr>
          <p:spPr>
            <a:xfrm>
              <a:off x="592836" y="546100"/>
              <a:ext cx="447598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從臨場難題到網站實作</a:t>
              </a:r>
            </a:p>
          </p:txBody>
        </p:sp>
      </p:grpSp>
      <p:grpSp>
        <p:nvGrpSpPr>
          <p:cNvPr id="10" name="part-one"/>
          <p:cNvGrpSpPr/>
          <p:nvPr/>
        </p:nvGrpSpPr>
        <p:grpSpPr>
          <a:xfrm>
            <a:off x="590550" y="1682750"/>
            <a:ext cx="5854446" cy="1121918"/>
            <a:chOff x="590550" y="1682750"/>
            <a:chExt cx="5854446" cy="1121918"/>
          </a:xfrm>
        </p:grpSpPr>
        <p:sp>
          <p:nvSpPr>
            <p:cNvPr id="7" name="TextBox 7">
              <a:hlinkClick r:id="rId2" action="ppaction://hlinksldjump"/>
            </p:cNvPr>
            <p:cNvSpPr txBox="1"/>
            <p:nvPr/>
          </p:nvSpPr>
          <p:spPr>
            <a:xfrm>
              <a:off x="590550" y="1682750"/>
              <a:ext cx="882167" cy="1104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57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>
              <a:hlinkClick r:id="rId2" action="ppaction://hlinksldjump"/>
            </p:cNvPr>
            <p:cNvSpPr txBox="1"/>
            <p:nvPr/>
          </p:nvSpPr>
          <p:spPr>
            <a:xfrm>
              <a:off x="2464308" y="1917700"/>
              <a:ext cx="163982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2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問題與需求</a:t>
              </a:r>
            </a:p>
          </p:txBody>
        </p:sp>
        <p:sp>
          <p:nvSpPr>
            <p:cNvPr id="9" name="TextBox 9">
              <a:hlinkClick r:id="rId2" action="ppaction://hlinksldjump"/>
            </p:cNvPr>
            <p:cNvSpPr txBox="1"/>
            <p:nvPr/>
          </p:nvSpPr>
          <p:spPr>
            <a:xfrm>
              <a:off x="2465832" y="2393950"/>
              <a:ext cx="397916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換人之前，需要比較哪些條件？</a:t>
              </a:r>
            </a:p>
          </p:txBody>
        </p:sp>
      </p:grpSp>
      <p:grpSp>
        <p:nvGrpSpPr>
          <p:cNvPr id="14" name="part-two"/>
          <p:cNvGrpSpPr/>
          <p:nvPr/>
        </p:nvGrpSpPr>
        <p:grpSpPr>
          <a:xfrm>
            <a:off x="590550" y="3130550"/>
            <a:ext cx="5854446" cy="1121918"/>
            <a:chOff x="590550" y="3130550"/>
            <a:chExt cx="5854446" cy="1121918"/>
          </a:xfrm>
        </p:grpSpPr>
        <p:sp>
          <p:nvSpPr>
            <p:cNvPr id="11" name="TextBox 11">
              <a:hlinkClick r:id="rId3" action="ppaction://hlinksldjump"/>
            </p:cNvPr>
            <p:cNvSpPr txBox="1"/>
            <p:nvPr/>
          </p:nvSpPr>
          <p:spPr>
            <a:xfrm>
              <a:off x="590550" y="3130550"/>
              <a:ext cx="882167" cy="1104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57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>
              <a:hlinkClick r:id="rId3" action="ppaction://hlinksldjump"/>
            </p:cNvPr>
            <p:cNvSpPr txBox="1"/>
            <p:nvPr/>
          </p:nvSpPr>
          <p:spPr>
            <a:xfrm>
              <a:off x="2464308" y="3365500"/>
              <a:ext cx="163982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2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資料與解法</a:t>
              </a:r>
            </a:p>
          </p:txBody>
        </p:sp>
        <p:sp>
          <p:nvSpPr>
            <p:cNvPr id="13" name="TextBox 13">
              <a:hlinkClick r:id="rId3" action="ppaction://hlinksldjump"/>
            </p:cNvPr>
            <p:cNvSpPr txBox="1"/>
            <p:nvPr/>
          </p:nvSpPr>
          <p:spPr>
            <a:xfrm>
              <a:off x="2465832" y="3841750"/>
              <a:ext cx="397916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如何估計人選差距，並回測驗證？</a:t>
              </a:r>
            </a:p>
          </p:txBody>
        </p:sp>
      </p:grpSp>
      <p:grpSp>
        <p:nvGrpSpPr>
          <p:cNvPr id="18" name="part-three"/>
          <p:cNvGrpSpPr/>
          <p:nvPr/>
        </p:nvGrpSpPr>
        <p:grpSpPr>
          <a:xfrm>
            <a:off x="590550" y="4578350"/>
            <a:ext cx="7374636" cy="1121918"/>
            <a:chOff x="590550" y="4578350"/>
            <a:chExt cx="7374636" cy="1121918"/>
          </a:xfrm>
        </p:grpSpPr>
        <p:sp>
          <p:nvSpPr>
            <p:cNvPr id="15" name="TextBox 15">
              <a:hlinkClick r:id="rId4" action="ppaction://hlinksldjump"/>
            </p:cNvPr>
            <p:cNvSpPr txBox="1"/>
            <p:nvPr/>
          </p:nvSpPr>
          <p:spPr>
            <a:xfrm>
              <a:off x="590550" y="4578350"/>
              <a:ext cx="882167" cy="1104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57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>
              <a:hlinkClick r:id="rId4" action="ppaction://hlinksldjump"/>
            </p:cNvPr>
            <p:cNvSpPr txBox="1"/>
            <p:nvPr/>
          </p:nvSpPr>
          <p:spPr>
            <a:xfrm>
              <a:off x="2464308" y="4813300"/>
              <a:ext cx="293217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2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網站成果與決策體驗</a:t>
              </a:r>
            </a:p>
          </p:txBody>
        </p:sp>
        <p:sp>
          <p:nvSpPr>
            <p:cNvPr id="17" name="TextBox 17">
              <a:hlinkClick r:id="rId4" action="ppaction://hlinksldjump"/>
            </p:cNvPr>
            <p:cNvSpPr txBox="1"/>
            <p:nvPr/>
          </p:nvSpPr>
          <p:spPr>
            <a:xfrm>
              <a:off x="2465832" y="5289550"/>
              <a:ext cx="549935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操作實錄　／　案例判讀　／　UI／UX 設計　／　未來規劃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1375631" y="6445250"/>
            <a:ext cx="2136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TW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number"/>
          <p:cNvGrpSpPr/>
          <p:nvPr/>
        </p:nvGrpSpPr>
        <p:grpSpPr>
          <a:xfrm>
            <a:off x="590550" y="1714500"/>
            <a:ext cx="1520638" cy="1905000"/>
            <a:chOff x="590550" y="1714500"/>
            <a:chExt cx="1520638" cy="1905000"/>
          </a:xfrm>
        </p:grpSpPr>
        <p:sp>
          <p:nvSpPr>
            <p:cNvPr id="2" name="TextBox 2"/>
            <p:cNvSpPr txBox="1"/>
            <p:nvPr/>
          </p:nvSpPr>
          <p:spPr>
            <a:xfrm>
              <a:off x="590550" y="1714500"/>
              <a:ext cx="1520638" cy="1905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99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6" name="chapter-heading"/>
          <p:cNvGrpSpPr/>
          <p:nvPr/>
        </p:nvGrpSpPr>
        <p:grpSpPr>
          <a:xfrm>
            <a:off x="3336036" y="1739900"/>
            <a:ext cx="6252972" cy="1204214"/>
            <a:chOff x="3336036" y="1739900"/>
            <a:chExt cx="6252972" cy="1204214"/>
          </a:xfrm>
        </p:grpSpPr>
        <p:sp>
          <p:nvSpPr>
            <p:cNvPr id="4" name="TextBox 4"/>
            <p:cNvSpPr txBox="1"/>
            <p:nvPr/>
          </p:nvSpPr>
          <p:spPr>
            <a:xfrm>
              <a:off x="3344418" y="1739900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6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問題與需求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3336036" y="2298700"/>
              <a:ext cx="625297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關鍵打席，換人要看哪些條件？</a:t>
              </a:r>
            </a:p>
          </p:txBody>
        </p:sp>
      </p:grpSp>
      <p:grpSp>
        <p:nvGrpSpPr>
          <p:cNvPr id="9" name="chapter-summary"/>
          <p:cNvGrpSpPr/>
          <p:nvPr/>
        </p:nvGrpSpPr>
        <p:grpSpPr>
          <a:xfrm>
            <a:off x="3340608" y="3784600"/>
            <a:ext cx="4547616" cy="1211707"/>
            <a:chOff x="3340608" y="3784600"/>
            <a:chExt cx="4547616" cy="1211707"/>
          </a:xfrm>
        </p:grpSpPr>
        <p:sp>
          <p:nvSpPr>
            <p:cNvPr id="7" name="TextBox 7"/>
            <p:cNvSpPr txBox="1"/>
            <p:nvPr/>
          </p:nvSpPr>
          <p:spPr>
            <a:xfrm>
              <a:off x="3340608" y="3784600"/>
              <a:ext cx="454761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20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優勢、守備與板凳資源一起看。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3344418" y="4673600"/>
              <a:ext cx="31264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6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從一個關鍵打席，理解換人需求</a:t>
              </a:r>
            </a:p>
          </p:txBody>
        </p:sp>
      </p:grpSp>
      <p:grpSp>
        <p:nvGrpSpPr>
          <p:cNvPr id="11" name="baseball"/>
          <p:cNvGrpSpPr/>
          <p:nvPr/>
        </p:nvGrpSpPr>
        <p:grpSpPr>
          <a:xfrm>
            <a:off x="9048750" y="4000500"/>
            <a:ext cx="2190750" cy="2190750"/>
            <a:chOff x="9048750" y="4000500"/>
            <a:chExt cx="2190750" cy="2190750"/>
          </a:xfrm>
        </p:grpSpPr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048750" y="4000500"/>
              <a:ext cx="2190750" cy="2190750"/>
            </a:xfrm>
            <a:prstGeom prst="rect">
              <a:avLst/>
            </a:prstGeom>
          </p:spPr>
        </p:pic>
      </p:grpSp>
      <p:sp>
        <p:nvSpPr>
          <p:cNvPr id="12" name="TextBox 12"/>
          <p:cNvSpPr txBox="1"/>
          <p:nvPr/>
        </p:nvSpPr>
        <p:spPr>
          <a:xfrm>
            <a:off x="11375631" y="6445250"/>
            <a:ext cx="2136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TW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chapter-kicker"/>
          <p:cNvGrpSpPr/>
          <p:nvPr/>
        </p:nvGrpSpPr>
        <p:grpSpPr>
          <a:xfrm>
            <a:off x="602742" y="177800"/>
            <a:ext cx="1304049" cy="264033"/>
            <a:chOff x="602742" y="177800"/>
            <a:chExt cx="1304049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177800"/>
              <a:ext cx="13040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6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　問題與需求</a:t>
              </a:r>
            </a:p>
          </p:txBody>
        </p:sp>
      </p:grpSp>
      <p:grpSp>
        <p:nvGrpSpPr>
          <p:cNvPr id="5" name="title"/>
          <p:cNvGrpSpPr/>
          <p:nvPr/>
        </p:nvGrpSpPr>
        <p:grpSpPr>
          <a:xfrm>
            <a:off x="592836" y="546100"/>
            <a:ext cx="5808726" cy="645414"/>
            <a:chOff x="592836" y="546100"/>
            <a:chExt cx="5808726" cy="645414"/>
          </a:xfrm>
        </p:grpSpPr>
        <p:sp>
          <p:nvSpPr>
            <p:cNvPr id="4" name="TextBox 4"/>
            <p:cNvSpPr txBox="1"/>
            <p:nvPr/>
          </p:nvSpPr>
          <p:spPr>
            <a:xfrm>
              <a:off x="592836" y="546100"/>
              <a:ext cx="580872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八局落後一分，現在該換代打嗎？</a:t>
              </a:r>
            </a:p>
          </p:txBody>
        </p:sp>
      </p:grpSp>
      <p:grpSp>
        <p:nvGrpSpPr>
          <p:cNvPr id="9" name="scenario"/>
          <p:cNvGrpSpPr/>
          <p:nvPr/>
        </p:nvGrpSpPr>
        <p:grpSpPr>
          <a:xfrm>
            <a:off x="590550" y="1587500"/>
            <a:ext cx="4837774" cy="1350518"/>
            <a:chOff x="590550" y="1587500"/>
            <a:chExt cx="4837774" cy="1350518"/>
          </a:xfrm>
        </p:grpSpPr>
        <p:sp>
          <p:nvSpPr>
            <p:cNvPr id="7" name="TextBox 7"/>
            <p:cNvSpPr txBox="1"/>
            <p:nvPr/>
          </p:nvSpPr>
          <p:spPr>
            <a:xfrm>
              <a:off x="590550" y="1587500"/>
              <a:ext cx="4837774" cy="1104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57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8 局上　1 : 2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37032" y="2527300"/>
              <a:ext cx="397916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一出局　二壘有人　統一落後 1 分</a:t>
              </a:r>
            </a:p>
          </p:txBody>
        </p:sp>
      </p:grpSp>
      <p:grpSp>
        <p:nvGrpSpPr>
          <p:cNvPr id="11" name="scenario-label"/>
          <p:cNvGrpSpPr/>
          <p:nvPr/>
        </p:nvGrpSpPr>
        <p:grpSpPr>
          <a:xfrm>
            <a:off x="10241280" y="2063750"/>
            <a:ext cx="1349502" cy="322707"/>
            <a:chOff x="10241280" y="2063750"/>
            <a:chExt cx="1349502" cy="322707"/>
          </a:xfrm>
        </p:grpSpPr>
        <p:sp>
          <p:nvSpPr>
            <p:cNvPr id="10" name="TextBox 10"/>
            <p:cNvSpPr txBox="1"/>
            <p:nvPr/>
          </p:nvSpPr>
          <p:spPr>
            <a:xfrm>
              <a:off x="10241280" y="2063750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>
                <a:lnSpc>
                  <a:spcPct val="150000"/>
                </a:lnSpc>
              </a:pPr>
              <a:r>
                <a:rPr lang="zh-TW" sz="16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自訂示範情境</a:t>
              </a:r>
            </a:p>
          </p:txBody>
        </p:sp>
      </p:grpSp>
      <p:grpSp>
        <p:nvGrpSpPr>
          <p:cNvPr id="14" name="keep"/>
          <p:cNvGrpSpPr/>
          <p:nvPr/>
        </p:nvGrpSpPr>
        <p:grpSpPr>
          <a:xfrm>
            <a:off x="597408" y="3556000"/>
            <a:ext cx="3132582" cy="1001268"/>
            <a:chOff x="597408" y="3556000"/>
            <a:chExt cx="3132582" cy="1001268"/>
          </a:xfrm>
        </p:grpSpPr>
        <p:sp>
          <p:nvSpPr>
            <p:cNvPr id="12" name="TextBox 12"/>
            <p:cNvSpPr txBox="1"/>
            <p:nvPr/>
          </p:nvSpPr>
          <p:spPr>
            <a:xfrm>
              <a:off x="597408" y="3556000"/>
              <a:ext cx="196291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2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讓林佳緯續打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98932" y="4146550"/>
              <a:ext cx="313105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左打對上富邦左投魔力藍</a:t>
              </a:r>
            </a:p>
          </p:txBody>
        </p:sp>
      </p:grpSp>
      <p:grpSp>
        <p:nvGrpSpPr>
          <p:cNvPr id="17" name="replace"/>
          <p:cNvGrpSpPr/>
          <p:nvPr/>
        </p:nvGrpSpPr>
        <p:grpSpPr>
          <a:xfrm>
            <a:off x="6388608" y="3556000"/>
            <a:ext cx="3697986" cy="1001268"/>
            <a:chOff x="6388608" y="3556000"/>
            <a:chExt cx="3697986" cy="1001268"/>
          </a:xfrm>
        </p:grpSpPr>
        <p:sp>
          <p:nvSpPr>
            <p:cNvPr id="15" name="TextBox 15"/>
            <p:cNvSpPr txBox="1"/>
            <p:nvPr/>
          </p:nvSpPr>
          <p:spPr>
            <a:xfrm>
              <a:off x="6388608" y="3556000"/>
              <a:ext cx="163982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2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派代打上場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390132" y="4146550"/>
              <a:ext cx="369646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右打胡金龍，優勢有多大？</a:t>
              </a:r>
            </a:p>
          </p:txBody>
        </p:sp>
      </p:grpSp>
      <p:grpSp>
        <p:nvGrpSpPr>
          <p:cNvPr id="19" name="takeaway"/>
          <p:cNvGrpSpPr/>
          <p:nvPr/>
        </p:nvGrpSpPr>
        <p:grpSpPr>
          <a:xfrm>
            <a:off x="597408" y="5518150"/>
            <a:ext cx="6809232" cy="469392"/>
            <a:chOff x="597408" y="5518150"/>
            <a:chExt cx="6809232" cy="469392"/>
          </a:xfrm>
        </p:grpSpPr>
        <p:sp>
          <p:nvSpPr>
            <p:cNvPr id="18" name="TextBox 18"/>
            <p:cNvSpPr txBox="1"/>
            <p:nvPr/>
          </p:nvSpPr>
          <p:spPr>
            <a:xfrm>
              <a:off x="597408" y="5518150"/>
              <a:ext cx="680923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20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代打優勢，要連同局勢與守備安排一起評估。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1375631" y="6445250"/>
            <a:ext cx="2136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TW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chapter-kicker"/>
          <p:cNvGrpSpPr/>
          <p:nvPr/>
        </p:nvGrpSpPr>
        <p:grpSpPr>
          <a:xfrm>
            <a:off x="602742" y="177800"/>
            <a:ext cx="1304049" cy="264033"/>
            <a:chOff x="602742" y="177800"/>
            <a:chExt cx="1304049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177800"/>
              <a:ext cx="13040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6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　問題與需求</a:t>
              </a:r>
            </a:p>
          </p:txBody>
        </p:sp>
      </p:grpSp>
      <p:grpSp>
        <p:nvGrpSpPr>
          <p:cNvPr id="5" name="title"/>
          <p:cNvGrpSpPr/>
          <p:nvPr/>
        </p:nvGrpSpPr>
        <p:grpSpPr>
          <a:xfrm>
            <a:off x="592836" y="546100"/>
            <a:ext cx="4475988" cy="645414"/>
            <a:chOff x="592836" y="546100"/>
            <a:chExt cx="4475988" cy="645414"/>
          </a:xfrm>
        </p:grpSpPr>
        <p:sp>
          <p:nvSpPr>
            <p:cNvPr id="4" name="TextBox 4"/>
            <p:cNvSpPr txBox="1"/>
            <p:nvPr/>
          </p:nvSpPr>
          <p:spPr>
            <a:xfrm>
              <a:off x="592836" y="546100"/>
              <a:ext cx="447598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讓換人討論有共同依據</a:t>
              </a:r>
            </a:p>
          </p:txBody>
        </p:sp>
      </p:grpSp>
      <p:grpSp>
        <p:nvGrpSpPr>
          <p:cNvPr id="11" name="audience"/>
          <p:cNvGrpSpPr/>
          <p:nvPr/>
        </p:nvGrpSpPr>
        <p:grpSpPr>
          <a:xfrm>
            <a:off x="592836" y="1854200"/>
            <a:ext cx="2912745" cy="3599307"/>
            <a:chOff x="592836" y="1854200"/>
            <a:chExt cx="2912745" cy="3599307"/>
          </a:xfrm>
        </p:grpSpPr>
        <p:sp>
          <p:nvSpPr>
            <p:cNvPr id="7" name="TextBox 7"/>
            <p:cNvSpPr txBox="1"/>
            <p:nvPr/>
          </p:nvSpPr>
          <p:spPr>
            <a:xfrm>
              <a:off x="601218" y="1854200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6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主要使用者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92836" y="2286000"/>
              <a:ext cx="2548128" cy="11978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4350"/>
                </a:lnSpc>
              </a:pPr>
              <a:r>
                <a:rPr lang="zh-TW" sz="3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球隊分析人員</a:t>
              </a:r>
              <a:br>
                <a:rPr lang="zh-TW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</a:br>
              <a:r>
                <a:rPr lang="zh-TW" sz="3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與教練團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98932" y="3695700"/>
              <a:ext cx="2421636" cy="8107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使用情境：備戰模擬、</a:t>
              </a:r>
              <a:br>
                <a:rPr lang="zh-TW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賽後檢討與調度討論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01218" y="5130800"/>
              <a:ext cx="290436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6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延伸：進階球迷與棒球解說者</a:t>
              </a:r>
            </a:p>
          </p:txBody>
        </p:sp>
      </p:grpSp>
      <p:grpSp>
        <p:nvGrpSpPr>
          <p:cNvPr id="18" name="questions"/>
          <p:cNvGrpSpPr/>
          <p:nvPr/>
        </p:nvGrpSpPr>
        <p:grpSpPr>
          <a:xfrm>
            <a:off x="6079236" y="1765300"/>
            <a:ext cx="3356991" cy="4031107"/>
            <a:chOff x="6079236" y="1765300"/>
            <a:chExt cx="3356991" cy="4031107"/>
          </a:xfrm>
        </p:grpSpPr>
        <p:sp>
          <p:nvSpPr>
            <p:cNvPr id="12" name="TextBox 12"/>
            <p:cNvSpPr txBox="1"/>
            <p:nvPr/>
          </p:nvSpPr>
          <p:spPr>
            <a:xfrm>
              <a:off x="6079236" y="1765300"/>
              <a:ext cx="136626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差多少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087618" y="2463800"/>
              <a:ext cx="33486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6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固定局勢，比較候選與現任的差距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079236" y="3270250"/>
              <a:ext cx="136626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誰接守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087618" y="3968750"/>
              <a:ext cx="290436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6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確認守位安排與額外人力需求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079236" y="4775200"/>
              <a:ext cx="136626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憑什麼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087618" y="5473700"/>
              <a:ext cx="33486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6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檢查樣本量、模型分歧與可用名單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1375631" y="6445250"/>
            <a:ext cx="2136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TW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number"/>
          <p:cNvGrpSpPr/>
          <p:nvPr/>
        </p:nvGrpSpPr>
        <p:grpSpPr>
          <a:xfrm>
            <a:off x="590550" y="1714500"/>
            <a:ext cx="1520638" cy="1905000"/>
            <a:chOff x="590550" y="1714500"/>
            <a:chExt cx="1520638" cy="1905000"/>
          </a:xfrm>
        </p:grpSpPr>
        <p:sp>
          <p:nvSpPr>
            <p:cNvPr id="2" name="TextBox 2"/>
            <p:cNvSpPr txBox="1"/>
            <p:nvPr/>
          </p:nvSpPr>
          <p:spPr>
            <a:xfrm>
              <a:off x="590550" y="1714500"/>
              <a:ext cx="1520638" cy="1905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99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6" name="chapter-heading"/>
          <p:cNvGrpSpPr/>
          <p:nvPr/>
        </p:nvGrpSpPr>
        <p:grpSpPr>
          <a:xfrm>
            <a:off x="3336036" y="1739900"/>
            <a:ext cx="5808726" cy="1204214"/>
            <a:chOff x="3336036" y="1739900"/>
            <a:chExt cx="5808726" cy="1204214"/>
          </a:xfrm>
        </p:grpSpPr>
        <p:sp>
          <p:nvSpPr>
            <p:cNvPr id="4" name="TextBox 4"/>
            <p:cNvSpPr txBox="1"/>
            <p:nvPr/>
          </p:nvSpPr>
          <p:spPr>
            <a:xfrm>
              <a:off x="3344418" y="1739900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6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資料與解法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3336036" y="2298700"/>
              <a:ext cx="580872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把公開資料轉為人選比較依據</a:t>
              </a:r>
            </a:p>
          </p:txBody>
        </p:sp>
      </p:grpSp>
      <p:grpSp>
        <p:nvGrpSpPr>
          <p:cNvPr id="9" name="chapter-summary"/>
          <p:cNvGrpSpPr/>
          <p:nvPr/>
        </p:nvGrpSpPr>
        <p:grpSpPr>
          <a:xfrm>
            <a:off x="3340608" y="3784600"/>
            <a:ext cx="4547616" cy="1211707"/>
            <a:chOff x="3340608" y="3784600"/>
            <a:chExt cx="4547616" cy="1211707"/>
          </a:xfrm>
        </p:grpSpPr>
        <p:sp>
          <p:nvSpPr>
            <p:cNvPr id="7" name="TextBox 7"/>
            <p:cNvSpPr txBox="1"/>
            <p:nvPr/>
          </p:nvSpPr>
          <p:spPr>
            <a:xfrm>
              <a:off x="3340608" y="3784600"/>
              <a:ext cx="454761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20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固定投手與局勢，比較換人差距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3344418" y="4673600"/>
              <a:ext cx="401497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6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資料來源　／　估計方法　／　分數解讀　／　模型回測</a:t>
              </a:r>
            </a:p>
          </p:txBody>
        </p:sp>
      </p:grpSp>
      <p:grpSp>
        <p:nvGrpSpPr>
          <p:cNvPr id="11" name="baseball"/>
          <p:cNvGrpSpPr/>
          <p:nvPr/>
        </p:nvGrpSpPr>
        <p:grpSpPr>
          <a:xfrm>
            <a:off x="9048750" y="4000500"/>
            <a:ext cx="2190750" cy="2190750"/>
            <a:chOff x="9048750" y="4000500"/>
            <a:chExt cx="2190750" cy="2190750"/>
          </a:xfrm>
        </p:grpSpPr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048750" y="4000500"/>
              <a:ext cx="2190750" cy="2190750"/>
            </a:xfrm>
            <a:prstGeom prst="rect">
              <a:avLst/>
            </a:prstGeom>
          </p:spPr>
        </p:pic>
      </p:grpSp>
      <p:sp>
        <p:nvSpPr>
          <p:cNvPr id="12" name="TextBox 12"/>
          <p:cNvSpPr txBox="1"/>
          <p:nvPr/>
        </p:nvSpPr>
        <p:spPr>
          <a:xfrm>
            <a:off x="11375631" y="6445250"/>
            <a:ext cx="2136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TW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chapter-kicker"/>
          <p:cNvGrpSpPr/>
          <p:nvPr/>
        </p:nvGrpSpPr>
        <p:grpSpPr>
          <a:xfrm>
            <a:off x="602742" y="177800"/>
            <a:ext cx="1304049" cy="264033"/>
            <a:chOff x="602742" y="177800"/>
            <a:chExt cx="1304049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177800"/>
              <a:ext cx="13040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6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　資料與解法</a:t>
              </a:r>
            </a:p>
          </p:txBody>
        </p:sp>
      </p:grpSp>
      <p:grpSp>
        <p:nvGrpSpPr>
          <p:cNvPr id="5" name="title"/>
          <p:cNvGrpSpPr/>
          <p:nvPr/>
        </p:nvGrpSpPr>
        <p:grpSpPr>
          <a:xfrm>
            <a:off x="592836" y="546100"/>
            <a:ext cx="6252972" cy="645414"/>
            <a:chOff x="592836" y="546100"/>
            <a:chExt cx="6252972" cy="645414"/>
          </a:xfrm>
        </p:grpSpPr>
        <p:sp>
          <p:nvSpPr>
            <p:cNvPr id="4" name="TextBox 4"/>
            <p:cNvSpPr txBox="1"/>
            <p:nvPr/>
          </p:nvSpPr>
          <p:spPr>
            <a:xfrm>
              <a:off x="592836" y="546100"/>
              <a:ext cx="625297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公開資料，如何變成人選比較？</a:t>
              </a:r>
            </a:p>
          </p:txBody>
        </p:sp>
      </p:grpSp>
      <p:grpSp>
        <p:nvGrpSpPr>
          <p:cNvPr id="8" name="sources"/>
          <p:cNvGrpSpPr/>
          <p:nvPr/>
        </p:nvGrpSpPr>
        <p:grpSpPr>
          <a:xfrm>
            <a:off x="598932" y="1489075"/>
            <a:ext cx="4972155" cy="410718"/>
            <a:chOff x="598932" y="1489075"/>
            <a:chExt cx="4972155" cy="410718"/>
          </a:xfrm>
        </p:grpSpPr>
        <p:sp>
          <p:nvSpPr>
            <p:cNvPr id="7" name="TextBox 7"/>
            <p:cNvSpPr txBox="1"/>
            <p:nvPr/>
          </p:nvSpPr>
          <p:spPr>
            <a:xfrm>
              <a:off x="598932" y="1489075"/>
              <a:ext cx="497215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資料：2024–2025 中職逐球與守位紀錄</a:t>
              </a:r>
            </a:p>
          </p:txBody>
        </p:sp>
      </p:grpSp>
      <p:grpSp>
        <p:nvGrpSpPr>
          <p:cNvPr id="12" name="estimate-one"/>
          <p:cNvGrpSpPr/>
          <p:nvPr/>
        </p:nvGrpSpPr>
        <p:grpSpPr>
          <a:xfrm>
            <a:off x="597408" y="2393950"/>
            <a:ext cx="3756660" cy="1664843"/>
            <a:chOff x="597408" y="2393950"/>
            <a:chExt cx="3756660" cy="1664843"/>
          </a:xfrm>
        </p:grpSpPr>
        <p:sp>
          <p:nvSpPr>
            <p:cNvPr id="9" name="TextBox 9"/>
            <p:cNvSpPr txBox="1"/>
            <p:nvPr/>
          </p:nvSpPr>
          <p:spPr>
            <a:xfrm>
              <a:off x="597408" y="2393950"/>
              <a:ext cx="26591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2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01　估計投打能力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01218" y="2901950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6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階層式部分池化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98932" y="3248025"/>
              <a:ext cx="3755136" cy="8107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綜合能力、左右投打與球路適性</a:t>
              </a:r>
              <a:br>
                <a:rPr lang="zh-TW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</a:br>
              <a:r>
                <a:rPr lang="zh-TW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小樣本向整體基準收縮</a:t>
              </a:r>
            </a:p>
          </p:txBody>
        </p:sp>
      </p:grpSp>
      <p:grpSp>
        <p:nvGrpSpPr>
          <p:cNvPr id="16" name="estimate-two"/>
          <p:cNvGrpSpPr/>
          <p:nvPr/>
        </p:nvGrpSpPr>
        <p:grpSpPr>
          <a:xfrm>
            <a:off x="6388608" y="2393950"/>
            <a:ext cx="4023360" cy="1664843"/>
            <a:chOff x="6388608" y="2393950"/>
            <a:chExt cx="4023360" cy="1664843"/>
          </a:xfrm>
        </p:grpSpPr>
        <p:sp>
          <p:nvSpPr>
            <p:cNvPr id="13" name="TextBox 13"/>
            <p:cNvSpPr txBox="1"/>
            <p:nvPr/>
          </p:nvSpPr>
          <p:spPr>
            <a:xfrm>
              <a:off x="6388608" y="2393950"/>
              <a:ext cx="26591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2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02　模擬候選打者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392418" y="2901950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6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梯度提升樹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390132" y="3248025"/>
              <a:ext cx="4021836" cy="8107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沿用投手歷史投球，替換候選打者</a:t>
              </a:r>
              <a:br>
                <a:rPr lang="zh-TW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</a:br>
              <a:r>
                <a:rPr lang="zh-TW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預測逐球結果，換算預期得分</a:t>
              </a:r>
            </a:p>
          </p:txBody>
        </p:sp>
      </p:grpSp>
      <p:grpSp>
        <p:nvGrpSpPr>
          <p:cNvPr id="19" name="output"/>
          <p:cNvGrpSpPr/>
          <p:nvPr/>
        </p:nvGrpSpPr>
        <p:grpSpPr>
          <a:xfrm>
            <a:off x="597408" y="4527550"/>
            <a:ext cx="5260833" cy="792607"/>
            <a:chOff x="597408" y="4527550"/>
            <a:chExt cx="5260833" cy="792607"/>
          </a:xfrm>
        </p:grpSpPr>
        <p:sp>
          <p:nvSpPr>
            <p:cNvPr id="17" name="TextBox 17"/>
            <p:cNvSpPr txBox="1"/>
            <p:nvPr/>
          </p:nvSpPr>
          <p:spPr>
            <a:xfrm>
              <a:off x="597408" y="4527550"/>
              <a:ext cx="526083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2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整合得分估計 → 依局勢換算勝率差距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01218" y="4997450"/>
              <a:ext cx="379285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6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逐球模型不可用時，改用階層式估計。</a:t>
              </a:r>
            </a:p>
          </p:txBody>
        </p:sp>
      </p:grpSp>
      <p:grpSp>
        <p:nvGrpSpPr>
          <p:cNvPr id="22" name="credits"/>
          <p:cNvGrpSpPr/>
          <p:nvPr/>
        </p:nvGrpSpPr>
        <p:grpSpPr>
          <a:xfrm>
            <a:off x="602742" y="1949450"/>
            <a:ext cx="5594261" cy="264033"/>
            <a:chOff x="602742" y="1949450"/>
            <a:chExt cx="5594261" cy="264033"/>
          </a:xfrm>
        </p:grpSpPr>
        <p:sp>
          <p:nvSpPr>
            <p:cNvPr id="20" name="TextBox 20">
              <a:hlinkClick r:id="rId2"/>
            </p:cNvPr>
            <p:cNvSpPr txBox="1"/>
            <p:nvPr/>
          </p:nvSpPr>
          <p:spPr>
            <a:xfrm>
              <a:off x="602742" y="1949450"/>
              <a:ext cx="25057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6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Rebas Open Data（ODC-By）</a:t>
              </a:r>
            </a:p>
          </p:txBody>
        </p:sp>
        <p:sp>
          <p:nvSpPr>
            <p:cNvPr id="21" name="TextBox 21">
              <a:hlinkClick r:id="rId3"/>
            </p:cNvPr>
            <p:cNvSpPr txBox="1"/>
            <p:nvPr/>
          </p:nvSpPr>
          <p:spPr>
            <a:xfrm>
              <a:off x="4222242" y="1949450"/>
              <a:ext cx="19747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6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ldkrsi 守位紀錄（MIT）</a:t>
              </a:r>
            </a:p>
          </p:txBody>
        </p:sp>
      </p:grpSp>
      <p:grpSp>
        <p:nvGrpSpPr>
          <p:cNvPr id="24" name="model-settings"/>
          <p:cNvGrpSpPr/>
          <p:nvPr/>
        </p:nvGrpSpPr>
        <p:grpSpPr>
          <a:xfrm>
            <a:off x="601218" y="5816600"/>
            <a:ext cx="3570732" cy="322707"/>
            <a:chOff x="601218" y="5816600"/>
            <a:chExt cx="3570732" cy="322707"/>
          </a:xfrm>
        </p:grpSpPr>
        <p:sp>
          <p:nvSpPr>
            <p:cNvPr id="23" name="TextBox 23"/>
            <p:cNvSpPr txBox="1"/>
            <p:nvPr/>
          </p:nvSpPr>
          <p:spPr>
            <a:xfrm>
              <a:off x="601218" y="5816600"/>
              <a:ext cx="35707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6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球路八格（4 類球種 × 高中／低）與兩模型權重由本專案設定。</a:t>
              </a:r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11365992" y="6445250"/>
            <a:ext cx="2136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chapter-kicker"/>
          <p:cNvGrpSpPr/>
          <p:nvPr/>
        </p:nvGrpSpPr>
        <p:grpSpPr>
          <a:xfrm>
            <a:off x="602742" y="177800"/>
            <a:ext cx="1304049" cy="264033"/>
            <a:chOff x="602742" y="177800"/>
            <a:chExt cx="1304049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177800"/>
              <a:ext cx="13040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6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　資料與解法</a:t>
              </a:r>
            </a:p>
          </p:txBody>
        </p:sp>
      </p:grpSp>
      <p:grpSp>
        <p:nvGrpSpPr>
          <p:cNvPr id="5" name="title"/>
          <p:cNvGrpSpPr/>
          <p:nvPr/>
        </p:nvGrpSpPr>
        <p:grpSpPr>
          <a:xfrm>
            <a:off x="592836" y="546100"/>
            <a:ext cx="6697218" cy="645414"/>
            <a:chOff x="592836" y="546100"/>
            <a:chExt cx="6697218" cy="645414"/>
          </a:xfrm>
        </p:grpSpPr>
        <p:sp>
          <p:nvSpPr>
            <p:cNvPr id="4" name="TextBox 4"/>
            <p:cNvSpPr txBox="1"/>
            <p:nvPr/>
          </p:nvSpPr>
          <p:spPr>
            <a:xfrm>
              <a:off x="592836" y="546100"/>
              <a:ext cx="669721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排名、差距與不確定性，要分開看</a:t>
              </a:r>
            </a:p>
          </p:txBody>
        </p:sp>
      </p:grpSp>
      <p:grpSp>
        <p:nvGrpSpPr>
          <p:cNvPr id="12" name="rank"/>
          <p:cNvGrpSpPr/>
          <p:nvPr/>
        </p:nvGrpSpPr>
        <p:grpSpPr>
          <a:xfrm>
            <a:off x="590550" y="1758950"/>
            <a:ext cx="2753106" cy="3086481"/>
            <a:chOff x="590550" y="1758950"/>
            <a:chExt cx="2753106" cy="3086481"/>
          </a:xfrm>
        </p:grpSpPr>
        <p:sp>
          <p:nvSpPr>
            <p:cNvPr id="7" name="TextBox 7"/>
            <p:cNvSpPr txBox="1"/>
            <p:nvPr/>
          </p:nvSpPr>
          <p:spPr>
            <a:xfrm>
              <a:off x="601218" y="1758950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6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誰的相對位置較高？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97408" y="2184400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2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價值分數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90550" y="2736850"/>
              <a:ext cx="1903933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4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1–100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99694" y="3651250"/>
              <a:ext cx="2743962" cy="762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同一比較池內的相對位置</a:t>
              </a:r>
              <a:br>
                <a:rPr lang="zh-TW" sz="19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</a:br>
              <a:r>
                <a:rPr lang="zh-TW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不是成功機率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99694" y="4464050"/>
              <a:ext cx="264490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不同對決不宜直接比較</a:t>
              </a:r>
            </a:p>
          </p:txBody>
        </p:sp>
      </p:grpSp>
      <p:grpSp>
        <p:nvGrpSpPr>
          <p:cNvPr id="18" name="difference"/>
          <p:cNvGrpSpPr/>
          <p:nvPr/>
        </p:nvGrpSpPr>
        <p:grpSpPr>
          <a:xfrm>
            <a:off x="4286250" y="1758950"/>
            <a:ext cx="2391537" cy="3086481"/>
            <a:chOff x="4286250" y="1758950"/>
            <a:chExt cx="2391537" cy="3086481"/>
          </a:xfrm>
        </p:grpSpPr>
        <p:sp>
          <p:nvSpPr>
            <p:cNvPr id="13" name="TextBox 13"/>
            <p:cNvSpPr txBox="1"/>
            <p:nvPr/>
          </p:nvSpPr>
          <p:spPr>
            <a:xfrm>
              <a:off x="4296918" y="1758950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6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與現任差多少？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293108" y="2184400"/>
              <a:ext cx="163982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2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模型勝率差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286250" y="2736850"/>
              <a:ext cx="1903933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4800" b="1" dirty="0">
                  <a:solidFill>
                    <a:srgbClr val="237A53"/>
                  </a:solidFill>
                  <a:latin typeface="+mn-lt"/>
                  <a:ea typeface="+mn-ea"/>
                  <a:cs typeface="+mn-cs"/>
                </a:rPr>
                <a:t>+1.05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295394" y="3651250"/>
              <a:ext cx="1753362" cy="762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單位：百分點</a:t>
              </a:r>
              <a:br>
                <a:rPr lang="zh-TW" sz="19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</a:br>
              <a:r>
                <a:rPr lang="zh-TW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依當下局勢換算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295394" y="4464050"/>
              <a:ext cx="238239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相對同一位現任球員</a:t>
              </a:r>
            </a:p>
          </p:txBody>
        </p:sp>
      </p:grpSp>
      <p:grpSp>
        <p:nvGrpSpPr>
          <p:cNvPr id="24" name="uncertainty"/>
          <p:cNvGrpSpPr/>
          <p:nvPr/>
        </p:nvGrpSpPr>
        <p:grpSpPr>
          <a:xfrm>
            <a:off x="7984236" y="1758950"/>
            <a:ext cx="2503170" cy="3086481"/>
            <a:chOff x="7984236" y="1758950"/>
            <a:chExt cx="2503170" cy="3086481"/>
          </a:xfrm>
        </p:grpSpPr>
        <p:sp>
          <p:nvSpPr>
            <p:cNvPr id="19" name="TextBox 19"/>
            <p:cNvSpPr txBox="1"/>
            <p:nvPr/>
          </p:nvSpPr>
          <p:spPr>
            <a:xfrm>
              <a:off x="7992618" y="1758950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6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估計有多不確定？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988808" y="2184400"/>
              <a:ext cx="99364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2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誤差線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984236" y="2927350"/>
              <a:ext cx="181051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近似範圍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991094" y="3651250"/>
              <a:ext cx="2496312" cy="762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來自階層式估計</a:t>
              </a:r>
              <a:br>
                <a:rPr lang="zh-TW" sz="19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</a:br>
              <a:r>
                <a:rPr lang="zh-TW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不是完整集成預測區間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991094" y="4464050"/>
              <a:ext cx="238239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也不是候選勝出機率</a:t>
              </a:r>
            </a:p>
          </p:txBody>
        </p:sp>
      </p:grpSp>
      <p:grpSp>
        <p:nvGrpSpPr>
          <p:cNvPr id="27" name="boundaries"/>
          <p:cNvGrpSpPr/>
          <p:nvPr/>
        </p:nvGrpSpPr>
        <p:grpSpPr>
          <a:xfrm>
            <a:off x="598932" y="5413375"/>
            <a:ext cx="6960394" cy="811657"/>
            <a:chOff x="598932" y="5413375"/>
            <a:chExt cx="6960394" cy="811657"/>
          </a:xfrm>
        </p:grpSpPr>
        <p:sp>
          <p:nvSpPr>
            <p:cNvPr id="25" name="TextBox 25"/>
            <p:cNvSpPr txBox="1"/>
            <p:nvPr/>
          </p:nvSpPr>
          <p:spPr>
            <a:xfrm>
              <a:off x="598932" y="5413375"/>
              <a:ext cx="397916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歷史回放僅使用決策日前的資料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01218" y="5902325"/>
              <a:ext cx="695810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6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2024–2025 資料原型；出賽名單、健康狀況與當場守位仍需人工確認。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11365992" y="6445250"/>
            <a:ext cx="2136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chapter-kicker"/>
          <p:cNvGrpSpPr/>
          <p:nvPr/>
        </p:nvGrpSpPr>
        <p:grpSpPr>
          <a:xfrm>
            <a:off x="602742" y="177800"/>
            <a:ext cx="1304049" cy="264033"/>
            <a:chOff x="602742" y="177800"/>
            <a:chExt cx="1304049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177800"/>
              <a:ext cx="13040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6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　資料與解法</a:t>
              </a:r>
            </a:p>
          </p:txBody>
        </p:sp>
      </p:grpSp>
      <p:grpSp>
        <p:nvGrpSpPr>
          <p:cNvPr id="5" name="title"/>
          <p:cNvGrpSpPr/>
          <p:nvPr/>
        </p:nvGrpSpPr>
        <p:grpSpPr>
          <a:xfrm>
            <a:off x="592836" y="546100"/>
            <a:ext cx="6697218" cy="645414"/>
            <a:chOff x="592836" y="546100"/>
            <a:chExt cx="6697218" cy="645414"/>
          </a:xfrm>
        </p:grpSpPr>
        <p:sp>
          <p:nvSpPr>
            <p:cNvPr id="4" name="TextBox 4"/>
            <p:cNvSpPr txBox="1"/>
            <p:nvPr/>
          </p:nvSpPr>
          <p:spPr>
            <a:xfrm>
              <a:off x="592836" y="546100"/>
              <a:ext cx="669721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回測：系統挑出的換投時機站得住</a:t>
              </a:r>
            </a:p>
          </p:txBody>
        </p:sp>
      </p:grpSp>
      <p:grpSp>
        <p:nvGrpSpPr>
          <p:cNvPr id="12" name="rank"/>
          <p:cNvGrpSpPr/>
          <p:nvPr/>
        </p:nvGrpSpPr>
        <p:grpSpPr>
          <a:xfrm>
            <a:off x="590550" y="1758950"/>
            <a:ext cx="2753106" cy="3086481"/>
            <a:chOff x="590550" y="1758950"/>
            <a:chExt cx="2753106" cy="3086481"/>
          </a:xfrm>
        </p:grpSpPr>
        <p:sp>
          <p:nvSpPr>
            <p:cNvPr id="7" name="TextBox 7"/>
            <p:cNvSpPr txBox="1"/>
            <p:nvPr/>
          </p:nvSpPr>
          <p:spPr>
            <a:xfrm>
              <a:off x="601218" y="1758950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6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回測範圍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97408" y="2184400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2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2025 決策點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90550" y="2736850"/>
              <a:ext cx="1903933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4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11,962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99694" y="3651250"/>
              <a:ext cx="2743962" cy="762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例行賽 6 局以後</a:t>
              </a:r>
              <a:br>
                <a:rPr lang="zh-TW" sz="19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</a:br>
              <a:r>
                <a:rPr lang="zh-TW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每個打席開始前模擬一次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99694" y="4464050"/>
              <a:ext cx="264490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與 2,184 次實際換投對照</a:t>
              </a:r>
            </a:p>
          </p:txBody>
        </p:sp>
      </p:grpSp>
      <p:grpSp>
        <p:nvGrpSpPr>
          <p:cNvPr id="18" name="difference"/>
          <p:cNvGrpSpPr/>
          <p:nvPr/>
        </p:nvGrpSpPr>
        <p:grpSpPr>
          <a:xfrm>
            <a:off x="4286250" y="1758950"/>
            <a:ext cx="2391537" cy="3086481"/>
            <a:chOff x="4286250" y="1758950"/>
            <a:chExt cx="2391537" cy="3086481"/>
          </a:xfrm>
        </p:grpSpPr>
        <p:sp>
          <p:nvSpPr>
            <p:cNvPr id="13" name="TextBox 13"/>
            <p:cNvSpPr txBox="1"/>
            <p:nvPr/>
          </p:nvSpPr>
          <p:spPr>
            <a:xfrm>
              <a:off x="4296918" y="1758950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6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換投時機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293108" y="2184400"/>
              <a:ext cx="163982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2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續投時失分差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286250" y="2736850"/>
              <a:ext cx="1903933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4800" b="1" dirty="0">
                  <a:solidFill>
                    <a:srgbClr val="237A53"/>
                  </a:solidFill>
                  <a:latin typeface="+mn-lt"/>
                  <a:ea typeface="+mn-ea"/>
                  <a:cs typeface="+mn-cs"/>
                </a:rPr>
                <a:t>+0.043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295394" y="3651250"/>
              <a:ext cx="1753362" cy="762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單位：得分期望（RE24）</a:t>
              </a:r>
              <a:br>
                <a:rPr lang="zh-TW" sz="19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</a:br>
              <a:r>
                <a:rPr lang="zh-TW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95% 區間 +0.017 ~ +0.068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295394" y="4464050"/>
              <a:ext cx="238239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建議換卻續投時較易失分</a:t>
              </a:r>
            </a:p>
          </p:txBody>
        </p:sp>
      </p:grpSp>
      <p:grpSp>
        <p:nvGrpSpPr>
          <p:cNvPr id="24" name="uncertainty"/>
          <p:cNvGrpSpPr/>
          <p:nvPr/>
        </p:nvGrpSpPr>
        <p:grpSpPr>
          <a:xfrm>
            <a:off x="7984236" y="1758950"/>
            <a:ext cx="2503170" cy="3086481"/>
            <a:chOff x="7984236" y="1758950"/>
            <a:chExt cx="2503170" cy="3086481"/>
          </a:xfrm>
        </p:grpSpPr>
        <p:sp>
          <p:nvSpPr>
            <p:cNvPr id="19" name="TextBox 19"/>
            <p:cNvSpPr txBox="1"/>
            <p:nvPr/>
          </p:nvSpPr>
          <p:spPr>
            <a:xfrm>
              <a:off x="7992618" y="1758950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6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代打時機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988808" y="2184400"/>
              <a:ext cx="99364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2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原打者得分差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984236" y="2927350"/>
              <a:ext cx="181051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不明顯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991094" y="3651250"/>
              <a:ext cx="2496312" cy="762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−0.025（95% 區間</a:t>
              </a:r>
              <a:br>
                <a:rPr lang="zh-TW" sz="19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</a:br>
              <a:r>
                <a:rPr lang="zh-TW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−0.074 ~ +0.024）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991094" y="4464050"/>
              <a:ext cx="238239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網站標示「僅供參考」</a:t>
              </a:r>
            </a:p>
          </p:txBody>
        </p:sp>
      </p:grpSp>
      <p:grpSp>
        <p:nvGrpSpPr>
          <p:cNvPr id="27" name="boundaries"/>
          <p:cNvGrpSpPr/>
          <p:nvPr/>
        </p:nvGrpSpPr>
        <p:grpSpPr>
          <a:xfrm>
            <a:off x="598932" y="5413375"/>
            <a:ext cx="6960394" cy="811657"/>
            <a:chOff x="598932" y="5413375"/>
            <a:chExt cx="6960394" cy="811657"/>
          </a:xfrm>
        </p:grpSpPr>
        <p:sp>
          <p:nvSpPr>
            <p:cNvPr id="25" name="TextBox 25"/>
            <p:cNvSpPr txBox="1"/>
            <p:nvPr/>
          </p:nvSpPr>
          <p:spPr>
            <a:xfrm>
              <a:off x="598932" y="5413375"/>
              <a:ext cx="397916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只用比賽當天以前的資料，模擬「打席開始前會不會建議換人」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01218" y="5902325"/>
              <a:ext cx="695810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6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換人後的結果無法觀測，只比較模型估計；門檻 1 百分點，只看接下來 3 棒。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11365992" y="6445250"/>
            <a:ext cx="2136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number"/>
          <p:cNvGrpSpPr/>
          <p:nvPr/>
        </p:nvGrpSpPr>
        <p:grpSpPr>
          <a:xfrm>
            <a:off x="590550" y="1714500"/>
            <a:ext cx="1520638" cy="1905000"/>
            <a:chOff x="590550" y="1714500"/>
            <a:chExt cx="1520638" cy="1905000"/>
          </a:xfrm>
        </p:grpSpPr>
        <p:sp>
          <p:nvSpPr>
            <p:cNvPr id="2" name="TextBox 2"/>
            <p:cNvSpPr txBox="1"/>
            <p:nvPr/>
          </p:nvSpPr>
          <p:spPr>
            <a:xfrm>
              <a:off x="590550" y="1714500"/>
              <a:ext cx="1520638" cy="1905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99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6" name="chapter-heading"/>
          <p:cNvGrpSpPr/>
          <p:nvPr/>
        </p:nvGrpSpPr>
        <p:grpSpPr>
          <a:xfrm>
            <a:off x="3336036" y="1739900"/>
            <a:ext cx="5364480" cy="1204214"/>
            <a:chOff x="3336036" y="1739900"/>
            <a:chExt cx="5364480" cy="1204214"/>
          </a:xfrm>
        </p:grpSpPr>
        <p:sp>
          <p:nvSpPr>
            <p:cNvPr id="4" name="TextBox 4"/>
            <p:cNvSpPr txBox="1"/>
            <p:nvPr/>
          </p:nvSpPr>
          <p:spPr>
            <a:xfrm>
              <a:off x="3344418" y="1739900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6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網站成果與決策體驗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3336036" y="2298700"/>
              <a:ext cx="53644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用一個打席，回答三個問題</a:t>
              </a:r>
            </a:p>
          </p:txBody>
        </p:sp>
      </p:grpSp>
      <p:grpSp>
        <p:nvGrpSpPr>
          <p:cNvPr id="9" name="chapter-summary"/>
          <p:cNvGrpSpPr/>
          <p:nvPr/>
        </p:nvGrpSpPr>
        <p:grpSpPr>
          <a:xfrm>
            <a:off x="3340608" y="3784600"/>
            <a:ext cx="3901440" cy="1211707"/>
            <a:chOff x="3340608" y="3784600"/>
            <a:chExt cx="3901440" cy="1211707"/>
          </a:xfrm>
        </p:grpSpPr>
        <p:sp>
          <p:nvSpPr>
            <p:cNvPr id="7" name="TextBox 7"/>
            <p:cNvSpPr txBox="1"/>
            <p:nvPr/>
          </p:nvSpPr>
          <p:spPr>
            <a:xfrm>
              <a:off x="3340608" y="3784600"/>
              <a:ext cx="390144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20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差多少、誰接守、憑什麼。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3344418" y="4673600"/>
              <a:ext cx="35259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6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操作 Demo　／　案例　／　UI／UX　／　未來規劃</a:t>
              </a:r>
            </a:p>
          </p:txBody>
        </p:sp>
      </p:grpSp>
      <p:grpSp>
        <p:nvGrpSpPr>
          <p:cNvPr id="11" name="baseball"/>
          <p:cNvGrpSpPr/>
          <p:nvPr/>
        </p:nvGrpSpPr>
        <p:grpSpPr>
          <a:xfrm>
            <a:off x="9048750" y="4000500"/>
            <a:ext cx="2190750" cy="2190750"/>
            <a:chOff x="9048750" y="4000500"/>
            <a:chExt cx="2190750" cy="2190750"/>
          </a:xfrm>
        </p:grpSpPr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048750" y="4000500"/>
              <a:ext cx="2190750" cy="2190750"/>
            </a:xfrm>
            <a:prstGeom prst="rect">
              <a:avLst/>
            </a:prstGeom>
          </p:spPr>
        </p:pic>
      </p:grpSp>
      <p:sp>
        <p:nvSpPr>
          <p:cNvPr id="12" name="TextBox 12"/>
          <p:cNvSpPr txBox="1"/>
          <p:nvPr/>
        </p:nvSpPr>
        <p:spPr>
          <a:xfrm>
            <a:off x="11375631" y="6445250"/>
            <a:ext cx="2136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TW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chapter-kicker"/>
          <p:cNvGrpSpPr/>
          <p:nvPr/>
        </p:nvGrpSpPr>
        <p:grpSpPr>
          <a:xfrm>
            <a:off x="602742" y="177800"/>
            <a:ext cx="2030997" cy="264033"/>
            <a:chOff x="602742" y="177800"/>
            <a:chExt cx="2030997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177800"/>
              <a:ext cx="20309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6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　網站成果與決策體驗</a:t>
              </a:r>
            </a:p>
          </p:txBody>
        </p:sp>
      </p:grpSp>
      <p:grpSp>
        <p:nvGrpSpPr>
          <p:cNvPr id="5" name="title"/>
          <p:cNvGrpSpPr/>
          <p:nvPr/>
        </p:nvGrpSpPr>
        <p:grpSpPr>
          <a:xfrm>
            <a:off x="592836" y="546100"/>
            <a:ext cx="6017522" cy="645414"/>
            <a:chOff x="592836" y="546100"/>
            <a:chExt cx="6017522" cy="645414"/>
          </a:xfrm>
        </p:grpSpPr>
        <p:sp>
          <p:nvSpPr>
            <p:cNvPr id="4" name="TextBox 4"/>
            <p:cNvSpPr txBox="1"/>
            <p:nvPr/>
          </p:nvSpPr>
          <p:spPr>
            <a:xfrm>
              <a:off x="592836" y="546100"/>
              <a:ext cx="601752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25 秒實錄：完成一次代打比較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1365992" y="6445250"/>
            <a:ext cx="2136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11</a:t>
            </a:r>
          </a:p>
        </p:txBody>
      </p:sp>
      <p:pic>
        <p:nvPicPr>
          <p:cNvPr id="10" name="實際網站操作 Demo（點選播放，約25秒）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524000" y="1447800"/>
            <a:ext cx="9144000" cy="5143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chapter-kicker"/>
          <p:cNvGrpSpPr/>
          <p:nvPr/>
        </p:nvGrpSpPr>
        <p:grpSpPr>
          <a:xfrm>
            <a:off x="602742" y="177800"/>
            <a:ext cx="2030997" cy="264033"/>
            <a:chOff x="602742" y="177800"/>
            <a:chExt cx="2030997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177800"/>
              <a:ext cx="20309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6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　網站成果與決策體驗</a:t>
              </a:r>
            </a:p>
          </p:txBody>
        </p:sp>
      </p:grpSp>
      <p:grpSp>
        <p:nvGrpSpPr>
          <p:cNvPr id="5" name="title"/>
          <p:cNvGrpSpPr/>
          <p:nvPr/>
        </p:nvGrpSpPr>
        <p:grpSpPr>
          <a:xfrm>
            <a:off x="592836" y="546100"/>
            <a:ext cx="5808726" cy="645414"/>
            <a:chOff x="592836" y="546100"/>
            <a:chExt cx="5808726" cy="645414"/>
          </a:xfrm>
        </p:grpSpPr>
        <p:sp>
          <p:nvSpPr>
            <p:cNvPr id="4" name="TextBox 4"/>
            <p:cNvSpPr txBox="1"/>
            <p:nvPr/>
          </p:nvSpPr>
          <p:spPr>
            <a:xfrm>
              <a:off x="592836" y="546100"/>
              <a:ext cx="580872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先確認可用人選，再進行比較</a:t>
              </a:r>
            </a:p>
          </p:txBody>
        </p:sp>
      </p:grpSp>
      <p:grpSp>
        <p:nvGrpSpPr>
          <p:cNvPr id="8" name="lineup-step-one"/>
          <p:cNvGrpSpPr/>
          <p:nvPr/>
        </p:nvGrpSpPr>
        <p:grpSpPr>
          <a:xfrm>
            <a:off x="597408" y="1536700"/>
            <a:ext cx="2659167" cy="469392"/>
            <a:chOff x="597408" y="1536700"/>
            <a:chExt cx="2659167" cy="469392"/>
          </a:xfrm>
        </p:grpSpPr>
        <p:sp>
          <p:nvSpPr>
            <p:cNvPr id="7" name="TextBox 7"/>
            <p:cNvSpPr txBox="1"/>
            <p:nvPr/>
          </p:nvSpPr>
          <p:spPr>
            <a:xfrm>
              <a:off x="597408" y="1536700"/>
              <a:ext cx="26591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2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01　確認場上守位</a:t>
              </a:r>
            </a:p>
          </p:txBody>
        </p:sp>
      </p:grpSp>
      <p:grpSp>
        <p:nvGrpSpPr>
          <p:cNvPr id="12" name="lineup-step-two"/>
          <p:cNvGrpSpPr/>
          <p:nvPr/>
        </p:nvGrpSpPr>
        <p:grpSpPr>
          <a:xfrm>
            <a:off x="4191477" y="1536700"/>
            <a:ext cx="2982255" cy="469392"/>
            <a:chOff x="6369558" y="1536700"/>
            <a:chExt cx="2982255" cy="469392"/>
          </a:xfrm>
        </p:grpSpPr>
        <p:sp>
          <p:nvSpPr>
            <p:cNvPr id="11" name="TextBox 11"/>
            <p:cNvSpPr txBox="1"/>
            <p:nvPr/>
          </p:nvSpPr>
          <p:spPr>
            <a:xfrm>
              <a:off x="6369558" y="1536700"/>
              <a:ext cx="298225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2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02　調整棒次並套用</a:t>
              </a:r>
            </a:p>
          </p:txBody>
        </p:sp>
      </p:grpSp>
      <p:grpSp>
        <p:nvGrpSpPr>
          <p:cNvPr id="18" name="lineup-limit"/>
          <p:cNvGrpSpPr/>
          <p:nvPr/>
        </p:nvGrpSpPr>
        <p:grpSpPr>
          <a:xfrm>
            <a:off x="7566769" y="5568696"/>
            <a:ext cx="4237101" cy="322707"/>
            <a:chOff x="6373368" y="5988050"/>
            <a:chExt cx="4237101" cy="322707"/>
          </a:xfrm>
        </p:grpSpPr>
        <p:sp>
          <p:nvSpPr>
            <p:cNvPr id="17" name="TextBox 17"/>
            <p:cNvSpPr txBox="1"/>
            <p:nvPr/>
          </p:nvSpPr>
          <p:spPr>
            <a:xfrm>
              <a:off x="6373368" y="5988050"/>
              <a:ext cx="42371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6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出賽名單由使用者確認。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1365992" y="6445250"/>
            <a:ext cx="2136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12</a:t>
            </a:r>
          </a:p>
        </p:txBody>
      </p:sp>
      <p:pic>
        <p:nvPicPr>
          <p:cNvPr id="20" name="Picture 19" descr="lineup_fie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" y="2093976"/>
            <a:ext cx="3258789" cy="3886200"/>
          </a:xfrm>
          <a:prstGeom prst="rect">
            <a:avLst/>
          </a:prstGeom>
        </p:spPr>
      </p:pic>
      <p:pic>
        <p:nvPicPr>
          <p:cNvPr id="21" name="Picture 20" descr="lineup_ord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1477" y="2093976"/>
            <a:ext cx="2963812" cy="38862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566769" y="2185416"/>
            <a:ext cx="4018679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0">
                <a:solidFill>
                  <a:srgbClr val="5F6670"/>
                </a:solidFill>
              </a:rPr>
              <a:t>預設帶入</a:t>
            </a:r>
            <a:r>
              <a:rPr sz="2000" b="1">
                <a:solidFill>
                  <a:srgbClr val="1B334D"/>
                </a:solidFill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2000" b="1">
                <a:solidFill>
                  <a:srgbClr val="1B334D"/>
                </a:solidFill>
              </a:rPr>
              <a:t>2025 最後 30 場最常先發</a:t>
            </a:r>
            <a:r>
              <a:rPr sz="1800" b="0">
                <a:solidFill>
                  <a:srgbClr val="1B334D"/>
                </a:solidFill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800" b="0">
                <a:solidFill>
                  <a:srgbClr val="1B334D"/>
                </a:solidFill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800" b="0">
                <a:solidFill>
                  <a:srgbClr val="1B334D"/>
                </a:solidFill>
              </a:rPr>
              <a:t>可互換守位、調整棒次</a:t>
            </a:r>
            <a:r>
              <a:rPr sz="1800" b="0">
                <a:solidFill>
                  <a:srgbClr val="1B334D"/>
                </a:solidFill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800" b="0">
                <a:solidFill>
                  <a:srgbClr val="1B334D"/>
                </a:solidFill>
              </a:rPr>
              <a:t>按「套用配置」後</a:t>
            </a:r>
            <a:r>
              <a:rPr sz="1800" b="0">
                <a:solidFill>
                  <a:srgbClr val="1B334D"/>
                </a:solidFill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800" b="0">
                <a:solidFill>
                  <a:srgbClr val="1B334D"/>
                </a:solidFill>
              </a:rPr>
              <a:t>代打候選自動排除場上球員</a:t>
            </a:r>
            <a:r>
              <a:rPr sz="1800" b="1">
                <a:solidFill>
                  <a:srgbClr val="237A53"/>
                </a:solidFill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800" b="1">
                <a:solidFill>
                  <a:srgbClr val="237A53"/>
                </a:solidFill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800" b="1">
                <a:solidFill>
                  <a:srgbClr val="237A53"/>
                </a:solidFill>
              </a:rPr>
              <a:t>不設定名單也能直接評估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chapter-kicker"/>
          <p:cNvGrpSpPr/>
          <p:nvPr/>
        </p:nvGrpSpPr>
        <p:grpSpPr>
          <a:xfrm>
            <a:off x="602742" y="177800"/>
            <a:ext cx="2030997" cy="264033"/>
            <a:chOff x="602742" y="177800"/>
            <a:chExt cx="2030997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177800"/>
              <a:ext cx="20309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6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　網站成果與決策體驗</a:t>
              </a:r>
            </a:p>
          </p:txBody>
        </p:sp>
      </p:grpSp>
      <p:grpSp>
        <p:nvGrpSpPr>
          <p:cNvPr id="5" name="title"/>
          <p:cNvGrpSpPr/>
          <p:nvPr/>
        </p:nvGrpSpPr>
        <p:grpSpPr>
          <a:xfrm>
            <a:off x="592836" y="546100"/>
            <a:ext cx="6697218" cy="645414"/>
            <a:chOff x="592836" y="546100"/>
            <a:chExt cx="6697218" cy="645414"/>
          </a:xfrm>
        </p:grpSpPr>
        <p:sp>
          <p:nvSpPr>
            <p:cNvPr id="4" name="TextBox 4"/>
            <p:cNvSpPr txBox="1"/>
            <p:nvPr/>
          </p:nvSpPr>
          <p:spPr>
            <a:xfrm>
              <a:off x="592836" y="546100"/>
              <a:ext cx="669721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只改候選人選，才看得出換人差距</a:t>
              </a:r>
            </a:p>
          </p:txBody>
        </p:sp>
      </p:grpSp>
      <p:grpSp>
        <p:nvGrpSpPr>
          <p:cNvPr id="8" name="fixed-title"/>
          <p:cNvGrpSpPr/>
          <p:nvPr/>
        </p:nvGrpSpPr>
        <p:grpSpPr>
          <a:xfrm>
            <a:off x="597408" y="1631950"/>
            <a:ext cx="2932176" cy="469392"/>
            <a:chOff x="597408" y="1631950"/>
            <a:chExt cx="2932176" cy="469392"/>
          </a:xfrm>
        </p:grpSpPr>
        <p:sp>
          <p:nvSpPr>
            <p:cNvPr id="7" name="TextBox 7"/>
            <p:cNvSpPr txBox="1"/>
            <p:nvPr/>
          </p:nvSpPr>
          <p:spPr>
            <a:xfrm>
              <a:off x="597408" y="1631950"/>
              <a:ext cx="293217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2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比較時固定三項條件</a:t>
              </a:r>
            </a:p>
          </p:txBody>
        </p:sp>
      </p:grpSp>
      <p:grpSp>
        <p:nvGrpSpPr>
          <p:cNvPr id="12" name="pitcher"/>
          <p:cNvGrpSpPr/>
          <p:nvPr/>
        </p:nvGrpSpPr>
        <p:grpSpPr>
          <a:xfrm>
            <a:off x="597408" y="2463800"/>
            <a:ext cx="1316736" cy="1369568"/>
            <a:chOff x="597408" y="2463800"/>
            <a:chExt cx="1316736" cy="1369568"/>
          </a:xfrm>
        </p:grpSpPr>
        <p:sp>
          <p:nvSpPr>
            <p:cNvPr id="9" name="TextBox 9"/>
            <p:cNvSpPr txBox="1"/>
            <p:nvPr/>
          </p:nvSpPr>
          <p:spPr>
            <a:xfrm>
              <a:off x="601218" y="2463800"/>
              <a:ext cx="26109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6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97408" y="2841625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2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對方投手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98932" y="3422650"/>
              <a:ext cx="5867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魔力藍（左投）</a:t>
              </a:r>
            </a:p>
          </p:txBody>
        </p:sp>
      </p:grpSp>
      <p:grpSp>
        <p:nvGrpSpPr>
          <p:cNvPr id="16" name="situation"/>
          <p:cNvGrpSpPr/>
          <p:nvPr/>
        </p:nvGrpSpPr>
        <p:grpSpPr>
          <a:xfrm>
            <a:off x="4293108" y="2463800"/>
            <a:ext cx="2423160" cy="1718818"/>
            <a:chOff x="4293108" y="2463800"/>
            <a:chExt cx="2423160" cy="1718818"/>
          </a:xfrm>
        </p:grpSpPr>
        <p:sp>
          <p:nvSpPr>
            <p:cNvPr id="13" name="TextBox 13"/>
            <p:cNvSpPr txBox="1"/>
            <p:nvPr/>
          </p:nvSpPr>
          <p:spPr>
            <a:xfrm>
              <a:off x="4296918" y="2463800"/>
              <a:ext cx="26109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6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293108" y="2841625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2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比賽局勢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294632" y="3371850"/>
              <a:ext cx="2421636" cy="8107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8 局上，1 : 2</a:t>
              </a:r>
              <a:br>
                <a:rPr lang="zh-TW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</a:br>
              <a:r>
                <a:rPr lang="zh-TW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一出局，二壘有人</a:t>
              </a:r>
            </a:p>
          </p:txBody>
        </p:sp>
      </p:grpSp>
      <p:grpSp>
        <p:nvGrpSpPr>
          <p:cNvPr id="20" name="current"/>
          <p:cNvGrpSpPr/>
          <p:nvPr/>
        </p:nvGrpSpPr>
        <p:grpSpPr>
          <a:xfrm>
            <a:off x="7988808" y="2463800"/>
            <a:ext cx="1356360" cy="1718818"/>
            <a:chOff x="7988808" y="2463800"/>
            <a:chExt cx="1356360" cy="1718818"/>
          </a:xfrm>
        </p:grpSpPr>
        <p:sp>
          <p:nvSpPr>
            <p:cNvPr id="17" name="TextBox 17"/>
            <p:cNvSpPr txBox="1"/>
            <p:nvPr/>
          </p:nvSpPr>
          <p:spPr>
            <a:xfrm>
              <a:off x="7992618" y="2463800"/>
              <a:ext cx="26109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6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988808" y="2841625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2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現任打者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990332" y="3371850"/>
              <a:ext cx="1354836" cy="8107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林佳緯（左打）</a:t>
              </a:r>
              <a:br>
                <a:rPr lang="zh-TW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</a:br>
              <a:r>
                <a:rPr lang="zh-TW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目前為指定打擊</a:t>
              </a:r>
            </a:p>
          </p:txBody>
        </p:sp>
      </p:grpSp>
      <p:grpSp>
        <p:nvGrpSpPr>
          <p:cNvPr id="23" name="candidate-change"/>
          <p:cNvGrpSpPr/>
          <p:nvPr/>
        </p:nvGrpSpPr>
        <p:grpSpPr>
          <a:xfrm>
            <a:off x="597408" y="4699000"/>
            <a:ext cx="4870704" cy="867918"/>
            <a:chOff x="597408" y="4699000"/>
            <a:chExt cx="4870704" cy="867918"/>
          </a:xfrm>
        </p:grpSpPr>
        <p:sp>
          <p:nvSpPr>
            <p:cNvPr id="21" name="TextBox 21"/>
            <p:cNvSpPr txBox="1"/>
            <p:nvPr/>
          </p:nvSpPr>
          <p:spPr>
            <a:xfrm>
              <a:off x="597408" y="4699000"/>
              <a:ext cx="487070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2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改變候選人選，與林佳緯續打比較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98932" y="5156200"/>
              <a:ext cx="454456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胡金龍　／　陳鏞基　／　楊竣翔</a:t>
              </a:r>
            </a:p>
          </p:txBody>
        </p:sp>
      </p:grpSp>
      <p:grpSp>
        <p:nvGrpSpPr>
          <p:cNvPr id="25" name="condition-conclusion"/>
          <p:cNvGrpSpPr/>
          <p:nvPr/>
        </p:nvGrpSpPr>
        <p:grpSpPr>
          <a:xfrm>
            <a:off x="601218" y="5911850"/>
            <a:ext cx="6236208" cy="322707"/>
            <a:chOff x="601218" y="5911850"/>
            <a:chExt cx="6236208" cy="322707"/>
          </a:xfrm>
        </p:grpSpPr>
        <p:sp>
          <p:nvSpPr>
            <p:cNvPr id="24" name="TextBox 24"/>
            <p:cNvSpPr txBox="1"/>
            <p:nvPr/>
          </p:nvSpPr>
          <p:spPr>
            <a:xfrm>
              <a:off x="601218" y="5911850"/>
              <a:ext cx="623620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6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自訂示範情境；每位候選都使用相同的投手、局勢與比較基準。</a:t>
              </a:r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1365992" y="6445250"/>
            <a:ext cx="2136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chapter-kicker"/>
          <p:cNvGrpSpPr/>
          <p:nvPr/>
        </p:nvGrpSpPr>
        <p:grpSpPr>
          <a:xfrm>
            <a:off x="602742" y="177800"/>
            <a:ext cx="2030997" cy="264033"/>
            <a:chOff x="602742" y="177800"/>
            <a:chExt cx="2030997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177800"/>
              <a:ext cx="20309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6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　網站成果與決策體驗</a:t>
              </a:r>
            </a:p>
          </p:txBody>
        </p:sp>
      </p:grpSp>
      <p:grpSp>
        <p:nvGrpSpPr>
          <p:cNvPr id="5" name="title"/>
          <p:cNvGrpSpPr/>
          <p:nvPr/>
        </p:nvGrpSpPr>
        <p:grpSpPr>
          <a:xfrm>
            <a:off x="592836" y="546100"/>
            <a:ext cx="5808726" cy="645414"/>
            <a:chOff x="592836" y="546100"/>
            <a:chExt cx="5808726" cy="645414"/>
          </a:xfrm>
        </p:grpSpPr>
        <p:sp>
          <p:nvSpPr>
            <p:cNvPr id="4" name="TextBox 4"/>
            <p:cNvSpPr txBox="1"/>
            <p:nvPr/>
          </p:nvSpPr>
          <p:spPr>
            <a:xfrm>
              <a:off x="592836" y="546100"/>
              <a:ext cx="580872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優勢有多大？還需要誰接守？</a:t>
              </a:r>
            </a:p>
          </p:txBody>
        </p:sp>
      </p:grpSp>
      <p:grpSp>
        <p:nvGrpSpPr>
          <p:cNvPr id="9" name="gain"/>
          <p:cNvGrpSpPr/>
          <p:nvPr/>
        </p:nvGrpSpPr>
        <p:grpSpPr>
          <a:xfrm>
            <a:off x="590550" y="1663700"/>
            <a:ext cx="3422142" cy="1445768"/>
            <a:chOff x="590550" y="1663700"/>
            <a:chExt cx="3422142" cy="1445768"/>
          </a:xfrm>
        </p:grpSpPr>
        <p:sp>
          <p:nvSpPr>
            <p:cNvPr id="7" name="TextBox 7"/>
            <p:cNvSpPr txBox="1"/>
            <p:nvPr/>
          </p:nvSpPr>
          <p:spPr>
            <a:xfrm>
              <a:off x="590550" y="1663700"/>
              <a:ext cx="1979762" cy="1104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5700" b="1" dirty="0">
                  <a:solidFill>
                    <a:srgbClr val="237A53"/>
                  </a:solidFill>
                  <a:latin typeface="+mn-lt"/>
                  <a:ea typeface="+mn-ea"/>
                  <a:cs typeface="+mn-cs"/>
                </a:rPr>
                <a:t>+1.05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98932" y="2698750"/>
              <a:ext cx="341376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相對林佳緯，單位為百分點</a:t>
              </a:r>
            </a:p>
          </p:txBody>
        </p:sp>
      </p:grpSp>
      <p:grpSp>
        <p:nvGrpSpPr>
          <p:cNvPr id="12" name="cost"/>
          <p:cNvGrpSpPr/>
          <p:nvPr/>
        </p:nvGrpSpPr>
        <p:grpSpPr>
          <a:xfrm>
            <a:off x="6686550" y="1663700"/>
            <a:ext cx="3987546" cy="1445768"/>
            <a:chOff x="6686550" y="1663700"/>
            <a:chExt cx="3987546" cy="1445768"/>
          </a:xfrm>
        </p:grpSpPr>
        <p:sp>
          <p:nvSpPr>
            <p:cNvPr id="10" name="TextBox 10"/>
            <p:cNvSpPr txBox="1"/>
            <p:nvPr/>
          </p:nvSpPr>
          <p:spPr>
            <a:xfrm>
              <a:off x="6686550" y="1663700"/>
              <a:ext cx="1933415" cy="1104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5700" b="1" dirty="0">
                  <a:solidFill>
                    <a:srgbClr val="237A53"/>
                  </a:solidFill>
                  <a:latin typeface="+mn-lt"/>
                  <a:ea typeface="+mn-ea"/>
                  <a:cs typeface="+mn-cs"/>
                </a:rPr>
                <a:t>0 人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94932" y="2698750"/>
              <a:ext cx="397916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胡金龍承接指定打擊，不需調整守備</a:t>
              </a:r>
            </a:p>
          </p:txBody>
        </p:sp>
      </p:grpSp>
      <p:grpSp>
        <p:nvGrpSpPr>
          <p:cNvPr id="15" name="decision"/>
          <p:cNvGrpSpPr/>
          <p:nvPr/>
        </p:nvGrpSpPr>
        <p:grpSpPr>
          <a:xfrm>
            <a:off x="597408" y="3403600"/>
            <a:ext cx="6553185" cy="754507"/>
            <a:chOff x="597408" y="3403600"/>
            <a:chExt cx="6553185" cy="754507"/>
          </a:xfrm>
        </p:grpSpPr>
        <p:sp>
          <p:nvSpPr>
            <p:cNvPr id="13" name="TextBox 13"/>
            <p:cNvSpPr txBox="1"/>
            <p:nvPr/>
          </p:nvSpPr>
          <p:spPr>
            <a:xfrm>
              <a:off x="597408" y="3403600"/>
              <a:ext cx="655318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2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超過 1 百分點門檻，系統建議胡金龍代打。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01218" y="3835400"/>
              <a:ext cx="579196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6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主要原因：右打對左投、整體打擊能力高於聯盟平均；模型差距不等於實際換人效益。</a:t>
              </a:r>
            </a:p>
          </p:txBody>
        </p:sp>
      </p:grpSp>
      <p:graphicFrame>
        <p:nvGraphicFramePr>
          <p:cNvPr id="16" name="candidate-grid"/>
          <p:cNvGraphicFramePr>
            <a:graphicFrameLocks noGrp="1"/>
          </p:cNvGraphicFramePr>
          <p:nvPr/>
        </p:nvGraphicFramePr>
        <p:xfrm>
          <a:off x="609600" y="4248150"/>
          <a:ext cx="10972800" cy="171450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2190751"/>
                <a:gridCol w="2857500"/>
                <a:gridCol w="5924549"/>
              </a:tblGrid>
              <a:tr h="428625">
                <a:tc>
                  <a:txBody>
                    <a:bodyPr/>
                    <a:lstStyle/>
                    <a:p>
                      <a:pPr/>
                      <a:r>
                        <a:rPr lang="zh-TW" sz="1650" b="1">
                          <a:solidFill>
                            <a:srgbClr val="F7F5E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候選人</a:t>
                      </a:r>
                    </a:p>
                  </a:txBody>
                  <a:tcPr anchor="ctr" marL="76200" marR="76200" marT="67627" marB="6762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TW" sz="1650" b="1">
                          <a:solidFill>
                            <a:srgbClr val="F7F5E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相對林佳緯</a:t>
                      </a:r>
                    </a:p>
                  </a:txBody>
                  <a:tcPr anchor="ctr" marL="76200" marR="76200" marT="67627" marB="6762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TW" sz="1650" b="1">
                          <a:solidFill>
                            <a:srgbClr val="F7F5E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守備與資料提醒</a:t>
                      </a:r>
                    </a:p>
                  </a:txBody>
                  <a:tcPr anchor="ctr" marL="76200" marR="76200" marT="67627" marB="6762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/>
                      <a:r>
                        <a:rPr lang="zh-TW" sz="1650" b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胡金龍</a:t>
                      </a:r>
                    </a:p>
                  </a:txBody>
                  <a:tcPr anchor="ctr" marL="76200" marR="76200" marT="67627" marB="6762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TW" sz="1650" b="0">
                          <a:solidFill>
                            <a:srgbClr val="237A5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+1.05 百分點</a:t>
                      </a:r>
                    </a:p>
                  </a:txBody>
                  <a:tcPr anchor="ctr" marL="76200" marR="76200" marT="67627" marB="6762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TW" sz="1650" b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承接指定打擊，不需接守</a:t>
                      </a:r>
                    </a:p>
                  </a:txBody>
                  <a:tcPr anchor="ctr" marL="76200" marR="76200" marT="67627" marB="6762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/>
                      <a:r>
                        <a:rPr lang="zh-TW" sz="1650" b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陳鏞基</a:t>
                      </a:r>
                    </a:p>
                  </a:txBody>
                  <a:tcPr anchor="ctr" marL="76200" marR="76200" marT="67627" marB="6762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TW" sz="1650" b="0">
                          <a:solidFill>
                            <a:srgbClr val="237A5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+0.99 百分點</a:t>
                      </a:r>
                    </a:p>
                  </a:txBody>
                  <a:tcPr anchor="ctr" marL="76200" marR="76200" marT="67627" marB="6762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TW" sz="1650" b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承接指定打擊，不需接守</a:t>
                      </a:r>
                    </a:p>
                  </a:txBody>
                  <a:tcPr anchor="ctr" marL="76200" marR="76200" marT="67627" marB="6762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/>
                      <a:r>
                        <a:rPr lang="zh-TW" sz="1650" b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楊竣翔</a:t>
                      </a:r>
                    </a:p>
                  </a:txBody>
                  <a:tcPr anchor="ctr" marL="76200" marR="76200" marT="67627" marB="6762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TW" sz="1650" b="0">
                          <a:solidFill>
                            <a:srgbClr val="237A5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+0.59 百分點</a:t>
                      </a:r>
                    </a:p>
                  </a:txBody>
                  <a:tcPr anchor="ctr" marL="76200" marR="76200" marT="67627" marB="6762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TW" sz="1650" b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資料有限（96 球），審慎參考</a:t>
                      </a:r>
                    </a:p>
                  </a:txBody>
                  <a:tcPr anchor="ctr" marL="76200" marR="76200" marT="67627" marB="6762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7"/>
          <p:cNvSpPr txBox="1"/>
          <p:nvPr/>
        </p:nvSpPr>
        <p:spPr>
          <a:xfrm>
            <a:off x="11375631" y="6445250"/>
            <a:ext cx="2136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TW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chapter-kicker"/>
          <p:cNvGrpSpPr/>
          <p:nvPr/>
        </p:nvGrpSpPr>
        <p:grpSpPr>
          <a:xfrm>
            <a:off x="602742" y="177800"/>
            <a:ext cx="2030997" cy="264033"/>
            <a:chOff x="602742" y="177800"/>
            <a:chExt cx="2030997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177800"/>
              <a:ext cx="20309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6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　網站成果與決策體驗</a:t>
              </a:r>
            </a:p>
          </p:txBody>
        </p:sp>
      </p:grpSp>
      <p:grpSp>
        <p:nvGrpSpPr>
          <p:cNvPr id="5" name="title"/>
          <p:cNvGrpSpPr/>
          <p:nvPr/>
        </p:nvGrpSpPr>
        <p:grpSpPr>
          <a:xfrm>
            <a:off x="592836" y="546100"/>
            <a:ext cx="6697218" cy="645414"/>
            <a:chOff x="592836" y="546100"/>
            <a:chExt cx="6697218" cy="645414"/>
          </a:xfrm>
        </p:grpSpPr>
        <p:sp>
          <p:nvSpPr>
            <p:cNvPr id="4" name="TextBox 4"/>
            <p:cNvSpPr txBox="1"/>
            <p:nvPr/>
          </p:nvSpPr>
          <p:spPr>
            <a:xfrm>
              <a:off x="592836" y="546100"/>
              <a:ext cx="669721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換投比較，把後續三棒一起算進來</a:t>
              </a:r>
            </a:p>
          </p:txBody>
        </p:sp>
      </p:grpSp>
      <p:grpSp>
        <p:nvGrpSpPr>
          <p:cNvPr id="9" name="bullpen-context"/>
          <p:cNvGrpSpPr/>
          <p:nvPr/>
        </p:nvGrpSpPr>
        <p:grpSpPr>
          <a:xfrm>
            <a:off x="599694" y="1568450"/>
            <a:ext cx="6772856" cy="732282"/>
            <a:chOff x="599694" y="1568450"/>
            <a:chExt cx="6772856" cy="732282"/>
          </a:xfrm>
        </p:grpSpPr>
        <p:sp>
          <p:nvSpPr>
            <p:cNvPr id="7" name="TextBox 7"/>
            <p:cNvSpPr txBox="1"/>
            <p:nvPr/>
          </p:nvSpPr>
          <p:spPr>
            <a:xfrm>
              <a:off x="599694" y="1568450"/>
              <a:ext cx="677285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另一示範情境：樂天主場防守　｜　魔神龍已投 95 球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01218" y="1978025"/>
              <a:ext cx="623620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6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8 局上 0 : 0，兩出局二三壘有人；後續三棒：郭天信、李凱威、吉力吉撈．鞏冠</a:t>
              </a:r>
            </a:p>
          </p:txBody>
        </p:sp>
      </p:grpSp>
      <p:grpSp>
        <p:nvGrpSpPr>
          <p:cNvPr id="11" name="bullpen-chart"/>
          <p:cNvGrpSpPr/>
          <p:nvPr/>
        </p:nvGrpSpPr>
        <p:grpSpPr>
          <a:xfrm>
            <a:off x="613299" y="2457450"/>
            <a:ext cx="10965403" cy="2190750"/>
            <a:chOff x="613299" y="2457450"/>
            <a:chExt cx="10965403" cy="2190750"/>
          </a:xfrm>
        </p:grpSpPr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13299" y="2457450"/>
              <a:ext cx="10965403" cy="2190750"/>
            </a:xfrm>
            <a:prstGeom prst="rect">
              <a:avLst/>
            </a:prstGeom>
          </p:spPr>
        </p:pic>
      </p:grpSp>
      <p:grpSp>
        <p:nvGrpSpPr>
          <p:cNvPr id="14" name="bullpen-best"/>
          <p:cNvGrpSpPr/>
          <p:nvPr/>
        </p:nvGrpSpPr>
        <p:grpSpPr>
          <a:xfrm>
            <a:off x="597408" y="5013325"/>
            <a:ext cx="3320689" cy="908431"/>
            <a:chOff x="597408" y="5013325"/>
            <a:chExt cx="3320689" cy="908431"/>
          </a:xfrm>
        </p:grpSpPr>
        <p:sp>
          <p:nvSpPr>
            <p:cNvPr id="12" name="TextBox 12"/>
            <p:cNvSpPr txBox="1"/>
            <p:nvPr/>
          </p:nvSpPr>
          <p:spPr>
            <a:xfrm>
              <a:off x="597408" y="5013325"/>
              <a:ext cx="332068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2000" b="1" dirty="0">
                  <a:solidFill>
                    <a:srgbClr val="237A53"/>
                  </a:solidFill>
                  <a:latin typeface="+mn-lt"/>
                  <a:ea typeface="+mn-ea"/>
                  <a:cs typeface="+mn-cs"/>
                </a:rPr>
                <a:t>朱承洋　+2.51 百分點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99694" y="5540375"/>
              <a:ext cx="290741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相對魔神龍的模型勝率差</a:t>
              </a:r>
            </a:p>
          </p:txBody>
        </p:sp>
      </p:grpSp>
      <p:grpSp>
        <p:nvGrpSpPr>
          <p:cNvPr id="17" name="bullpen-reminders"/>
          <p:cNvGrpSpPr/>
          <p:nvPr/>
        </p:nvGrpSpPr>
        <p:grpSpPr>
          <a:xfrm>
            <a:off x="6390132" y="5051425"/>
            <a:ext cx="3413760" cy="1075182"/>
            <a:chOff x="6390132" y="5051425"/>
            <a:chExt cx="3413760" cy="1075182"/>
          </a:xfrm>
        </p:grpSpPr>
        <p:sp>
          <p:nvSpPr>
            <p:cNvPr id="15" name="TextBox 15"/>
            <p:cNvSpPr txBox="1"/>
            <p:nvPr/>
          </p:nvSpPr>
          <p:spPr>
            <a:xfrm>
              <a:off x="6390132" y="5051425"/>
              <a:ext cx="341376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候選差距與資料提醒一起看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392418" y="5480050"/>
              <a:ext cx="1693164" cy="6465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6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陳冠宇：模型分歧</a:t>
              </a:r>
              <a:br>
                <a:rPr lang="zh-TW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zh-TW" sz="16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盧冠宇：資料有限</a:t>
              </a: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1365992" y="6445250"/>
            <a:ext cx="2136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chapter-kicker"/>
          <p:cNvGrpSpPr/>
          <p:nvPr/>
        </p:nvGrpSpPr>
        <p:grpSpPr>
          <a:xfrm>
            <a:off x="602742" y="177800"/>
            <a:ext cx="2030997" cy="264033"/>
            <a:chOff x="602742" y="177800"/>
            <a:chExt cx="2030997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177800"/>
              <a:ext cx="20309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6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　網站成果與決策體驗</a:t>
              </a:r>
            </a:p>
          </p:txBody>
        </p:sp>
      </p:grpSp>
      <p:grpSp>
        <p:nvGrpSpPr>
          <p:cNvPr id="5" name="title"/>
          <p:cNvGrpSpPr/>
          <p:nvPr/>
        </p:nvGrpSpPr>
        <p:grpSpPr>
          <a:xfrm>
            <a:off x="592836" y="546100"/>
            <a:ext cx="6252972" cy="645414"/>
            <a:chOff x="592836" y="546100"/>
            <a:chExt cx="6252972" cy="645414"/>
          </a:xfrm>
        </p:grpSpPr>
        <p:sp>
          <p:nvSpPr>
            <p:cNvPr id="4" name="TextBox 4"/>
            <p:cNvSpPr txBox="1"/>
            <p:nvPr/>
          </p:nvSpPr>
          <p:spPr>
            <a:xfrm>
              <a:off x="592836" y="546100"/>
              <a:ext cx="625297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近期配球變了：魔力藍對右打多投低落</a:t>
              </a:r>
            </a:p>
          </p:txBody>
        </p:sp>
      </p:grpSp>
      <p:grpSp>
        <p:nvGrpSpPr>
          <p:cNvPr id="13" name="sample-reading"/>
          <p:cNvGrpSpPr/>
          <p:nvPr/>
        </p:nvGrpSpPr>
        <p:grpSpPr>
          <a:xfrm>
            <a:off x="5645658" y="1765300"/>
            <a:ext cx="4556760" cy="3731768"/>
            <a:chOff x="5645658" y="1765300"/>
            <a:chExt cx="4556760" cy="3731768"/>
          </a:xfrm>
        </p:grpSpPr>
        <p:sp>
          <p:nvSpPr>
            <p:cNvPr id="9" name="TextBox 9"/>
            <p:cNvSpPr txBox="1"/>
            <p:nvPr/>
          </p:nvSpPr>
          <p:spPr>
            <a:xfrm>
              <a:off x="5645658" y="1765300"/>
              <a:ext cx="228600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2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魔力藍面對右打（9/20 賽前）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647182" y="2400300"/>
              <a:ext cx="2634996" cy="8679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基準期　10 場、428 球</a:t>
              </a:r>
              <a:br>
                <a:rPr lang="zh-TW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近期　　 5 場、258 球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645658" y="3651250"/>
              <a:ext cx="390144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20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樣本充足，變化明顯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647182" y="4286250"/>
              <a:ext cx="4555236" cy="12108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低落球比例增加約 16 個百分點，</a:t>
              </a:r>
              <a:br>
                <a:rPr lang="zh-TW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速球減少約 11 個百分點；</a:t>
              </a:r>
              <a:br>
                <a:rPr lang="zh-TW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可作為右打代打的準備參考。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1375631" y="6445250"/>
            <a:ext cx="2136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TW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16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9600" y="1581150"/>
            <a:ext cx="4572000" cy="3533775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38200" y="180975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1">
                <a:solidFill>
                  <a:srgbClr val="1B334D"/>
                </a:solidFill>
              </a:rPr>
              <a:t>同條件近期配球變化</a:t>
            </a:r>
            <a:r>
              <a:rPr sz="1600" b="0">
                <a:solidFill>
                  <a:srgbClr val="5F6670"/>
                </a:solidFill>
              </a:rPr>
              <a:t>　魔力藍・面對右打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8200" y="2312670"/>
            <a:ext cx="4114800" cy="411480"/>
          </a:xfrm>
          <a:prstGeom prst="roundRect">
            <a:avLst>
              <a:gd name="adj" fmla="val 20000"/>
            </a:avLst>
          </a:prstGeom>
          <a:solidFill>
            <a:srgbClr val="DF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75360" y="2312670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1">
                <a:solidFill>
                  <a:srgbClr val="237A53"/>
                </a:solidFill>
              </a:rPr>
              <a:t>同條件配球比較・樣本充足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8200" y="2907030"/>
            <a:ext cx="1965960" cy="118872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75360" y="2998470"/>
            <a:ext cx="16916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1">
                <a:solidFill>
                  <a:srgbClr val="1B334D"/>
                </a:solidFill>
              </a:rPr>
              <a:t>之前最多 10 場</a:t>
            </a:r>
            <a:r>
              <a:rPr sz="1600" b="0">
                <a:solidFill>
                  <a:srgbClr val="5F6670"/>
                </a:solidFill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5F6670"/>
                </a:solidFill>
              </a:rPr>
              <a:t>05-17 至 08-02</a:t>
            </a:r>
            <a:r>
              <a:rPr sz="1600" b="1">
                <a:solidFill>
                  <a:srgbClr val="1B334D"/>
                </a:solidFill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600" b="1">
                <a:solidFill>
                  <a:srgbClr val="1B334D"/>
                </a:solidFill>
              </a:rPr>
              <a:t>10 場・428 球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987040" y="2907030"/>
            <a:ext cx="1965960" cy="118872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3124200" y="2998470"/>
            <a:ext cx="16916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1">
                <a:solidFill>
                  <a:srgbClr val="1B334D"/>
                </a:solidFill>
              </a:rPr>
              <a:t>最近 5 場</a:t>
            </a:r>
            <a:r>
              <a:rPr sz="1600" b="0">
                <a:solidFill>
                  <a:srgbClr val="5F6670"/>
                </a:solidFill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5F6670"/>
                </a:solidFill>
              </a:rPr>
              <a:t>08-08 至 09-14</a:t>
            </a:r>
            <a:r>
              <a:rPr sz="1600" b="1">
                <a:solidFill>
                  <a:srgbClr val="1B334D"/>
                </a:solidFill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600" b="1">
                <a:solidFill>
                  <a:srgbClr val="1B334D"/>
                </a:solidFill>
              </a:rPr>
              <a:t>5 場・258 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200" y="4278630"/>
            <a:ext cx="4114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1">
                <a:solidFill>
                  <a:srgbClr val="1B334D"/>
                </a:solidFill>
              </a:rPr>
              <a:t>低落　18% → 34%</a:t>
            </a:r>
            <a:r>
              <a:rPr sz="1600" b="1">
                <a:solidFill>
                  <a:srgbClr val="B54736"/>
                </a:solidFill>
              </a:rPr>
              <a:t>（+16）</a:t>
            </a:r>
            <a:r>
              <a:rPr sz="1600" b="0">
                <a:solidFill>
                  <a:srgbClr val="1B334D"/>
                </a:solidFill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1B334D"/>
                </a:solidFill>
              </a:rPr>
              <a:t>速球　53% → 41%</a:t>
            </a:r>
            <a:r>
              <a:rPr sz="1600" b="0">
                <a:solidFill>
                  <a:srgbClr val="5F6670"/>
                </a:solidFill>
              </a:rPr>
              <a:t>（−11）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chapter-kicker"/>
          <p:cNvGrpSpPr/>
          <p:nvPr/>
        </p:nvGrpSpPr>
        <p:grpSpPr>
          <a:xfrm>
            <a:off x="602742" y="177800"/>
            <a:ext cx="2030997" cy="264033"/>
            <a:chOff x="602742" y="177800"/>
            <a:chExt cx="2030997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177800"/>
              <a:ext cx="20309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6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　網站成果與決策體驗</a:t>
              </a:r>
            </a:p>
          </p:txBody>
        </p:sp>
      </p:grpSp>
      <p:grpSp>
        <p:nvGrpSpPr>
          <p:cNvPr id="5" name="title"/>
          <p:cNvGrpSpPr/>
          <p:nvPr/>
        </p:nvGrpSpPr>
        <p:grpSpPr>
          <a:xfrm>
            <a:off x="592836" y="546100"/>
            <a:ext cx="6697218" cy="645414"/>
            <a:chOff x="592836" y="546100"/>
            <a:chExt cx="6697218" cy="645414"/>
          </a:xfrm>
        </p:grpSpPr>
        <p:sp>
          <p:nvSpPr>
            <p:cNvPr id="4" name="TextBox 4"/>
            <p:cNvSpPr txBox="1"/>
            <p:nvPr/>
          </p:nvSpPr>
          <p:spPr>
            <a:xfrm>
              <a:off x="592836" y="546100"/>
              <a:ext cx="669721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歷史回放，對照建議、調度與結果</a:t>
              </a:r>
            </a:p>
          </p:txBody>
        </p:sp>
      </p:grpSp>
      <p:grpSp>
        <p:nvGrpSpPr>
          <p:cNvPr id="8" name="replay-source"/>
          <p:cNvGrpSpPr/>
          <p:nvPr/>
        </p:nvGrpSpPr>
        <p:grpSpPr>
          <a:xfrm>
            <a:off x="599694" y="1511300"/>
            <a:ext cx="6757762" cy="381381"/>
            <a:chOff x="599694" y="1511300"/>
            <a:chExt cx="6757762" cy="381381"/>
          </a:xfrm>
        </p:grpSpPr>
        <p:sp>
          <p:nvSpPr>
            <p:cNvPr id="7" name="TextBox 7"/>
            <p:cNvSpPr txBox="1"/>
            <p:nvPr/>
          </p:nvSpPr>
          <p:spPr>
            <a:xfrm>
              <a:off x="599694" y="1511300"/>
              <a:ext cx="675776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2025-09-20　台鋼對富邦，7 局上　｜　林家鋐對魔力藍</a:t>
              </a:r>
            </a:p>
          </p:txBody>
        </p:sp>
      </p:grpSp>
      <p:grpSp>
        <p:nvGrpSpPr>
          <p:cNvPr id="14" name="replay-message"/>
          <p:cNvGrpSpPr/>
          <p:nvPr/>
        </p:nvGrpSpPr>
        <p:grpSpPr>
          <a:xfrm>
            <a:off x="7722108" y="2136775"/>
            <a:ext cx="2384679" cy="1784731"/>
            <a:chOff x="7722108" y="2136775"/>
            <a:chExt cx="2384679" cy="1784731"/>
          </a:xfrm>
        </p:grpSpPr>
        <p:sp>
          <p:nvSpPr>
            <p:cNvPr id="11" name="TextBox 11"/>
            <p:cNvSpPr txBox="1"/>
            <p:nvPr/>
          </p:nvSpPr>
          <p:spPr>
            <a:xfrm>
              <a:off x="7722108" y="2136775"/>
              <a:ext cx="228600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2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回到當時的資訊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24394" y="2676525"/>
              <a:ext cx="2248662" cy="7814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對照模型與實際調度</a:t>
              </a:r>
              <a:br>
                <a:rPr lang="zh-TW" sz="19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zh-TW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單一打席結果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724394" y="3540125"/>
              <a:ext cx="238239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不足以判定調度優劣</a:t>
              </a:r>
            </a:p>
          </p:txBody>
        </p:sp>
      </p:grpSp>
      <p:grpSp>
        <p:nvGrpSpPr>
          <p:cNvPr id="17" name="model-choice"/>
          <p:cNvGrpSpPr/>
          <p:nvPr/>
        </p:nvGrpSpPr>
        <p:grpSpPr>
          <a:xfrm>
            <a:off x="598932" y="4702175"/>
            <a:ext cx="2282952" cy="836168"/>
            <a:chOff x="598932" y="4702175"/>
            <a:chExt cx="2282952" cy="836168"/>
          </a:xfrm>
        </p:grpSpPr>
        <p:sp>
          <p:nvSpPr>
            <p:cNvPr id="15" name="TextBox 15"/>
            <p:cNvSpPr txBox="1"/>
            <p:nvPr/>
          </p:nvSpPr>
          <p:spPr>
            <a:xfrm>
              <a:off x="601218" y="4702175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6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系統評估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98932" y="5127625"/>
              <a:ext cx="228295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郭永維 +0.54，可直接接守</a:t>
              </a:r>
            </a:p>
          </p:txBody>
        </p:sp>
      </p:grpSp>
      <p:grpSp>
        <p:nvGrpSpPr>
          <p:cNvPr id="20" name="actual-choice"/>
          <p:cNvGrpSpPr/>
          <p:nvPr/>
        </p:nvGrpSpPr>
        <p:grpSpPr>
          <a:xfrm>
            <a:off x="4294632" y="4702175"/>
            <a:ext cx="1434846" cy="836168"/>
            <a:chOff x="4294632" y="4702175"/>
            <a:chExt cx="1434846" cy="836168"/>
          </a:xfrm>
        </p:grpSpPr>
        <p:sp>
          <p:nvSpPr>
            <p:cNvPr id="18" name="TextBox 18"/>
            <p:cNvSpPr txBox="1"/>
            <p:nvPr/>
          </p:nvSpPr>
          <p:spPr>
            <a:xfrm>
              <a:off x="4296918" y="4702175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6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實際調度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294632" y="5127625"/>
              <a:ext cx="14348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郭永維代打</a:t>
              </a:r>
            </a:p>
          </p:txBody>
        </p:sp>
      </p:grpSp>
      <p:grpSp>
        <p:nvGrpSpPr>
          <p:cNvPr id="23" name="actual-result"/>
          <p:cNvGrpSpPr/>
          <p:nvPr/>
        </p:nvGrpSpPr>
        <p:grpSpPr>
          <a:xfrm>
            <a:off x="7990332" y="4702175"/>
            <a:ext cx="907542" cy="836168"/>
            <a:chOff x="7990332" y="4702175"/>
            <a:chExt cx="907542" cy="836168"/>
          </a:xfrm>
        </p:grpSpPr>
        <p:sp>
          <p:nvSpPr>
            <p:cNvPr id="21" name="TextBox 21"/>
            <p:cNvSpPr txBox="1"/>
            <p:nvPr/>
          </p:nvSpPr>
          <p:spPr>
            <a:xfrm>
              <a:off x="7992618" y="4702175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6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打席結果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990332" y="5127625"/>
              <a:ext cx="5867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一壘安打</a:t>
              </a:r>
            </a:p>
          </p:txBody>
        </p:sp>
      </p:grpSp>
      <p:grpSp>
        <p:nvGrpSpPr>
          <p:cNvPr id="25" name="replay-limit"/>
          <p:cNvGrpSpPr/>
          <p:nvPr/>
        </p:nvGrpSpPr>
        <p:grpSpPr>
          <a:xfrm>
            <a:off x="601218" y="5921375"/>
            <a:ext cx="5569839" cy="322707"/>
            <a:chOff x="601218" y="5921375"/>
            <a:chExt cx="5569839" cy="322707"/>
          </a:xfrm>
        </p:grpSpPr>
        <p:sp>
          <p:nvSpPr>
            <p:cNvPr id="24" name="TextBox 24"/>
            <p:cNvSpPr txBox="1"/>
            <p:nvPr/>
          </p:nvSpPr>
          <p:spPr>
            <a:xfrm>
              <a:off x="601218" y="5921375"/>
              <a:ext cx="55698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6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教練的選擇也在系統的正向名單中；網站「2025 單日分析」可點選此打席重現。</a:t>
              </a:r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1365992" y="6445250"/>
            <a:ext cx="2136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17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9600" y="2028825"/>
            <a:ext cx="6667500" cy="2181225"/>
          </a:xfrm>
          <a:prstGeom prst="roundRect">
            <a:avLst>
              <a:gd name="adj" fmla="val 5000"/>
            </a:avLst>
          </a:prstGeom>
          <a:solidFill>
            <a:srgbClr val="1B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83920" y="2257425"/>
            <a:ext cx="1097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7</a:t>
            </a:r>
            <a:r>
              <a:rPr sz="1600" b="0">
                <a:solidFill>
                  <a:srgbClr val="FFFFFF"/>
                </a:solidFill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FFFFFF"/>
                </a:solidFill>
              </a:rPr>
              <a:t>局上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72640" y="2303145"/>
            <a:ext cx="49301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台鋼雄鷹　</a:t>
            </a:r>
            <a:r>
              <a:rPr sz="3600" b="1">
                <a:solidFill>
                  <a:srgbClr val="FFFFFF"/>
                </a:solidFill>
              </a:rPr>
              <a:t>0 : 2</a:t>
            </a:r>
            <a:r>
              <a:rPr sz="1800" b="0">
                <a:solidFill>
                  <a:srgbClr val="FFFFFF"/>
                </a:solidFill>
              </a:rPr>
              <a:t>　富邦悍將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3920" y="3217545"/>
            <a:ext cx="61188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FFFFFF"/>
                </a:solidFill>
              </a:rPr>
              <a:t>1 出局・一壘有人</a:t>
            </a:r>
            <a:r>
              <a:rPr sz="1600" b="0">
                <a:solidFill>
                  <a:srgbClr val="FFFFFF"/>
                </a:solidFill>
              </a:rPr>
              <a:t>　｜　投手 魔力藍（左投，先發已投 98 球）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3920" y="3674745"/>
            <a:ext cx="61188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1">
                <a:solidFill>
                  <a:srgbClr val="FFFFFF"/>
                </a:solidFill>
              </a:rPr>
              <a:t>局勢張力：高張力</a:t>
            </a:r>
            <a:r>
              <a:rPr sz="1600" b="0">
                <a:solidFill>
                  <a:srgbClr val="FFFFFF"/>
                </a:solidFill>
              </a:rPr>
              <a:t>　1 分 ≈ 15.3 百分點（聯盟平均 8.6）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chapter-kicker"/>
          <p:cNvGrpSpPr/>
          <p:nvPr/>
        </p:nvGrpSpPr>
        <p:grpSpPr>
          <a:xfrm>
            <a:off x="602742" y="177800"/>
            <a:ext cx="2030997" cy="264033"/>
            <a:chOff x="602742" y="177800"/>
            <a:chExt cx="2030997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177800"/>
              <a:ext cx="20309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6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　網站成果與決策體驗</a:t>
              </a:r>
            </a:p>
          </p:txBody>
        </p:sp>
      </p:grpSp>
      <p:grpSp>
        <p:nvGrpSpPr>
          <p:cNvPr id="5" name="title"/>
          <p:cNvGrpSpPr/>
          <p:nvPr/>
        </p:nvGrpSpPr>
        <p:grpSpPr>
          <a:xfrm>
            <a:off x="592836" y="546100"/>
            <a:ext cx="5808726" cy="645414"/>
            <a:chOff x="592836" y="546100"/>
            <a:chExt cx="5808726" cy="645414"/>
          </a:xfrm>
        </p:grpSpPr>
        <p:sp>
          <p:nvSpPr>
            <p:cNvPr id="4" name="TextBox 4"/>
            <p:cNvSpPr txBox="1"/>
            <p:nvPr/>
          </p:nvSpPr>
          <p:spPr>
            <a:xfrm>
              <a:off x="592836" y="546100"/>
              <a:ext cx="580872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先設局勢，再讀摘要、查明細</a:t>
              </a:r>
            </a:p>
          </p:txBody>
        </p:sp>
      </p:grpSp>
      <p:grpSp>
        <p:nvGrpSpPr>
          <p:cNvPr id="13" name="layout-purpose"/>
          <p:cNvGrpSpPr/>
          <p:nvPr/>
        </p:nvGrpSpPr>
        <p:grpSpPr>
          <a:xfrm>
            <a:off x="597408" y="5556250"/>
            <a:ext cx="2463927" cy="792607"/>
            <a:chOff x="597408" y="5556250"/>
            <a:chExt cx="2463927" cy="792607"/>
          </a:xfrm>
        </p:grpSpPr>
        <p:sp>
          <p:nvSpPr>
            <p:cNvPr id="11" name="TextBox 11"/>
            <p:cNvSpPr txBox="1"/>
            <p:nvPr/>
          </p:nvSpPr>
          <p:spPr>
            <a:xfrm>
              <a:off x="597408" y="5556250"/>
              <a:ext cx="201299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2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01　設定局勢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01218" y="6026150"/>
              <a:ext cx="24601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6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左側保留設定，方便對照</a:t>
              </a:r>
            </a:p>
          </p:txBody>
        </p:sp>
      </p:grpSp>
      <p:grpSp>
        <p:nvGrpSpPr>
          <p:cNvPr id="16" name="hierarchy-purpose"/>
          <p:cNvGrpSpPr/>
          <p:nvPr/>
        </p:nvGrpSpPr>
        <p:grpSpPr>
          <a:xfrm>
            <a:off x="4445508" y="5556250"/>
            <a:ext cx="2336079" cy="792607"/>
            <a:chOff x="4445508" y="5556250"/>
            <a:chExt cx="2336079" cy="792607"/>
          </a:xfrm>
        </p:grpSpPr>
        <p:sp>
          <p:nvSpPr>
            <p:cNvPr id="14" name="TextBox 14"/>
            <p:cNvSpPr txBox="1"/>
            <p:nvPr/>
          </p:nvSpPr>
          <p:spPr>
            <a:xfrm>
              <a:off x="4445508" y="5556250"/>
              <a:ext cx="233607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2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02　讀調度摘要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449318" y="6026150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6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先看續打或換人的判讀</a:t>
              </a:r>
            </a:p>
          </p:txBody>
        </p:sp>
      </p:grpSp>
      <p:grpSp>
        <p:nvGrpSpPr>
          <p:cNvPr id="19" name="baseline-purpose"/>
          <p:cNvGrpSpPr/>
          <p:nvPr/>
        </p:nvGrpSpPr>
        <p:grpSpPr>
          <a:xfrm>
            <a:off x="8293608" y="5556250"/>
            <a:ext cx="2336079" cy="792607"/>
            <a:chOff x="8293608" y="5556250"/>
            <a:chExt cx="2336079" cy="792607"/>
          </a:xfrm>
        </p:grpSpPr>
        <p:sp>
          <p:nvSpPr>
            <p:cNvPr id="17" name="TextBox 17"/>
            <p:cNvSpPr txBox="1"/>
            <p:nvPr/>
          </p:nvSpPr>
          <p:spPr>
            <a:xfrm>
              <a:off x="8293608" y="5556250"/>
              <a:ext cx="233607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2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03　查候選明細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297418" y="6026150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6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再比較人選差距與提醒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1375631" y="6445250"/>
            <a:ext cx="2136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TW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18</a:t>
            </a:r>
          </a:p>
        </p:txBody>
      </p:sp>
      <p:pic>
        <p:nvPicPr>
          <p:cNvPr id="21" name="Picture 20" descr="form_to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1466850"/>
            <a:ext cx="2083976" cy="3921166"/>
          </a:xfrm>
          <a:prstGeom prst="rect">
            <a:avLst/>
          </a:prstGeom>
        </p:spPr>
      </p:pic>
      <p:pic>
        <p:nvPicPr>
          <p:cNvPr id="22" name="Picture 21" descr="result_summar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22176" y="1466850"/>
            <a:ext cx="6687176" cy="2669477"/>
          </a:xfrm>
          <a:prstGeom prst="rect">
            <a:avLst/>
          </a:prstGeom>
        </p:spPr>
      </p:pic>
      <p:pic>
        <p:nvPicPr>
          <p:cNvPr id="23" name="Picture 22" descr="row_bes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22176" y="4273488"/>
            <a:ext cx="6687176" cy="111452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chapter-kicker"/>
          <p:cNvGrpSpPr/>
          <p:nvPr/>
        </p:nvGrpSpPr>
        <p:grpSpPr>
          <a:xfrm>
            <a:off x="602742" y="177800"/>
            <a:ext cx="2030997" cy="264033"/>
            <a:chOff x="602742" y="177800"/>
            <a:chExt cx="2030997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177800"/>
              <a:ext cx="20309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6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　網站成果與決策體驗</a:t>
              </a:r>
            </a:p>
          </p:txBody>
        </p:sp>
      </p:grpSp>
      <p:grpSp>
        <p:nvGrpSpPr>
          <p:cNvPr id="5" name="title"/>
          <p:cNvGrpSpPr/>
          <p:nvPr/>
        </p:nvGrpSpPr>
        <p:grpSpPr>
          <a:xfrm>
            <a:off x="592836" y="546100"/>
            <a:ext cx="6697218" cy="645414"/>
            <a:chOff x="592836" y="546100"/>
            <a:chExt cx="6697218" cy="645414"/>
          </a:xfrm>
        </p:grpSpPr>
        <p:sp>
          <p:nvSpPr>
            <p:cNvPr id="4" name="TextBox 4"/>
            <p:cNvSpPr txBox="1"/>
            <p:nvPr/>
          </p:nvSpPr>
          <p:spPr>
            <a:xfrm>
              <a:off x="592836" y="546100"/>
              <a:ext cx="669721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提醒放在人選旁，判斷時就看得見</a:t>
              </a:r>
            </a:p>
          </p:txBody>
        </p:sp>
      </p:grpSp>
      <p:grpSp>
        <p:nvGrpSpPr>
          <p:cNvPr id="12" name="cover-reading"/>
          <p:cNvGrpSpPr/>
          <p:nvPr/>
        </p:nvGrpSpPr>
        <p:grpSpPr>
          <a:xfrm>
            <a:off x="5247132" y="1727200"/>
            <a:ext cx="4261866" cy="1020318"/>
            <a:chOff x="5247132" y="1727200"/>
            <a:chExt cx="4261866" cy="1020318"/>
          </a:xfrm>
        </p:grpSpPr>
        <p:sp>
          <p:nvSpPr>
            <p:cNvPr id="9" name="TextBox 9"/>
            <p:cNvSpPr txBox="1"/>
            <p:nvPr/>
          </p:nvSpPr>
          <p:spPr>
            <a:xfrm>
              <a:off x="5249418" y="1778000"/>
              <a:ext cx="26109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6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817108" y="1727200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2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接守需求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247132" y="2336800"/>
              <a:ext cx="426186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提醒代打後還需要安排哪個守位。</a:t>
              </a:r>
            </a:p>
          </p:txBody>
        </p:sp>
      </p:grpSp>
      <p:grpSp>
        <p:nvGrpSpPr>
          <p:cNvPr id="14" name="model-screen"/>
          <p:cNvGrpSpPr/>
          <p:nvPr/>
        </p:nvGrpSpPr>
        <p:grpSpPr>
          <a:xfrm>
            <a:off x="609600" y="3276600"/>
            <a:ext cx="4000500" cy="1181100"/>
            <a:chOff x="609600" y="3276600"/>
            <a:chExt cx="4000500" cy="1181100"/>
          </a:xfrm>
        </p:grpSpPr>
        <p:pic>
          <p:nvPicPr>
            <p:cNvPr id="13" name="Image 1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3276600"/>
              <a:ext cx="4000500" cy="1181100"/>
            </a:xfrm>
            <a:prstGeom prst="rect">
              <a:avLst/>
            </a:prstGeom>
          </p:spPr>
        </p:pic>
      </p:grpSp>
      <p:grpSp>
        <p:nvGrpSpPr>
          <p:cNvPr id="18" name="model-reading"/>
          <p:cNvGrpSpPr/>
          <p:nvPr/>
        </p:nvGrpSpPr>
        <p:grpSpPr>
          <a:xfrm>
            <a:off x="5247132" y="3270250"/>
            <a:ext cx="3979164" cy="1020318"/>
            <a:chOff x="5247132" y="3270250"/>
            <a:chExt cx="3979164" cy="1020318"/>
          </a:xfrm>
        </p:grpSpPr>
        <p:sp>
          <p:nvSpPr>
            <p:cNvPr id="15" name="TextBox 15"/>
            <p:cNvSpPr txBox="1"/>
            <p:nvPr/>
          </p:nvSpPr>
          <p:spPr>
            <a:xfrm>
              <a:off x="5249418" y="3321050"/>
              <a:ext cx="26109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6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817108" y="3270250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2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模型分歧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247132" y="3879850"/>
              <a:ext cx="397916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標示估計結果存在分歧的人選。</a:t>
              </a:r>
            </a:p>
          </p:txBody>
        </p:sp>
      </p:grpSp>
      <p:grpSp>
        <p:nvGrpSpPr>
          <p:cNvPr id="20" name="sample-screen"/>
          <p:cNvGrpSpPr/>
          <p:nvPr/>
        </p:nvGrpSpPr>
        <p:grpSpPr>
          <a:xfrm>
            <a:off x="621030" y="4819650"/>
            <a:ext cx="3977640" cy="1200150"/>
            <a:chOff x="621030" y="4819650"/>
            <a:chExt cx="3977640" cy="1200150"/>
          </a:xfrm>
        </p:grpSpPr>
        <p:pic>
          <p:nvPicPr>
            <p:cNvPr id="19" name="Image 1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21030" y="4819650"/>
              <a:ext cx="3977640" cy="1200150"/>
            </a:xfrm>
            <a:prstGeom prst="rect">
              <a:avLst/>
            </a:prstGeom>
          </p:spPr>
        </p:pic>
      </p:grpSp>
      <p:grpSp>
        <p:nvGrpSpPr>
          <p:cNvPr id="24" name="sample-reading"/>
          <p:cNvGrpSpPr/>
          <p:nvPr/>
        </p:nvGrpSpPr>
        <p:grpSpPr>
          <a:xfrm>
            <a:off x="5247132" y="4813300"/>
            <a:ext cx="4261866" cy="1020318"/>
            <a:chOff x="5247132" y="4813300"/>
            <a:chExt cx="4261866" cy="1020318"/>
          </a:xfrm>
        </p:grpSpPr>
        <p:sp>
          <p:nvSpPr>
            <p:cNvPr id="21" name="TextBox 21"/>
            <p:cNvSpPr txBox="1"/>
            <p:nvPr/>
          </p:nvSpPr>
          <p:spPr>
            <a:xfrm>
              <a:off x="5249418" y="4864100"/>
              <a:ext cx="26109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6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817108" y="4813300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2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資料有限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247132" y="5422900"/>
              <a:ext cx="426186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比較差距時，同步看見樣本限制。</a:t>
              </a:r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11365992" y="6445250"/>
            <a:ext cx="2136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19</a:t>
            </a:r>
          </a:p>
        </p:txBody>
      </p:sp>
      <p:pic>
        <p:nvPicPr>
          <p:cNvPr id="26" name="Picture 25" descr="cover_cro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6218" y="1792594"/>
            <a:ext cx="2767263" cy="102491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chapter-kicker"/>
          <p:cNvGrpSpPr/>
          <p:nvPr/>
        </p:nvGrpSpPr>
        <p:grpSpPr>
          <a:xfrm>
            <a:off x="602742" y="177800"/>
            <a:ext cx="1304049" cy="264033"/>
            <a:chOff x="602742" y="177800"/>
            <a:chExt cx="1304049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177800"/>
              <a:ext cx="13040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6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　網站成果與決策體驗</a:t>
              </a:r>
            </a:p>
          </p:txBody>
        </p:sp>
      </p:grpSp>
      <p:grpSp>
        <p:nvGrpSpPr>
          <p:cNvPr id="5" name="title"/>
          <p:cNvGrpSpPr/>
          <p:nvPr/>
        </p:nvGrpSpPr>
        <p:grpSpPr>
          <a:xfrm>
            <a:off x="592836" y="546100"/>
            <a:ext cx="6697218" cy="645414"/>
            <a:chOff x="592836" y="546100"/>
            <a:chExt cx="6697218" cy="645414"/>
          </a:xfrm>
        </p:grpSpPr>
        <p:sp>
          <p:nvSpPr>
            <p:cNvPr id="4" name="TextBox 4"/>
            <p:cNvSpPr txBox="1"/>
            <p:nvPr/>
          </p:nvSpPr>
          <p:spPr>
            <a:xfrm>
              <a:off x="592836" y="546100"/>
              <a:ext cx="669721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成果亮點：可驗證、可操作、可重現</a:t>
              </a:r>
            </a:p>
          </p:txBody>
        </p:sp>
      </p:grpSp>
      <p:grpSp>
        <p:nvGrpSpPr>
          <p:cNvPr id="12" name="rank"/>
          <p:cNvGrpSpPr/>
          <p:nvPr/>
        </p:nvGrpSpPr>
        <p:grpSpPr>
          <a:xfrm>
            <a:off x="590550" y="1758950"/>
            <a:ext cx="2753106" cy="3086481"/>
            <a:chOff x="590550" y="1758950"/>
            <a:chExt cx="2753106" cy="3086481"/>
          </a:xfrm>
        </p:grpSpPr>
        <p:sp>
          <p:nvSpPr>
            <p:cNvPr id="7" name="TextBox 7"/>
            <p:cNvSpPr txBox="1"/>
            <p:nvPr/>
          </p:nvSpPr>
          <p:spPr>
            <a:xfrm>
              <a:off x="601218" y="1758950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6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資料規模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97408" y="2184400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2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2024–2025 中職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90550" y="2736850"/>
              <a:ext cx="1903933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4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 季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99694" y="3651250"/>
              <a:ext cx="2743962" cy="762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逐球與守位紀錄</a:t>
              </a:r>
              <a:br>
                <a:rPr lang="zh-TW" sz="19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</a:br>
              <a:r>
                <a:rPr lang="zh-TW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只用決策日前的資料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99694" y="4464050"/>
              <a:ext cx="264490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 隊預設名單與守位</a:t>
              </a:r>
            </a:p>
          </p:txBody>
        </p:sp>
      </p:grpSp>
      <p:grpSp>
        <p:nvGrpSpPr>
          <p:cNvPr id="18" name="difference"/>
          <p:cNvGrpSpPr/>
          <p:nvPr/>
        </p:nvGrpSpPr>
        <p:grpSpPr>
          <a:xfrm>
            <a:off x="4286250" y="1758950"/>
            <a:ext cx="2391537" cy="3086481"/>
            <a:chOff x="4286250" y="1758950"/>
            <a:chExt cx="2391537" cy="3086481"/>
          </a:xfrm>
        </p:grpSpPr>
        <p:sp>
          <p:nvSpPr>
            <p:cNvPr id="13" name="TextBox 13"/>
            <p:cNvSpPr txBox="1"/>
            <p:nvPr/>
          </p:nvSpPr>
          <p:spPr>
            <a:xfrm>
              <a:off x="4296918" y="1758950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6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實證結果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293108" y="2184400"/>
              <a:ext cx="163982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2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換投時機回測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286250" y="2736850"/>
              <a:ext cx="1903933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4800" b="1" dirty="0">
                  <a:solidFill>
                    <a:srgbClr val="237A53"/>
                  </a:solidFill>
                  <a:latin typeface="+mn-lt"/>
                  <a:ea typeface="+mn-ea"/>
                  <a:cs typeface="+mn-cs"/>
                </a:rPr>
                <a:t>+0.043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295394" y="3651250"/>
              <a:ext cx="1753362" cy="762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95% 區間不含 0</a:t>
              </a:r>
              <a:br>
                <a:rPr lang="zh-TW" sz="19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</a:br>
              <a:r>
                <a:rPr lang="zh-TW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11,962 個打席驗證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295394" y="4464050"/>
              <a:ext cx="238239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系統挑出的時機站得住</a:t>
              </a:r>
            </a:p>
          </p:txBody>
        </p:sp>
      </p:grpSp>
      <p:grpSp>
        <p:nvGrpSpPr>
          <p:cNvPr id="24" name="uncertainty"/>
          <p:cNvGrpSpPr/>
          <p:nvPr/>
        </p:nvGrpSpPr>
        <p:grpSpPr>
          <a:xfrm>
            <a:off x="7984236" y="1758950"/>
            <a:ext cx="2503170" cy="3086481"/>
            <a:chOff x="7984236" y="1758950"/>
            <a:chExt cx="2503170" cy="3086481"/>
          </a:xfrm>
        </p:grpSpPr>
        <p:sp>
          <p:nvSpPr>
            <p:cNvPr id="19" name="TextBox 19"/>
            <p:cNvSpPr txBox="1"/>
            <p:nvPr/>
          </p:nvSpPr>
          <p:spPr>
            <a:xfrm>
              <a:off x="7992618" y="1758950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6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即開即用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988808" y="2184400"/>
              <a:ext cx="99364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2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網頁版操作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984236" y="2927350"/>
              <a:ext cx="181051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25 秒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991094" y="3651250"/>
              <a:ext cx="2496312" cy="762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完成一次代打比較</a:t>
              </a:r>
              <a:br>
                <a:rPr lang="zh-TW" sz="19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</a:br>
              <a:r>
                <a:rPr lang="zh-TW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免安裝，手機也能用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991094" y="4464050"/>
              <a:ext cx="238239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簡報案例都能在網站重現</a:t>
              </a:r>
            </a:p>
          </p:txBody>
        </p:sp>
      </p:grpSp>
      <p:grpSp>
        <p:nvGrpSpPr>
          <p:cNvPr id="27" name="boundaries"/>
          <p:cNvGrpSpPr/>
          <p:nvPr/>
        </p:nvGrpSpPr>
        <p:grpSpPr>
          <a:xfrm>
            <a:off x="598932" y="5413375"/>
            <a:ext cx="6960394" cy="811657"/>
            <a:chOff x="598932" y="5413375"/>
            <a:chExt cx="6960394" cy="811657"/>
          </a:xfrm>
        </p:grpSpPr>
        <p:sp>
          <p:nvSpPr>
            <p:cNvPr id="25" name="TextBox 25"/>
            <p:cNvSpPr txBox="1"/>
            <p:nvPr/>
          </p:nvSpPr>
          <p:spPr>
            <a:xfrm>
              <a:off x="598932" y="5413375"/>
              <a:ext cx="397916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從「憑感覺換人」到「看清差距與代價再換人」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01218" y="5902325"/>
              <a:ext cx="695810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6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差多少、誰接守、憑什麼：三個問題，一個畫面回答。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11365992" y="6445250"/>
            <a:ext cx="2136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chapter-kicker"/>
          <p:cNvGrpSpPr/>
          <p:nvPr/>
        </p:nvGrpSpPr>
        <p:grpSpPr>
          <a:xfrm>
            <a:off x="602742" y="177800"/>
            <a:ext cx="2030997" cy="264033"/>
            <a:chOff x="602742" y="177800"/>
            <a:chExt cx="2030997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177800"/>
              <a:ext cx="20309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6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　未來規劃</a:t>
              </a:r>
            </a:p>
          </p:txBody>
        </p:sp>
      </p:grpSp>
      <p:grpSp>
        <p:nvGrpSpPr>
          <p:cNvPr id="5" name="title"/>
          <p:cNvGrpSpPr/>
          <p:nvPr/>
        </p:nvGrpSpPr>
        <p:grpSpPr>
          <a:xfrm>
            <a:off x="592836" y="546100"/>
            <a:ext cx="6697218" cy="645414"/>
            <a:chOff x="592836" y="546100"/>
            <a:chExt cx="6697218" cy="645414"/>
          </a:xfrm>
        </p:grpSpPr>
        <p:sp>
          <p:nvSpPr>
            <p:cNvPr id="4" name="TextBox 4"/>
            <p:cNvSpPr txBox="1"/>
            <p:nvPr/>
          </p:nvSpPr>
          <p:spPr>
            <a:xfrm>
              <a:off x="592836" y="546100"/>
              <a:ext cx="669721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目前的限制與未來規劃</a:t>
              </a:r>
            </a:p>
          </p:txBody>
        </p:sp>
      </p:grpSp>
      <p:grpSp>
        <p:nvGrpSpPr>
          <p:cNvPr id="8" name="fixed-title"/>
          <p:cNvGrpSpPr/>
          <p:nvPr/>
        </p:nvGrpSpPr>
        <p:grpSpPr>
          <a:xfrm>
            <a:off x="597408" y="1631950"/>
            <a:ext cx="2932176" cy="469392"/>
            <a:chOff x="597408" y="1631950"/>
            <a:chExt cx="2932176" cy="469392"/>
          </a:xfrm>
        </p:grpSpPr>
        <p:sp>
          <p:nvSpPr>
            <p:cNvPr id="7" name="TextBox 7"/>
            <p:cNvSpPr txBox="1"/>
            <p:nvPr/>
          </p:nvSpPr>
          <p:spPr>
            <a:xfrm>
              <a:off x="597408" y="1631950"/>
              <a:ext cx="293217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2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三項主要限制，對應三個改進方向</a:t>
              </a:r>
            </a:p>
          </p:txBody>
        </p:sp>
      </p:grpSp>
      <p:grpSp>
        <p:nvGrpSpPr>
          <p:cNvPr id="12" name="pitcher"/>
          <p:cNvGrpSpPr/>
          <p:nvPr/>
        </p:nvGrpSpPr>
        <p:grpSpPr>
          <a:xfrm>
            <a:off x="597408" y="2463800"/>
            <a:ext cx="1316736" cy="1369568"/>
            <a:chOff x="597408" y="2463800"/>
            <a:chExt cx="1316736" cy="1369568"/>
          </a:xfrm>
        </p:grpSpPr>
        <p:sp>
          <p:nvSpPr>
            <p:cNvPr id="9" name="TextBox 9"/>
            <p:cNvSpPr txBox="1"/>
            <p:nvPr/>
          </p:nvSpPr>
          <p:spPr>
            <a:xfrm>
              <a:off x="601218" y="2463800"/>
              <a:ext cx="26109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6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97408" y="2841625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2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可用名單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98932" y="3422650"/>
              <a:ext cx="5867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現況：出賽名單需人工確認</a:t>
              </a:r>
              <a:br>
                <a:rPr lang="zh-TW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</a:br>
              <a:r>
                <a:rPr lang="zh-TW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規劃：串接官方登錄與傷兵資訊</a:t>
              </a:r>
            </a:p>
          </p:txBody>
        </p:sp>
      </p:grpSp>
      <p:grpSp>
        <p:nvGrpSpPr>
          <p:cNvPr id="16" name="situation"/>
          <p:cNvGrpSpPr/>
          <p:nvPr/>
        </p:nvGrpSpPr>
        <p:grpSpPr>
          <a:xfrm>
            <a:off x="4293108" y="2463800"/>
            <a:ext cx="2423160" cy="1718818"/>
            <a:chOff x="4293108" y="2463800"/>
            <a:chExt cx="2423160" cy="1718818"/>
          </a:xfrm>
        </p:grpSpPr>
        <p:sp>
          <p:nvSpPr>
            <p:cNvPr id="13" name="TextBox 13"/>
            <p:cNvSpPr txBox="1"/>
            <p:nvPr/>
          </p:nvSpPr>
          <p:spPr>
            <a:xfrm>
              <a:off x="4296918" y="2463800"/>
              <a:ext cx="26109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6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293108" y="2841625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2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代打時機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294632" y="3371850"/>
              <a:ext cx="2421636" cy="8107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現況：回測差異尚不明顯</a:t>
              </a:r>
              <a:br>
                <a:rPr lang="zh-TW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</a:br>
              <a:r>
                <a:rPr lang="zh-TW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規劃：納入 2026 資料重訓驗證</a:t>
              </a:r>
            </a:p>
          </p:txBody>
        </p:sp>
      </p:grpSp>
      <p:grpSp>
        <p:nvGrpSpPr>
          <p:cNvPr id="20" name="current"/>
          <p:cNvGrpSpPr/>
          <p:nvPr/>
        </p:nvGrpSpPr>
        <p:grpSpPr>
          <a:xfrm>
            <a:off x="7988808" y="2463800"/>
            <a:ext cx="1356360" cy="1718818"/>
            <a:chOff x="7988808" y="2463800"/>
            <a:chExt cx="1356360" cy="1718818"/>
          </a:xfrm>
        </p:grpSpPr>
        <p:sp>
          <p:nvSpPr>
            <p:cNvPr id="17" name="TextBox 17"/>
            <p:cNvSpPr txBox="1"/>
            <p:nvPr/>
          </p:nvSpPr>
          <p:spPr>
            <a:xfrm>
              <a:off x="7992618" y="2463800"/>
              <a:ext cx="26109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6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988808" y="2841625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2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疲勞與近況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990332" y="3371850"/>
              <a:ext cx="1354836" cy="8107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現況：連投影響尚未證實</a:t>
              </a:r>
              <a:br>
                <a:rPr lang="zh-TW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</a:br>
              <a:r>
                <a:rPr lang="zh-TW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規劃：累積球數與休息再檢驗</a:t>
              </a:r>
            </a:p>
          </p:txBody>
        </p:sp>
      </p:grpSp>
      <p:grpSp>
        <p:nvGrpSpPr>
          <p:cNvPr id="23" name="candidate-change"/>
          <p:cNvGrpSpPr/>
          <p:nvPr/>
        </p:nvGrpSpPr>
        <p:grpSpPr>
          <a:xfrm>
            <a:off x="597408" y="4699000"/>
            <a:ext cx="4870704" cy="867918"/>
            <a:chOff x="597408" y="4699000"/>
            <a:chExt cx="4870704" cy="867918"/>
          </a:xfrm>
        </p:grpSpPr>
        <p:sp>
          <p:nvSpPr>
            <p:cNvPr id="21" name="TextBox 21"/>
            <p:cNvSpPr txBox="1"/>
            <p:nvPr/>
          </p:nvSpPr>
          <p:spPr>
            <a:xfrm>
              <a:off x="597408" y="4699000"/>
              <a:ext cx="487070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2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下一步：2026 賽季實際使用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98932" y="5156200"/>
              <a:ext cx="454456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每週更新資料　／　模型定期重訓　／　賽後回測檢討</a:t>
              </a:r>
            </a:p>
          </p:txBody>
        </p:sp>
      </p:grpSp>
      <p:grpSp>
        <p:nvGrpSpPr>
          <p:cNvPr id="25" name="condition-conclusion"/>
          <p:cNvGrpSpPr/>
          <p:nvPr/>
        </p:nvGrpSpPr>
        <p:grpSpPr>
          <a:xfrm>
            <a:off x="601218" y="5911850"/>
            <a:ext cx="6236208" cy="322707"/>
            <a:chOff x="601218" y="5911850"/>
            <a:chExt cx="6236208" cy="322707"/>
          </a:xfrm>
        </p:grpSpPr>
        <p:sp>
          <p:nvSpPr>
            <p:cNvPr id="24" name="TextBox 24"/>
            <p:cNvSpPr txBox="1"/>
            <p:nvPr/>
          </p:nvSpPr>
          <p:spPr>
            <a:xfrm>
              <a:off x="601218" y="5911850"/>
              <a:ext cx="623620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6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模型差距是估計值；換人決策仍需結合現場狀況與教練判斷。</a:t>
              </a:r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1365992" y="6445250"/>
            <a:ext cx="2136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closing"/>
          <p:cNvGrpSpPr/>
          <p:nvPr/>
        </p:nvGrpSpPr>
        <p:grpSpPr>
          <a:xfrm>
            <a:off x="590550" y="1390650"/>
            <a:ext cx="6553200" cy="2114550"/>
            <a:chOff x="590550" y="1390650"/>
            <a:chExt cx="6553200" cy="2114550"/>
          </a:xfrm>
        </p:grpSpPr>
        <p:sp>
          <p:nvSpPr>
            <p:cNvPr id="2" name="TextBox 2"/>
            <p:cNvSpPr txBox="1"/>
            <p:nvPr/>
          </p:nvSpPr>
          <p:spPr>
            <a:xfrm>
              <a:off x="590550" y="1390650"/>
              <a:ext cx="6553200" cy="21145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7950"/>
                </a:lnSpc>
              </a:pPr>
              <a:r>
                <a:rPr lang="zh-TW" sz="57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換人之前，</a:t>
              </a:r>
              <a:br>
                <a:rPr lang="zh-TW" sz="57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</a:br>
              <a:r>
                <a:rPr lang="zh-TW" sz="57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先看清差距與代價。</a:t>
              </a:r>
            </a:p>
          </p:txBody>
        </p:sp>
      </p:grpSp>
      <p:grpSp>
        <p:nvGrpSpPr>
          <p:cNvPr id="6" name="team"/>
          <p:cNvGrpSpPr/>
          <p:nvPr/>
        </p:nvGrpSpPr>
        <p:grpSpPr>
          <a:xfrm>
            <a:off x="592836" y="3822700"/>
            <a:ext cx="1723644" cy="1134618"/>
            <a:chOff x="592836" y="3822700"/>
            <a:chExt cx="1723644" cy="1134618"/>
          </a:xfrm>
        </p:grpSpPr>
        <p:sp>
          <p:nvSpPr>
            <p:cNvPr id="4" name="TextBox 4"/>
            <p:cNvSpPr txBox="1"/>
            <p:nvPr/>
          </p:nvSpPr>
          <p:spPr>
            <a:xfrm>
              <a:off x="592836" y="3822700"/>
              <a:ext cx="92202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隊名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98932" y="4546600"/>
              <a:ext cx="17175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蘇櫟、陳信安</a:t>
              </a:r>
            </a:p>
          </p:txBody>
        </p:sp>
      </p:grpSp>
      <p:grpSp>
        <p:nvGrpSpPr>
          <p:cNvPr id="8" name="baseball"/>
          <p:cNvGrpSpPr/>
          <p:nvPr/>
        </p:nvGrpSpPr>
        <p:grpSpPr>
          <a:xfrm>
            <a:off x="8858250" y="3524250"/>
            <a:ext cx="2762250" cy="2762250"/>
            <a:chOff x="8858250" y="3524250"/>
            <a:chExt cx="2762250" cy="2762250"/>
          </a:xfrm>
        </p:grpSpPr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858250" y="3524250"/>
              <a:ext cx="2762250" cy="2762250"/>
            </a:xfrm>
            <a:prstGeom prst="rect">
              <a:avLst/>
            </a:prstGeom>
          </p:spPr>
        </p:pic>
      </p:grpSp>
      <p:grpSp>
        <p:nvGrpSpPr>
          <p:cNvPr id="11" name="links"/>
          <p:cNvGrpSpPr/>
          <p:nvPr/>
        </p:nvGrpSpPr>
        <p:grpSpPr>
          <a:xfrm>
            <a:off x="597408" y="5384800"/>
            <a:ext cx="5732953" cy="469392"/>
            <a:chOff x="597408" y="5384800"/>
            <a:chExt cx="5732953" cy="469392"/>
          </a:xfrm>
        </p:grpSpPr>
        <p:sp>
          <p:nvSpPr>
            <p:cNvPr id="9" name="TextBox 9">
              <a:hlinkClick r:id="rId3"/>
            </p:cNvPr>
            <p:cNvSpPr txBox="1"/>
            <p:nvPr/>
          </p:nvSpPr>
          <p:spPr>
            <a:xfrm>
              <a:off x="597408" y="5384800"/>
              <a:ext cx="224565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20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開啟網站 Demo</a:t>
              </a:r>
            </a:p>
          </p:txBody>
        </p:sp>
        <p:sp>
          <p:nvSpPr>
            <p:cNvPr id="10" name="TextBox 10">
              <a:hlinkClick r:id="rId4"/>
            </p:cNvPr>
            <p:cNvSpPr txBox="1"/>
            <p:nvPr/>
          </p:nvSpPr>
          <p:spPr>
            <a:xfrm>
              <a:off x="4178808" y="5384800"/>
              <a:ext cx="215155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20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GitHub 原始碼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1375631" y="6445250"/>
            <a:ext cx="2136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TW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aseball_competition_polished19">
  <a:themeElements>
    <a:clrScheme name="baseball_competition_polished19">
      <a:dk1>
        <a:srgbClr val="1D2934"/>
      </a:dk1>
      <a:lt1>
        <a:srgbClr val="F7F5EF"/>
      </a:lt1>
      <a:dk2>
        <a:srgbClr val="1F497D"/>
      </a:dk2>
      <a:lt2>
        <a:srgbClr val="ECE5D9"/>
      </a:lt2>
      <a:accent1>
        <a:srgbClr val="18344A"/>
      </a:accent1>
      <a:accent2>
        <a:srgbClr val="B54836"/>
      </a:accent2>
      <a:accent3>
        <a:srgbClr val="9A6118"/>
      </a:accent3>
      <a:accent4>
        <a:srgbClr val="18344A"/>
      </a:accent4>
      <a:accent5>
        <a:srgbClr val="58616B"/>
      </a:accent5>
      <a:accent6>
        <a:srgbClr val="D7D1C5"/>
      </a:accent6>
      <a:hlink>
        <a:srgbClr val="B54836"/>
      </a:hlink>
      <a:folHlink>
        <a:srgbClr val="9A6118"/>
      </a:folHlink>
    </a:clrScheme>
    <a:fontScheme name="baseball_competition_polished19">
      <a:majorFont>
        <a:latin typeface="Arial"/>
        <a:ea typeface="Microsoft JhengHei"/>
        <a:cs typeface="Arial"/>
        <a:font script="Jpan" typeface="Microsoft JhengHei"/>
        <a:font script="Hang" typeface="Microsoft JhengHei"/>
        <a:font script="Hans" typeface="Microsoft JhengHei"/>
        <a:font script="Hant" typeface="Microsoft Jheng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JhengHei"/>
        <a:cs typeface="Arial"/>
        <a:font script="Jpan" typeface="Microsoft JhengHei"/>
        <a:font script="Hang" typeface="Microsoft JhengHei"/>
        <a:font script="Hans" typeface="Microsoft JhengHei"/>
        <a:font script="Hant" typeface="Microsoft Jheng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aseball_competition_polished19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zh-TW</dc:language>
  <cp:lastModifiedBy/>
  <cp:revision>1</cp:revision>
  <dcterms:created xsi:type="dcterms:W3CDTF">2026-10-15T13:31:12Z</dcterms:created>
  <dcterms:modified xsi:type="dcterms:W3CDTF">2026-10-15T13:31:12Z</dcterms:modified>
  <cp:category/>
  <cp:contentStatus/>
</cp:coreProperties>
</file>