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5" r:id="rId26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7" r:id="rId28"/>
    <p:sldId id="276" r:id="rId27"/>
    <p:sldId id="274" r:id="rId25"/>
  </p:sldIdLst>
  <p:sldSz cx="12192000" cy="6858000" type="screen16x9"/>
  <p:notesSz cx="6858000" cy="9144000"/>
  <p:defaultTextStyle>
    <a:defPPr>
      <a:defRPr lang="zh-TW"/>
    </a:defPPr>
    <a:lvl1pPr marL="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2.xml"/><Relationship Id="rId26" Type="http://schemas.openxmlformats.org/officeDocument/2006/relationships/slide" Target="slides/slide9.xml"/><Relationship Id="rId27" Type="http://schemas.openxmlformats.org/officeDocument/2006/relationships/slide" Target="slides/slide21.xml"/><Relationship Id="rId28" Type="http://schemas.openxmlformats.org/officeDocument/2006/relationships/slide" Target="slides/slide20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aseball_competition_polished19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baseball_competition_polished19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300" kern="1200" lang="zh-TW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1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95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85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70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60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45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3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050" kern="1200" lang="zh-TW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457200" rtl="0" eaLnBrk="1" latinLnBrk="0" hangingPunct="1">
        <a:defRPr sz="21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95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5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70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60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45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3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2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050" kern="1200" lang="zh-TW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e281946dee02391a.png"/><Relationship Id="rId3" Type="http://schemas.openxmlformats.org/officeDocument/2006/relationships/hyperlink" Target="https://da-xiong-chen.github.io/baseball_project/" TargetMode="External"/><Relationship Id="rId4" Type="http://schemas.openxmlformats.org/officeDocument/2006/relationships/hyperlink" Target="https://github.com/Da-Xiong-Chen/baseball_project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001c33347c23998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001c33347c23998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rebas-tw/rebas.tw-open-data" TargetMode="External"/><Relationship Id="rId3" Type="http://schemas.openxmlformats.org/officeDocument/2006/relationships/hyperlink" Target="https://github.com/ldkrsi/cpbl-opendat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001c33347c23998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0ae6de2bd5180305.jp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.jpg"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7" Type="http://schemas.openxmlformats.org/officeDocument/2006/relationships/image" Target="../media/image_260670f1939e3570.png" /><Relationship Id="rId8" Type="http://schemas.openxmlformats.org/officeDocument/2006/relationships/image" Target="../media/image_3771b2df590fb928.png" 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fde741cb0cf6af4b.jpg"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e915bc76cc43f753.jpg"/><Relationship Id="rId3" Type="http://schemas.openxmlformats.org/officeDocument/2006/relationships/image" Target="../media/image_31962202b34f4cda.jpg"/><Relationship Id="rId4" Type="http://schemas.openxmlformats.org/officeDocument/2006/relationships/image" Target="../media/image_58598c2162cbc342.jp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Relationship Id="rId3" Type="http://schemas.openxmlformats.org/officeDocument/2006/relationships/image" Target="../media/image_f686771611030518.jpg" /><Relationship Id="rId4" Type="http://schemas.openxmlformats.org/officeDocument/2006/relationships/image" Target="../media/image_f781bcb7ad584fa6.jpg" /><Relationship Id="rId5" Type="http://schemas.openxmlformats.org/officeDocument/2006/relationships/image" Target="../media/image7.png" 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44de3d25c6c01d2f.png"/><Relationship Id="rId3" Type="http://schemas.openxmlformats.org/officeDocument/2006/relationships/hyperlink" Target="https://da-xiong-chen.github.io/baseball_project/" TargetMode="External"/><Relationship Id="rId4" Type="http://schemas.openxmlformats.org/officeDocument/2006/relationships/hyperlink" Target="https://github.com/Da-Xiong-Chen/baseball_projec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team"/>
          <p:cNvGrpSpPr/>
          <p:nvPr/>
        </p:nvGrpSpPr>
        <p:grpSpPr>
          <a:xfrm>
            <a:off x="592836" y="488950"/>
            <a:ext cx="3468053" cy="1021207"/>
            <a:chOff x="592836" y="488950"/>
            <a:chExt cx="3468053" cy="1021207"/>
          </a:xfrm>
        </p:grpSpPr>
        <p:sp>
          <p:nvSpPr>
            <p:cNvPr id="2" name="TextBox 2"/>
            <p:cNvSpPr txBox="1"/>
            <p:nvPr/>
          </p:nvSpPr>
          <p:spPr>
            <a:xfrm>
              <a:off x="592836" y="488950"/>
              <a:ext cx="92202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隊名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601218" y="1187450"/>
              <a:ext cx="34596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2026 野革盃　台灣棒球數據黑客松</a:t>
              </a:r>
            </a:p>
          </p:txBody>
        </p:sp>
      </p:grpSp>
      <p:grpSp>
        <p:nvGrpSpPr>
          <p:cNvPr id="7" name="hero"/>
          <p:cNvGrpSpPr/>
          <p:nvPr/>
        </p:nvGrpSpPr>
        <p:grpSpPr>
          <a:xfrm>
            <a:off x="590550" y="1930400"/>
            <a:ext cx="5561838" cy="1542542"/>
            <a:chOff x="590550" y="1930400"/>
            <a:chExt cx="5561838" cy="1542542"/>
          </a:xfrm>
        </p:grpSpPr>
        <p:sp>
          <p:nvSpPr>
            <p:cNvPr id="5" name="TextBox 5"/>
            <p:cNvSpPr txBox="1"/>
            <p:nvPr/>
          </p:nvSpPr>
          <p:spPr>
            <a:xfrm>
              <a:off x="590550" y="1930400"/>
              <a:ext cx="4642104" cy="1104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7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臨場用人決策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35508" y="3003550"/>
              <a:ext cx="551688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以公開中職資料，比較代打與換投人選</a:t>
              </a:r>
            </a:p>
          </p:txBody>
        </p:sp>
      </p:grpSp>
      <p:grpSp>
        <p:nvGrpSpPr>
          <p:cNvPr id="9" name="baseball"/>
          <p:cNvGrpSpPr/>
          <p:nvPr/>
        </p:nvGrpSpPr>
        <p:grpSpPr>
          <a:xfrm>
            <a:off x="8001000" y="1714500"/>
            <a:ext cx="3905250" cy="3905250"/>
            <a:chOff x="8001000" y="1714500"/>
            <a:chExt cx="3905250" cy="3905250"/>
          </a:xfrm>
        </p:grpSpPr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1000" y="1714500"/>
              <a:ext cx="3905250" cy="3905250"/>
            </a:xfrm>
            <a:prstGeom prst="rect">
              <a:avLst/>
            </a:prstGeom>
          </p:spPr>
        </p:pic>
      </p:grpSp>
      <p:grpSp>
        <p:nvGrpSpPr>
          <p:cNvPr id="12" name="promise"/>
          <p:cNvGrpSpPr/>
          <p:nvPr/>
        </p:nvGrpSpPr>
        <p:grpSpPr>
          <a:xfrm>
            <a:off x="592836" y="3860800"/>
            <a:ext cx="5364480" cy="1191768"/>
            <a:chOff x="592836" y="3860800"/>
            <a:chExt cx="5364480" cy="1191768"/>
          </a:xfrm>
        </p:grpSpPr>
        <p:sp>
          <p:nvSpPr>
            <p:cNvPr id="10" name="TextBox 10"/>
            <p:cNvSpPr txBox="1"/>
            <p:nvPr/>
          </p:nvSpPr>
          <p:spPr>
            <a:xfrm>
              <a:off x="592836" y="3860800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差多少？誰接守？憑什麼？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98932" y="4641850"/>
              <a:ext cx="284835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參賽者　蘇櫟、陳信安</a:t>
              </a:r>
            </a:p>
          </p:txBody>
        </p:sp>
      </p:grpSp>
      <p:grpSp>
        <p:nvGrpSpPr>
          <p:cNvPr id="15" name="links"/>
          <p:cNvGrpSpPr/>
          <p:nvPr/>
        </p:nvGrpSpPr>
        <p:grpSpPr>
          <a:xfrm>
            <a:off x="597408" y="5422900"/>
            <a:ext cx="5732953" cy="469392"/>
            <a:chOff x="597408" y="5422900"/>
            <a:chExt cx="5732953" cy="469392"/>
          </a:xfrm>
        </p:grpSpPr>
        <p:sp>
          <p:nvSpPr>
            <p:cNvPr id="13" name="TextBox 13">
              <a:hlinkClick r:id="rId3"/>
            </p:cNvPr>
            <p:cNvSpPr txBox="1"/>
            <p:nvPr/>
          </p:nvSpPr>
          <p:spPr>
            <a:xfrm>
              <a:off x="597408" y="5422900"/>
              <a:ext cx="224565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開啟網站 Demo</a:t>
              </a:r>
            </a:p>
          </p:txBody>
        </p:sp>
        <p:sp>
          <p:nvSpPr>
            <p:cNvPr id="14" name="TextBox 14">
              <a:hlinkClick r:id="rId4"/>
            </p:cNvPr>
            <p:cNvSpPr txBox="1"/>
            <p:nvPr/>
          </p:nvSpPr>
          <p:spPr>
            <a:xfrm>
              <a:off x="4178808" y="5422900"/>
              <a:ext cx="215155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GitHub 原始碼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1375631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1921955" cy="264033"/>
            <a:chOff x="602742" y="177800"/>
            <a:chExt cx="1921955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19219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2026 野革盃　簡報目錄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100"/>
            <a:ext cx="4475988" cy="645414"/>
            <a:chOff x="592836" y="546100"/>
            <a:chExt cx="4475988" cy="645414"/>
          </a:xfrm>
        </p:grpSpPr>
        <p:sp>
          <p:nvSpPr>
            <p:cNvPr id="4" name="TextBox 4"/>
            <p:cNvSpPr txBox="1"/>
            <p:nvPr/>
          </p:nvSpPr>
          <p:spPr>
            <a:xfrm>
              <a:off x="592836" y="546100"/>
              <a:ext cx="447598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從臨場難題到網站實作</a:t>
              </a:r>
            </a:p>
          </p:txBody>
        </p:sp>
      </p:grpSp>
      <p:grpSp>
        <p:nvGrpSpPr>
          <p:cNvPr id="10" name="part-one"/>
          <p:cNvGrpSpPr/>
          <p:nvPr/>
        </p:nvGrpSpPr>
        <p:grpSpPr>
          <a:xfrm>
            <a:off x="590550" y="1682750"/>
            <a:ext cx="5854446" cy="1121918"/>
            <a:chOff x="590550" y="1682750"/>
            <a:chExt cx="5854446" cy="1121918"/>
          </a:xfrm>
        </p:grpSpPr>
        <p:sp>
          <p:nvSpPr>
            <p:cNvPr id="7" name="TextBox 7">
              <a:hlinkClick r:id="rId2" action="ppaction://hlinksldjump"/>
            </p:cNvPr>
            <p:cNvSpPr txBox="1"/>
            <p:nvPr/>
          </p:nvSpPr>
          <p:spPr>
            <a:xfrm>
              <a:off x="590550" y="1682750"/>
              <a:ext cx="882167" cy="1104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7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>
              <a:hlinkClick r:id="rId2" action="ppaction://hlinksldjump"/>
            </p:cNvPr>
            <p:cNvSpPr txBox="1"/>
            <p:nvPr/>
          </p:nvSpPr>
          <p:spPr>
            <a:xfrm>
              <a:off x="2464308" y="1917700"/>
              <a:ext cx="163982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問題與需求</a:t>
              </a:r>
            </a:p>
          </p:txBody>
        </p:sp>
        <p:sp>
          <p:nvSpPr>
            <p:cNvPr id="9" name="TextBox 9">
              <a:hlinkClick r:id="rId2" action="ppaction://hlinksldjump"/>
            </p:cNvPr>
            <p:cNvSpPr txBox="1"/>
            <p:nvPr/>
          </p:nvSpPr>
          <p:spPr>
            <a:xfrm>
              <a:off x="2465832" y="2393950"/>
              <a:ext cx="39791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換人之前，需要比較哪些條件？</a:t>
              </a:r>
            </a:p>
          </p:txBody>
        </p:sp>
      </p:grpSp>
      <p:grpSp>
        <p:nvGrpSpPr>
          <p:cNvPr id="14" name="part-two"/>
          <p:cNvGrpSpPr/>
          <p:nvPr/>
        </p:nvGrpSpPr>
        <p:grpSpPr>
          <a:xfrm>
            <a:off x="590550" y="3130550"/>
            <a:ext cx="5854446" cy="1121918"/>
            <a:chOff x="590550" y="3130550"/>
            <a:chExt cx="5854446" cy="1121918"/>
          </a:xfrm>
        </p:grpSpPr>
        <p:sp>
          <p:nvSpPr>
            <p:cNvPr id="11" name="TextBox 11">
              <a:hlinkClick r:id="rId3" action="ppaction://hlinksldjump"/>
            </p:cNvPr>
            <p:cNvSpPr txBox="1"/>
            <p:nvPr/>
          </p:nvSpPr>
          <p:spPr>
            <a:xfrm>
              <a:off x="590550" y="3130550"/>
              <a:ext cx="882167" cy="1104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7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>
              <a:hlinkClick r:id="rId3" action="ppaction://hlinksldjump"/>
            </p:cNvPr>
            <p:cNvSpPr txBox="1"/>
            <p:nvPr/>
          </p:nvSpPr>
          <p:spPr>
            <a:xfrm>
              <a:off x="2464308" y="3365500"/>
              <a:ext cx="163982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資料與解法</a:t>
              </a:r>
            </a:p>
          </p:txBody>
        </p:sp>
        <p:sp>
          <p:nvSpPr>
            <p:cNvPr id="13" name="TextBox 13">
              <a:hlinkClick r:id="rId3" action="ppaction://hlinksldjump"/>
            </p:cNvPr>
            <p:cNvSpPr txBox="1"/>
            <p:nvPr/>
          </p:nvSpPr>
          <p:spPr>
            <a:xfrm>
              <a:off x="2465832" y="3841750"/>
              <a:ext cx="39791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如何估計人選差距，並回測驗證？</a:t>
              </a:r>
            </a:p>
          </p:txBody>
        </p:sp>
      </p:grpSp>
      <p:grpSp>
        <p:nvGrpSpPr>
          <p:cNvPr id="18" name="part-three"/>
          <p:cNvGrpSpPr/>
          <p:nvPr/>
        </p:nvGrpSpPr>
        <p:grpSpPr>
          <a:xfrm>
            <a:off x="590550" y="4578350"/>
            <a:ext cx="7374636" cy="1121918"/>
            <a:chOff x="590550" y="4578350"/>
            <a:chExt cx="7374636" cy="1121918"/>
          </a:xfrm>
        </p:grpSpPr>
        <p:sp>
          <p:nvSpPr>
            <p:cNvPr id="15" name="TextBox 15">
              <a:hlinkClick r:id="rId4" action="ppaction://hlinksldjump"/>
            </p:cNvPr>
            <p:cNvSpPr txBox="1"/>
            <p:nvPr/>
          </p:nvSpPr>
          <p:spPr>
            <a:xfrm>
              <a:off x="590550" y="4578350"/>
              <a:ext cx="882167" cy="1104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7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>
              <a:hlinkClick r:id="rId4" action="ppaction://hlinksldjump"/>
            </p:cNvPr>
            <p:cNvSpPr txBox="1"/>
            <p:nvPr/>
          </p:nvSpPr>
          <p:spPr>
            <a:xfrm>
              <a:off x="2464308" y="4813300"/>
              <a:ext cx="293217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網站成果與決策體驗</a:t>
              </a:r>
            </a:p>
          </p:txBody>
        </p:sp>
        <p:sp>
          <p:nvSpPr>
            <p:cNvPr id="17" name="TextBox 17">
              <a:hlinkClick r:id="rId4" action="ppaction://hlinksldjump"/>
            </p:cNvPr>
            <p:cNvSpPr txBox="1"/>
            <p:nvPr/>
          </p:nvSpPr>
          <p:spPr>
            <a:xfrm>
              <a:off x="2465832" y="5289550"/>
              <a:ext cx="549935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操作實錄　／　案例判讀　／　UI／UX 設計　／　未來規劃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1375631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number"/>
          <p:cNvGrpSpPr/>
          <p:nvPr/>
        </p:nvGrpSpPr>
        <p:grpSpPr>
          <a:xfrm>
            <a:off x="590550" y="1714500"/>
            <a:ext cx="1520638" cy="1905000"/>
            <a:chOff x="590550" y="1714500"/>
            <a:chExt cx="1520638" cy="1905000"/>
          </a:xfrm>
        </p:grpSpPr>
        <p:sp>
          <p:nvSpPr>
            <p:cNvPr id="2" name="TextBox 2"/>
            <p:cNvSpPr txBox="1"/>
            <p:nvPr/>
          </p:nvSpPr>
          <p:spPr>
            <a:xfrm>
              <a:off x="590550" y="1714500"/>
              <a:ext cx="1520638" cy="1905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6" name="chapter-heading"/>
          <p:cNvGrpSpPr/>
          <p:nvPr/>
        </p:nvGrpSpPr>
        <p:grpSpPr>
          <a:xfrm>
            <a:off x="3336036" y="1739900"/>
            <a:ext cx="6252972" cy="1204214"/>
            <a:chOff x="3336036" y="1739900"/>
            <a:chExt cx="6252972" cy="1204214"/>
          </a:xfrm>
        </p:grpSpPr>
        <p:sp>
          <p:nvSpPr>
            <p:cNvPr id="4" name="TextBox 4"/>
            <p:cNvSpPr txBox="1"/>
            <p:nvPr/>
          </p:nvSpPr>
          <p:spPr>
            <a:xfrm>
              <a:off x="3344418" y="173990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問題與需求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336036" y="2298700"/>
              <a:ext cx="625297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關鍵打席，換人要看哪些條件？</a:t>
              </a:r>
            </a:p>
          </p:txBody>
        </p:sp>
      </p:grpSp>
      <p:grpSp>
        <p:nvGrpSpPr>
          <p:cNvPr id="9" name="chapter-summary"/>
          <p:cNvGrpSpPr/>
          <p:nvPr/>
        </p:nvGrpSpPr>
        <p:grpSpPr>
          <a:xfrm>
            <a:off x="3340608" y="3784600"/>
            <a:ext cx="4547616" cy="1211707"/>
            <a:chOff x="3340608" y="3784600"/>
            <a:chExt cx="4547616" cy="1211707"/>
          </a:xfrm>
        </p:grpSpPr>
        <p:sp>
          <p:nvSpPr>
            <p:cNvPr id="7" name="TextBox 7"/>
            <p:cNvSpPr txBox="1"/>
            <p:nvPr/>
          </p:nvSpPr>
          <p:spPr>
            <a:xfrm>
              <a:off x="3340608" y="3784600"/>
              <a:ext cx="454761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優勢、守備與板凳資源一起看。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3344418" y="4673600"/>
              <a:ext cx="3126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從一個關鍵打席，理解換人需求</a:t>
              </a:r>
            </a:p>
          </p:txBody>
        </p:sp>
      </p:grpSp>
      <p:grpSp>
        <p:nvGrpSpPr>
          <p:cNvPr id="11" name="baseball"/>
          <p:cNvGrpSpPr/>
          <p:nvPr/>
        </p:nvGrpSpPr>
        <p:grpSpPr>
          <a:xfrm>
            <a:off x="9048750" y="4000500"/>
            <a:ext cx="2190750" cy="2190750"/>
            <a:chOff x="9048750" y="4000500"/>
            <a:chExt cx="2190750" cy="2190750"/>
          </a:xfrm>
        </p:grpSpPr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48750" y="4000500"/>
              <a:ext cx="2190750" cy="2190750"/>
            </a:xfrm>
            <a:prstGeom prst="rect">
              <a:avLst/>
            </a:prstGeom>
          </p:spPr>
        </p:pic>
      </p:grpSp>
      <p:sp>
        <p:nvSpPr>
          <p:cNvPr id="12" name="TextBox 12"/>
          <p:cNvSpPr txBox="1"/>
          <p:nvPr/>
        </p:nvSpPr>
        <p:spPr>
          <a:xfrm>
            <a:off x="11375631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1304049" cy="264033"/>
            <a:chOff x="602742" y="177800"/>
            <a:chExt cx="1304049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13040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　問題與需求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068"/>
            <a:ext cx="5808726" cy="645414"/>
            <a:chOff x="592836" y="546068"/>
            <a:chExt cx="5808726" cy="645414"/>
          </a:xfrm>
        </p:grpSpPr>
        <p:sp>
          <p:nvSpPr>
            <p:cNvPr id="4" name="TextBox 4"/>
            <p:cNvSpPr/>
            <p:nvPr/>
          </p:nvSpPr>
          <p:spPr>
            <a:xfrm>
              <a:off x="592836" y="546068"/>
              <a:ext cx="580872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>
                  <a:solidFill>
                    <a:srgbClr val="18344A"/>
                  </a:solidFill>
                  <a:latin typeface="Arial"/>
                  <a:ea typeface="Microsoft JhengHei"/>
                  <a:cs typeface="Arial"/>
                </a:rPr>
                <a:t>八局落後一分，代打能改變多少？</a:t>
              </a:r>
            </a:p>
          </p:txBody>
        </p:sp>
      </p:grpSp>
      <p:grpSp>
        <p:nvGrpSpPr>
          <p:cNvPr id="9" name="scenario"/>
          <p:cNvGrpSpPr/>
          <p:nvPr/>
        </p:nvGrpSpPr>
        <p:grpSpPr>
          <a:xfrm>
            <a:off x="590550" y="1587500"/>
            <a:ext cx="4837774" cy="1350518"/>
            <a:chOff x="590550" y="1587500"/>
            <a:chExt cx="4837774" cy="1350518"/>
          </a:xfrm>
        </p:grpSpPr>
        <p:sp>
          <p:nvSpPr>
            <p:cNvPr id="7" name="TextBox 7"/>
            <p:cNvSpPr txBox="1"/>
            <p:nvPr/>
          </p:nvSpPr>
          <p:spPr>
            <a:xfrm>
              <a:off x="590550" y="1587500"/>
              <a:ext cx="4837774" cy="1104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7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 局上　1 : 2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37032" y="2527300"/>
              <a:ext cx="39791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一出局　二壘有人　統一落後 1 分</a:t>
              </a:r>
            </a:p>
          </p:txBody>
        </p:sp>
      </p:grpSp>
      <p:grpSp>
        <p:nvGrpSpPr>
          <p:cNvPr id="11" name="scenario-label"/>
          <p:cNvGrpSpPr/>
          <p:nvPr/>
        </p:nvGrpSpPr>
        <p:grpSpPr>
          <a:xfrm>
            <a:off x="10241280" y="2063750"/>
            <a:ext cx="1349502" cy="322707"/>
            <a:chOff x="10241280" y="2063750"/>
            <a:chExt cx="1349502" cy="322707"/>
          </a:xfrm>
        </p:grpSpPr>
        <p:sp>
          <p:nvSpPr>
            <p:cNvPr id="10" name="TextBox 10"/>
            <p:cNvSpPr txBox="1"/>
            <p:nvPr/>
          </p:nvSpPr>
          <p:spPr>
            <a:xfrm>
              <a:off x="10241280" y="206375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zh-TW" sz="16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自訂示範情境</a:t>
              </a:r>
            </a:p>
          </p:txBody>
        </p:sp>
      </p:grpSp>
      <p:grpSp>
        <p:nvGrpSpPr>
          <p:cNvPr id="14" name="keep"/>
          <p:cNvGrpSpPr/>
          <p:nvPr/>
        </p:nvGrpSpPr>
        <p:grpSpPr>
          <a:xfrm>
            <a:off x="597408" y="3556000"/>
            <a:ext cx="3132582" cy="1001268"/>
            <a:chOff x="597408" y="3556000"/>
            <a:chExt cx="3132582" cy="1001268"/>
          </a:xfrm>
        </p:grpSpPr>
        <p:sp>
          <p:nvSpPr>
            <p:cNvPr id="12" name="TextBox 12"/>
            <p:cNvSpPr txBox="1"/>
            <p:nvPr/>
          </p:nvSpPr>
          <p:spPr>
            <a:xfrm>
              <a:off x="597408" y="3556000"/>
              <a:ext cx="196291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讓林佳緯續打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98932" y="4146550"/>
              <a:ext cx="313105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左打對上富邦左投魔力藍</a:t>
              </a:r>
            </a:p>
          </p:txBody>
        </p:sp>
      </p:grpSp>
      <p:grpSp>
        <p:nvGrpSpPr>
          <p:cNvPr id="17" name="replace"/>
          <p:cNvGrpSpPr/>
          <p:nvPr/>
        </p:nvGrpSpPr>
        <p:grpSpPr>
          <a:xfrm>
            <a:off x="6388608" y="3556000"/>
            <a:ext cx="3697986" cy="1001268"/>
            <a:chOff x="6388608" y="3556000"/>
            <a:chExt cx="3697986" cy="1001268"/>
          </a:xfrm>
        </p:grpSpPr>
        <p:sp>
          <p:nvSpPr>
            <p:cNvPr id="15" name="TextBox 15"/>
            <p:cNvSpPr txBox="1"/>
            <p:nvPr/>
          </p:nvSpPr>
          <p:spPr>
            <a:xfrm>
              <a:off x="6388608" y="3556000"/>
              <a:ext cx="163982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派代打上場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0132" y="4146550"/>
              <a:ext cx="369646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右打胡金龍，優勢有多大？</a:t>
              </a:r>
            </a:p>
          </p:txBody>
        </p:sp>
      </p:grpSp>
      <p:grpSp>
        <p:nvGrpSpPr>
          <p:cNvPr id="19" name="takeaway"/>
          <p:cNvGrpSpPr/>
          <p:nvPr/>
        </p:nvGrpSpPr>
        <p:grpSpPr>
          <a:xfrm>
            <a:off x="597408" y="5518118"/>
            <a:ext cx="6809232" cy="469392"/>
            <a:chOff x="597408" y="5518118"/>
            <a:chExt cx="6809232" cy="469392"/>
          </a:xfrm>
        </p:grpSpPr>
        <p:sp>
          <p:nvSpPr>
            <p:cNvPr id="18" name="TextBox 18"/>
            <p:cNvSpPr/>
            <p:nvPr/>
          </p:nvSpPr>
          <p:spPr>
            <a:xfrm>
              <a:off x="597408" y="5518118"/>
              <a:ext cx="680923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01632" rIns="0" bIns="0" anchor="t" anchorCtr="0">
              <a:noAutofit/>
            </a:bodyPr>
            <a:lstStyle/>
            <a:p>
              <a:pPr algn="l"/>
              <a:r>
                <a:rPr lang="zh-TW" sz="2000" dirty="0">
                  <a:solidFill>
                    <a:srgbClr val="18344A"/>
                  </a:solidFill>
                  <a:latin typeface="Arial"/>
                  <a:ea typeface="Microsoft JhengHei"/>
                  <a:cs typeface="Arial"/>
                </a:rPr>
                <a:t>比較打擊差距，也確認代打後的守備安排。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1375631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1304049" cy="264033"/>
            <a:chOff x="602742" y="177800"/>
            <a:chExt cx="1304049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13040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　問題與需求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100"/>
            <a:ext cx="4475988" cy="645414"/>
            <a:chOff x="592836" y="546100"/>
            <a:chExt cx="4475988" cy="645414"/>
          </a:xfrm>
        </p:grpSpPr>
        <p:sp>
          <p:nvSpPr>
            <p:cNvPr id="4" name="TextBox 4"/>
            <p:cNvSpPr txBox="1"/>
            <p:nvPr/>
          </p:nvSpPr>
          <p:spPr>
            <a:xfrm>
              <a:off x="592836" y="546100"/>
              <a:ext cx="447598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讓換人討論有共同依據</a:t>
              </a:r>
            </a:p>
          </p:txBody>
        </p:sp>
      </p:grpSp>
      <p:grpSp>
        <p:nvGrpSpPr>
          <p:cNvPr id="11" name="audience"/>
          <p:cNvGrpSpPr/>
          <p:nvPr/>
        </p:nvGrpSpPr>
        <p:grpSpPr>
          <a:xfrm>
            <a:off x="592836" y="1854200"/>
            <a:ext cx="2912745" cy="3599307"/>
            <a:chOff x="592836" y="1854200"/>
            <a:chExt cx="2912745" cy="3599307"/>
          </a:xfrm>
        </p:grpSpPr>
        <p:sp>
          <p:nvSpPr>
            <p:cNvPr id="7" name="TextBox 7"/>
            <p:cNvSpPr txBox="1"/>
            <p:nvPr/>
          </p:nvSpPr>
          <p:spPr>
            <a:xfrm>
              <a:off x="601218" y="185420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主要使用者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2836" y="2286000"/>
              <a:ext cx="2548128" cy="11978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4350"/>
                </a:lnSpc>
              </a:pPr>
              <a:r>
                <a:rPr lang="zh-TW" sz="3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球隊分析人員</a:t>
              </a:r>
              <a:br>
                <a:rPr lang="zh-TW" sz="33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TW" sz="3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與教練團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98932" y="3695700"/>
              <a:ext cx="2421636" cy="8107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使用情境：備戰模擬、</a:t>
              </a:r>
              <a:br>
                <a:rPr lang="zh-TW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TW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賽後檢討與調度討論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1218" y="5130800"/>
              <a:ext cx="2904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延伸：進階球迷與棒球解說者</a:t>
              </a:r>
            </a:p>
          </p:txBody>
        </p:sp>
      </p:grpSp>
      <p:grpSp>
        <p:nvGrpSpPr>
          <p:cNvPr id="18" name="questions"/>
          <p:cNvGrpSpPr/>
          <p:nvPr/>
        </p:nvGrpSpPr>
        <p:grpSpPr>
          <a:xfrm>
            <a:off x="6079236" y="1765300"/>
            <a:ext cx="3356991" cy="4031107"/>
            <a:chOff x="6079236" y="1765300"/>
            <a:chExt cx="3356991" cy="4031107"/>
          </a:xfrm>
        </p:grpSpPr>
        <p:sp>
          <p:nvSpPr>
            <p:cNvPr id="12" name="TextBox 12"/>
            <p:cNvSpPr txBox="1"/>
            <p:nvPr/>
          </p:nvSpPr>
          <p:spPr>
            <a:xfrm>
              <a:off x="6079236" y="1765300"/>
              <a:ext cx="136626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差多少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087618" y="2463800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固定局勢，比較候選與現任的差距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79236" y="3270250"/>
              <a:ext cx="136626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誰接守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087618" y="3968750"/>
              <a:ext cx="29043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確認守位安排與額外人力需求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079236" y="4775200"/>
              <a:ext cx="136626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憑什麼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087618" y="5473700"/>
              <a:ext cx="33486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檢查樣本量、模型分歧與可用名單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1375631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number"/>
          <p:cNvGrpSpPr/>
          <p:nvPr/>
        </p:nvGrpSpPr>
        <p:grpSpPr>
          <a:xfrm>
            <a:off x="590550" y="1714500"/>
            <a:ext cx="1520638" cy="1905000"/>
            <a:chOff x="590550" y="1714500"/>
            <a:chExt cx="1520638" cy="1905000"/>
          </a:xfrm>
        </p:grpSpPr>
        <p:sp>
          <p:nvSpPr>
            <p:cNvPr id="2" name="TextBox 2"/>
            <p:cNvSpPr txBox="1"/>
            <p:nvPr/>
          </p:nvSpPr>
          <p:spPr>
            <a:xfrm>
              <a:off x="590550" y="1714500"/>
              <a:ext cx="1520638" cy="1905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6" name="chapter-heading"/>
          <p:cNvGrpSpPr/>
          <p:nvPr/>
        </p:nvGrpSpPr>
        <p:grpSpPr>
          <a:xfrm>
            <a:off x="3336036" y="1739900"/>
            <a:ext cx="5808726" cy="1204214"/>
            <a:chOff x="3336036" y="1739900"/>
            <a:chExt cx="5808726" cy="1204214"/>
          </a:xfrm>
        </p:grpSpPr>
        <p:sp>
          <p:nvSpPr>
            <p:cNvPr id="4" name="TextBox 4"/>
            <p:cNvSpPr txBox="1"/>
            <p:nvPr/>
          </p:nvSpPr>
          <p:spPr>
            <a:xfrm>
              <a:off x="3344418" y="173990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資料與解法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336036" y="2298700"/>
              <a:ext cx="580872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把公開資料轉為人選比較依據</a:t>
              </a:r>
            </a:p>
          </p:txBody>
        </p:sp>
      </p:grpSp>
      <p:grpSp>
        <p:nvGrpSpPr>
          <p:cNvPr id="9" name="chapter-summary"/>
          <p:cNvGrpSpPr/>
          <p:nvPr/>
        </p:nvGrpSpPr>
        <p:grpSpPr>
          <a:xfrm>
            <a:off x="3340608" y="3784600"/>
            <a:ext cx="4547616" cy="1211707"/>
            <a:chOff x="3340608" y="3784600"/>
            <a:chExt cx="4547616" cy="1211707"/>
          </a:xfrm>
        </p:grpSpPr>
        <p:sp>
          <p:nvSpPr>
            <p:cNvPr id="7" name="TextBox 7"/>
            <p:cNvSpPr txBox="1"/>
            <p:nvPr/>
          </p:nvSpPr>
          <p:spPr>
            <a:xfrm>
              <a:off x="3340608" y="3784600"/>
              <a:ext cx="454761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固定投手與局勢，比較換人差距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3344418" y="4673600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資料來源　／　估計方法　／　分數解讀　／　模型回測</a:t>
              </a:r>
            </a:p>
          </p:txBody>
        </p:sp>
      </p:grpSp>
      <p:grpSp>
        <p:nvGrpSpPr>
          <p:cNvPr id="11" name="baseball"/>
          <p:cNvGrpSpPr/>
          <p:nvPr/>
        </p:nvGrpSpPr>
        <p:grpSpPr>
          <a:xfrm>
            <a:off x="9048750" y="4000500"/>
            <a:ext cx="2190750" cy="2190750"/>
            <a:chOff x="9048750" y="4000500"/>
            <a:chExt cx="2190750" cy="2190750"/>
          </a:xfrm>
        </p:grpSpPr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48750" y="4000500"/>
              <a:ext cx="2190750" cy="2190750"/>
            </a:xfrm>
            <a:prstGeom prst="rect">
              <a:avLst/>
            </a:prstGeom>
          </p:spPr>
        </p:pic>
      </p:grpSp>
      <p:sp>
        <p:nvSpPr>
          <p:cNvPr id="12" name="TextBox 12"/>
          <p:cNvSpPr txBox="1"/>
          <p:nvPr/>
        </p:nvSpPr>
        <p:spPr>
          <a:xfrm>
            <a:off x="11375631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1304049" cy="264033"/>
            <a:chOff x="602742" y="177800"/>
            <a:chExt cx="1304049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13040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　資料與解法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100"/>
            <a:ext cx="6252972" cy="645414"/>
            <a:chOff x="592836" y="546100"/>
            <a:chExt cx="6252972" cy="645414"/>
          </a:xfrm>
        </p:grpSpPr>
        <p:sp>
          <p:nvSpPr>
            <p:cNvPr id="4" name="TextBox 4"/>
            <p:cNvSpPr txBox="1"/>
            <p:nvPr/>
          </p:nvSpPr>
          <p:spPr>
            <a:xfrm>
              <a:off x="592836" y="546100"/>
              <a:ext cx="625297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公開資料，如何變成人選比較？</a:t>
              </a:r>
            </a:p>
          </p:txBody>
        </p:sp>
      </p:grpSp>
      <p:grpSp>
        <p:nvGrpSpPr>
          <p:cNvPr id="8" name="sources"/>
          <p:cNvGrpSpPr/>
          <p:nvPr/>
        </p:nvGrpSpPr>
        <p:grpSpPr>
          <a:xfrm>
            <a:off x="598932" y="1489075"/>
            <a:ext cx="4972155" cy="410718"/>
            <a:chOff x="598932" y="1489075"/>
            <a:chExt cx="4972155" cy="410718"/>
          </a:xfrm>
        </p:grpSpPr>
        <p:sp>
          <p:nvSpPr>
            <p:cNvPr id="7" name="TextBox 7"/>
            <p:cNvSpPr txBox="1"/>
            <p:nvPr/>
          </p:nvSpPr>
          <p:spPr>
            <a:xfrm>
              <a:off x="598932" y="1489075"/>
              <a:ext cx="4972155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資料：2024–2025 中職逐球與守位紀錄</a:t>
              </a:r>
            </a:p>
          </p:txBody>
        </p:sp>
      </p:grpSp>
      <p:grpSp>
        <p:nvGrpSpPr>
          <p:cNvPr id="12" name="estimate-one"/>
          <p:cNvGrpSpPr/>
          <p:nvPr/>
        </p:nvGrpSpPr>
        <p:grpSpPr>
          <a:xfrm>
            <a:off x="597408" y="2393950"/>
            <a:ext cx="3756660" cy="1664843"/>
            <a:chOff x="597408" y="2393950"/>
            <a:chExt cx="3756660" cy="1664843"/>
          </a:xfrm>
        </p:grpSpPr>
        <p:sp>
          <p:nvSpPr>
            <p:cNvPr id="9" name="TextBox 9"/>
            <p:cNvSpPr txBox="1"/>
            <p:nvPr/>
          </p:nvSpPr>
          <p:spPr>
            <a:xfrm>
              <a:off x="597408" y="2393950"/>
              <a:ext cx="265916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　估計投打能力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1218" y="29019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階層式部分池化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98932" y="3248025"/>
              <a:ext cx="3755136" cy="8107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綜合能力、左右投打與球路適性</a:t>
              </a:r>
              <a:br>
                <a:rPr lang="zh-TW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小樣本向整體基準收縮</a:t>
              </a:r>
            </a:p>
          </p:txBody>
        </p:sp>
      </p:grpSp>
      <p:grpSp>
        <p:nvGrpSpPr>
          <p:cNvPr id="16" name="estimate-two"/>
          <p:cNvGrpSpPr/>
          <p:nvPr/>
        </p:nvGrpSpPr>
        <p:grpSpPr>
          <a:xfrm>
            <a:off x="6388608" y="2393950"/>
            <a:ext cx="4023360" cy="1664843"/>
            <a:chOff x="6388608" y="2393950"/>
            <a:chExt cx="4023360" cy="1664843"/>
          </a:xfrm>
        </p:grpSpPr>
        <p:sp>
          <p:nvSpPr>
            <p:cNvPr id="13" name="TextBox 13"/>
            <p:cNvSpPr txBox="1"/>
            <p:nvPr/>
          </p:nvSpPr>
          <p:spPr>
            <a:xfrm>
              <a:off x="6388608" y="2393950"/>
              <a:ext cx="2659167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　模擬候選打者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92418" y="2901950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梯度提升樹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390132" y="3248025"/>
              <a:ext cx="4021836" cy="8107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沿用投手歷史投球，替換候選打者</a:t>
              </a:r>
              <a:br>
                <a:rPr lang="zh-TW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預測逐球結果，換算預期得分</a:t>
              </a:r>
            </a:p>
          </p:txBody>
        </p:sp>
      </p:grpSp>
      <p:grpSp>
        <p:nvGrpSpPr>
          <p:cNvPr id="19" name="output"/>
          <p:cNvGrpSpPr/>
          <p:nvPr/>
        </p:nvGrpSpPr>
        <p:grpSpPr>
          <a:xfrm>
            <a:off x="597408" y="4527550"/>
            <a:ext cx="5260833" cy="792607"/>
            <a:chOff x="597408" y="4527550"/>
            <a:chExt cx="5260833" cy="792607"/>
          </a:xfrm>
        </p:grpSpPr>
        <p:sp>
          <p:nvSpPr>
            <p:cNvPr id="17" name="TextBox 17"/>
            <p:cNvSpPr txBox="1"/>
            <p:nvPr/>
          </p:nvSpPr>
          <p:spPr>
            <a:xfrm>
              <a:off x="597408" y="4527550"/>
              <a:ext cx="526083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整合得分估計 → 依局勢換算勝率差距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01218" y="4997450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逐球模型不可用時，改用階層式估計。</a:t>
              </a:r>
            </a:p>
          </p:txBody>
        </p:sp>
      </p:grpSp>
      <p:grpSp>
        <p:nvGrpSpPr>
          <p:cNvPr id="22" name="credits"/>
          <p:cNvGrpSpPr/>
          <p:nvPr/>
        </p:nvGrpSpPr>
        <p:grpSpPr>
          <a:xfrm>
            <a:off x="602742" y="1949450"/>
            <a:ext cx="5594261" cy="264033"/>
            <a:chOff x="602742" y="1949450"/>
            <a:chExt cx="5594261" cy="264033"/>
          </a:xfrm>
        </p:grpSpPr>
        <p:sp>
          <p:nvSpPr>
            <p:cNvPr id="20" name="TextBox 20">
              <a:hlinkClick r:id="rId2"/>
            </p:cNvPr>
            <p:cNvSpPr txBox="1"/>
            <p:nvPr/>
          </p:nvSpPr>
          <p:spPr>
            <a:xfrm>
              <a:off x="602742" y="1949450"/>
              <a:ext cx="25057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Rebas Open Data（ODC-By）</a:t>
              </a:r>
            </a:p>
          </p:txBody>
        </p:sp>
        <p:sp>
          <p:nvSpPr>
            <p:cNvPr id="21" name="TextBox 21">
              <a:hlinkClick r:id="rId3"/>
            </p:cNvPr>
            <p:cNvSpPr txBox="1"/>
            <p:nvPr/>
          </p:nvSpPr>
          <p:spPr>
            <a:xfrm>
              <a:off x="4222242" y="1949450"/>
              <a:ext cx="19747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ldkrsi 守位紀錄（MIT）</a:t>
              </a:r>
            </a:p>
          </p:txBody>
        </p:sp>
      </p:grpSp>
      <p:grpSp>
        <p:nvGrpSpPr>
          <p:cNvPr id="24" name="model-settings"/>
          <p:cNvGrpSpPr/>
          <p:nvPr/>
        </p:nvGrpSpPr>
        <p:grpSpPr>
          <a:xfrm>
            <a:off x="601218" y="5816632"/>
            <a:ext cx="3570732" cy="322707"/>
            <a:chOff x="601218" y="5816632"/>
            <a:chExt cx="3570732" cy="322707"/>
          </a:xfrm>
        </p:grpSpPr>
        <p:sp>
          <p:nvSpPr>
            <p:cNvPr id="23" name="TextBox 23"/>
            <p:cNvSpPr/>
            <p:nvPr/>
          </p:nvSpPr>
          <p:spPr>
            <a:xfrm>
              <a:off x="601218" y="5816632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76168" rIns="0" bIns="0" anchor="t" anchorCtr="0">
              <a:noAutofit/>
            </a:bodyPr>
            <a:lstStyle/>
            <a:p>
              <a:pPr algn="l"/>
              <a:r>
                <a:rPr lang="zh-TW" sz="1600" dirty="0">
                  <a:solidFill>
                    <a:srgbClr val="58616B"/>
                  </a:solidFill>
                  <a:latin typeface="Arial"/>
                  <a:ea typeface="Microsoft JhengHei"/>
                  <a:cs typeface="Arial"/>
                </a:rPr>
                <a:t>球路八格＝4 類球種 × 2 個高度區間；模型權重由本專案設定。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1365992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1304049" cy="264033"/>
            <a:chOff x="602742" y="177800"/>
            <a:chExt cx="1304049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13040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　資料與解法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100"/>
            <a:ext cx="6697218" cy="645414"/>
            <a:chOff x="592836" y="546100"/>
            <a:chExt cx="6697218" cy="645414"/>
          </a:xfrm>
        </p:grpSpPr>
        <p:sp>
          <p:nvSpPr>
            <p:cNvPr id="4" name="TextBox 4"/>
            <p:cNvSpPr txBox="1"/>
            <p:nvPr/>
          </p:nvSpPr>
          <p:spPr>
            <a:xfrm>
              <a:off x="592836" y="546100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排名、差距與不確定性，要分開看</a:t>
              </a:r>
            </a:p>
          </p:txBody>
        </p:sp>
      </p:grpSp>
      <p:grpSp>
        <p:nvGrpSpPr>
          <p:cNvPr id="12" name="rank"/>
          <p:cNvGrpSpPr/>
          <p:nvPr/>
        </p:nvGrpSpPr>
        <p:grpSpPr>
          <a:xfrm>
            <a:off x="590550" y="1758982"/>
            <a:ext cx="2753106" cy="3086449"/>
            <a:chOff x="590550" y="1758982"/>
            <a:chExt cx="2753106" cy="3086449"/>
          </a:xfrm>
        </p:grpSpPr>
        <p:sp>
          <p:nvSpPr>
            <p:cNvPr id="7" name="TextBox 7"/>
            <p:cNvSpPr/>
            <p:nvPr/>
          </p:nvSpPr>
          <p:spPr>
            <a:xfrm>
              <a:off x="601218" y="1758982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76168" rIns="0" bIns="0" anchor="t" anchorCtr="0">
              <a:noAutofit/>
            </a:bodyPr>
            <a:lstStyle/>
            <a:p>
              <a:pPr algn="l"/>
              <a:r>
                <a:rPr lang="zh-TW" sz="1600" dirty="0">
                  <a:solidFill>
                    <a:srgbClr val="B54836"/>
                  </a:solidFill>
                  <a:latin typeface="Arial"/>
                  <a:ea typeface="Microsoft JhengHei"/>
                  <a:cs typeface="Arial"/>
                </a:rPr>
                <a:t>誰的相對評分較高？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97408" y="21844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價值分數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90550" y="2736850"/>
              <a:ext cx="1903933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1–100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99694" y="3651250"/>
              <a:ext cx="2743962" cy="762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同一比較池內的相對位置</a:t>
              </a:r>
              <a:br>
                <a:rPr lang="zh-TW" sz="19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不是成功機率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99694" y="4464050"/>
              <a:ext cx="264490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不同對決不宜直接比較</a:t>
              </a:r>
            </a:p>
          </p:txBody>
        </p:sp>
      </p:grpSp>
      <p:grpSp>
        <p:nvGrpSpPr>
          <p:cNvPr id="18" name="difference"/>
          <p:cNvGrpSpPr/>
          <p:nvPr/>
        </p:nvGrpSpPr>
        <p:grpSpPr>
          <a:xfrm>
            <a:off x="4286250" y="1758950"/>
            <a:ext cx="2391537" cy="3086481"/>
            <a:chOff x="4286250" y="1758950"/>
            <a:chExt cx="2391537" cy="3086481"/>
          </a:xfrm>
        </p:grpSpPr>
        <p:sp>
          <p:nvSpPr>
            <p:cNvPr id="13" name="TextBox 13"/>
            <p:cNvSpPr txBox="1"/>
            <p:nvPr/>
          </p:nvSpPr>
          <p:spPr>
            <a:xfrm>
              <a:off x="4296918" y="17589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與現任差多少？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293108" y="2184400"/>
              <a:ext cx="163982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模型勝率差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286250" y="2736850"/>
              <a:ext cx="1903933" cy="9334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800" b="1" dirty="0">
                  <a:solidFill>
                    <a:srgbClr val="237A53"/>
                  </a:solidFill>
                  <a:latin typeface="+mn-lt"/>
                  <a:ea typeface="+mn-ea"/>
                  <a:cs typeface="+mn-cs"/>
                </a:rPr>
                <a:t>+1.05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295394" y="3651250"/>
              <a:ext cx="1753362" cy="762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單位：百分點</a:t>
              </a:r>
              <a:br>
                <a:rPr lang="zh-TW" sz="19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依當下局勢換算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295394" y="4464050"/>
              <a:ext cx="238239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相對同一位現任球員</a:t>
              </a:r>
            </a:p>
          </p:txBody>
        </p:sp>
      </p:grpSp>
      <p:grpSp>
        <p:nvGrpSpPr>
          <p:cNvPr id="24" name="uncertainty"/>
          <p:cNvGrpSpPr/>
          <p:nvPr/>
        </p:nvGrpSpPr>
        <p:grpSpPr>
          <a:xfrm>
            <a:off x="7984236" y="1758982"/>
            <a:ext cx="2503170" cy="3086449"/>
            <a:chOff x="7984236" y="1758982"/>
            <a:chExt cx="2503170" cy="3086449"/>
          </a:xfrm>
        </p:grpSpPr>
        <p:sp>
          <p:nvSpPr>
            <p:cNvPr id="19" name="TextBox 19"/>
            <p:cNvSpPr/>
            <p:nvPr/>
          </p:nvSpPr>
          <p:spPr>
            <a:xfrm>
              <a:off x="7992618" y="1758982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76168" rIns="0" bIns="0" anchor="t" anchorCtr="0">
              <a:noAutofit/>
            </a:bodyPr>
            <a:lstStyle/>
            <a:p>
              <a:pPr algn="l"/>
              <a:r>
                <a:rPr lang="zh-TW" sz="1600" dirty="0">
                  <a:solidFill>
                    <a:srgbClr val="B54836"/>
                  </a:solidFill>
                  <a:latin typeface="Arial"/>
                  <a:ea typeface="Microsoft JhengHei"/>
                  <a:cs typeface="Arial"/>
                </a:rPr>
                <a:t>如何解讀估計誤差？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988808" y="2184400"/>
              <a:ext cx="99364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誤差線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984236" y="2927350"/>
              <a:ext cx="181051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近似範圍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991094" y="3651250"/>
              <a:ext cx="2496312" cy="762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來自階層式估計</a:t>
              </a:r>
              <a:br>
                <a:rPr lang="zh-TW" sz="195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不是完整集成預測區間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991094" y="4464050"/>
              <a:ext cx="238239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也不是候選勝出機率</a:t>
              </a:r>
            </a:p>
          </p:txBody>
        </p:sp>
      </p:grpSp>
      <p:grpSp>
        <p:nvGrpSpPr>
          <p:cNvPr id="27" name="boundaries"/>
          <p:cNvGrpSpPr/>
          <p:nvPr/>
        </p:nvGrpSpPr>
        <p:grpSpPr>
          <a:xfrm>
            <a:off x="598932" y="5413375"/>
            <a:ext cx="6960394" cy="811657"/>
            <a:chOff x="598932" y="5413375"/>
            <a:chExt cx="6960394" cy="811657"/>
          </a:xfrm>
        </p:grpSpPr>
        <p:sp>
          <p:nvSpPr>
            <p:cNvPr id="25" name="TextBox 25"/>
            <p:cNvSpPr txBox="1"/>
            <p:nvPr/>
          </p:nvSpPr>
          <p:spPr>
            <a:xfrm>
              <a:off x="598932" y="5413375"/>
              <a:ext cx="39791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歷史回放僅使用決策日前的資料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01218" y="5902325"/>
              <a:ext cx="69581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2024–2025 資料原型；出賽名單、健康狀況與當場守位仍需人工確認。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365992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1304049" cy="264033"/>
            <a:chOff x="602742" y="177800"/>
            <a:chExt cx="1304049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13040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　資料與解法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068"/>
            <a:ext cx="6697218" cy="645414"/>
            <a:chOff x="592836" y="546068"/>
            <a:chExt cx="6697218" cy="645414"/>
          </a:xfrm>
        </p:grpSpPr>
        <p:sp>
          <p:nvSpPr>
            <p:cNvPr id="4" name="TextBox 4"/>
            <p:cNvSpPr/>
            <p:nvPr/>
          </p:nvSpPr>
          <p:spPr>
            <a:xfrm>
              <a:off x="592836" y="546068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>
                  <a:solidFill>
                    <a:srgbClr val="18344A"/>
                  </a:solidFill>
                  <a:latin typeface="Arial"/>
                  <a:ea typeface="Microsoft JhengHei"/>
                  <a:cs typeface="Arial"/>
                </a:rPr>
                <a:t>回測：換投提示與續投風險有關聯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365992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  <p:sp>
        <p:nvSpPr>
          <p:cNvPr id="8" name="Rectangle 8"/>
          <p:cNvSpPr/>
          <p:nvPr/>
        </p:nvSpPr>
        <p:spPr>
          <a:xfrm>
            <a:off x="609600" y="1257300"/>
            <a:ext cx="857250" cy="38100"/>
          </a:xfrm>
          <a:prstGeom prst="rect">
            <a:avLst/>
          </a:prstGeom>
          <a:solidFill>
            <a:srgbClr val="B54836"/>
          </a:solidFill>
          <a:ln>
            <a:noFill/>
          </a:ln>
        </p:spPr>
      </p:sp>
      <p:grpSp>
        <p:nvGrpSpPr>
          <p:cNvPr id="11" name="backtest-scope"/>
          <p:cNvGrpSpPr/>
          <p:nvPr/>
        </p:nvGrpSpPr>
        <p:grpSpPr>
          <a:xfrm>
            <a:off x="609600" y="1524000"/>
            <a:ext cx="10972800" cy="784860"/>
            <a:chOff x="609600" y="1524000"/>
            <a:chExt cx="10972800" cy="784860"/>
          </a:xfrm>
        </p:grpSpPr>
        <p:sp>
          <p:nvSpPr>
            <p:cNvPr id="9" name="TextBox 9"/>
            <p:cNvSpPr txBox="1"/>
            <p:nvPr/>
          </p:nvSpPr>
          <p:spPr>
            <a:xfrm>
              <a:off x="609600" y="1524000"/>
              <a:ext cx="10972800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0005" rIns="0" bIns="0" anchor="t" anchorCtr="0">
              <a:no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2025 例行賽第 6 局起｜11,962 個打席決策點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9600" y="1943100"/>
              <a:ext cx="109728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4290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每個打席前評估一次；候選差距達 1 百分點視為系統建議。</a:t>
              </a:r>
            </a:p>
          </p:txBody>
        </p:sp>
      </p:grpSp>
      <p:grpSp>
        <p:nvGrpSpPr>
          <p:cNvPr id="24" name="backtest-comparison"/>
          <p:cNvGrpSpPr/>
          <p:nvPr/>
        </p:nvGrpSpPr>
        <p:grpSpPr>
          <a:xfrm>
            <a:off x="609600" y="2552700"/>
            <a:ext cx="10972800" cy="2268855"/>
            <a:chOff x="609600" y="2552700"/>
            <a:chExt cx="10972800" cy="2268855"/>
          </a:xfrm>
        </p:grpSpPr>
        <p:sp>
          <p:nvSpPr>
            <p:cNvPr id="12" name="TextBox 12"/>
            <p:cNvSpPr txBox="1"/>
            <p:nvPr/>
          </p:nvSpPr>
          <p:spPr>
            <a:xfrm>
              <a:off x="609600" y="2552700"/>
              <a:ext cx="10972800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7147" rIns="0" bIns="0" anchor="t" anchorCtr="0">
              <a:noAutofit/>
            </a:bodyPr>
            <a:lstStyle/>
            <a:p>
              <a:pPr algn="l"/>
              <a:r>
                <a:rPr lang="zh-TW" sz="195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實際未換投時，比較「建議換」與「不建議換」兩組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09600" y="2971800"/>
              <a:ext cx="109728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3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續投打席的 RE24 差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990600" y="3771900"/>
              <a:ext cx="6172200" cy="9525"/>
            </a:xfrm>
            <a:custGeom>
              <a:avLst/>
              <a:gdLst/>
              <a:ahLst/>
              <a:cxnLst/>
              <a:rect l="l" t="t" r="r" b="b"/>
              <a:pathLst>
                <a:path w="6172200" h="9525">
                  <a:moveTo>
                    <a:pt x="0" y="0"/>
                  </a:moveTo>
                  <a:lnTo>
                    <a:pt x="6172200" y="0"/>
                  </a:lnTo>
                </a:path>
              </a:pathLst>
            </a:custGeom>
            <a:noFill/>
            <a:ln w="19050">
              <a:solidFill>
                <a:srgbClr val="D7D1C5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2225040" y="3381375"/>
              <a:ext cx="9525" cy="638175"/>
            </a:xfrm>
            <a:custGeom>
              <a:avLst/>
              <a:gdLst/>
              <a:ahLst/>
              <a:cxnLst/>
              <a:rect l="l" t="t" r="r" b="b"/>
              <a:pathLst>
                <a:path w="9525" h="638175">
                  <a:moveTo>
                    <a:pt x="0" y="0"/>
                  </a:moveTo>
                  <a:lnTo>
                    <a:pt x="0" y="638175"/>
                  </a:lnTo>
                </a:path>
              </a:pathLst>
            </a:custGeom>
            <a:noFill/>
            <a:ln w="19050">
              <a:solidFill>
                <a:srgbClr val="58616B"/>
              </a:solidFill>
              <a:prstDash val="dash"/>
            </a:ln>
          </p:spPr>
        </p:sp>
        <p:sp>
          <p:nvSpPr>
            <p:cNvPr id="16" name="Line 16"/>
            <p:cNvSpPr/>
            <p:nvPr/>
          </p:nvSpPr>
          <p:spPr>
            <a:xfrm>
              <a:off x="3274314" y="3648075"/>
              <a:ext cx="3147822" cy="9525"/>
            </a:xfrm>
            <a:custGeom>
              <a:avLst/>
              <a:gdLst/>
              <a:ahLst/>
              <a:cxnLst/>
              <a:rect l="l" t="t" r="r" b="b"/>
              <a:pathLst>
                <a:path w="3147822" h="9525">
                  <a:moveTo>
                    <a:pt x="0" y="0"/>
                  </a:moveTo>
                  <a:lnTo>
                    <a:pt x="3147822" y="0"/>
                  </a:lnTo>
                </a:path>
              </a:pathLst>
            </a:custGeom>
            <a:noFill/>
            <a:ln w="47625">
              <a:solidFill>
                <a:srgbClr val="B54836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3274314" y="3533775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6422136" y="3533775"/>
              <a:ext cx="9525" cy="228600"/>
            </a:xfrm>
            <a:custGeom>
              <a:avLst/>
              <a:gdLst/>
              <a:ahLst/>
              <a:cxnLst/>
              <a:rect l="l" t="t" r="r" b="b"/>
              <a:pathLst>
                <a:path w="9525" h="228600">
                  <a:moveTo>
                    <a:pt x="0" y="0"/>
                  </a:moveTo>
                  <a:lnTo>
                    <a:pt x="0" y="228600"/>
                  </a:lnTo>
                </a:path>
              </a:pathLst>
            </a:custGeom>
            <a:noFill/>
            <a:ln w="28575">
              <a:solidFill>
                <a:srgbClr val="B54836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4793361" y="3562350"/>
              <a:ext cx="171450" cy="171450"/>
            </a:xfrm>
            <a:prstGeom prst="ellipse">
              <a:avLst/>
            </a:prstGeom>
            <a:solidFill>
              <a:srgbClr val="B54836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2072640" y="4086225"/>
              <a:ext cx="950976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28575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0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541520" y="4086225"/>
              <a:ext cx="704088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28575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+0.04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10400" y="4086225"/>
              <a:ext cx="45720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28575" rIns="0" bIns="0" anchor="t" anchorCtr="0">
              <a:noAutofit/>
            </a:bodyPr>
            <a:lstStyle/>
            <a:p>
              <a:pPr algn="l"/>
              <a:r>
                <a:rPr lang="zh-TW" sz="150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+0.08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09600" y="4486275"/>
              <a:ext cx="109728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3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95% 區間：+0.017 ～ +0.068；高於 0 表示「建議換投」組的續投風險較高。</a:t>
              </a:r>
            </a:p>
          </p:txBody>
        </p:sp>
      </p:grpSp>
      <p:grpSp>
        <p:nvGrpSpPr>
          <p:cNvPr id="27" name="backtest-result"/>
          <p:cNvGrpSpPr/>
          <p:nvPr/>
        </p:nvGrpSpPr>
        <p:grpSpPr>
          <a:xfrm>
            <a:off x="8001000" y="2667000"/>
            <a:ext cx="3581400" cy="1720215"/>
            <a:chOff x="8001000" y="2667000"/>
            <a:chExt cx="3581400" cy="1720215"/>
          </a:xfrm>
        </p:grpSpPr>
        <p:sp>
          <p:nvSpPr>
            <p:cNvPr id="25" name="TextBox 25"/>
            <p:cNvSpPr txBox="1"/>
            <p:nvPr/>
          </p:nvSpPr>
          <p:spPr>
            <a:xfrm>
              <a:off x="8001000" y="2667000"/>
              <a:ext cx="3581400" cy="975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91440" rIns="0" bIns="0" anchor="t" anchorCtr="0">
              <a:noAutofit/>
            </a:bodyPr>
            <a:lstStyle/>
            <a:p>
              <a:pPr algn="l"/>
              <a:r>
                <a:rPr lang="zh-TW" sz="4800" b="1" dirty="0">
                  <a:solidFill>
                    <a:srgbClr val="B54836"/>
                  </a:solidFill>
                  <a:latin typeface="Microsoft JhengHei"/>
                  <a:ea typeface="Microsoft JhengHei"/>
                  <a:cs typeface="Microsoft JhengHei"/>
                </a:rPr>
                <a:t>+0.043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001000" y="3562350"/>
              <a:ext cx="3581400" cy="8248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7147" rIns="0" bIns="0" anchor="t" anchorCtr="0">
              <a:noAutofit/>
            </a:bodyPr>
            <a:lstStyle/>
            <a:p>
              <a:pPr algn="l">
                <a:lnSpc>
                  <a:spcPts val="3375"/>
                </a:lnSpc>
              </a:pPr>
              <a:r>
                <a:rPr lang="zh-TW" sz="1950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得分期望差（RE24）</a:t>
              </a:r>
              <a:br/>
              <a:r>
                <a:rPr lang="zh-TW" sz="1950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提供換投風險線索</a:t>
              </a:r>
            </a:p>
          </p:txBody>
        </p:sp>
      </p:grpSp>
      <p:grpSp>
        <p:nvGrpSpPr>
          <p:cNvPr id="31" name="backtest-limits"/>
          <p:cNvGrpSpPr/>
          <p:nvPr/>
        </p:nvGrpSpPr>
        <p:grpSpPr>
          <a:xfrm>
            <a:off x="609600" y="5124450"/>
            <a:ext cx="10972800" cy="1173480"/>
            <a:chOff x="609600" y="5124450"/>
            <a:chExt cx="10972800" cy="1173480"/>
          </a:xfrm>
        </p:grpSpPr>
        <p:sp>
          <p:nvSpPr>
            <p:cNvPr id="29" name="TextBox 29"/>
            <p:cNvSpPr txBox="1"/>
            <p:nvPr/>
          </p:nvSpPr>
          <p:spPr>
            <a:xfrm>
              <a:off x="609600" y="5124450"/>
              <a:ext cx="10972800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0005" rIns="0" bIns="0" anchor="t" anchorCtr="0">
              <a:no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代打時機：差異尚不明顯，維持參考性解讀。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09600" y="5638800"/>
              <a:ext cx="10972800" cy="6591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2" rIns="0" bIns="0" anchor="t" anchorCtr="0">
              <a:noAutofit/>
            </a:bodyPr>
            <a:lstStyle/>
            <a:p>
              <a:pPr algn="l">
                <a:lnSpc>
                  <a:spcPts val="2550"/>
                </a:lnSpc>
              </a:pPr>
              <a:r>
                <a:rPr lang="zh-TW" sz="16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分組比較不代表因果效益，無法得知同一情境「換人後」的實際結果。</a:t>
              </a:r>
              <a:br/>
              <a:r>
                <a:rPr lang="zh-TW" sz="16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可用名單由歷史出賽推估；模型只比較後續 3 棒。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number"/>
          <p:cNvGrpSpPr/>
          <p:nvPr/>
        </p:nvGrpSpPr>
        <p:grpSpPr>
          <a:xfrm>
            <a:off x="590550" y="1714500"/>
            <a:ext cx="1520638" cy="1905000"/>
            <a:chOff x="590550" y="1714500"/>
            <a:chExt cx="1520638" cy="1905000"/>
          </a:xfrm>
        </p:grpSpPr>
        <p:sp>
          <p:nvSpPr>
            <p:cNvPr id="2" name="TextBox 2"/>
            <p:cNvSpPr txBox="1"/>
            <p:nvPr/>
          </p:nvSpPr>
          <p:spPr>
            <a:xfrm>
              <a:off x="590550" y="1714500"/>
              <a:ext cx="1520638" cy="1905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99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6" name="chapter-heading"/>
          <p:cNvGrpSpPr/>
          <p:nvPr/>
        </p:nvGrpSpPr>
        <p:grpSpPr>
          <a:xfrm>
            <a:off x="3336036" y="1739900"/>
            <a:ext cx="5364480" cy="1204214"/>
            <a:chOff x="3336036" y="1739900"/>
            <a:chExt cx="5364480" cy="1204214"/>
          </a:xfrm>
        </p:grpSpPr>
        <p:sp>
          <p:nvSpPr>
            <p:cNvPr id="4" name="TextBox 4"/>
            <p:cNvSpPr txBox="1"/>
            <p:nvPr/>
          </p:nvSpPr>
          <p:spPr>
            <a:xfrm>
              <a:off x="3344418" y="1739900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網站成果與決策體驗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3336036" y="2298700"/>
              <a:ext cx="536448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用一個打席，回答三個問題</a:t>
              </a:r>
            </a:p>
          </p:txBody>
        </p:sp>
      </p:grpSp>
      <p:grpSp>
        <p:nvGrpSpPr>
          <p:cNvPr id="9" name="chapter-summary"/>
          <p:cNvGrpSpPr/>
          <p:nvPr/>
        </p:nvGrpSpPr>
        <p:grpSpPr>
          <a:xfrm>
            <a:off x="3340608" y="3784600"/>
            <a:ext cx="3901440" cy="1211707"/>
            <a:chOff x="3340608" y="3784600"/>
            <a:chExt cx="3901440" cy="1211707"/>
          </a:xfrm>
        </p:grpSpPr>
        <p:sp>
          <p:nvSpPr>
            <p:cNvPr id="7" name="TextBox 7"/>
            <p:cNvSpPr txBox="1"/>
            <p:nvPr/>
          </p:nvSpPr>
          <p:spPr>
            <a:xfrm>
              <a:off x="3340608" y="3784600"/>
              <a:ext cx="390144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差多少、誰接守、憑什麼。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3344418" y="4673600"/>
              <a:ext cx="352599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操作 Demo　／　案例　／　UI／UX　／　未來規劃</a:t>
              </a:r>
            </a:p>
          </p:txBody>
        </p:sp>
      </p:grpSp>
      <p:grpSp>
        <p:nvGrpSpPr>
          <p:cNvPr id="11" name="baseball"/>
          <p:cNvGrpSpPr/>
          <p:nvPr/>
        </p:nvGrpSpPr>
        <p:grpSpPr>
          <a:xfrm>
            <a:off x="9048750" y="4000500"/>
            <a:ext cx="2190750" cy="2190750"/>
            <a:chOff x="9048750" y="4000500"/>
            <a:chExt cx="2190750" cy="2190750"/>
          </a:xfrm>
        </p:grpSpPr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48750" y="4000500"/>
              <a:ext cx="2190750" cy="2190750"/>
            </a:xfrm>
            <a:prstGeom prst="rect">
              <a:avLst/>
            </a:prstGeom>
          </p:spPr>
        </p:pic>
      </p:grpSp>
      <p:sp>
        <p:nvSpPr>
          <p:cNvPr id="12" name="TextBox 12"/>
          <p:cNvSpPr txBox="1"/>
          <p:nvPr/>
        </p:nvSpPr>
        <p:spPr>
          <a:xfrm>
            <a:off x="11375631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2030997" cy="264033"/>
            <a:chOff x="602742" y="177800"/>
            <a:chExt cx="2030997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　網站成果與決策體驗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100"/>
            <a:ext cx="6017522" cy="645414"/>
            <a:chOff x="592836" y="546100"/>
            <a:chExt cx="6017522" cy="645414"/>
          </a:xfrm>
        </p:grpSpPr>
        <p:sp>
          <p:nvSpPr>
            <p:cNvPr id="4" name="TextBox 4"/>
            <p:cNvSpPr txBox="1"/>
            <p:nvPr/>
          </p:nvSpPr>
          <p:spPr>
            <a:xfrm>
              <a:off x="592836" y="546100"/>
              <a:ext cx="601752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25 秒實錄：完成一次代打比較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1365992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pic>
        <p:nvPicPr>
          <p:cNvPr id="10" name="實際網站操作 Demo（點選播放，約25秒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524000" y="144780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2030997" cy="264033"/>
            <a:chOff x="602742" y="177800"/>
            <a:chExt cx="2030997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　網站成果與決策體驗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068"/>
            <a:ext cx="5808726" cy="645414"/>
            <a:chOff x="592836" y="546068"/>
            <a:chExt cx="5808726" cy="645414"/>
          </a:xfrm>
        </p:grpSpPr>
        <p:sp>
          <p:nvSpPr>
            <p:cNvPr id="4" name="TextBox 4"/>
            <p:cNvSpPr/>
            <p:nvPr/>
          </p:nvSpPr>
          <p:spPr>
            <a:xfrm>
              <a:off x="592836" y="546068"/>
              <a:ext cx="580872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>
                  <a:solidFill>
                    <a:srgbClr val="18344A"/>
                  </a:solidFill>
                  <a:latin typeface="Arial"/>
                  <a:ea typeface="Microsoft JhengHei"/>
                  <a:cs typeface="Arial"/>
                </a:rPr>
                <a:t>確認名單，排除場上球員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1365992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  <p:sp>
        <p:nvSpPr>
          <p:cNvPr id="8" name="Rectangle 8"/>
          <p:cNvSpPr/>
          <p:nvPr/>
        </p:nvSpPr>
        <p:spPr>
          <a:xfrm>
            <a:off x="609600" y="1257300"/>
            <a:ext cx="857250" cy="38100"/>
          </a:xfrm>
          <a:prstGeom prst="rect">
            <a:avLst/>
          </a:prstGeom>
          <a:solidFill>
            <a:srgbClr val="B54836"/>
          </a:solidFill>
          <a:ln>
            <a:noFill/>
          </a:ln>
        </p:spPr>
      </p:sp>
      <p:grpSp>
        <p:nvGrpSpPr>
          <p:cNvPr id="11" name="lineup-field"/>
          <p:cNvGrpSpPr/>
          <p:nvPr/>
        </p:nvGrpSpPr>
        <p:grpSpPr>
          <a:xfrm>
            <a:off x="609600" y="1562100"/>
            <a:ext cx="10972800" cy="4762500"/>
            <a:chOff x="609600" y="1562100"/>
            <a:chExt cx="10972800" cy="4762500"/>
          </a:xfrm>
        </p:grpSpPr>
        <p:sp>
          <p:nvSpPr>
            <p:cNvPr id="9" name="TextBox 9"/>
            <p:cNvSpPr txBox="1"/>
            <p:nvPr/>
          </p:nvSpPr>
          <p:spPr>
            <a:xfrm>
              <a:off x="609600" y="1562100"/>
              <a:ext cx="10972800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0005" rIns="0" bIns="0" anchor="t" anchorCtr="0">
              <a:no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01　確認守位與場上球員</a:t>
              </a:r>
            </a:p>
          </p:txBody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12275" y="2038350"/>
              <a:ext cx="4357150" cy="4286250"/>
            </a:xfrm>
            <a:prstGeom prst="rect">
              <a:avLst/>
            </a:prstGeom>
          </p:spPr>
        </p:pic>
      </p:grpSp>
      <p:grpSp>
        <p:nvGrpSpPr>
          <p:cNvPr id="14" name="lineup-order"/>
          <p:cNvGrpSpPr/>
          <p:nvPr/>
        </p:nvGrpSpPr>
        <p:grpSpPr>
          <a:xfrm>
            <a:off x="5943600" y="1562100"/>
            <a:ext cx="5638800" cy="2943225"/>
            <a:chOff x="5943600" y="1562100"/>
            <a:chExt cx="5638800" cy="2943225"/>
          </a:xfrm>
        </p:grpSpPr>
        <p:sp>
          <p:nvSpPr>
            <p:cNvPr id="12" name="TextBox 12"/>
            <p:cNvSpPr txBox="1"/>
            <p:nvPr/>
          </p:nvSpPr>
          <p:spPr>
            <a:xfrm>
              <a:off x="5943600" y="1562100"/>
              <a:ext cx="5638800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0005" rIns="0" bIns="0" anchor="t" anchorCtr="0">
              <a:no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02　調整棒次與守位</a:t>
              </a:r>
            </a:p>
          </p:txBody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946141" y="2095500"/>
              <a:ext cx="5633718" cy="2409825"/>
            </a:xfrm>
            <a:prstGeom prst="rect">
              <a:avLst/>
            </a:prstGeom>
          </p:spPr>
        </p:pic>
      </p:grpSp>
      <p:grpSp>
        <p:nvGrpSpPr>
          <p:cNvPr id="17" name="lineup-rules"/>
          <p:cNvGrpSpPr/>
          <p:nvPr/>
        </p:nvGrpSpPr>
        <p:grpSpPr>
          <a:xfrm>
            <a:off x="5943600" y="4705350"/>
            <a:ext cx="5638800" cy="1556385"/>
            <a:chOff x="5943600" y="4705350"/>
            <a:chExt cx="5638800" cy="1556385"/>
          </a:xfrm>
        </p:grpSpPr>
        <p:sp>
          <p:nvSpPr>
            <p:cNvPr id="15" name="TextBox 15"/>
            <p:cNvSpPr txBox="1"/>
            <p:nvPr/>
          </p:nvSpPr>
          <p:spPr>
            <a:xfrm>
              <a:off x="5943600" y="4705350"/>
              <a:ext cx="5638800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0005" rIns="0" bIns="0" anchor="t" anchorCtr="0">
              <a:no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套用配置後，排除場上球員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943600" y="5172075"/>
              <a:ext cx="5638800" cy="10896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4290" rIns="0" bIns="0" anchor="t" anchorCtr="0">
              <a:noAutofit/>
            </a:bodyPr>
            <a:lstStyle/>
            <a:p>
              <a:pPr algn="l">
                <a:lnSpc>
                  <a:spcPts val="2850"/>
                </a:lnSpc>
              </a:pPr>
              <a:r>
                <a:rPr lang="zh-TW" sz="180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預設依 2025 最後 30 場常見先發帶入，</a:t>
              </a:r>
              <a:br/>
              <a:r>
                <a:rPr lang="zh-TW" sz="180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可由使用者調整；不設定也能直接評估。</a:t>
              </a:r>
              <a:br/>
              <a:r>
                <a:rPr lang="zh-TW" sz="180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當日登錄與出賽資格仍需人工確認。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2030997" cy="264033"/>
            <a:chOff x="602742" y="177800"/>
            <a:chExt cx="2030997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　網站成果與決策體驗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068"/>
            <a:ext cx="6697218" cy="645414"/>
            <a:chOff x="592836" y="546068"/>
            <a:chExt cx="6697218" cy="645414"/>
          </a:xfrm>
        </p:grpSpPr>
        <p:sp>
          <p:nvSpPr>
            <p:cNvPr id="4" name="TextBox 4"/>
            <p:cNvSpPr/>
            <p:nvPr/>
          </p:nvSpPr>
          <p:spPr>
            <a:xfrm>
              <a:off x="592836" y="546068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>
                  <a:solidFill>
                    <a:srgbClr val="18344A"/>
                  </a:solidFill>
                  <a:latin typeface="Arial"/>
                  <a:ea typeface="Microsoft JhengHei"/>
                  <a:cs typeface="Arial"/>
                </a:rPr>
                <a:t>固定比較條件，只替換候選人選</a:t>
              </a:r>
            </a:p>
          </p:txBody>
        </p:sp>
      </p:grpSp>
      <p:grpSp>
        <p:nvGrpSpPr>
          <p:cNvPr id="8" name="fixed-title"/>
          <p:cNvGrpSpPr/>
          <p:nvPr/>
        </p:nvGrpSpPr>
        <p:grpSpPr>
          <a:xfrm>
            <a:off x="597408" y="1631950"/>
            <a:ext cx="2932176" cy="469392"/>
            <a:chOff x="597408" y="1631950"/>
            <a:chExt cx="2932176" cy="469392"/>
          </a:xfrm>
        </p:grpSpPr>
        <p:sp>
          <p:nvSpPr>
            <p:cNvPr id="7" name="TextBox 7"/>
            <p:cNvSpPr txBox="1"/>
            <p:nvPr/>
          </p:nvSpPr>
          <p:spPr>
            <a:xfrm>
              <a:off x="597408" y="1631950"/>
              <a:ext cx="293217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比較時固定三項條件</a:t>
              </a:r>
            </a:p>
          </p:txBody>
        </p:sp>
      </p:grpSp>
      <p:grpSp>
        <p:nvGrpSpPr>
          <p:cNvPr id="12" name="pitcher"/>
          <p:cNvGrpSpPr/>
          <p:nvPr/>
        </p:nvGrpSpPr>
        <p:grpSpPr>
          <a:xfrm>
            <a:off x="597408" y="2463800"/>
            <a:ext cx="1316736" cy="1369568"/>
            <a:chOff x="597408" y="2463800"/>
            <a:chExt cx="1316736" cy="1369568"/>
          </a:xfrm>
        </p:grpSpPr>
        <p:sp>
          <p:nvSpPr>
            <p:cNvPr id="9" name="TextBox 9"/>
            <p:cNvSpPr txBox="1"/>
            <p:nvPr/>
          </p:nvSpPr>
          <p:spPr>
            <a:xfrm>
              <a:off x="601218" y="24638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97408" y="2841625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對方投手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98932" y="3422650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魔力藍（左投）</a:t>
              </a:r>
            </a:p>
          </p:txBody>
        </p:sp>
      </p:grpSp>
      <p:grpSp>
        <p:nvGrpSpPr>
          <p:cNvPr id="16" name="situation"/>
          <p:cNvGrpSpPr/>
          <p:nvPr/>
        </p:nvGrpSpPr>
        <p:grpSpPr>
          <a:xfrm>
            <a:off x="4293108" y="2463800"/>
            <a:ext cx="2423160" cy="1718818"/>
            <a:chOff x="4293108" y="2463800"/>
            <a:chExt cx="2423160" cy="1718818"/>
          </a:xfrm>
        </p:grpSpPr>
        <p:sp>
          <p:nvSpPr>
            <p:cNvPr id="13" name="TextBox 13"/>
            <p:cNvSpPr txBox="1"/>
            <p:nvPr/>
          </p:nvSpPr>
          <p:spPr>
            <a:xfrm>
              <a:off x="4296918" y="24638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293108" y="2841625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比賽局勢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294632" y="3371850"/>
              <a:ext cx="2421636" cy="8107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 局上，1 : 2</a:t>
              </a:r>
              <a:br>
                <a:rPr lang="zh-TW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一出局，二壘有人</a:t>
              </a:r>
            </a:p>
          </p:txBody>
        </p:sp>
      </p:grpSp>
      <p:grpSp>
        <p:nvGrpSpPr>
          <p:cNvPr id="20" name="current"/>
          <p:cNvGrpSpPr/>
          <p:nvPr/>
        </p:nvGrpSpPr>
        <p:grpSpPr>
          <a:xfrm>
            <a:off x="7988808" y="2463800"/>
            <a:ext cx="1356360" cy="1718818"/>
            <a:chOff x="7988808" y="2463800"/>
            <a:chExt cx="1356360" cy="1718818"/>
          </a:xfrm>
        </p:grpSpPr>
        <p:sp>
          <p:nvSpPr>
            <p:cNvPr id="17" name="TextBox 17"/>
            <p:cNvSpPr txBox="1"/>
            <p:nvPr/>
          </p:nvSpPr>
          <p:spPr>
            <a:xfrm>
              <a:off x="7992618" y="24638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988808" y="2841625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現任打者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90332" y="3371850"/>
              <a:ext cx="1354836" cy="8107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林佳緯（左打）</a:t>
              </a:r>
              <a:br>
                <a:rPr lang="zh-TW" sz="21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目前為指定打擊</a:t>
              </a:r>
            </a:p>
          </p:txBody>
        </p:sp>
      </p:grpSp>
      <p:grpSp>
        <p:nvGrpSpPr>
          <p:cNvPr id="23" name="candidate-change"/>
          <p:cNvGrpSpPr/>
          <p:nvPr/>
        </p:nvGrpSpPr>
        <p:grpSpPr>
          <a:xfrm>
            <a:off x="597408" y="4699000"/>
            <a:ext cx="4870704" cy="867918"/>
            <a:chOff x="597408" y="4699000"/>
            <a:chExt cx="4870704" cy="867918"/>
          </a:xfrm>
        </p:grpSpPr>
        <p:sp>
          <p:nvSpPr>
            <p:cNvPr id="21" name="TextBox 21"/>
            <p:cNvSpPr txBox="1"/>
            <p:nvPr/>
          </p:nvSpPr>
          <p:spPr>
            <a:xfrm>
              <a:off x="597408" y="4699000"/>
              <a:ext cx="487070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改變候選人選，與林佳緯續打比較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98932" y="5156200"/>
              <a:ext cx="454456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胡金龍　／　陳鏞基　／　楊竣翔</a:t>
              </a:r>
            </a:p>
          </p:txBody>
        </p:sp>
      </p:grpSp>
      <p:grpSp>
        <p:nvGrpSpPr>
          <p:cNvPr id="25" name="condition-conclusion"/>
          <p:cNvGrpSpPr/>
          <p:nvPr/>
        </p:nvGrpSpPr>
        <p:grpSpPr>
          <a:xfrm>
            <a:off x="601218" y="5911850"/>
            <a:ext cx="6236208" cy="322707"/>
            <a:chOff x="601218" y="5911850"/>
            <a:chExt cx="6236208" cy="322707"/>
          </a:xfrm>
        </p:grpSpPr>
        <p:sp>
          <p:nvSpPr>
            <p:cNvPr id="24" name="TextBox 24"/>
            <p:cNvSpPr txBox="1"/>
            <p:nvPr/>
          </p:nvSpPr>
          <p:spPr>
            <a:xfrm>
              <a:off x="601218" y="5911850"/>
              <a:ext cx="62362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自訂示範情境；每位候選都使用相同的投手、局勢與比較基準。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1365992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2030997" cy="264033"/>
            <a:chOff x="602742" y="177800"/>
            <a:chExt cx="2030997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　網站成果與決策體驗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068"/>
            <a:ext cx="5808726" cy="645414"/>
            <a:chOff x="592836" y="546068"/>
            <a:chExt cx="5808726" cy="645414"/>
          </a:xfrm>
        </p:grpSpPr>
        <p:sp>
          <p:nvSpPr>
            <p:cNvPr id="4" name="TextBox 4"/>
            <p:cNvSpPr/>
            <p:nvPr/>
          </p:nvSpPr>
          <p:spPr>
            <a:xfrm>
              <a:off x="592836" y="546068"/>
              <a:ext cx="580872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>
                  <a:solidFill>
                    <a:srgbClr val="18344A"/>
                  </a:solidFill>
                  <a:latin typeface="Arial"/>
                  <a:ea typeface="Microsoft JhengHei"/>
                  <a:cs typeface="Arial"/>
                </a:rPr>
                <a:t>模型差距與守備需求，一起看</a:t>
              </a:r>
            </a:p>
          </p:txBody>
        </p:sp>
      </p:grpSp>
      <p:grpSp>
        <p:nvGrpSpPr>
          <p:cNvPr id="9" name="gain"/>
          <p:cNvGrpSpPr/>
          <p:nvPr/>
        </p:nvGrpSpPr>
        <p:grpSpPr>
          <a:xfrm>
            <a:off x="590550" y="1663700"/>
            <a:ext cx="3422142" cy="1445736"/>
            <a:chOff x="590550" y="1663700"/>
            <a:chExt cx="3422142" cy="1445736"/>
          </a:xfrm>
        </p:grpSpPr>
        <p:sp>
          <p:nvSpPr>
            <p:cNvPr id="7" name="TextBox 7"/>
            <p:cNvSpPr txBox="1"/>
            <p:nvPr/>
          </p:nvSpPr>
          <p:spPr>
            <a:xfrm>
              <a:off x="590550" y="1663700"/>
              <a:ext cx="1979762" cy="1104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700" b="1" dirty="0">
                  <a:solidFill>
                    <a:srgbClr val="237A53"/>
                  </a:solidFill>
                  <a:latin typeface="+mn-lt"/>
                  <a:ea typeface="+mn-ea"/>
                  <a:cs typeface="+mn-cs"/>
                </a:rPr>
                <a:t>+1.05</a:t>
              </a:r>
            </a:p>
          </p:txBody>
        </p:sp>
        <p:sp>
          <p:nvSpPr>
            <p:cNvPr id="8" name="TextBox 8"/>
            <p:cNvSpPr/>
            <p:nvPr/>
          </p:nvSpPr>
          <p:spPr>
            <a:xfrm>
              <a:off x="598932" y="2698718"/>
              <a:ext cx="341376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889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18344A"/>
                  </a:solidFill>
                  <a:latin typeface="Arial"/>
                  <a:ea typeface="Microsoft JhengHei"/>
                  <a:cs typeface="Arial"/>
                </a:rPr>
                <a:t>相對林佳緯的模型差距（百分點）</a:t>
              </a:r>
            </a:p>
          </p:txBody>
        </p:sp>
      </p:grpSp>
      <p:grpSp>
        <p:nvGrpSpPr>
          <p:cNvPr id="12" name="cost"/>
          <p:cNvGrpSpPr/>
          <p:nvPr/>
        </p:nvGrpSpPr>
        <p:grpSpPr>
          <a:xfrm>
            <a:off x="6686550" y="1663700"/>
            <a:ext cx="3987546" cy="1445768"/>
            <a:chOff x="6686550" y="1663700"/>
            <a:chExt cx="3987546" cy="1445768"/>
          </a:xfrm>
        </p:grpSpPr>
        <p:sp>
          <p:nvSpPr>
            <p:cNvPr id="10" name="TextBox 10"/>
            <p:cNvSpPr txBox="1"/>
            <p:nvPr/>
          </p:nvSpPr>
          <p:spPr>
            <a:xfrm>
              <a:off x="6686550" y="1663700"/>
              <a:ext cx="1933415" cy="11049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700" b="1" dirty="0">
                  <a:solidFill>
                    <a:srgbClr val="237A53"/>
                  </a:solidFill>
                  <a:latin typeface="+mn-lt"/>
                  <a:ea typeface="+mn-ea"/>
                  <a:cs typeface="+mn-cs"/>
                </a:rPr>
                <a:t>0 人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694932" y="2698750"/>
              <a:ext cx="39791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胡金龍承接指定打擊，不需調整守備</a:t>
              </a:r>
            </a:p>
          </p:txBody>
        </p:sp>
      </p:grpSp>
      <p:grpSp>
        <p:nvGrpSpPr>
          <p:cNvPr id="15" name="decision"/>
          <p:cNvGrpSpPr/>
          <p:nvPr/>
        </p:nvGrpSpPr>
        <p:grpSpPr>
          <a:xfrm>
            <a:off x="597408" y="3403568"/>
            <a:ext cx="6553200" cy="754571"/>
            <a:chOff x="597408" y="3403568"/>
            <a:chExt cx="6553200" cy="754571"/>
          </a:xfrm>
        </p:grpSpPr>
        <p:sp>
          <p:nvSpPr>
            <p:cNvPr id="13" name="TextBox 13"/>
            <p:cNvSpPr/>
            <p:nvPr/>
          </p:nvSpPr>
          <p:spPr>
            <a:xfrm>
              <a:off x="597408" y="3403568"/>
              <a:ext cx="655320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01632" rIns="0" bIns="0" anchor="t" anchorCtr="0">
              <a:noAutofit/>
            </a:bodyPr>
            <a:lstStyle/>
            <a:p>
              <a:pPr algn="l"/>
              <a:r>
                <a:rPr lang="zh-TW" sz="2000" b="1" dirty="0">
                  <a:solidFill>
                    <a:srgbClr val="18344A"/>
                  </a:solidFill>
                  <a:latin typeface="Arial"/>
                  <a:ea typeface="Microsoft JhengHei"/>
                  <a:cs typeface="Arial"/>
                </a:rPr>
                <a:t>本例差距達 1 百分點門檻，建議胡金龍代打。</a:t>
              </a:r>
            </a:p>
          </p:txBody>
        </p:sp>
        <p:sp>
          <p:nvSpPr>
            <p:cNvPr id="14" name="TextBox 14"/>
            <p:cNvSpPr/>
            <p:nvPr/>
          </p:nvSpPr>
          <p:spPr>
            <a:xfrm>
              <a:off x="601218" y="3835432"/>
              <a:ext cx="579196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76168" rIns="0" bIns="0" anchor="t" anchorCtr="0">
              <a:noAutofit/>
            </a:bodyPr>
            <a:lstStyle/>
            <a:p>
              <a:pPr algn="l"/>
              <a:r>
                <a:rPr lang="zh-TW" sz="1600" dirty="0">
                  <a:solidFill>
                    <a:srgbClr val="58616B"/>
                  </a:solidFill>
                  <a:latin typeface="Arial"/>
                  <a:ea typeface="Microsoft JhengHei"/>
                  <a:cs typeface="Arial"/>
                </a:rPr>
                <a:t>依據：左右對戰與整體打擊能力；模型差距不等於實際換人效益。</a:t>
              </a:r>
            </a:p>
          </p:txBody>
        </p:sp>
      </p:grpSp>
      <p:graphicFrame>
        <p:nvGraphicFramePr>
          <p:cNvPr id="16" name="candidate-grid"/>
          <p:cNvGraphicFramePr>
            <a:graphicFrameLocks noGrp="1"/>
          </p:cNvGraphicFramePr>
          <p:nvPr/>
        </p:nvGraphicFramePr>
        <p:xfrm>
          <a:off x="609600" y="4248150"/>
          <a:ext cx="10972800" cy="17145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90751"/>
                <a:gridCol w="2857500"/>
                <a:gridCol w="5924549"/>
              </a:tblGrid>
              <a:tr h="428625">
                <a:tc>
                  <a:txBody>
                    <a:bodyPr/>
                    <a:lstStyle/>
                    <a:p>
                      <a:pPr/>
                      <a:r>
                        <a:rPr lang="zh-TW" sz="1650" b="1">
                          <a:solidFill>
                            <a:srgbClr val="F7F5E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候選人</a:t>
                      </a:r>
                    </a:p>
                  </a:txBody>
                  <a:tcPr anchor="ctr" marL="76200" marR="76200" marT="67627" marB="67627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chemeClr val="accent6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zh-TW" sz="1650" b="1">
                          <a:solidFill>
                            <a:srgbClr val="F7F5E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相對林佳緯</a:t>
                      </a:r>
                    </a:p>
                  </a:txBody>
                  <a:tcPr anchor="ctr" marL="76200" marR="76200" marT="67627" marB="67627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chemeClr val="accent6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zh-TW" sz="1650" b="1">
                          <a:solidFill>
                            <a:srgbClr val="F7F5E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守備與資料提醒</a:t>
                      </a:r>
                    </a:p>
                  </a:txBody>
                  <a:tcPr anchor="ctr" marL="76200" marR="76200" marT="67627" marB="67627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chemeClr val="accent6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/>
                      <a:r>
                        <a:rPr lang="zh-TW" sz="1650" b="0">
                          <a:solidFill>
                            <a:schemeClr val="dk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胡金龍</a:t>
                      </a:r>
                    </a:p>
                  </a:txBody>
                  <a:tcPr anchor="ctr" marL="76200" marR="76200" marT="67627" marB="67627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chemeClr val="accent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zh-TW" sz="1650" b="0">
                          <a:solidFill>
                            <a:srgbClr val="237A5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+1.05 百分點</a:t>
                      </a:r>
                    </a:p>
                  </a:txBody>
                  <a:tcPr anchor="ctr" marL="76200" marR="76200" marT="67627" marB="67627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chemeClr val="accent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zh-TW" sz="1650" b="0">
                          <a:solidFill>
                            <a:schemeClr val="dk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承接指定打擊，不需接守</a:t>
                      </a:r>
                    </a:p>
                  </a:txBody>
                  <a:tcPr anchor="ctr" marL="76200" marR="76200" marT="67627" marB="67627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chemeClr val="accent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/>
                      <a:r>
                        <a:rPr lang="zh-TW" sz="1650" b="0">
                          <a:solidFill>
                            <a:schemeClr val="dk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陳鏞基</a:t>
                      </a:r>
                    </a:p>
                  </a:txBody>
                  <a:tcPr anchor="ctr" marL="76200" marR="76200" marT="67627" marB="67627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chemeClr val="accent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zh-TW" sz="1650" b="0">
                          <a:solidFill>
                            <a:srgbClr val="237A5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+0.99 百分點</a:t>
                      </a:r>
                    </a:p>
                  </a:txBody>
                  <a:tcPr anchor="ctr" marL="76200" marR="76200" marT="67627" marB="67627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chemeClr val="accent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zh-TW" sz="1650" b="0">
                          <a:solidFill>
                            <a:schemeClr val="dk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承接指定打擊，不需接守</a:t>
                      </a:r>
                    </a:p>
                  </a:txBody>
                  <a:tcPr anchor="ctr" marL="76200" marR="76200" marT="67627" marB="67627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chemeClr val="accent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/>
                      <a:r>
                        <a:rPr lang="zh-TW" sz="1650" b="0">
                          <a:solidFill>
                            <a:schemeClr val="dk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楊竣翔</a:t>
                      </a:r>
                    </a:p>
                  </a:txBody>
                  <a:tcPr anchor="ctr" marL="76200" marR="76200" marT="67627" marB="67627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chemeClr val="accent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zh-TW" sz="1650" b="0">
                          <a:solidFill>
                            <a:srgbClr val="237A5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+0.59 百分點</a:t>
                      </a:r>
                    </a:p>
                  </a:txBody>
                  <a:tcPr anchor="ctr" marL="76200" marR="76200" marT="67627" marB="67627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chemeClr val="accent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zh-TW" sz="1650" b="0">
                          <a:solidFill>
                            <a:schemeClr val="dk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資料有限（96 球），審慎參考</a:t>
                      </a:r>
                    </a:p>
                  </a:txBody>
                  <a:tcPr anchor="ctr" marL="76200" marR="76200" marT="67627" marB="67627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chemeClr val="accent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7"/>
          <p:cNvSpPr txBox="1"/>
          <p:nvPr/>
        </p:nvSpPr>
        <p:spPr>
          <a:xfrm>
            <a:off x="11375631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2030997" cy="264033"/>
            <a:chOff x="602742" y="177800"/>
            <a:chExt cx="2030997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　網站成果與決策體驗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100"/>
            <a:ext cx="6697218" cy="645414"/>
            <a:chOff x="592836" y="546100"/>
            <a:chExt cx="6697218" cy="645414"/>
          </a:xfrm>
        </p:grpSpPr>
        <p:sp>
          <p:nvSpPr>
            <p:cNvPr id="4" name="TextBox 4"/>
            <p:cNvSpPr txBox="1"/>
            <p:nvPr/>
          </p:nvSpPr>
          <p:spPr>
            <a:xfrm>
              <a:off x="592836" y="546100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換投比較，把後續三棒一起算進來</a:t>
              </a:r>
            </a:p>
          </p:txBody>
        </p:sp>
      </p:grpSp>
      <p:grpSp>
        <p:nvGrpSpPr>
          <p:cNvPr id="9" name="bullpen-context"/>
          <p:cNvGrpSpPr/>
          <p:nvPr/>
        </p:nvGrpSpPr>
        <p:grpSpPr>
          <a:xfrm>
            <a:off x="599694" y="1568450"/>
            <a:ext cx="6772856" cy="732282"/>
            <a:chOff x="599694" y="1568450"/>
            <a:chExt cx="6772856" cy="732282"/>
          </a:xfrm>
        </p:grpSpPr>
        <p:sp>
          <p:nvSpPr>
            <p:cNvPr id="7" name="TextBox 7"/>
            <p:cNvSpPr txBox="1"/>
            <p:nvPr/>
          </p:nvSpPr>
          <p:spPr>
            <a:xfrm>
              <a:off x="599694" y="1568450"/>
              <a:ext cx="677285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另一示範情境：樂天主場防守　｜　魔神龍已投 95 球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01218" y="1978025"/>
              <a:ext cx="62362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8 局上 0 : 0，兩出局二三壘有人；後續三棒：郭天信、李凱威、吉力吉撈．鞏冠</a:t>
              </a:r>
            </a:p>
          </p:txBody>
        </p:sp>
      </p:grpSp>
      <p:grpSp>
        <p:nvGrpSpPr>
          <p:cNvPr id="11" name="bullpen-chart"/>
          <p:cNvGrpSpPr/>
          <p:nvPr/>
        </p:nvGrpSpPr>
        <p:grpSpPr>
          <a:xfrm>
            <a:off x="613299" y="2457450"/>
            <a:ext cx="10965403" cy="2190750"/>
            <a:chOff x="613299" y="2457450"/>
            <a:chExt cx="10965403" cy="2190750"/>
          </a:xfrm>
        </p:grpSpPr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3299" y="2457450"/>
              <a:ext cx="10965403" cy="2190750"/>
            </a:xfrm>
            <a:prstGeom prst="rect">
              <a:avLst/>
            </a:prstGeom>
          </p:spPr>
        </p:pic>
      </p:grpSp>
      <p:grpSp>
        <p:nvGrpSpPr>
          <p:cNvPr id="14" name="bullpen-best"/>
          <p:cNvGrpSpPr/>
          <p:nvPr/>
        </p:nvGrpSpPr>
        <p:grpSpPr>
          <a:xfrm>
            <a:off x="597408" y="5013325"/>
            <a:ext cx="3320689" cy="908431"/>
            <a:chOff x="597408" y="5013325"/>
            <a:chExt cx="3320689" cy="908431"/>
          </a:xfrm>
        </p:grpSpPr>
        <p:sp>
          <p:nvSpPr>
            <p:cNvPr id="12" name="TextBox 12"/>
            <p:cNvSpPr txBox="1"/>
            <p:nvPr/>
          </p:nvSpPr>
          <p:spPr>
            <a:xfrm>
              <a:off x="597408" y="5013325"/>
              <a:ext cx="332068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rgbClr val="237A53"/>
                  </a:solidFill>
                  <a:latin typeface="+mn-lt"/>
                  <a:ea typeface="+mn-ea"/>
                  <a:cs typeface="+mn-cs"/>
                </a:rPr>
                <a:t>朱承洋　+2.51 百分點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99694" y="5540375"/>
              <a:ext cx="290741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相對魔神龍的模型勝率差</a:t>
              </a:r>
            </a:p>
          </p:txBody>
        </p:sp>
      </p:grpSp>
      <p:grpSp>
        <p:nvGrpSpPr>
          <p:cNvPr id="17" name="bullpen-reminders"/>
          <p:cNvGrpSpPr/>
          <p:nvPr/>
        </p:nvGrpSpPr>
        <p:grpSpPr>
          <a:xfrm>
            <a:off x="6390132" y="5051425"/>
            <a:ext cx="3413760" cy="1075182"/>
            <a:chOff x="6390132" y="5051425"/>
            <a:chExt cx="3413760" cy="1075182"/>
          </a:xfrm>
        </p:grpSpPr>
        <p:sp>
          <p:nvSpPr>
            <p:cNvPr id="15" name="TextBox 15"/>
            <p:cNvSpPr txBox="1"/>
            <p:nvPr/>
          </p:nvSpPr>
          <p:spPr>
            <a:xfrm>
              <a:off x="6390132" y="5051425"/>
              <a:ext cx="341376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候選差距與資料提醒一起看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392418" y="5480050"/>
              <a:ext cx="1693164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陳冠宇：模型分歧</a:t>
              </a:r>
              <a:br>
                <a:rPr lang="zh-TW" sz="16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</a:br>
              <a:r>
                <a:rPr lang="zh-TW" sz="16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盧冠宇：資料有限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1365992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2030997" cy="264033"/>
            <a:chOff x="602742" y="177800"/>
            <a:chExt cx="2030997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　網站成果與決策體驗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068"/>
            <a:ext cx="6252972" cy="645414"/>
            <a:chOff x="592836" y="546068"/>
            <a:chExt cx="6252972" cy="645414"/>
          </a:xfrm>
        </p:grpSpPr>
        <p:sp>
          <p:nvSpPr>
            <p:cNvPr id="4" name="TextBox 4"/>
            <p:cNvSpPr/>
            <p:nvPr/>
          </p:nvSpPr>
          <p:spPr>
            <a:xfrm>
              <a:off x="592836" y="546068"/>
              <a:ext cx="625297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>
                  <a:solidFill>
                    <a:srgbClr val="18344A"/>
                  </a:solidFill>
                  <a:latin typeface="Arial"/>
                  <a:ea typeface="Microsoft JhengHei"/>
                  <a:cs typeface="Arial"/>
                </a:rPr>
                <a:t>配球變化，提供代打準備線索</a:t>
              </a:r>
            </a:p>
          </p:txBody>
        </p:sp>
      </p:grpSp>
      <p:grpSp>
        <p:nvGrpSpPr>
          <p:cNvPr id="13" name="sample-reading"/>
          <p:cNvGrpSpPr/>
          <p:nvPr/>
        </p:nvGrpSpPr>
        <p:grpSpPr>
          <a:xfrm>
            <a:off x="5645658" y="1765300"/>
            <a:ext cx="4556760" cy="3731768"/>
            <a:chOff x="5645658" y="1765300"/>
            <a:chExt cx="4556760" cy="3731768"/>
          </a:xfrm>
        </p:grpSpPr>
        <p:sp>
          <p:nvSpPr>
            <p:cNvPr id="9" name="TextBox 9"/>
            <p:cNvSpPr txBox="1"/>
            <p:nvPr/>
          </p:nvSpPr>
          <p:spPr>
            <a:xfrm>
              <a:off x="5645658" y="1765300"/>
              <a:ext cx="228600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魔力藍面對右打（9/20 賽前）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647182" y="2400300"/>
              <a:ext cx="2634996" cy="8679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基準期　10 場、428 球</a:t>
              </a:r>
              <a:br>
                <a:rPr lang="zh-TW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</a:br>
              <a:r>
                <a:rPr lang="zh-TW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近期　　 5 場、258 球</a:t>
              </a:r>
            </a:p>
          </p:txBody>
        </p:sp>
        <p:sp>
          <p:nvSpPr>
            <p:cNvPr id="11" name="TextBox 11"/>
            <p:cNvSpPr/>
            <p:nvPr/>
          </p:nvSpPr>
          <p:spPr>
            <a:xfrm>
              <a:off x="5645658" y="3651218"/>
              <a:ext cx="390144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01632" rIns="0" bIns="0" anchor="t" anchorCtr="0">
              <a:noAutofit/>
            </a:bodyPr>
            <a:lstStyle/>
            <a:p>
              <a:pPr algn="l"/>
              <a:r>
                <a:rPr lang="zh-TW" sz="2000" b="1" dirty="0">
                  <a:solidFill>
                    <a:srgbClr val="9A6118"/>
                  </a:solidFill>
                  <a:latin typeface="Arial"/>
                  <a:ea typeface="Microsoft JhengHei"/>
                  <a:cs typeface="Arial"/>
                </a:rPr>
                <a:t>同條件比較，觀察配球變化</a:t>
              </a:r>
            </a:p>
          </p:txBody>
        </p:sp>
        <p:sp>
          <p:nvSpPr>
            <p:cNvPr id="12" name="TextBox 12"/>
            <p:cNvSpPr/>
            <p:nvPr/>
          </p:nvSpPr>
          <p:spPr>
            <a:xfrm>
              <a:off x="5647182" y="4286250"/>
              <a:ext cx="4555236" cy="12108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25400" rIns="0" bIns="0" anchor="t" anchorCtr="0">
              <a:noAutofit/>
            </a:bodyPr>
            <a:lstStyle/>
            <a:p>
              <a:pPr algn="l">
                <a:lnSpc>
                  <a:spcPts val="2850"/>
                </a:lnSpc>
              </a:pPr>
              <a:r>
                <a:rPr lang="zh-TW" sz="1800" dirty="0">
                  <a:solidFill>
                    <a:srgbClr val="1D2934"/>
                  </a:solidFill>
                  <a:latin typeface="Arial"/>
                  <a:ea typeface="Microsoft JhengHei"/>
                  <a:cs typeface="Arial"/>
                </a:rPr>
                <a:t>低落球增加，速球比例下降。</a:t>
              </a:r>
              <a:br>
                <a:rPr lang="zh-TW" sz="1800" dirty="0">
                  <a:solidFill>
                    <a:srgbClr val="1D2934"/>
                  </a:solidFill>
                  <a:latin typeface="Arial"/>
                  <a:ea typeface="Microsoft JhengHei"/>
                  <a:cs typeface="Arial"/>
                </a:rPr>
              </a:br>
              <a:r>
                <a:rPr lang="zh-TW" sz="1800" dirty="0">
                  <a:solidFill>
                    <a:srgbClr val="1D2934"/>
                  </a:solidFill>
                  <a:latin typeface="Arial"/>
                  <a:ea typeface="Microsoft JhengHei"/>
                  <a:cs typeface="Arial"/>
                </a:rPr>
                <a:t>用於代打準備與判讀，</a:t>
              </a:r>
              <a:br>
                <a:rPr lang="zh-TW" sz="1800" dirty="0">
                  <a:solidFill>
                    <a:srgbClr val="1D2934"/>
                  </a:solidFill>
                  <a:latin typeface="Arial"/>
                  <a:ea typeface="Microsoft JhengHei"/>
                  <a:cs typeface="Arial"/>
                </a:rPr>
              </a:br>
              <a:r>
                <a:rPr lang="zh-TW" sz="1800" dirty="0">
                  <a:solidFill>
                    <a:srgbClr val="1D2934"/>
                  </a:solidFill>
                  <a:latin typeface="Arial"/>
                  <a:ea typeface="Microsoft JhengHei"/>
                  <a:cs typeface="Arial"/>
                </a:rPr>
                <a:t>預設不直接調整候選分數。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1375631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1581150"/>
            <a:ext cx="4572000" cy="353377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38200" y="180975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1">
                <a:solidFill>
                  <a:srgbClr val="1B334D"/>
                </a:solidFill>
              </a:rPr>
              <a:t>同條件近期配球變化</a:t>
            </a:r>
            <a:r>
              <a:rPr sz="1600" b="0">
                <a:solidFill>
                  <a:srgbClr val="5F6670"/>
                </a:solidFill>
              </a:rPr>
              <a:t>　魔力藍・面對右打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8200" y="2312670"/>
            <a:ext cx="4114800" cy="411480"/>
          </a:xfrm>
          <a:prstGeom prst="roundRect">
            <a:avLst>
              <a:gd name="adj" fmla="val 20000"/>
            </a:avLst>
          </a:prstGeom>
          <a:solidFill>
            <a:srgbClr val="DF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75360" y="231267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237A53"/>
                </a:solidFill>
              </a:rPr>
              <a:t>同條件配球比較・樣本充足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8200" y="2907030"/>
            <a:ext cx="1965960" cy="11887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75360" y="2998470"/>
            <a:ext cx="16916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1B334D"/>
                </a:solidFill>
              </a:rPr>
              <a:t>之前最多 10 場</a:t>
            </a:r>
            <a:r>
              <a:rPr sz="1600" b="0">
                <a:solidFill>
                  <a:srgbClr val="5F6670"/>
                </a:solidFill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F6670"/>
                </a:solidFill>
              </a:rPr>
              <a:t>05-17 至 08-02</a:t>
            </a:r>
            <a:r>
              <a:rPr sz="1600" b="1">
                <a:solidFill>
                  <a:srgbClr val="1B334D"/>
                </a:solidFill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1B334D"/>
                </a:solidFill>
              </a:rPr>
              <a:t>10 場・428 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87040" y="2907030"/>
            <a:ext cx="1965960" cy="11887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124200" y="2998470"/>
            <a:ext cx="16916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1B334D"/>
                </a:solidFill>
              </a:rPr>
              <a:t>最近 5 場</a:t>
            </a:r>
            <a:r>
              <a:rPr sz="1600" b="0">
                <a:solidFill>
                  <a:srgbClr val="5F6670"/>
                </a:solidFill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5F6670"/>
                </a:solidFill>
              </a:rPr>
              <a:t>08-08 至 09-14</a:t>
            </a:r>
            <a:r>
              <a:rPr sz="1600" b="1">
                <a:solidFill>
                  <a:srgbClr val="1B334D"/>
                </a:solidFill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1B334D"/>
                </a:solidFill>
              </a:rPr>
              <a:t>5 場・258 球</a:t>
            </a:r>
          </a:p>
        </p:txBody>
      </p:sp>
      <p:sp>
        <p:nvSpPr>
          <p:cNvPr id="23" name="TextBox 22"/>
          <p:cNvSpPr/>
          <p:nvPr/>
        </p:nvSpPr>
        <p:spPr>
          <a:xfrm>
            <a:off x="838200" y="4278630"/>
            <a:ext cx="4114800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noAutofit/>
          </a:bodyPr>
          <a:lstStyle/>
          <a:p>
            <a:pPr algn="l">
              <a:lnSpc>
                <a:spcPts val="2850"/>
              </a:lnSpc>
            </a:pPr>
            <a:r>
              <a:rPr lang="zh-TW" sz="1600" b="1" dirty="0">
                <a:solidFill>
                  <a:srgbClr val="1B334D"/>
                </a:solidFill>
                <a:latin typeface="Arial"/>
                <a:ea typeface="Microsoft JhengHei"/>
                <a:cs typeface="Arial"/>
              </a:rPr>
              <a:t>低落　18% → 34%</a:t>
            </a:r>
            <a:br>
              <a:rPr lang="zh-TW" sz="1600" b="1" dirty="0">
                <a:solidFill>
                  <a:srgbClr val="1B334D"/>
                </a:solidFill>
                <a:latin typeface="Arial"/>
                <a:ea typeface="Microsoft JhengHei"/>
                <a:cs typeface="Arial"/>
              </a:rPr>
            </a:br>
            <a:r>
              <a:rPr lang="zh-TW" sz="1600" b="1" dirty="0">
                <a:solidFill>
                  <a:srgbClr val="1B334D"/>
                </a:solidFill>
                <a:latin typeface="Arial"/>
                <a:ea typeface="Microsoft JhengHei"/>
                <a:cs typeface="Arial"/>
              </a:rPr>
              <a:t>速球　53% → 41%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2030997" cy="264033"/>
            <a:chOff x="602742" y="177800"/>
            <a:chExt cx="2030997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　網站成果與決策體驗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100"/>
            <a:ext cx="6697218" cy="645414"/>
            <a:chOff x="592836" y="546100"/>
            <a:chExt cx="6697218" cy="645414"/>
          </a:xfrm>
        </p:grpSpPr>
        <p:sp>
          <p:nvSpPr>
            <p:cNvPr id="4" name="TextBox 4"/>
            <p:cNvSpPr txBox="1"/>
            <p:nvPr/>
          </p:nvSpPr>
          <p:spPr>
            <a:xfrm>
              <a:off x="592836" y="546100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歷史回放，對照建議、調度與結果</a:t>
              </a:r>
            </a:p>
          </p:txBody>
        </p:sp>
      </p:grpSp>
      <p:grpSp>
        <p:nvGrpSpPr>
          <p:cNvPr id="8" name="replay-source"/>
          <p:cNvGrpSpPr/>
          <p:nvPr/>
        </p:nvGrpSpPr>
        <p:grpSpPr>
          <a:xfrm>
            <a:off x="599694" y="1511300"/>
            <a:ext cx="6757762" cy="381381"/>
            <a:chOff x="599694" y="1511300"/>
            <a:chExt cx="6757762" cy="381381"/>
          </a:xfrm>
        </p:grpSpPr>
        <p:sp>
          <p:nvSpPr>
            <p:cNvPr id="7" name="TextBox 7"/>
            <p:cNvSpPr txBox="1"/>
            <p:nvPr/>
          </p:nvSpPr>
          <p:spPr>
            <a:xfrm>
              <a:off x="599694" y="1511300"/>
              <a:ext cx="675776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2025-09-20　台鋼對富邦，7 局上　｜　林家鋐對魔力藍</a:t>
              </a:r>
            </a:p>
          </p:txBody>
        </p:sp>
      </p:grpSp>
      <p:grpSp>
        <p:nvGrpSpPr>
          <p:cNvPr id="14" name="replay-message"/>
          <p:cNvGrpSpPr/>
          <p:nvPr/>
        </p:nvGrpSpPr>
        <p:grpSpPr>
          <a:xfrm>
            <a:off x="7722108" y="2136743"/>
            <a:ext cx="2384679" cy="1784795"/>
            <a:chOff x="7722108" y="2136743"/>
            <a:chExt cx="2384679" cy="1784795"/>
          </a:xfrm>
        </p:grpSpPr>
        <p:sp>
          <p:nvSpPr>
            <p:cNvPr id="11" name="TextBox 11"/>
            <p:cNvSpPr/>
            <p:nvPr/>
          </p:nvSpPr>
          <p:spPr>
            <a:xfrm>
              <a:off x="7722108" y="2136743"/>
              <a:ext cx="2286000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01632" rIns="0" bIns="0" anchor="t" anchorCtr="0">
              <a:noAutofit/>
            </a:bodyPr>
            <a:lstStyle/>
            <a:p>
              <a:pPr algn="l"/>
              <a:r>
                <a:rPr lang="zh-TW" sz="2000" b="1" dirty="0">
                  <a:solidFill>
                    <a:srgbClr val="18344A"/>
                  </a:solidFill>
                  <a:latin typeface="Arial"/>
                  <a:ea typeface="Microsoft JhengHei"/>
                  <a:cs typeface="Arial"/>
                </a:rPr>
                <a:t>區分差距與建議</a:t>
              </a:r>
            </a:p>
          </p:txBody>
        </p:sp>
        <p:sp>
          <p:nvSpPr>
            <p:cNvPr id="12" name="TextBox 12"/>
            <p:cNvSpPr/>
            <p:nvPr/>
          </p:nvSpPr>
          <p:spPr>
            <a:xfrm>
              <a:off x="7724394" y="2676525"/>
              <a:ext cx="2248662" cy="78143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25400" rIns="0" bIns="0" anchor="t" anchorCtr="0">
              <a:noAutofit/>
            </a:bodyPr>
            <a:lstStyle/>
            <a:p>
              <a:pPr algn="l">
                <a:lnSpc>
                  <a:spcPts val="2850"/>
                </a:lnSpc>
              </a:pPr>
              <a:r>
                <a:rPr lang="zh-TW" sz="1800" dirty="0">
                  <a:solidFill>
                    <a:srgbClr val="58616B"/>
                  </a:solidFill>
                  <a:latin typeface="Arial"/>
                  <a:ea typeface="Microsoft JhengHei"/>
                  <a:cs typeface="Arial"/>
                </a:rPr>
                <a:t>可直接接守二壘</a:t>
              </a:r>
              <a:br>
                <a:rPr lang="zh-TW" sz="1800" dirty="0">
                  <a:solidFill>
                    <a:srgbClr val="58616B"/>
                  </a:solidFill>
                  <a:latin typeface="Arial"/>
                  <a:ea typeface="Microsoft JhengHei"/>
                  <a:cs typeface="Arial"/>
                </a:rPr>
              </a:br>
              <a:r>
                <a:rPr lang="zh-TW" sz="1800" dirty="0">
                  <a:solidFill>
                    <a:srgbClr val="58616B"/>
                  </a:solidFill>
                  <a:latin typeface="Arial"/>
                  <a:ea typeface="Microsoft JhengHei"/>
                  <a:cs typeface="Arial"/>
                </a:rPr>
                <a:t>仍未達系統建議門檻</a:t>
              </a:r>
            </a:p>
          </p:txBody>
        </p:sp>
        <p:sp>
          <p:nvSpPr>
            <p:cNvPr id="13" name="TextBox 13"/>
            <p:cNvSpPr/>
            <p:nvPr/>
          </p:nvSpPr>
          <p:spPr>
            <a:xfrm>
              <a:off x="7724394" y="3540157"/>
              <a:ext cx="238239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88868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Arial"/>
                  <a:ea typeface="Microsoft JhengHei"/>
                  <a:cs typeface="Arial"/>
                </a:rPr>
                <a:t>網站可重現當時情境</a:t>
              </a:r>
            </a:p>
          </p:txBody>
        </p:sp>
      </p:grpSp>
      <p:grpSp>
        <p:nvGrpSpPr>
          <p:cNvPr id="17" name="model-choice"/>
          <p:cNvGrpSpPr/>
          <p:nvPr/>
        </p:nvGrpSpPr>
        <p:grpSpPr>
          <a:xfrm>
            <a:off x="598932" y="4702207"/>
            <a:ext cx="2282952" cy="836104"/>
            <a:chOff x="598932" y="4702207"/>
            <a:chExt cx="2282952" cy="836104"/>
          </a:xfrm>
        </p:grpSpPr>
        <p:sp>
          <p:nvSpPr>
            <p:cNvPr id="15" name="TextBox 15"/>
            <p:cNvSpPr/>
            <p:nvPr/>
          </p:nvSpPr>
          <p:spPr>
            <a:xfrm>
              <a:off x="601218" y="4702207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76168" rIns="0" bIns="0" anchor="t" anchorCtr="0">
              <a:noAutofit/>
            </a:bodyPr>
            <a:lstStyle/>
            <a:p>
              <a:pPr algn="l"/>
              <a:r>
                <a:rPr lang="zh-TW" sz="1600" dirty="0">
                  <a:solidFill>
                    <a:srgbClr val="B54836"/>
                  </a:solidFill>
                  <a:latin typeface="Arial"/>
                  <a:ea typeface="Microsoft JhengHei"/>
                  <a:cs typeface="Arial"/>
                </a:rPr>
                <a:t>候選差距</a:t>
              </a:r>
            </a:p>
          </p:txBody>
        </p:sp>
        <p:sp>
          <p:nvSpPr>
            <p:cNvPr id="16" name="TextBox 16"/>
            <p:cNvSpPr/>
            <p:nvPr/>
          </p:nvSpPr>
          <p:spPr>
            <a:xfrm>
              <a:off x="598932" y="5127593"/>
              <a:ext cx="2282952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88932" rIns="0" bIns="0" anchor="t" anchorCtr="0">
              <a:noAutofit/>
            </a:bodyPr>
            <a:lstStyle/>
            <a:p>
              <a:pPr algn="l"/>
              <a:r>
                <a:rPr lang="zh-TW" sz="1800" b="1" dirty="0">
                  <a:solidFill>
                    <a:srgbClr val="18344A"/>
                  </a:solidFill>
                  <a:latin typeface="Arial"/>
                  <a:ea typeface="Microsoft JhengHei"/>
                  <a:cs typeface="Arial"/>
                </a:rPr>
                <a:t>郭永維 +0.54 百分點</a:t>
              </a:r>
            </a:p>
          </p:txBody>
        </p:sp>
      </p:grpSp>
      <p:grpSp>
        <p:nvGrpSpPr>
          <p:cNvPr id="20" name="actual-choice"/>
          <p:cNvGrpSpPr/>
          <p:nvPr/>
        </p:nvGrpSpPr>
        <p:grpSpPr>
          <a:xfrm>
            <a:off x="4294632" y="4702175"/>
            <a:ext cx="1434846" cy="836168"/>
            <a:chOff x="4294632" y="4702175"/>
            <a:chExt cx="1434846" cy="836168"/>
          </a:xfrm>
        </p:grpSpPr>
        <p:sp>
          <p:nvSpPr>
            <p:cNvPr id="18" name="TextBox 18"/>
            <p:cNvSpPr txBox="1"/>
            <p:nvPr/>
          </p:nvSpPr>
          <p:spPr>
            <a:xfrm>
              <a:off x="4296918" y="47021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實際調度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294632" y="5127625"/>
              <a:ext cx="143484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郭永維代打</a:t>
              </a:r>
            </a:p>
          </p:txBody>
        </p:sp>
      </p:grpSp>
      <p:grpSp>
        <p:nvGrpSpPr>
          <p:cNvPr id="23" name="actual-result"/>
          <p:cNvGrpSpPr/>
          <p:nvPr/>
        </p:nvGrpSpPr>
        <p:grpSpPr>
          <a:xfrm>
            <a:off x="7990332" y="4702175"/>
            <a:ext cx="907542" cy="836168"/>
            <a:chOff x="7990332" y="4702175"/>
            <a:chExt cx="907542" cy="836168"/>
          </a:xfrm>
        </p:grpSpPr>
        <p:sp>
          <p:nvSpPr>
            <p:cNvPr id="21" name="TextBox 21"/>
            <p:cNvSpPr txBox="1"/>
            <p:nvPr/>
          </p:nvSpPr>
          <p:spPr>
            <a:xfrm>
              <a:off x="7992618" y="47021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打席結果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990332" y="5127625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一壘安打</a:t>
              </a:r>
            </a:p>
          </p:txBody>
        </p:sp>
      </p:grpSp>
      <p:grpSp>
        <p:nvGrpSpPr>
          <p:cNvPr id="25" name="replay-limit"/>
          <p:cNvGrpSpPr/>
          <p:nvPr/>
        </p:nvGrpSpPr>
        <p:grpSpPr>
          <a:xfrm>
            <a:off x="601218" y="5921407"/>
            <a:ext cx="5569839" cy="322707"/>
            <a:chOff x="601218" y="5921407"/>
            <a:chExt cx="5569839" cy="322707"/>
          </a:xfrm>
        </p:grpSpPr>
        <p:sp>
          <p:nvSpPr>
            <p:cNvPr id="24" name="TextBox 24"/>
            <p:cNvSpPr/>
            <p:nvPr/>
          </p:nvSpPr>
          <p:spPr>
            <a:xfrm>
              <a:off x="601218" y="5921407"/>
              <a:ext cx="55698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76168" rIns="0" bIns="0" anchor="t" anchorCtr="0">
              <a:noAutofit/>
            </a:bodyPr>
            <a:lstStyle/>
            <a:p>
              <a:pPr algn="l"/>
              <a:r>
                <a:rPr lang="zh-TW" sz="1600" dirty="0">
                  <a:solidFill>
                    <a:srgbClr val="58616B"/>
                  </a:solidFill>
                  <a:latin typeface="Arial"/>
                  <a:ea typeface="Microsoft JhengHei"/>
                  <a:cs typeface="Arial"/>
                </a:rPr>
                <a:t>差距為正，但未達 1 百分點門檻；單一結果不能驗證調度優劣。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1365992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2028825"/>
            <a:ext cx="6667500" cy="2181225"/>
          </a:xfrm>
          <a:prstGeom prst="roundRect">
            <a:avLst>
              <a:gd name="adj" fmla="val 5000"/>
            </a:avLst>
          </a:prstGeom>
          <a:solidFill>
            <a:srgbClr val="1B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83920" y="2257425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</a:t>
            </a:r>
            <a:r>
              <a:rPr sz="1600" b="0">
                <a:solidFill>
                  <a:srgbClr val="FFFFFF"/>
                </a:solidFill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</a:rPr>
              <a:t>局上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72640" y="2303145"/>
            <a:ext cx="49301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</a:rPr>
              <a:t>台鋼雄鷹　</a:t>
            </a:r>
            <a:r>
              <a:rPr sz="3600" b="1">
                <a:solidFill>
                  <a:srgbClr val="FFFFFF"/>
                </a:solidFill>
              </a:rPr>
              <a:t>0 : 2</a:t>
            </a:r>
            <a:r>
              <a:rPr sz="1800" b="0">
                <a:solidFill>
                  <a:srgbClr val="FFFFFF"/>
                </a:solidFill>
              </a:rPr>
              <a:t>　富邦悍將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920" y="3217545"/>
            <a:ext cx="61188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FFFFFF"/>
                </a:solidFill>
              </a:rPr>
              <a:t>1 出局・一壘有人</a:t>
            </a:r>
            <a:r>
              <a:rPr sz="1600" b="0">
                <a:solidFill>
                  <a:srgbClr val="FFFFFF"/>
                </a:solidFill>
              </a:rPr>
              <a:t>　｜　投手 魔力藍（左投，先發已投 98 球）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920" y="3674745"/>
            <a:ext cx="61188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FFFFFF"/>
                </a:solidFill>
              </a:rPr>
              <a:t>局勢張力：高張力</a:t>
            </a:r>
            <a:r>
              <a:rPr sz="1600" b="0">
                <a:solidFill>
                  <a:srgbClr val="FFFFFF"/>
                </a:solidFill>
              </a:rPr>
              <a:t>　1 分 ≈ 15.3 百分點（聯盟平均 8.6）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2030997" cy="264033"/>
            <a:chOff x="602742" y="177800"/>
            <a:chExt cx="2030997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　網站成果與決策體驗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100"/>
            <a:ext cx="5808726" cy="645414"/>
            <a:chOff x="592836" y="546100"/>
            <a:chExt cx="5808726" cy="645414"/>
          </a:xfrm>
        </p:grpSpPr>
        <p:sp>
          <p:nvSpPr>
            <p:cNvPr id="4" name="TextBox 4"/>
            <p:cNvSpPr txBox="1"/>
            <p:nvPr/>
          </p:nvSpPr>
          <p:spPr>
            <a:xfrm>
              <a:off x="592836" y="546100"/>
              <a:ext cx="5808726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先設局勢，再讀摘要、查明細</a:t>
              </a:r>
            </a:p>
          </p:txBody>
        </p:sp>
      </p:grpSp>
      <p:grpSp>
        <p:nvGrpSpPr>
          <p:cNvPr id="13" name="layout-purpose"/>
          <p:cNvGrpSpPr/>
          <p:nvPr/>
        </p:nvGrpSpPr>
        <p:grpSpPr>
          <a:xfrm>
            <a:off x="597408" y="5556250"/>
            <a:ext cx="2463927" cy="792607"/>
            <a:chOff x="597408" y="5556250"/>
            <a:chExt cx="2463927" cy="792607"/>
          </a:xfrm>
        </p:grpSpPr>
        <p:sp>
          <p:nvSpPr>
            <p:cNvPr id="11" name="TextBox 11"/>
            <p:cNvSpPr txBox="1"/>
            <p:nvPr/>
          </p:nvSpPr>
          <p:spPr>
            <a:xfrm>
              <a:off x="597408" y="5556250"/>
              <a:ext cx="2012991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　設定局勢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1218" y="6026150"/>
              <a:ext cx="24601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左側保留設定，方便對照</a:t>
              </a:r>
            </a:p>
          </p:txBody>
        </p:sp>
      </p:grpSp>
      <p:grpSp>
        <p:nvGrpSpPr>
          <p:cNvPr id="16" name="hierarchy-purpose"/>
          <p:cNvGrpSpPr/>
          <p:nvPr/>
        </p:nvGrpSpPr>
        <p:grpSpPr>
          <a:xfrm>
            <a:off x="4445508" y="5556250"/>
            <a:ext cx="2336079" cy="792607"/>
            <a:chOff x="4445508" y="5556250"/>
            <a:chExt cx="2336079" cy="792607"/>
          </a:xfrm>
        </p:grpSpPr>
        <p:sp>
          <p:nvSpPr>
            <p:cNvPr id="14" name="TextBox 14"/>
            <p:cNvSpPr txBox="1"/>
            <p:nvPr/>
          </p:nvSpPr>
          <p:spPr>
            <a:xfrm>
              <a:off x="4445508" y="5556250"/>
              <a:ext cx="233607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　讀調度摘要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49318" y="6026150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先看續打或換人的判讀</a:t>
              </a:r>
            </a:p>
          </p:txBody>
        </p:sp>
      </p:grpSp>
      <p:grpSp>
        <p:nvGrpSpPr>
          <p:cNvPr id="19" name="baseline-purpose"/>
          <p:cNvGrpSpPr/>
          <p:nvPr/>
        </p:nvGrpSpPr>
        <p:grpSpPr>
          <a:xfrm>
            <a:off x="8293608" y="5556250"/>
            <a:ext cx="2336079" cy="792607"/>
            <a:chOff x="8293608" y="5556250"/>
            <a:chExt cx="2336079" cy="792607"/>
          </a:xfrm>
        </p:grpSpPr>
        <p:sp>
          <p:nvSpPr>
            <p:cNvPr id="17" name="TextBox 17"/>
            <p:cNvSpPr txBox="1"/>
            <p:nvPr/>
          </p:nvSpPr>
          <p:spPr>
            <a:xfrm>
              <a:off x="8293608" y="5556250"/>
              <a:ext cx="2336079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　查候選明細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297418" y="6026150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再比較人選差距與提醒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1375631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  <p:pic>
        <p:nvPicPr>
          <p:cNvPr id="21" name="Picture 20" descr="form_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466850"/>
            <a:ext cx="2083976" cy="3921166"/>
          </a:xfrm>
          <a:prstGeom prst="rect">
            <a:avLst/>
          </a:prstGeom>
        </p:spPr>
      </p:pic>
      <p:pic>
        <p:nvPicPr>
          <p:cNvPr id="22" name="Picture 21" descr="result_summa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2176" y="1466850"/>
            <a:ext cx="6687176" cy="2669477"/>
          </a:xfrm>
          <a:prstGeom prst="rect">
            <a:avLst/>
          </a:prstGeom>
        </p:spPr>
      </p:pic>
      <p:pic>
        <p:nvPicPr>
          <p:cNvPr id="23" name="Picture 22" descr="row_be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2176" y="4273488"/>
            <a:ext cx="6687176" cy="11145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2030997" cy="264033"/>
            <a:chOff x="602742" y="177800"/>
            <a:chExt cx="2030997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　網站成果與決策體驗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100"/>
            <a:ext cx="6697218" cy="645414"/>
            <a:chOff x="592836" y="546100"/>
            <a:chExt cx="6697218" cy="645414"/>
          </a:xfrm>
        </p:grpSpPr>
        <p:sp>
          <p:nvSpPr>
            <p:cNvPr id="4" name="TextBox 4"/>
            <p:cNvSpPr txBox="1"/>
            <p:nvPr/>
          </p:nvSpPr>
          <p:spPr>
            <a:xfrm>
              <a:off x="592836" y="546100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提醒放在人選旁，判斷時就看得見</a:t>
              </a:r>
            </a:p>
          </p:txBody>
        </p:sp>
      </p:grpSp>
      <p:grpSp>
        <p:nvGrpSpPr>
          <p:cNvPr id="12" name="cover-reading"/>
          <p:cNvGrpSpPr/>
          <p:nvPr/>
        </p:nvGrpSpPr>
        <p:grpSpPr>
          <a:xfrm>
            <a:off x="5247132" y="1727200"/>
            <a:ext cx="4261866" cy="1020318"/>
            <a:chOff x="5247132" y="1727200"/>
            <a:chExt cx="4261866" cy="1020318"/>
          </a:xfrm>
        </p:grpSpPr>
        <p:sp>
          <p:nvSpPr>
            <p:cNvPr id="9" name="TextBox 9"/>
            <p:cNvSpPr txBox="1"/>
            <p:nvPr/>
          </p:nvSpPr>
          <p:spPr>
            <a:xfrm>
              <a:off x="5249418" y="17780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817108" y="17272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接守需求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247132" y="2336800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提醒代打後還需要安排哪個守位。</a:t>
              </a:r>
            </a:p>
          </p:txBody>
        </p:sp>
      </p:grpSp>
      <p:grpSp>
        <p:nvGrpSpPr>
          <p:cNvPr id="14" name="model-screen"/>
          <p:cNvGrpSpPr/>
          <p:nvPr/>
        </p:nvGrpSpPr>
        <p:grpSpPr>
          <a:xfrm>
            <a:off x="609600" y="3276600"/>
            <a:ext cx="4000500" cy="1181100"/>
            <a:chOff x="609600" y="3276600"/>
            <a:chExt cx="4000500" cy="1181100"/>
          </a:xfrm>
        </p:grpSpPr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" y="3276600"/>
              <a:ext cx="4000500" cy="1181100"/>
            </a:xfrm>
            <a:prstGeom prst="rect">
              <a:avLst/>
            </a:prstGeom>
          </p:spPr>
        </p:pic>
      </p:grpSp>
      <p:grpSp>
        <p:nvGrpSpPr>
          <p:cNvPr id="18" name="model-reading"/>
          <p:cNvGrpSpPr/>
          <p:nvPr/>
        </p:nvGrpSpPr>
        <p:grpSpPr>
          <a:xfrm>
            <a:off x="5247132" y="3270250"/>
            <a:ext cx="3979164" cy="1020286"/>
            <a:chOff x="5247132" y="3270250"/>
            <a:chExt cx="3979164" cy="1020286"/>
          </a:xfrm>
        </p:grpSpPr>
        <p:sp>
          <p:nvSpPr>
            <p:cNvPr id="15" name="TextBox 15"/>
            <p:cNvSpPr txBox="1"/>
            <p:nvPr/>
          </p:nvSpPr>
          <p:spPr>
            <a:xfrm>
              <a:off x="5249418" y="332105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17108" y="327025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模型分歧</a:t>
              </a:r>
            </a:p>
          </p:txBody>
        </p:sp>
        <p:sp>
          <p:nvSpPr>
            <p:cNvPr id="17" name="TextBox 17"/>
            <p:cNvSpPr/>
            <p:nvPr/>
          </p:nvSpPr>
          <p:spPr>
            <a:xfrm>
              <a:off x="5247132" y="3879818"/>
              <a:ext cx="3979164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889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Arial"/>
                  <a:ea typeface="Microsoft JhengHei"/>
                  <a:cs typeface="Arial"/>
                </a:rPr>
                <a:t>提醒兩種模型的估計結果不同。</a:t>
              </a:r>
            </a:p>
          </p:txBody>
        </p:sp>
      </p:grpSp>
      <p:grpSp>
        <p:nvGrpSpPr>
          <p:cNvPr id="20" name="sample-screen"/>
          <p:cNvGrpSpPr/>
          <p:nvPr/>
        </p:nvGrpSpPr>
        <p:grpSpPr>
          <a:xfrm>
            <a:off x="621030" y="4819650"/>
            <a:ext cx="3977640" cy="1200150"/>
            <a:chOff x="621030" y="4819650"/>
            <a:chExt cx="3977640" cy="1200150"/>
          </a:xfrm>
        </p:grpSpPr>
        <p:pic>
          <p:nvPicPr>
            <p:cNvPr id="19" name="Image 1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030" y="4819650"/>
              <a:ext cx="3977640" cy="1200150"/>
            </a:xfrm>
            <a:prstGeom prst="rect">
              <a:avLst/>
            </a:prstGeom>
          </p:spPr>
        </p:pic>
      </p:grpSp>
      <p:grpSp>
        <p:nvGrpSpPr>
          <p:cNvPr id="24" name="sample-reading"/>
          <p:cNvGrpSpPr/>
          <p:nvPr/>
        </p:nvGrpSpPr>
        <p:grpSpPr>
          <a:xfrm>
            <a:off x="5247132" y="4813300"/>
            <a:ext cx="4261866" cy="1020286"/>
            <a:chOff x="5247132" y="4813300"/>
            <a:chExt cx="4261866" cy="1020286"/>
          </a:xfrm>
        </p:grpSpPr>
        <p:sp>
          <p:nvSpPr>
            <p:cNvPr id="21" name="TextBox 21"/>
            <p:cNvSpPr txBox="1"/>
            <p:nvPr/>
          </p:nvSpPr>
          <p:spPr>
            <a:xfrm>
              <a:off x="5249418" y="48641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817108" y="48133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資料有限</a:t>
              </a:r>
            </a:p>
          </p:txBody>
        </p:sp>
        <p:sp>
          <p:nvSpPr>
            <p:cNvPr id="23" name="TextBox 23"/>
            <p:cNvSpPr/>
            <p:nvPr/>
          </p:nvSpPr>
          <p:spPr>
            <a:xfrm>
              <a:off x="5247132" y="5422868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88932" rIns="0" bIns="0" anchor="t" anchorCtr="0">
              <a:noAutofit/>
            </a:bodyPr>
            <a:lstStyle/>
            <a:p>
              <a:pPr algn="l"/>
              <a:r>
                <a:rPr lang="zh-TW" sz="1800" dirty="0">
                  <a:solidFill>
                    <a:srgbClr val="58616B"/>
                  </a:solidFill>
                  <a:latin typeface="Arial"/>
                  <a:ea typeface="Microsoft JhengHei"/>
                  <a:cs typeface="Arial"/>
                </a:rPr>
                <a:t>保留樣本限制，避免只看排序。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1365992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  <p:pic>
        <p:nvPicPr>
          <p:cNvPr id="26" name="Picture 25" descr="cover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6218" y="1792594"/>
            <a:ext cx="2767263" cy="102491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1304049" cy="264033"/>
            <a:chOff x="602742" y="177800"/>
            <a:chExt cx="1304049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13040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　網站成果與決策體驗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068"/>
            <a:ext cx="6697218" cy="645414"/>
            <a:chOff x="592836" y="546068"/>
            <a:chExt cx="6697218" cy="645414"/>
          </a:xfrm>
        </p:grpSpPr>
        <p:sp>
          <p:nvSpPr>
            <p:cNvPr id="4" name="TextBox 4"/>
            <p:cNvSpPr/>
            <p:nvPr/>
          </p:nvSpPr>
          <p:spPr>
            <a:xfrm>
              <a:off x="592836" y="546068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>
                  <a:solidFill>
                    <a:srgbClr val="18344A"/>
                  </a:solidFill>
                  <a:latin typeface="Arial"/>
                  <a:ea typeface="Microsoft JhengHei"/>
                  <a:cs typeface="Arial"/>
                </a:rPr>
                <a:t>成果總結：可比較、可追溯、可操作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1365992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8" name="Rectangle 8"/>
          <p:cNvSpPr/>
          <p:nvPr/>
        </p:nvSpPr>
        <p:spPr>
          <a:xfrm>
            <a:off x="609600" y="1257300"/>
            <a:ext cx="857250" cy="38100"/>
          </a:xfrm>
          <a:prstGeom prst="rect">
            <a:avLst/>
          </a:prstGeom>
          <a:solidFill>
            <a:srgbClr val="B54836"/>
          </a:solidFill>
          <a:ln>
            <a:noFill/>
          </a:ln>
        </p:spPr>
      </p:sp>
      <p:grpSp>
        <p:nvGrpSpPr>
          <p:cNvPr id="13" name="compare"/>
          <p:cNvGrpSpPr/>
          <p:nvPr/>
        </p:nvGrpSpPr>
        <p:grpSpPr>
          <a:xfrm>
            <a:off x="609600" y="1695450"/>
            <a:ext cx="3238500" cy="3310890"/>
            <a:chOff x="609600" y="1695450"/>
            <a:chExt cx="3238500" cy="3310890"/>
          </a:xfrm>
        </p:grpSpPr>
        <p:sp>
          <p:nvSpPr>
            <p:cNvPr id="9" name="TextBox 9"/>
            <p:cNvSpPr txBox="1"/>
            <p:nvPr/>
          </p:nvSpPr>
          <p:spPr>
            <a:xfrm>
              <a:off x="609600" y="1695450"/>
              <a:ext cx="32385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3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B54836"/>
                  </a:solidFill>
                  <a:latin typeface="Microsoft JhengHei"/>
                  <a:ea typeface="Microsoft JhengHei"/>
                  <a:cs typeface="Microsoft JhengHei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9600" y="2133600"/>
              <a:ext cx="32385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286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情境比較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9600" y="2828925"/>
              <a:ext cx="323850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60008" rIns="0" bIns="0" anchor="t" anchorCtr="0">
              <a:noAutofit/>
            </a:bodyPr>
            <a:lstStyle/>
            <a:p>
              <a:pPr algn="l"/>
              <a:r>
                <a:rPr lang="zh-TW" sz="315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代打／換投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9600" y="3714750"/>
              <a:ext cx="3238500" cy="12915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7147" rIns="0" bIns="0" anchor="t" anchorCtr="0">
              <a:noAutofit/>
            </a:bodyPr>
            <a:lstStyle/>
            <a:p>
              <a:pPr algn="l">
                <a:lnSpc>
                  <a:spcPts val="3525"/>
                </a:lnSpc>
              </a:pPr>
              <a:r>
                <a:rPr lang="zh-TW" sz="19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同一局勢下比較人選差距</a:t>
              </a:r>
              <a:br/>
              <a:r>
                <a:rPr lang="zh-TW" sz="19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一起查看守位與接守需求</a:t>
              </a:r>
              <a:br/>
              <a:r>
                <a:rPr lang="zh-TW" sz="19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2024–2025 兩季資料</a:t>
              </a:r>
            </a:p>
          </p:txBody>
        </p:sp>
      </p:grpSp>
      <p:grpSp>
        <p:nvGrpSpPr>
          <p:cNvPr id="18" name="trace"/>
          <p:cNvGrpSpPr/>
          <p:nvPr/>
        </p:nvGrpSpPr>
        <p:grpSpPr>
          <a:xfrm>
            <a:off x="4305300" y="1695450"/>
            <a:ext cx="3238500" cy="3310890"/>
            <a:chOff x="4305300" y="1695450"/>
            <a:chExt cx="3238500" cy="3310890"/>
          </a:xfrm>
        </p:grpSpPr>
        <p:sp>
          <p:nvSpPr>
            <p:cNvPr id="14" name="TextBox 14"/>
            <p:cNvSpPr txBox="1"/>
            <p:nvPr/>
          </p:nvSpPr>
          <p:spPr>
            <a:xfrm>
              <a:off x="4305300" y="1695450"/>
              <a:ext cx="32385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3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B54836"/>
                  </a:solidFill>
                  <a:latin typeface="Microsoft JhengHei"/>
                  <a:ea typeface="Microsoft JhengHei"/>
                  <a:cs typeface="Microsoft JhengHei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05300" y="2133600"/>
              <a:ext cx="32385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286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依據可查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05300" y="2847975"/>
              <a:ext cx="32385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7150" rIns="0" bIns="0" anchor="t" anchorCtr="0">
              <a:noAutofit/>
            </a:bodyPr>
            <a:lstStyle/>
            <a:p>
              <a:pPr algn="l"/>
              <a:r>
                <a:rPr lang="zh-TW" sz="300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樣本與提醒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05300" y="3714750"/>
              <a:ext cx="3238500" cy="12915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7147" rIns="0" bIns="0" anchor="t" anchorCtr="0">
              <a:noAutofit/>
            </a:bodyPr>
            <a:lstStyle/>
            <a:p>
              <a:pPr algn="l">
                <a:lnSpc>
                  <a:spcPts val="3525"/>
                </a:lnSpc>
              </a:pPr>
              <a:r>
                <a:rPr lang="zh-TW" sz="19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查核模型分歧與樣本量</a:t>
              </a:r>
              <a:br/>
              <a:r>
                <a:rPr lang="zh-TW" sz="19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歷史回放使用賽前資料</a:t>
              </a:r>
              <a:br/>
              <a:r>
                <a:rPr lang="zh-TW" sz="19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回測提供風險線索</a:t>
              </a:r>
            </a:p>
          </p:txBody>
        </p:sp>
      </p:grpSp>
      <p:grpSp>
        <p:nvGrpSpPr>
          <p:cNvPr id="23" name="operate"/>
          <p:cNvGrpSpPr/>
          <p:nvPr/>
        </p:nvGrpSpPr>
        <p:grpSpPr>
          <a:xfrm>
            <a:off x="8001000" y="1695450"/>
            <a:ext cx="3581400" cy="3310890"/>
            <a:chOff x="8001000" y="1695450"/>
            <a:chExt cx="3581400" cy="3310890"/>
          </a:xfrm>
        </p:grpSpPr>
        <p:sp>
          <p:nvSpPr>
            <p:cNvPr id="19" name="TextBox 19"/>
            <p:cNvSpPr txBox="1"/>
            <p:nvPr/>
          </p:nvSpPr>
          <p:spPr>
            <a:xfrm>
              <a:off x="8001000" y="1695450"/>
              <a:ext cx="35814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3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B54836"/>
                  </a:solidFill>
                  <a:latin typeface="Microsoft JhengHei"/>
                  <a:ea typeface="Microsoft JhengHei"/>
                  <a:cs typeface="Microsoft JhengHei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001000" y="2133600"/>
              <a:ext cx="35814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2862" rIns="0" bIns="0" anchor="t" anchorCtr="0">
              <a:noAutofit/>
            </a:bodyPr>
            <a:lstStyle/>
            <a:p>
              <a:pPr algn="l"/>
              <a:r>
                <a:rPr lang="zh-TW" sz="225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網站實作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001000" y="2847975"/>
              <a:ext cx="35814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57150" rIns="0" bIns="0" anchor="t" anchorCtr="0">
              <a:noAutofit/>
            </a:bodyPr>
            <a:lstStyle/>
            <a:p>
              <a:pPr algn="l"/>
              <a:r>
                <a:rPr lang="zh-TW" sz="300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25 秒實錄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001000" y="3714750"/>
              <a:ext cx="3581400" cy="12915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7147" rIns="0" bIns="0" anchor="t" anchorCtr="0">
              <a:noAutofit/>
            </a:bodyPr>
            <a:lstStyle/>
            <a:p>
              <a:pPr algn="l">
                <a:lnSpc>
                  <a:spcPts val="3525"/>
                </a:lnSpc>
              </a:pPr>
              <a:r>
                <a:rPr lang="zh-TW" sz="19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本簡報內嵌操作示範</a:t>
              </a:r>
              <a:br/>
              <a:r>
                <a:rPr lang="zh-TW" sz="19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瀏覽器即可開啟網站</a:t>
              </a:r>
              <a:br/>
              <a:r>
                <a:rPr lang="zh-TW" sz="19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案例可在網站重現</a:t>
              </a:r>
            </a:p>
          </p:txBody>
        </p:sp>
      </p:grpSp>
      <p:grpSp>
        <p:nvGrpSpPr>
          <p:cNvPr id="26" name="product-takeaway"/>
          <p:cNvGrpSpPr/>
          <p:nvPr/>
        </p:nvGrpSpPr>
        <p:grpSpPr>
          <a:xfrm>
            <a:off x="609600" y="5429250"/>
            <a:ext cx="10972800" cy="849630"/>
            <a:chOff x="609600" y="5429250"/>
            <a:chExt cx="10972800" cy="849630"/>
          </a:xfrm>
        </p:grpSpPr>
        <p:sp>
          <p:nvSpPr>
            <p:cNvPr id="24" name="TextBox 24"/>
            <p:cNvSpPr txBox="1"/>
            <p:nvPr/>
          </p:nvSpPr>
          <p:spPr>
            <a:xfrm>
              <a:off x="609600" y="5429250"/>
              <a:ext cx="10972800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0005" rIns="0" bIns="0" anchor="t" anchorCtr="0">
              <a:no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差多少、誰接守、憑什麼：把比較條件與判讀依據放在一起。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09600" y="5943600"/>
              <a:ext cx="109728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回測為觀察性比較；影片長度不代表使用者完成任務所需的時間。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hapter-kicker"/>
          <p:cNvGrpSpPr/>
          <p:nvPr/>
        </p:nvGrpSpPr>
        <p:grpSpPr>
          <a:xfrm>
            <a:off x="602742" y="177800"/>
            <a:ext cx="2030997" cy="264033"/>
            <a:chOff x="602742" y="177800"/>
            <a:chExt cx="2030997" cy="264033"/>
          </a:xfrm>
        </p:grpSpPr>
        <p:sp>
          <p:nvSpPr>
            <p:cNvPr id="2" name="TextBox 2"/>
            <p:cNvSpPr txBox="1"/>
            <p:nvPr/>
          </p:nvSpPr>
          <p:spPr>
            <a:xfrm>
              <a:off x="602742" y="177800"/>
              <a:ext cx="2030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60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　未來規劃</a:t>
              </a:r>
            </a:p>
          </p:txBody>
        </p:sp>
      </p:grpSp>
      <p:grpSp>
        <p:nvGrpSpPr>
          <p:cNvPr id="5" name="title"/>
          <p:cNvGrpSpPr/>
          <p:nvPr/>
        </p:nvGrpSpPr>
        <p:grpSpPr>
          <a:xfrm>
            <a:off x="592836" y="546068"/>
            <a:ext cx="6697218" cy="645414"/>
            <a:chOff x="592836" y="546068"/>
            <a:chExt cx="6697218" cy="645414"/>
          </a:xfrm>
        </p:grpSpPr>
        <p:sp>
          <p:nvSpPr>
            <p:cNvPr id="4" name="TextBox 4"/>
            <p:cNvSpPr/>
            <p:nvPr/>
          </p:nvSpPr>
          <p:spPr>
            <a:xfrm>
              <a:off x="592836" y="546068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2" rIns="0" bIns="0" anchor="t" anchorCtr="0">
              <a:noAutofit/>
            </a:bodyPr>
            <a:lstStyle/>
            <a:p>
              <a:pPr algn="l"/>
              <a:r>
                <a:rPr lang="zh-TW" sz="3200" b="1" dirty="0">
                  <a:solidFill>
                    <a:srgbClr val="18344A"/>
                  </a:solidFill>
                  <a:latin typeface="Arial"/>
                  <a:ea typeface="Microsoft JhengHei"/>
                  <a:cs typeface="Arial"/>
                </a:rPr>
                <a:t>目前的限制，對應後續驗證方向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1365992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  <p:sp>
        <p:nvSpPr>
          <p:cNvPr id="8" name="Rectangle 8"/>
          <p:cNvSpPr/>
          <p:nvPr/>
        </p:nvSpPr>
        <p:spPr>
          <a:xfrm>
            <a:off x="609600" y="1257300"/>
            <a:ext cx="857250" cy="38100"/>
          </a:xfrm>
          <a:prstGeom prst="rect">
            <a:avLst/>
          </a:prstGeom>
          <a:solidFill>
            <a:srgbClr val="B54836"/>
          </a:solidFill>
          <a:ln>
            <a:noFill/>
          </a:ln>
        </p:spPr>
      </p:sp>
      <p:grpSp>
        <p:nvGrpSpPr>
          <p:cNvPr id="15" name="availability"/>
          <p:cNvGrpSpPr/>
          <p:nvPr/>
        </p:nvGrpSpPr>
        <p:grpSpPr>
          <a:xfrm>
            <a:off x="609600" y="1771650"/>
            <a:ext cx="3238500" cy="3529965"/>
            <a:chOff x="609600" y="1771650"/>
            <a:chExt cx="3238500" cy="3529965"/>
          </a:xfrm>
        </p:grpSpPr>
        <p:sp>
          <p:nvSpPr>
            <p:cNvPr id="9" name="TextBox 9"/>
            <p:cNvSpPr txBox="1"/>
            <p:nvPr/>
          </p:nvSpPr>
          <p:spPr>
            <a:xfrm>
              <a:off x="609600" y="1771650"/>
              <a:ext cx="32385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3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B54836"/>
                  </a:solidFill>
                  <a:latin typeface="Microsoft JhengHei"/>
                  <a:ea typeface="Microsoft JhengHei"/>
                  <a:cs typeface="Microsoft JhengHei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9600" y="2200275"/>
              <a:ext cx="3238500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5720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可用名單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09600" y="2876550"/>
              <a:ext cx="32385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3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目前限制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9600" y="3248025"/>
              <a:ext cx="3238500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7147" rIns="0" bIns="0" anchor="t" anchorCtr="0">
              <a:noAutofit/>
            </a:bodyPr>
            <a:lstStyle/>
            <a:p>
              <a:pPr algn="l">
                <a:lnSpc>
                  <a:spcPts val="3000"/>
                </a:lnSpc>
              </a:pPr>
              <a:r>
                <a:rPr lang="zh-TW" sz="1950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名單與出賽資格</a:t>
              </a:r>
              <a:br/>
              <a:r>
                <a:rPr lang="zh-TW" sz="1950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仍需人工確認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09600" y="4152900"/>
              <a:ext cx="32385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3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B54836"/>
                  </a:solidFill>
                  <a:latin typeface="Microsoft JhengHei"/>
                  <a:ea typeface="Microsoft JhengHei"/>
                  <a:cs typeface="Microsoft JhengHei"/>
                </a:rPr>
                <a:t>後續方向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9600" y="4524375"/>
              <a:ext cx="3238500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7147" rIns="0" bIns="0" anchor="t" anchorCtr="0">
              <a:noAutofit/>
            </a:bodyPr>
            <a:lstStyle/>
            <a:p>
              <a:pPr algn="l">
                <a:lnSpc>
                  <a:spcPts val="3000"/>
                </a:lnSpc>
              </a:pPr>
              <a:r>
                <a:rPr lang="zh-TW" sz="1950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串接登錄與傷兵資訊</a:t>
              </a:r>
              <a:br/>
              <a:r>
                <a:rPr lang="zh-TW" sz="1950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核對場上及已用人選</a:t>
              </a:r>
            </a:p>
          </p:txBody>
        </p:sp>
      </p:grpSp>
      <p:grpSp>
        <p:nvGrpSpPr>
          <p:cNvPr id="22" name="ph-validation"/>
          <p:cNvGrpSpPr/>
          <p:nvPr/>
        </p:nvGrpSpPr>
        <p:grpSpPr>
          <a:xfrm>
            <a:off x="4305300" y="1771650"/>
            <a:ext cx="3238500" cy="3529965"/>
            <a:chOff x="4305300" y="1771650"/>
            <a:chExt cx="3238500" cy="3529965"/>
          </a:xfrm>
        </p:grpSpPr>
        <p:sp>
          <p:nvSpPr>
            <p:cNvPr id="16" name="TextBox 16"/>
            <p:cNvSpPr txBox="1"/>
            <p:nvPr/>
          </p:nvSpPr>
          <p:spPr>
            <a:xfrm>
              <a:off x="4305300" y="1771650"/>
              <a:ext cx="32385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3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B54836"/>
                  </a:solidFill>
                  <a:latin typeface="Microsoft JhengHei"/>
                  <a:ea typeface="Microsoft JhengHei"/>
                  <a:cs typeface="Microsoft JhengHei"/>
                </a:rPr>
                <a:t>02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05300" y="2200275"/>
              <a:ext cx="3238500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5720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代打時機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305300" y="2876550"/>
              <a:ext cx="32385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3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目前限制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305300" y="3248025"/>
              <a:ext cx="3238500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7147" rIns="0" bIns="0" anchor="t" anchorCtr="0">
              <a:noAutofit/>
            </a:bodyPr>
            <a:lstStyle/>
            <a:p>
              <a:pPr algn="l">
                <a:lnSpc>
                  <a:spcPts val="3000"/>
                </a:lnSpc>
              </a:pPr>
              <a:r>
                <a:rPr lang="zh-TW" sz="1950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回測中的分組差異</a:t>
              </a:r>
              <a:br/>
              <a:r>
                <a:rPr lang="zh-TW" sz="1950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目前尚不明顯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305300" y="4152900"/>
              <a:ext cx="32385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3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B54836"/>
                  </a:solidFill>
                  <a:latin typeface="Microsoft JhengHei"/>
                  <a:ea typeface="Microsoft JhengHei"/>
                  <a:cs typeface="Microsoft JhengHei"/>
                </a:rPr>
                <a:t>後續方向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305300" y="4524375"/>
              <a:ext cx="3238500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7147" rIns="0" bIns="0" anchor="t" anchorCtr="0">
              <a:noAutofit/>
            </a:bodyPr>
            <a:lstStyle/>
            <a:p>
              <a:pPr algn="l">
                <a:lnSpc>
                  <a:spcPts val="3000"/>
                </a:lnSpc>
              </a:pPr>
              <a:r>
                <a:rPr lang="zh-TW" sz="1950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納入更多賽季資料</a:t>
              </a:r>
              <a:br/>
              <a:r>
                <a:rPr lang="zh-TW" sz="1950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重跑時間切分回測</a:t>
              </a:r>
            </a:p>
          </p:txBody>
        </p:sp>
      </p:grpSp>
      <p:grpSp>
        <p:nvGrpSpPr>
          <p:cNvPr id="30" name="fatigue"/>
          <p:cNvGrpSpPr/>
          <p:nvPr/>
        </p:nvGrpSpPr>
        <p:grpSpPr>
          <a:xfrm>
            <a:off x="8001000" y="1771650"/>
            <a:ext cx="3581400" cy="3529965"/>
            <a:chOff x="8001000" y="1771650"/>
            <a:chExt cx="3581400" cy="3529965"/>
          </a:xfrm>
        </p:grpSpPr>
        <p:sp>
          <p:nvSpPr>
            <p:cNvPr id="23" name="TextBox 23"/>
            <p:cNvSpPr txBox="1"/>
            <p:nvPr/>
          </p:nvSpPr>
          <p:spPr>
            <a:xfrm>
              <a:off x="8001000" y="1771650"/>
              <a:ext cx="35814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3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B54836"/>
                  </a:solidFill>
                  <a:latin typeface="Microsoft JhengHei"/>
                  <a:ea typeface="Microsoft JhengHei"/>
                  <a:cs typeface="Microsoft JhengHei"/>
                </a:rPr>
                <a:t>03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001000" y="2200275"/>
              <a:ext cx="3581400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5720" rIns="0" bIns="0" anchor="t" anchorCtr="0">
              <a:noAutofit/>
            </a:bodyPr>
            <a:lstStyle/>
            <a:p>
              <a:pPr algn="l"/>
              <a:r>
                <a:rPr lang="zh-TW" sz="240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疲勞與近況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001000" y="2876550"/>
              <a:ext cx="35814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3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目前限制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001000" y="3248025"/>
              <a:ext cx="3581400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7147" rIns="0" bIns="0" anchor="t" anchorCtr="0">
              <a:noAutofit/>
            </a:bodyPr>
            <a:lstStyle/>
            <a:p>
              <a:pPr algn="l">
                <a:lnSpc>
                  <a:spcPts val="3000"/>
                </a:lnSpc>
              </a:pPr>
              <a:r>
                <a:rPr lang="zh-TW" sz="1950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跨日疲勞與近況效果</a:t>
              </a:r>
              <a:br/>
              <a:r>
                <a:rPr lang="zh-TW" sz="1950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仍缺穩定的驗證證據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001000" y="4152900"/>
              <a:ext cx="35814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3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B54836"/>
                  </a:solidFill>
                  <a:latin typeface="Microsoft JhengHei"/>
                  <a:ea typeface="Microsoft JhengHei"/>
                  <a:cs typeface="Microsoft JhengHei"/>
                </a:rPr>
                <a:t>後續方向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001000" y="4524375"/>
              <a:ext cx="3581400" cy="777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7147" rIns="0" bIns="0" anchor="t" anchorCtr="0">
              <a:noAutofit/>
            </a:bodyPr>
            <a:lstStyle/>
            <a:p>
              <a:pPr algn="l">
                <a:lnSpc>
                  <a:spcPts val="3000"/>
                </a:lnSpc>
              </a:pPr>
              <a:r>
                <a:rPr lang="zh-TW" sz="1950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累積球數、休息資料</a:t>
              </a:r>
              <a:br/>
              <a:r>
                <a:rPr lang="zh-TW" sz="1950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檢驗不同設定的影響</a:t>
              </a:r>
            </a:p>
          </p:txBody>
        </p:sp>
      </p:grpSp>
      <p:grpSp>
        <p:nvGrpSpPr>
          <p:cNvPr id="33" name="future-process"/>
          <p:cNvGrpSpPr/>
          <p:nvPr/>
        </p:nvGrpSpPr>
        <p:grpSpPr>
          <a:xfrm>
            <a:off x="609600" y="5476875"/>
            <a:ext cx="10972800" cy="849630"/>
            <a:chOff x="609600" y="5476875"/>
            <a:chExt cx="10972800" cy="849630"/>
          </a:xfrm>
        </p:grpSpPr>
        <p:sp>
          <p:nvSpPr>
            <p:cNvPr id="31" name="TextBox 31"/>
            <p:cNvSpPr txBox="1"/>
            <p:nvPr/>
          </p:nvSpPr>
          <p:spPr>
            <a:xfrm>
              <a:off x="609600" y="5476875"/>
              <a:ext cx="10972800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40005" rIns="0" bIns="0" anchor="t" anchorCtr="0">
              <a:noAutofit/>
            </a:bodyPr>
            <a:lstStyle/>
            <a:p>
              <a:pPr algn="l"/>
              <a:r>
                <a:rPr lang="zh-TW" sz="2100" b="1" dirty="0">
                  <a:solidFill>
                    <a:srgbClr val="18344A"/>
                  </a:solidFill>
                  <a:latin typeface="Microsoft JhengHei"/>
                  <a:ea typeface="Microsoft JhengHei"/>
                  <a:cs typeface="Microsoft JhengHei"/>
                </a:rPr>
                <a:t>資料更新 → 重訓與回測 → 檢視案例與適用條件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09600" y="5991225"/>
              <a:ext cx="109728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31432" rIns="0" bIns="0" anchor="t" anchorCtr="0">
              <a:noAutofit/>
            </a:bodyPr>
            <a:lstStyle/>
            <a:p>
              <a:pPr algn="l"/>
              <a:r>
                <a:rPr lang="zh-TW" sz="1650" dirty="0">
                  <a:solidFill>
                    <a:srgbClr val="58616B"/>
                  </a:solidFill>
                  <a:latin typeface="Microsoft JhengHei"/>
                  <a:ea typeface="Microsoft JhengHei"/>
                  <a:cs typeface="Microsoft JhengHei"/>
                </a:rPr>
                <a:t>以上為後續規劃；現場調度仍需結合實際名單、比賽狀況與教練判斷。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closing"/>
          <p:cNvGrpSpPr/>
          <p:nvPr/>
        </p:nvGrpSpPr>
        <p:grpSpPr>
          <a:xfrm>
            <a:off x="590550" y="1390650"/>
            <a:ext cx="6553200" cy="2114550"/>
            <a:chOff x="590550" y="1390650"/>
            <a:chExt cx="6553200" cy="2114550"/>
          </a:xfrm>
        </p:grpSpPr>
        <p:sp>
          <p:nvSpPr>
            <p:cNvPr id="2" name="TextBox 2"/>
            <p:cNvSpPr txBox="1"/>
            <p:nvPr/>
          </p:nvSpPr>
          <p:spPr>
            <a:xfrm>
              <a:off x="590550" y="1390650"/>
              <a:ext cx="6553200" cy="21145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7950"/>
                </a:lnSpc>
              </a:pPr>
              <a:r>
                <a:rPr lang="zh-TW" sz="57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換人之前，</a:t>
              </a:r>
              <a:br>
                <a:rPr lang="zh-TW" sz="57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</a:br>
              <a:r>
                <a:rPr lang="zh-TW" sz="57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先看清差距與代價。</a:t>
              </a:r>
            </a:p>
          </p:txBody>
        </p:sp>
      </p:grpSp>
      <p:grpSp>
        <p:nvGrpSpPr>
          <p:cNvPr id="6" name="team"/>
          <p:cNvGrpSpPr/>
          <p:nvPr/>
        </p:nvGrpSpPr>
        <p:grpSpPr>
          <a:xfrm>
            <a:off x="592836" y="3822700"/>
            <a:ext cx="1723644" cy="1134618"/>
            <a:chOff x="592836" y="3822700"/>
            <a:chExt cx="1723644" cy="1134618"/>
          </a:xfrm>
        </p:grpSpPr>
        <p:sp>
          <p:nvSpPr>
            <p:cNvPr id="4" name="TextBox 4"/>
            <p:cNvSpPr txBox="1"/>
            <p:nvPr/>
          </p:nvSpPr>
          <p:spPr>
            <a:xfrm>
              <a:off x="592836" y="3822700"/>
              <a:ext cx="922020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隊名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8932" y="4546600"/>
              <a:ext cx="1717548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1800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蘇櫟、陳信安</a:t>
              </a:r>
            </a:p>
          </p:txBody>
        </p:sp>
      </p:grpSp>
      <p:grpSp>
        <p:nvGrpSpPr>
          <p:cNvPr id="8" name="baseball"/>
          <p:cNvGrpSpPr/>
          <p:nvPr/>
        </p:nvGrpSpPr>
        <p:grpSpPr>
          <a:xfrm>
            <a:off x="8858250" y="3524250"/>
            <a:ext cx="2762250" cy="2762250"/>
            <a:chOff x="8858250" y="3524250"/>
            <a:chExt cx="2762250" cy="2762250"/>
          </a:xfrm>
        </p:grpSpPr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8250" y="3524250"/>
              <a:ext cx="2762250" cy="2762250"/>
            </a:xfrm>
            <a:prstGeom prst="rect">
              <a:avLst/>
            </a:prstGeom>
          </p:spPr>
        </p:pic>
      </p:grpSp>
      <p:grpSp>
        <p:nvGrpSpPr>
          <p:cNvPr id="11" name="links"/>
          <p:cNvGrpSpPr/>
          <p:nvPr/>
        </p:nvGrpSpPr>
        <p:grpSpPr>
          <a:xfrm>
            <a:off x="597408" y="5384800"/>
            <a:ext cx="5732953" cy="469392"/>
            <a:chOff x="597408" y="5384800"/>
            <a:chExt cx="5732953" cy="469392"/>
          </a:xfrm>
        </p:grpSpPr>
        <p:sp>
          <p:nvSpPr>
            <p:cNvPr id="9" name="TextBox 9">
              <a:hlinkClick r:id="rId3"/>
            </p:cNvPr>
            <p:cNvSpPr txBox="1"/>
            <p:nvPr/>
          </p:nvSpPr>
          <p:spPr>
            <a:xfrm>
              <a:off x="597408" y="5384800"/>
              <a:ext cx="2245652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開啟網站 Demo</a:t>
              </a:r>
            </a:p>
          </p:txBody>
        </p:sp>
        <p:sp>
          <p:nvSpPr>
            <p:cNvPr id="10" name="TextBox 10">
              <a:hlinkClick r:id="rId4"/>
            </p:cNvPr>
            <p:cNvSpPr txBox="1"/>
            <p:nvPr/>
          </p:nvSpPr>
          <p:spPr>
            <a:xfrm>
              <a:off x="4178808" y="5384800"/>
              <a:ext cx="2151553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zh-TW" sz="200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GitHub 原始碼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1375631" y="6445250"/>
            <a:ext cx="21362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TW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seball_competition_polished19">
  <a:themeElements>
    <a:clrScheme name="baseball_competition_polished19">
      <a:dk1>
        <a:srgbClr val="1D2934"/>
      </a:dk1>
      <a:lt1>
        <a:srgbClr val="F7F5EF"/>
      </a:lt1>
      <a:dk2>
        <a:srgbClr val="1F497D"/>
      </a:dk2>
      <a:lt2>
        <a:srgbClr val="ECE5D9"/>
      </a:lt2>
      <a:accent1>
        <a:srgbClr val="18344A"/>
      </a:accent1>
      <a:accent2>
        <a:srgbClr val="B54836"/>
      </a:accent2>
      <a:accent3>
        <a:srgbClr val="9A6118"/>
      </a:accent3>
      <a:accent4>
        <a:srgbClr val="18344A"/>
      </a:accent4>
      <a:accent5>
        <a:srgbClr val="58616B"/>
      </a:accent5>
      <a:accent6>
        <a:srgbClr val="D7D1C5"/>
      </a:accent6>
      <a:hlink>
        <a:srgbClr val="B54836"/>
      </a:hlink>
      <a:folHlink>
        <a:srgbClr val="9A6118"/>
      </a:folHlink>
    </a:clrScheme>
    <a:fontScheme name="baseball_competition_polished19">
      <a:maj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JhengHei"/>
        <a:cs typeface="Arial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aseball_competition_polished19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zh-TW</dc:language>
  <cp:lastModifiedBy/>
  <cp:revision>1</cp:revision>
  <dcterms:created xsi:type="dcterms:W3CDTF">2026-10-15T13:31:12Z</dcterms:created>
  <dcterms:modified xsi:type="dcterms:W3CDTF">2026-10-15T13:31:12Z</dcterms:modified>
  <cp:category/>
  <cp:contentStatus/>
</cp:coreProperties>
</file>