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16x9"/>
  <p:notesSz cx="6858000" cy="9144000"/>
  <p:defaultTextStyle>
    <a:defPPr>
      <a:defRPr lang="zh-TW" altLang="en-US">
        <a:latin typeface="Times New Roman"/>
        <a:ea typeface="標楷體"/>
        <a:cs typeface="Times New Roman"/>
      </a:defRPr>
    </a:defPPr>
    <a:lvl1pPr marL="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1pPr>
    <a:lvl2pPr marL="4572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2pPr>
    <a:lvl3pPr marL="9144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3pPr>
    <a:lvl4pPr marL="13716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4pPr>
    <a:lvl5pPr marL="18288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5pPr>
    <a:lvl6pPr marL="22860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6pPr>
    <a:lvl7pPr marL="27432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7pPr>
    <a:lvl8pPr marL="32004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8pPr>
    <a:lvl9pPr marL="3657600" algn="l" defTabSz="457200" rtl="0" eaLnBrk="1" latinLnBrk="0" hangingPunct="1">
      <a:defRPr sz="1800" kern="1200" lang="zh-TW" altLang="en-US">
        <a:solidFill>
          <a:schemeClr val="tx1"/>
        </a:solidFill>
        <a:latin typeface="Times New Roman"/>
        <a:ea typeface="標楷體"/>
        <a:cs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Relationship Id="rId41" Type="http://schemas.openxmlformats.org/officeDocument/2006/relationships/slide" Target="slides/slide35.xml" /><Relationship Id="rId42" Type="http://schemas.openxmlformats.org/officeDocument/2006/relationships/slide" Target="slides/slide36.xml" /><Relationship Id="rId43" Type="http://schemas.openxmlformats.org/officeDocument/2006/relationships/slide" Target="slides/slide37.xml" /><Relationship Id="rId44" Type="http://schemas.openxmlformats.org/officeDocument/2006/relationships/slide" Target="slides/slide38.xml" /><Relationship Id="rId45" Type="http://schemas.openxmlformats.org/officeDocument/2006/relationships/slide" Target="slides/slide39.xml" /><Relationship Id="rId46" Type="http://schemas.openxmlformats.org/officeDocument/2006/relationships/slide" Target="slides/slide40.xml" 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seball_competition_polished1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 altLang="en-US">
                <a:latin typeface="Times New Roman"/>
                <a:ea typeface="標楷體"/>
                <a:cs typeface="Times New Roman"/>
              </a:rPr>
              <a:t>1/27/13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 altLang="en-US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seball_competition_polished1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5BCAD085-E8A6-8845-BD4E-CB4CCA059FC4}" type="datetimeFigureOut">
              <a:rPr lang="zh-TW" smtClean="0" altLang="en-US">
                <a:latin typeface="Times New Roman"/>
                <a:ea typeface="標楷體"/>
                <a:cs typeface="Times New Roman"/>
              </a:rPr>
              <a:t>1/27/13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 altLang="en-US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C1FF6DA9-008F-8B48-92A6-B652298478BF}" type="slidenum">
              <a:rPr lang="zh-TW" smtClean="0" altLang="en-US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9pPr>
    </p:bodyStyle>
    <p:otherStyle>
      <a:defPPr>
        <a:defRPr lang="zh-TW" altLang="en-US">
          <a:latin typeface="Times New Roman"/>
          <a:ea typeface="標楷體"/>
          <a:cs typeface="Times New Roman"/>
        </a:defRPr>
      </a:defPPr>
      <a:lvl1pPr marL="0" algn="l" defTabSz="457200" rtl="0" eaLnBrk="1" latinLnBrk="0" hangingPunct="1">
        <a:defRPr sz="21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457200" algn="l" defTabSz="457200" rtl="0" eaLnBrk="1" latinLnBrk="0" hangingPunct="1">
        <a:defRPr sz="19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914400" algn="l" defTabSz="457200" rtl="0" eaLnBrk="1" latinLnBrk="0" hangingPunct="1">
        <a:defRPr sz="18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371600" algn="l" defTabSz="457200" rtl="0" eaLnBrk="1" latinLnBrk="0" hangingPunct="1">
        <a:defRPr sz="17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1828800" algn="l" defTabSz="457200" rtl="0" eaLnBrk="1" latinLnBrk="0" hangingPunct="1">
        <a:defRPr sz="16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286000" algn="l" defTabSz="457200" rtl="0" eaLnBrk="1" latinLnBrk="0" hangingPunct="1">
        <a:defRPr sz="14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743200" algn="l" defTabSz="457200" rtl="0" eaLnBrk="1" latinLnBrk="0" hangingPunct="1">
        <a:defRPr sz="13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200400" algn="l" defTabSz="457200" rtl="0" eaLnBrk="1" latinLnBrk="0" hangingPunct="1">
        <a:defRPr sz="120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657600" algn="l" defTabSz="457200" rtl="0" eaLnBrk="1" latinLnBrk="0" hangingPunct="1">
        <a:defRPr sz="1050" kern="1200" lang="zh-TW" altLang="en-US">
          <a:solidFill>
            <a:schemeClr val="tx1"/>
          </a:solidFill>
          <a:latin typeface="Times New Roman"/>
          <a:ea typeface="標楷體"/>
          <a:cs typeface="Times New Roman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a60d4a4917b83df9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0a12378abd96a74d.jpg" /><Relationship Id="rId3" Type="http://schemas.openxmlformats.org/officeDocument/2006/relationships/image" Target="../media/image_f266a76a38381693.jp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c91a2656de9a11fe.jp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2311dc7b7b40ca75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_86e866df19cbbe22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14c4e86453a820a9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c9bd71b8c2bc12fc.pn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a69731a2453d3d2.pn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9626dfeeeefaa87.pn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270f4c408850e89.jpg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165523efa96f3990.pn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1676326fc1c0630.png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1ac4e4a85b691c4.jpg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7f229dc6dcdb260c.png" /><Relationship Id="rId3" Type="http://schemas.microsoft.com/office/2007/relationships/media" Target="../media/media1.mp4" /><Relationship Id="rId4" Type="http://schemas.openxmlformats.org/officeDocument/2006/relationships/video" Target="../media/media1.mp4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hyperlink" Target="https://doi.org/10.1080/01621459.1975.10479864" TargetMode="External" /><Relationship Id="rId3" Type="http://schemas.openxmlformats.org/officeDocument/2006/relationships/hyperlink" Target="https://doi.org/10.1214/aos/1176344552" TargetMode="External" /><Relationship Id="rId4" Type="http://schemas.openxmlformats.org/officeDocument/2006/relationships/hyperlink" Target="https://doi.org/10.1198/016214506000001437" TargetMode="External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44de3d25c6c01d2f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eam"/>
          <p:cNvGrpSpPr/>
          <p:nvPr/>
        </p:nvGrpSpPr>
        <p:grpSpPr>
          <a:xfrm>
            <a:off x="592836" y="488918"/>
            <a:ext cx="4569428" cy="1021271"/>
            <a:chOff x="592836" y="488918"/>
            <a:chExt cx="4569428" cy="1021271"/>
          </a:xfrm>
        </p:grpSpPr>
        <p:sp>
          <p:nvSpPr>
            <p:cNvPr id="2" name="TextBox 2"/>
            <p:cNvSpPr/>
            <p:nvPr/>
          </p:nvSpPr>
          <p:spPr>
            <a:xfrm>
              <a:off x="592836" y="488918"/>
              <a:ext cx="17814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一球兩面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1218" y="1187482"/>
              <a:ext cx="45610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868" rIns="0" bIns="0" anchor="t" anchorCtr="0">
              <a:noAutofit/>
            </a:bodyPr>
            <a:lstStyle/>
            <a:p>
              <a:pPr algn="l"/>
              <a:r>
                <a:rPr lang="zh-TW" sz="158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2026 野革盃 台灣棒球數據黑客松｜參賽提案</a:t>
              </a:r>
            </a:p>
          </p:txBody>
        </p:sp>
      </p:grpSp>
      <p:grpSp>
        <p:nvGrpSpPr>
          <p:cNvPr id="7" name="hero"/>
          <p:cNvGrpSpPr/>
          <p:nvPr/>
        </p:nvGrpSpPr>
        <p:grpSpPr>
          <a:xfrm>
            <a:off x="590550" y="1930432"/>
            <a:ext cx="5561838" cy="1542478"/>
            <a:chOff x="590550" y="1930432"/>
            <a:chExt cx="5561838" cy="1542478"/>
          </a:xfrm>
        </p:grpSpPr>
        <p:sp>
          <p:nvSpPr>
            <p:cNvPr id="5" name="TextBox 5"/>
            <p:cNvSpPr/>
            <p:nvPr/>
          </p:nvSpPr>
          <p:spPr>
            <a:xfrm>
              <a:off x="590550" y="1930432"/>
              <a:ext cx="464210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臨場用人決策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35508" y="3003518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01632" rIns="0" bIns="0" anchor="t" anchorCtr="0">
              <a:noAutofit/>
            </a:bodyPr>
            <a:lstStyle/>
            <a:p>
              <a:pPr algn="l"/>
              <a:r>
                <a:rPr lang="zh-TW" sz="20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以公開中職資料，比較代打與換投人選</a:t>
              </a:r>
            </a:p>
          </p:txBody>
        </p:sp>
      </p:grpSp>
      <p:grpSp>
        <p:nvGrpSpPr>
          <p:cNvPr id="9" name="baseball"/>
          <p:cNvGrpSpPr/>
          <p:nvPr/>
        </p:nvGrpSpPr>
        <p:grpSpPr>
          <a:xfrm>
            <a:off x="8001000" y="1333500"/>
            <a:ext cx="3905250" cy="3905250"/>
            <a:chOff x="8001000" y="1333500"/>
            <a:chExt cx="3905250" cy="3905250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333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12" name="promise"/>
          <p:cNvGrpSpPr/>
          <p:nvPr/>
        </p:nvGrpSpPr>
        <p:grpSpPr>
          <a:xfrm>
            <a:off x="592836" y="3860768"/>
            <a:ext cx="5364480" cy="1191768"/>
            <a:chOff x="592836" y="3860768"/>
            <a:chExt cx="5364480" cy="1191768"/>
          </a:xfrm>
        </p:grpSpPr>
        <p:sp>
          <p:nvSpPr>
            <p:cNvPr id="10" name="TextBox 10"/>
            <p:cNvSpPr/>
            <p:nvPr/>
          </p:nvSpPr>
          <p:spPr>
            <a:xfrm>
              <a:off x="592836" y="3860768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差多少？誰接守？憑什麼？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598932" y="4641818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TW" sz="18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參賽者　蘇櫟、陳信安</a:t>
              </a:r>
            </a:p>
          </p:txBody>
        </p:sp>
      </p:grpSp>
      <p:sp>
        <p:nvSpPr>
          <p:cNvPr id="16" name="TextBox 16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grpSp>
        <p:nvGrpSpPr>
          <p:cNvPr id="14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8" name="TextBox 11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3" name="TextBox 13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原始碼 https://github.com/Da-Xiong-Chen/baseball_project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提案內容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四個章節，說清楚問題、方法與網站成果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479530" y="6473825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</a:t>
            </a:fld>
          </a:p>
        </p:txBody>
      </p:sp>
      <p:grpSp>
        <p:nvGrpSpPr>
          <p:cNvPr id="11" name="chapter-0"/>
          <p:cNvGrpSpPr/>
          <p:nvPr/>
        </p:nvGrpSpPr>
        <p:grpSpPr>
          <a:xfrm>
            <a:off x="594741" y="1711325"/>
            <a:ext cx="3903726" cy="1848676"/>
            <a:chOff x="594741" y="1711325"/>
            <a:chExt cx="3903726" cy="1848676"/>
          </a:xfrm>
        </p:grpSpPr>
        <p:sp>
          <p:nvSpPr>
            <p:cNvPr id="7" name="TextBox 7"/>
            <p:cNvSpPr txBox="1"/>
            <p:nvPr/>
          </p:nvSpPr>
          <p:spPr>
            <a:xfrm>
              <a:off x="594741" y="1711325"/>
              <a:ext cx="445059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9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6746" y="1762125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問題與定位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99413" y="231140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關鍵打席的換人比較，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球隊與一般使用者的需求。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00937" y="3222625"/>
              <a:ext cx="302762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棒球問題、使用者與產品概念</a:t>
              </a:r>
            </a:p>
          </p:txBody>
        </p:sp>
      </p:grpSp>
      <p:grpSp>
        <p:nvGrpSpPr>
          <p:cNvPr id="16" name="chapter-1"/>
          <p:cNvGrpSpPr/>
          <p:nvPr/>
        </p:nvGrpSpPr>
        <p:grpSpPr>
          <a:xfrm>
            <a:off x="6233541" y="1711325"/>
            <a:ext cx="3903726" cy="1848676"/>
            <a:chOff x="6233541" y="1711325"/>
            <a:chExt cx="3903726" cy="1848676"/>
          </a:xfrm>
        </p:grpSpPr>
        <p:sp>
          <p:nvSpPr>
            <p:cNvPr id="12" name="TextBox 12"/>
            <p:cNvSpPr txBox="1"/>
            <p:nvPr/>
          </p:nvSpPr>
          <p:spPr>
            <a:xfrm>
              <a:off x="6233541" y="1711325"/>
              <a:ext cx="445059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9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35546" y="1762125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資料與方法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38213" y="231140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資料從哪裡來，如何估計，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驗證結果能解釋到哪裡。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39737" y="3222625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使用資料與分析方法</a:t>
              </a:r>
            </a:p>
          </p:txBody>
        </p:sp>
      </p:grpSp>
      <p:grpSp>
        <p:nvGrpSpPr>
          <p:cNvPr id="21" name="chapter-2"/>
          <p:cNvGrpSpPr/>
          <p:nvPr/>
        </p:nvGrpSpPr>
        <p:grpSpPr>
          <a:xfrm>
            <a:off x="594741" y="3892550"/>
            <a:ext cx="4338253" cy="1848676"/>
            <a:chOff x="594741" y="3892550"/>
            <a:chExt cx="4338253" cy="1848676"/>
          </a:xfrm>
        </p:grpSpPr>
        <p:sp>
          <p:nvSpPr>
            <p:cNvPr id="17" name="TextBox 17"/>
            <p:cNvSpPr txBox="1"/>
            <p:nvPr/>
          </p:nvSpPr>
          <p:spPr>
            <a:xfrm>
              <a:off x="594741" y="3892550"/>
              <a:ext cx="445059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9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96746" y="39433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網站實作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99413" y="4492625"/>
              <a:ext cx="3533581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代打、換投、場上名單，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以及獨立的單日回放與 Demo。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00937" y="5403850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產品構想與操作成果</a:t>
              </a:r>
            </a:p>
          </p:txBody>
        </p:sp>
      </p:grpSp>
      <p:grpSp>
        <p:nvGrpSpPr>
          <p:cNvPr id="26" name="chapter-3"/>
          <p:cNvGrpSpPr/>
          <p:nvPr/>
        </p:nvGrpSpPr>
        <p:grpSpPr>
          <a:xfrm>
            <a:off x="6233541" y="3892550"/>
            <a:ext cx="3647186" cy="1848676"/>
            <a:chOff x="6233541" y="3892550"/>
            <a:chExt cx="3647186" cy="1848676"/>
          </a:xfrm>
        </p:grpSpPr>
        <p:sp>
          <p:nvSpPr>
            <p:cNvPr id="22" name="TextBox 22"/>
            <p:cNvSpPr txBox="1"/>
            <p:nvPr/>
          </p:nvSpPr>
          <p:spPr>
            <a:xfrm>
              <a:off x="6233541" y="3892550"/>
              <a:ext cx="445059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9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5546" y="3943350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成果與開發規劃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38213" y="4492625"/>
              <a:ext cx="284251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已完成範圍、驗證工作，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與跨年度及賽季更新。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39737" y="5403850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預期成果與開發規劃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換人之前，要先回答什麼？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棒球問題、目標使用者與應用創新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5808726" cy="1063625"/>
            <a:chOff x="592836" y="250825"/>
            <a:chExt cx="580872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八局落後一分，要讓誰上場？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4</a:t>
            </a:fld>
          </a:p>
        </p:txBody>
      </p:sp>
      <p:grpSp>
        <p:nvGrpSpPr>
          <p:cNvPr id="8" name="source-picture"/>
          <p:cNvGrpSpPr/>
          <p:nvPr/>
        </p:nvGrpSpPr>
        <p:grpSpPr>
          <a:xfrm>
            <a:off x="609600" y="1875654"/>
            <a:ext cx="6191250" cy="1811291"/>
            <a:chOff x="609600" y="1875654"/>
            <a:chExt cx="6191250" cy="1811291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875654"/>
              <a:ext cx="6191250" cy="1811291"/>
            </a:xfrm>
            <a:prstGeom prst="rect">
              <a:avLst/>
            </a:prstGeom>
          </p:spPr>
        </p:pic>
      </p:grpSp>
      <p:grpSp>
        <p:nvGrpSpPr>
          <p:cNvPr id="16" name="base-context"/>
          <p:cNvGrpSpPr/>
          <p:nvPr/>
        </p:nvGrpSpPr>
        <p:grpSpPr>
          <a:xfrm>
            <a:off x="2525649" y="3971925"/>
            <a:ext cx="2282952" cy="2109343"/>
            <a:chOff x="2525649" y="3971925"/>
            <a:chExt cx="2282952" cy="2109343"/>
          </a:xfrm>
        </p:grpSpPr>
        <p:sp>
          <p:nvSpPr>
            <p:cNvPr id="9" name="Polygon 9"/>
            <p:cNvSpPr/>
            <p:nvPr/>
          </p:nvSpPr>
          <p:spPr>
            <a:xfrm>
              <a:off x="3009900" y="4057650"/>
              <a:ext cx="1314450" cy="1314450"/>
            </a:xfrm>
            <a:custGeom>
              <a:avLst/>
              <a:gdLst/>
              <a:ahLst/>
              <a:cxnLst/>
              <a:rect l="l" t="t" r="r" b="b"/>
              <a:pathLst>
                <a:path w="1314450" h="1314450">
                  <a:moveTo>
                    <a:pt x="657225" y="0"/>
                  </a:moveTo>
                  <a:lnTo>
                    <a:pt x="1314450" y="657225"/>
                  </a:lnTo>
                  <a:lnTo>
                    <a:pt x="657225" y="1314450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581400" y="39719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B54836"/>
            </a:solidFill>
            <a:ln w="19050">
              <a:solidFill>
                <a:srgbClr val="18344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23862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581400" y="52863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92417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466725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25649" y="56705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一出局，二壘有人</a:t>
              </a:r>
            </a:p>
          </p:txBody>
        </p:sp>
      </p:grpSp>
      <p:grpSp>
        <p:nvGrpSpPr>
          <p:cNvPr id="20" name="選擇 A"/>
          <p:cNvGrpSpPr/>
          <p:nvPr/>
        </p:nvGrpSpPr>
        <p:grpSpPr>
          <a:xfrm>
            <a:off x="7415022" y="2047875"/>
            <a:ext cx="2744089" cy="1421575"/>
            <a:chOff x="7415022" y="2047875"/>
            <a:chExt cx="2744089" cy="1421575"/>
          </a:xfrm>
        </p:grpSpPr>
        <p:sp>
          <p:nvSpPr>
            <p:cNvPr id="17" name="TextBox 17"/>
            <p:cNvSpPr txBox="1"/>
            <p:nvPr/>
          </p:nvSpPr>
          <p:spPr>
            <a:xfrm>
              <a:off x="7419975" y="2047875"/>
              <a:ext cx="84090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選擇 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15022" y="245745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林佳緯續打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19213" y="3073400"/>
              <a:ext cx="27398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左打，面對左投魔力藍</a:t>
              </a:r>
            </a:p>
          </p:txBody>
        </p:sp>
      </p:grpSp>
      <p:grpSp>
        <p:nvGrpSpPr>
          <p:cNvPr id="24" name="選擇 B"/>
          <p:cNvGrpSpPr/>
          <p:nvPr/>
        </p:nvGrpSpPr>
        <p:grpSpPr>
          <a:xfrm>
            <a:off x="7415022" y="4200525"/>
            <a:ext cx="3016021" cy="1421575"/>
            <a:chOff x="7415022" y="4200525"/>
            <a:chExt cx="3016021" cy="1421575"/>
          </a:xfrm>
        </p:grpSpPr>
        <p:sp>
          <p:nvSpPr>
            <p:cNvPr id="21" name="TextBox 21"/>
            <p:cNvSpPr txBox="1"/>
            <p:nvPr/>
          </p:nvSpPr>
          <p:spPr>
            <a:xfrm>
              <a:off x="7419975" y="4200525"/>
              <a:ext cx="82298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選擇 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15022" y="461010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胡金龍代打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19213" y="5226050"/>
              <a:ext cx="30118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右打，承接指定打擊棒次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651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問題與定位｜目標使用者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兩種使用方式，都能評估與安排場上名單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5</a:t>
            </a:fld>
          </a:p>
        </p:txBody>
      </p:sp>
      <p:grpSp>
        <p:nvGrpSpPr>
          <p:cNvPr id="8" name="shot-一般使用者入口"/>
          <p:cNvGrpSpPr/>
          <p:nvPr/>
        </p:nvGrpSpPr>
        <p:grpSpPr>
          <a:xfrm>
            <a:off x="609600" y="1932151"/>
            <a:ext cx="7010400" cy="1431597"/>
            <a:chOff x="609600" y="1932151"/>
            <a:chExt cx="7010400" cy="1431597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932151"/>
              <a:ext cx="7010400" cy="1431597"/>
            </a:xfrm>
            <a:prstGeom prst="rect">
              <a:avLst/>
            </a:prstGeom>
          </p:spPr>
        </p:pic>
      </p:grpSp>
      <p:grpSp>
        <p:nvGrpSpPr>
          <p:cNvPr id="11" name="mode-note-0"/>
          <p:cNvGrpSpPr/>
          <p:nvPr/>
        </p:nvGrpSpPr>
        <p:grpSpPr>
          <a:xfrm>
            <a:off x="8036433" y="1889125"/>
            <a:ext cx="3100959" cy="1324578"/>
            <a:chOff x="8036433" y="1889125"/>
            <a:chExt cx="3100959" cy="1324578"/>
          </a:xfrm>
        </p:grpSpPr>
        <p:sp>
          <p:nvSpPr>
            <p:cNvPr id="9" name="TextBox 9"/>
            <p:cNvSpPr txBox="1"/>
            <p:nvPr/>
          </p:nvSpPr>
          <p:spPr>
            <a:xfrm>
              <a:off x="8036433" y="188912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一般使用者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38338" y="2444750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直接選投打、局勢與候選，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也可自行安排九棒。</a:t>
              </a:r>
            </a:p>
          </p:txBody>
        </p:sp>
      </p:grpSp>
      <p:grpSp>
        <p:nvGrpSpPr>
          <p:cNvPr id="13" name="shot-球隊入口"/>
          <p:cNvGrpSpPr/>
          <p:nvPr/>
        </p:nvGrpSpPr>
        <p:grpSpPr>
          <a:xfrm>
            <a:off x="609600" y="4151476"/>
            <a:ext cx="7010400" cy="1431597"/>
            <a:chOff x="609600" y="4151476"/>
            <a:chExt cx="7010400" cy="1431597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4151476"/>
              <a:ext cx="7010400" cy="1431597"/>
            </a:xfrm>
            <a:prstGeom prst="rect">
              <a:avLst/>
            </a:prstGeom>
          </p:spPr>
        </p:pic>
      </p:grpSp>
      <p:grpSp>
        <p:nvGrpSpPr>
          <p:cNvPr id="16" name="mode-note-1"/>
          <p:cNvGrpSpPr/>
          <p:nvPr/>
        </p:nvGrpSpPr>
        <p:grpSpPr>
          <a:xfrm>
            <a:off x="8036433" y="4108450"/>
            <a:ext cx="3100959" cy="1324578"/>
            <a:chOff x="8036433" y="4108450"/>
            <a:chExt cx="3100959" cy="1324578"/>
          </a:xfrm>
        </p:grpSpPr>
        <p:sp>
          <p:nvSpPr>
            <p:cNvPr id="14" name="TextBox 14"/>
            <p:cNvSpPr txBox="1"/>
            <p:nvPr/>
          </p:nvSpPr>
          <p:spPr>
            <a:xfrm>
              <a:off x="8036433" y="410845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8338" y="4664075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先設定九棒、守位與投手，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套用後比較可用替補。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697218" cy="1063625"/>
            <a:chOff x="592836" y="250825"/>
            <a:chExt cx="6697218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把投打數據，放進同一個換人情境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6</a:t>
            </a:fld>
          </a:p>
        </p:txBody>
      </p:sp>
      <p:grpSp>
        <p:nvGrpSpPr>
          <p:cNvPr id="10" name="input-0"/>
          <p:cNvGrpSpPr/>
          <p:nvPr/>
        </p:nvGrpSpPr>
        <p:grpSpPr>
          <a:xfrm>
            <a:off x="609600" y="1828800"/>
            <a:ext cx="3714750" cy="1162050"/>
            <a:chOff x="609600" y="1828800"/>
            <a:chExt cx="3714750" cy="1162050"/>
          </a:xfrm>
        </p:grpSpPr>
        <p:sp>
          <p:nvSpPr>
            <p:cNvPr id="7" name="Rectangle 7"/>
            <p:cNvSpPr/>
            <p:nvPr/>
          </p:nvSpPr>
          <p:spPr>
            <a:xfrm>
              <a:off x="609600" y="1828800"/>
              <a:ext cx="3714750" cy="1162050"/>
            </a:xfrm>
            <a:prstGeom prst="roundRect">
              <a:avLst>
                <a:gd name="adj" fmla="val 9836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6389" y="1958975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投打能力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8294" y="245427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球路適性、左右投打</a:t>
              </a:r>
            </a:p>
          </p:txBody>
        </p:sp>
      </p:grpSp>
      <p:grpSp>
        <p:nvGrpSpPr>
          <p:cNvPr id="14" name="input-1"/>
          <p:cNvGrpSpPr/>
          <p:nvPr/>
        </p:nvGrpSpPr>
        <p:grpSpPr>
          <a:xfrm>
            <a:off x="609600" y="3190875"/>
            <a:ext cx="3714750" cy="1162050"/>
            <a:chOff x="609600" y="3190875"/>
            <a:chExt cx="3714750" cy="1162050"/>
          </a:xfrm>
        </p:grpSpPr>
        <p:sp>
          <p:nvSpPr>
            <p:cNvPr id="11" name="Rectangle 11"/>
            <p:cNvSpPr/>
            <p:nvPr/>
          </p:nvSpPr>
          <p:spPr>
            <a:xfrm>
              <a:off x="609600" y="3190875"/>
              <a:ext cx="3714750" cy="1162050"/>
            </a:xfrm>
            <a:prstGeom prst="roundRect">
              <a:avLst>
                <a:gd name="adj" fmla="val 9836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6389" y="33210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當下局勢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8294" y="3816350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局數、比分、出局與壘況</a:t>
              </a:r>
            </a:p>
          </p:txBody>
        </p:sp>
      </p:grpSp>
      <p:grpSp>
        <p:nvGrpSpPr>
          <p:cNvPr id="18" name="input-2"/>
          <p:cNvGrpSpPr/>
          <p:nvPr/>
        </p:nvGrpSpPr>
        <p:grpSpPr>
          <a:xfrm>
            <a:off x="609600" y="4552950"/>
            <a:ext cx="3714750" cy="1162050"/>
            <a:chOff x="609600" y="4552950"/>
            <a:chExt cx="3714750" cy="1162050"/>
          </a:xfrm>
        </p:grpSpPr>
        <p:sp>
          <p:nvSpPr>
            <p:cNvPr id="15" name="Rectangle 15"/>
            <p:cNvSpPr/>
            <p:nvPr/>
          </p:nvSpPr>
          <p:spPr>
            <a:xfrm>
              <a:off x="609600" y="4552950"/>
              <a:ext cx="3714750" cy="1162050"/>
            </a:xfrm>
            <a:prstGeom prst="roundRect">
              <a:avLst>
                <a:gd name="adj" fmla="val 9836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6389" y="4683125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可用人選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8294" y="51784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板凳、牛棚與接守安排</a:t>
              </a:r>
            </a:p>
          </p:txBody>
        </p:sp>
      </p:grpSp>
      <p:grpSp>
        <p:nvGrpSpPr>
          <p:cNvPr id="23" name="fixed-comparison"/>
          <p:cNvGrpSpPr/>
          <p:nvPr/>
        </p:nvGrpSpPr>
        <p:grpSpPr>
          <a:xfrm>
            <a:off x="5095875" y="2524125"/>
            <a:ext cx="2781300" cy="2333625"/>
            <a:chOff x="5095875" y="2524125"/>
            <a:chExt cx="2781300" cy="2333625"/>
          </a:xfrm>
        </p:grpSpPr>
        <p:sp>
          <p:nvSpPr>
            <p:cNvPr id="19" name="Rectangle 19"/>
            <p:cNvSpPr/>
            <p:nvPr/>
          </p:nvSpPr>
          <p:spPr>
            <a:xfrm>
              <a:off x="5095875" y="2524125"/>
              <a:ext cx="2781300" cy="2333625"/>
            </a:xfrm>
            <a:prstGeom prst="roundRect">
              <a:avLst>
                <a:gd name="adj" fmla="val 4898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02377" y="2800350"/>
              <a:ext cx="2028292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固定比較條件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03520" y="3406775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現任與候選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04282" y="400367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只替換人選</a:t>
              </a:r>
            </a:p>
          </p:txBody>
        </p:sp>
      </p:grpSp>
      <p:grpSp>
        <p:nvGrpSpPr>
          <p:cNvPr id="29" name="convergence"/>
          <p:cNvGrpSpPr/>
          <p:nvPr/>
        </p:nvGrpSpPr>
        <p:grpSpPr>
          <a:xfrm>
            <a:off x="4524375" y="2409825"/>
            <a:ext cx="466725" cy="2733675"/>
            <a:chOff x="4524375" y="2409825"/>
            <a:chExt cx="466725" cy="2733675"/>
          </a:xfrm>
        </p:grpSpPr>
        <p:sp>
          <p:nvSpPr>
            <p:cNvPr id="24" name="Line 24"/>
            <p:cNvSpPr/>
            <p:nvPr/>
          </p:nvSpPr>
          <p:spPr>
            <a:xfrm>
              <a:off x="4524375" y="240982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4524375" y="5133975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724400" y="2409825"/>
              <a:ext cx="9525" cy="2724150"/>
            </a:xfrm>
            <a:custGeom>
              <a:avLst/>
              <a:gdLst/>
              <a:ahLst/>
              <a:cxnLst/>
              <a:rect l="l" t="t" r="r" b="b"/>
              <a:pathLst>
                <a:path w="9525" h="2724150">
                  <a:moveTo>
                    <a:pt x="0" y="0"/>
                  </a:moveTo>
                  <a:lnTo>
                    <a:pt x="0" y="27241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724400" y="37623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4876800" y="3695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34" name="output"/>
          <p:cNvGrpSpPr/>
          <p:nvPr/>
        </p:nvGrpSpPr>
        <p:grpSpPr>
          <a:xfrm>
            <a:off x="8558403" y="2543175"/>
            <a:ext cx="2743708" cy="2459800"/>
            <a:chOff x="8558403" y="2543175"/>
            <a:chExt cx="2743708" cy="2459800"/>
          </a:xfrm>
        </p:grpSpPr>
        <p:sp>
          <p:nvSpPr>
            <p:cNvPr id="30" name="TextBox 30"/>
            <p:cNvSpPr txBox="1"/>
            <p:nvPr/>
          </p:nvSpPr>
          <p:spPr>
            <a:xfrm>
              <a:off x="8558403" y="2543175"/>
              <a:ext cx="152516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差多少？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62213" y="3159125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相對現任的估計差距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58403" y="3990975"/>
              <a:ext cx="1899412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換得成嗎？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2213" y="4606925"/>
              <a:ext cx="27398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守位、人選與資料提醒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問題與定位｜應用創新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應用創新：把數據查詢接成換人比較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479530" y="6473825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7</a:t>
            </a:fld>
          </a:p>
        </p:txBody>
      </p:sp>
      <p:grpSp>
        <p:nvGrpSpPr>
          <p:cNvPr id="13" name="application-0"/>
          <p:cNvGrpSpPr/>
          <p:nvPr/>
        </p:nvGrpSpPr>
        <p:grpSpPr>
          <a:xfrm>
            <a:off x="597789" y="1787525"/>
            <a:ext cx="9535744" cy="1062800"/>
            <a:chOff x="597789" y="1787525"/>
            <a:chExt cx="9535744" cy="1062800"/>
          </a:xfrm>
        </p:grpSpPr>
        <p:sp>
          <p:nvSpPr>
            <p:cNvPr id="7" name="TextBox 7"/>
            <p:cNvSpPr txBox="1"/>
            <p:nvPr/>
          </p:nvSpPr>
          <p:spPr>
            <a:xfrm>
              <a:off x="597789" y="1787525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情境比較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590038" y="1825625"/>
              <a:ext cx="219603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自行比對不同成績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629275" y="194310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6019800" y="18764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589776" y="1800225"/>
              <a:ext cx="3543757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固定對手與局勢，只換候選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90038" y="2454275"/>
              <a:ext cx="355569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直接看相對現任的估計差距。</a:t>
              </a:r>
            </a:p>
          </p:txBody>
        </p:sp>
      </p:grpSp>
      <p:grpSp>
        <p:nvGrpSpPr>
          <p:cNvPr id="20" name="application-1"/>
          <p:cNvGrpSpPr/>
          <p:nvPr/>
        </p:nvGrpSpPr>
        <p:grpSpPr>
          <a:xfrm>
            <a:off x="597789" y="3206750"/>
            <a:ext cx="9535744" cy="1062800"/>
            <a:chOff x="597789" y="3206750"/>
            <a:chExt cx="9535744" cy="1062800"/>
          </a:xfrm>
        </p:grpSpPr>
        <p:sp>
          <p:nvSpPr>
            <p:cNvPr id="14" name="TextBox 14"/>
            <p:cNvSpPr txBox="1"/>
            <p:nvPr/>
          </p:nvSpPr>
          <p:spPr>
            <a:xfrm>
              <a:off x="597789" y="3206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名單連動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90038" y="3244850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另行核對上場與守位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629275" y="3362325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019800" y="32956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89776" y="3219450"/>
              <a:ext cx="3543757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評估連動場上、板凳與牛棚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90038" y="3873500"/>
              <a:ext cx="38276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同時確認可用人選與接守安排。</a:t>
              </a:r>
            </a:p>
          </p:txBody>
        </p:sp>
      </p:grpSp>
      <p:grpSp>
        <p:nvGrpSpPr>
          <p:cNvPr id="27" name="application-2"/>
          <p:cNvGrpSpPr/>
          <p:nvPr/>
        </p:nvGrpSpPr>
        <p:grpSpPr>
          <a:xfrm>
            <a:off x="597789" y="4625975"/>
            <a:ext cx="9829216" cy="1062800"/>
            <a:chOff x="597789" y="4625975"/>
            <a:chExt cx="9829216" cy="1062800"/>
          </a:xfrm>
        </p:grpSpPr>
        <p:sp>
          <p:nvSpPr>
            <p:cNvPr id="21" name="TextBox 21"/>
            <p:cNvSpPr txBox="1"/>
            <p:nvPr/>
          </p:nvSpPr>
          <p:spPr>
            <a:xfrm>
              <a:off x="597789" y="4625975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決策回放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90038" y="4664075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賽後才看結果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629275" y="478155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019800" y="4714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89776" y="4638675"/>
              <a:ext cx="383722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保留決策前資訊，再對照結果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90038" y="5292725"/>
              <a:ext cx="38276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區分事前判讀與事後發生的事。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5808726" cy="1063625"/>
            <a:chOff x="592836" y="250825"/>
            <a:chExt cx="580872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三個入口，對應三種使用任務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8</a:t>
            </a:fld>
          </a:p>
        </p:txBody>
      </p:sp>
      <p:grpSp>
        <p:nvGrpSpPr>
          <p:cNvPr id="8" name="shot-功能選單"/>
          <p:cNvGrpSpPr/>
          <p:nvPr/>
        </p:nvGrpSpPr>
        <p:grpSpPr>
          <a:xfrm>
            <a:off x="609600" y="1892192"/>
            <a:ext cx="10972800" cy="1311490"/>
            <a:chOff x="609600" y="1892192"/>
            <a:chExt cx="10972800" cy="131149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892192"/>
              <a:ext cx="10972800" cy="1311490"/>
            </a:xfrm>
            <a:prstGeom prst="rect">
              <a:avLst/>
            </a:prstGeom>
          </p:spPr>
        </p:pic>
      </p:grpSp>
      <p:grpSp>
        <p:nvGrpSpPr>
          <p:cNvPr id="11" name="entry-0"/>
          <p:cNvGrpSpPr/>
          <p:nvPr/>
        </p:nvGrpSpPr>
        <p:grpSpPr>
          <a:xfrm>
            <a:off x="597789" y="3787775"/>
            <a:ext cx="3100578" cy="1302353"/>
            <a:chOff x="597789" y="3787775"/>
            <a:chExt cx="3100578" cy="1302353"/>
          </a:xfrm>
        </p:grpSpPr>
        <p:sp>
          <p:nvSpPr>
            <p:cNvPr id="9" name="TextBox 9"/>
            <p:cNvSpPr txBox="1"/>
            <p:nvPr/>
          </p:nvSpPr>
          <p:spPr>
            <a:xfrm>
              <a:off x="597789" y="3787775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代打／換投評估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313" y="4321175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固定對手與局勢，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比較現任與最多四位候選。</a:t>
              </a:r>
            </a:p>
          </p:txBody>
        </p:sp>
      </p:grpSp>
      <p:grpSp>
        <p:nvGrpSpPr>
          <p:cNvPr id="14" name="entry-1"/>
          <p:cNvGrpSpPr/>
          <p:nvPr/>
        </p:nvGrpSpPr>
        <p:grpSpPr>
          <a:xfrm>
            <a:off x="4331589" y="3787775"/>
            <a:ext cx="2844038" cy="1302353"/>
            <a:chOff x="4331589" y="3787775"/>
            <a:chExt cx="2844038" cy="1302353"/>
          </a:xfrm>
        </p:grpSpPr>
        <p:sp>
          <p:nvSpPr>
            <p:cNvPr id="12" name="TextBox 12"/>
            <p:cNvSpPr txBox="1"/>
            <p:nvPr/>
          </p:nvSpPr>
          <p:spPr>
            <a:xfrm>
              <a:off x="4331589" y="3787775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我方場上名單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3113" y="4321175"/>
              <a:ext cx="284251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球場圖設定守位，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棒次表安排九棒與投手。</a:t>
              </a:r>
            </a:p>
          </p:txBody>
        </p:sp>
      </p:grpSp>
      <p:grpSp>
        <p:nvGrpSpPr>
          <p:cNvPr id="17" name="entry-2"/>
          <p:cNvGrpSpPr/>
          <p:nvPr/>
        </p:nvGrpSpPr>
        <p:grpSpPr>
          <a:xfrm>
            <a:off x="8065389" y="3787775"/>
            <a:ext cx="3100578" cy="1302353"/>
            <a:chOff x="8065389" y="3787775"/>
            <a:chExt cx="3100578" cy="1302353"/>
          </a:xfrm>
        </p:grpSpPr>
        <p:sp>
          <p:nvSpPr>
            <p:cNvPr id="15" name="TextBox 15"/>
            <p:cNvSpPr txBox="1"/>
            <p:nvPr/>
          </p:nvSpPr>
          <p:spPr>
            <a:xfrm>
              <a:off x="8065389" y="3787775"/>
              <a:ext cx="201538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 單日分析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6913" y="4321175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回到特定比賽日，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查看賽前負荷與打席回放。</a:t>
              </a:r>
            </a:p>
          </p:txBody>
        </p:sp>
      </p:grpSp>
      <p:grpSp>
        <p:nvGrpSpPr>
          <p:cNvPr id="20" name="takeaway"/>
          <p:cNvGrpSpPr/>
          <p:nvPr/>
        </p:nvGrpSpPr>
        <p:grpSpPr>
          <a:xfrm>
            <a:off x="609600" y="5591175"/>
            <a:ext cx="10972800" cy="704850"/>
            <a:chOff x="609600" y="5591175"/>
            <a:chExt cx="10972800" cy="704850"/>
          </a:xfrm>
        </p:grpSpPr>
        <p:sp>
          <p:nvSpPr>
            <p:cNvPr id="18" name="Rectangle 18"/>
            <p:cNvSpPr/>
            <p:nvPr/>
          </p:nvSpPr>
          <p:spPr>
            <a:xfrm>
              <a:off x="609600" y="559117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8294" y="5683250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單日分析是獨立入口，不受一般使用者／球隊模式限制。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拿什麼資料，做什麼比較？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資料來源、估計方法與驗證界線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資料與方法｜使用資料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不同來源分工，歷史分析遵守資料截止日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10</a:t>
            </a:fld>
          </a:p>
        </p:txBody>
      </p:sp>
      <p:grpSp>
        <p:nvGrpSpPr>
          <p:cNvPr id="11" name="data-0"/>
          <p:cNvGrpSpPr/>
          <p:nvPr/>
        </p:nvGrpSpPr>
        <p:grpSpPr>
          <a:xfrm>
            <a:off x="593598" y="1990725"/>
            <a:ext cx="2997708" cy="3042666"/>
            <a:chOff x="593598" y="1990725"/>
            <a:chExt cx="2997708" cy="3042666"/>
          </a:xfrm>
        </p:grpSpPr>
        <p:sp>
          <p:nvSpPr>
            <p:cNvPr id="7" name="TextBox 7"/>
            <p:cNvSpPr txBox="1"/>
            <p:nvPr/>
          </p:nvSpPr>
          <p:spPr>
            <a:xfrm>
              <a:off x="593598" y="1990725"/>
              <a:ext cx="20482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2024–2025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789" y="2825750"/>
              <a:ext cx="158521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逐球與出賽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3349625"/>
              <a:ext cx="24251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Rebas（ODC-By）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93382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球種、投打側與逐球結果，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用於對決估計及登板負荷。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2025 背號只用於搜尋。</a:t>
              </a:r>
            </a:p>
          </p:txBody>
        </p:sp>
      </p:grpSp>
      <p:grpSp>
        <p:nvGrpSpPr>
          <p:cNvPr id="16" name="data-1"/>
          <p:cNvGrpSpPr/>
          <p:nvPr/>
        </p:nvGrpSpPr>
        <p:grpSpPr>
          <a:xfrm>
            <a:off x="4327398" y="1990725"/>
            <a:ext cx="2997708" cy="3042666"/>
            <a:chOff x="4327398" y="1990725"/>
            <a:chExt cx="2997708" cy="3042666"/>
          </a:xfrm>
        </p:grpSpPr>
        <p:sp>
          <p:nvSpPr>
            <p:cNvPr id="12" name="TextBox 12"/>
            <p:cNvSpPr txBox="1"/>
            <p:nvPr/>
          </p:nvSpPr>
          <p:spPr>
            <a:xfrm>
              <a:off x="4327398" y="1990725"/>
              <a:ext cx="20482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2022–2024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1589" y="2825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歷年守位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3494" y="3349625"/>
              <a:ext cx="17939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ldkrsi（MIT）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3494" y="393382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依過去各守位出賽紀錄，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檢查歷史人選的守位經驗。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不使用 2025 整季守位。</a:t>
              </a:r>
            </a:p>
          </p:txBody>
        </p:sp>
      </p:grpSp>
      <p:grpSp>
        <p:nvGrpSpPr>
          <p:cNvPr id="21" name="data-2"/>
          <p:cNvGrpSpPr/>
          <p:nvPr/>
        </p:nvGrpSpPr>
        <p:grpSpPr>
          <a:xfrm>
            <a:off x="8061198" y="1990725"/>
            <a:ext cx="2750058" cy="3042666"/>
            <a:chOff x="8061198" y="1990725"/>
            <a:chExt cx="2750058" cy="3042666"/>
          </a:xfrm>
        </p:grpSpPr>
        <p:sp>
          <p:nvSpPr>
            <p:cNvPr id="17" name="TextBox 17"/>
            <p:cNvSpPr txBox="1"/>
            <p:nvPr/>
          </p:nvSpPr>
          <p:spPr>
            <a:xfrm>
              <a:off x="8061198" y="1990725"/>
              <a:ext cx="9281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65389" y="2825750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球員與整季守位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7294" y="3349625"/>
              <a:ext cx="19963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CPBL 官方資料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7294" y="3933825"/>
              <a:ext cx="274396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球員連至官方個人頁；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整季守位用於季後情境，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不冒充實際當日守位。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609600" y="5581650"/>
            <a:ext cx="10972800" cy="704850"/>
            <a:chOff x="609600" y="5581650"/>
            <a:chExt cx="10972800" cy="704850"/>
          </a:xfrm>
        </p:grpSpPr>
        <p:sp>
          <p:nvSpPr>
            <p:cNvPr id="22" name="Rectangle 22"/>
            <p:cNvSpPr/>
            <p:nvPr/>
          </p:nvSpPr>
          <p:spPr>
            <a:xfrm>
              <a:off x="609600" y="558165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294" y="5673725"/>
              <a:ext cx="78950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歷史能力、名單與負荷只用當日前資訊；逐球模型另列訓練截止日。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先估計對決，再依局勢換算候選差距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D5A930A-1FBF-4F80-9D36-1331513C3CE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11</a:t>
            </a:fld>
          </a:p>
        </p:txBody>
      </p:sp>
      <p:grpSp>
        <p:nvGrpSpPr>
          <p:cNvPr id="9" name="method-input"/>
          <p:cNvGrpSpPr/>
          <p:nvPr/>
        </p:nvGrpSpPr>
        <p:grpSpPr>
          <a:xfrm>
            <a:off x="598551" y="3219450"/>
            <a:ext cx="2076399" cy="935800"/>
            <a:chOff x="598551" y="3219450"/>
            <a:chExt cx="2076399" cy="935800"/>
          </a:xfrm>
        </p:grpSpPr>
        <p:sp>
          <p:nvSpPr>
            <p:cNvPr id="7" name="TextBox 7"/>
            <p:cNvSpPr txBox="1"/>
            <p:nvPr/>
          </p:nvSpPr>
          <p:spPr>
            <a:xfrm>
              <a:off x="598551" y="3219450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逐球與出賽資料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313" y="3759200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同一投手與候選</a:t>
              </a:r>
            </a:p>
          </p:txBody>
        </p:sp>
      </p:grpSp>
      <p:grpSp>
        <p:nvGrpSpPr>
          <p:cNvPr id="13" name="method-182"/>
          <p:cNvGrpSpPr/>
          <p:nvPr/>
        </p:nvGrpSpPr>
        <p:grpSpPr>
          <a:xfrm>
            <a:off x="3524250" y="1733550"/>
            <a:ext cx="4695825" cy="1724025"/>
            <a:chOff x="3524250" y="1733550"/>
            <a:chExt cx="4695825" cy="1724025"/>
          </a:xfrm>
        </p:grpSpPr>
        <p:sp>
          <p:nvSpPr>
            <p:cNvPr id="10" name="Rectangle 10"/>
            <p:cNvSpPr/>
            <p:nvPr/>
          </p:nvSpPr>
          <p:spPr>
            <a:xfrm>
              <a:off x="3524250" y="1733550"/>
              <a:ext cx="4695825" cy="1724025"/>
            </a:xfrm>
            <a:prstGeom prst="roundRect">
              <a:avLst>
                <a:gd name="adj" fmla="val 6630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750183" y="1870075"/>
              <a:ext cx="18001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部分池化 [1]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52850" y="2413000"/>
              <a:ext cx="3361690" cy="712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19"/>
                </a:lnSpc>
              </a:pP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綜合能力、左右投打與球路適性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小樣本向整體基準收縮</a:t>
              </a:r>
            </a:p>
          </p:txBody>
        </p:sp>
      </p:grpSp>
      <p:grpSp>
        <p:nvGrpSpPr>
          <p:cNvPr id="17" name="method-403"/>
          <p:cNvGrpSpPr/>
          <p:nvPr/>
        </p:nvGrpSpPr>
        <p:grpSpPr>
          <a:xfrm>
            <a:off x="3524250" y="3838575"/>
            <a:ext cx="4695825" cy="1724025"/>
            <a:chOff x="3524250" y="3838575"/>
            <a:chExt cx="4695825" cy="1724025"/>
          </a:xfrm>
        </p:grpSpPr>
        <p:sp>
          <p:nvSpPr>
            <p:cNvPr id="14" name="Rectangle 14"/>
            <p:cNvSpPr/>
            <p:nvPr/>
          </p:nvSpPr>
          <p:spPr>
            <a:xfrm>
              <a:off x="3524250" y="3838575"/>
              <a:ext cx="4695825" cy="1724025"/>
            </a:xfrm>
            <a:prstGeom prst="roundRect">
              <a:avLst>
                <a:gd name="adj" fmla="val 6630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50183" y="39751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梯度提升樹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52850" y="4518025"/>
              <a:ext cx="3122930" cy="7129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19"/>
                </a:lnSpc>
              </a:pP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沿用投手歷史投球，替換打者</a:t>
              </a:r>
              <a:b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預測逐球結果，再換算得分</a:t>
              </a:r>
            </a:p>
          </p:txBody>
        </p:sp>
      </p:grpSp>
      <p:grpSp>
        <p:nvGrpSpPr>
          <p:cNvPr id="27" name="method-links"/>
          <p:cNvGrpSpPr/>
          <p:nvPr/>
        </p:nvGrpSpPr>
        <p:grpSpPr>
          <a:xfrm>
            <a:off x="3124200" y="2600325"/>
            <a:ext cx="5715000" cy="2105025"/>
            <a:chOff x="3124200" y="2600325"/>
            <a:chExt cx="5715000" cy="2105025"/>
          </a:xfrm>
        </p:grpSpPr>
        <p:sp>
          <p:nvSpPr>
            <p:cNvPr id="18" name="Line 18"/>
            <p:cNvSpPr/>
            <p:nvPr/>
          </p:nvSpPr>
          <p:spPr>
            <a:xfrm>
              <a:off x="3124200" y="37242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333750" y="2600325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333750" y="26003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333750" y="469582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286750" y="26003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0" y="2600325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286750" y="46958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572500" y="37242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8724900" y="36576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30" name="method-output"/>
          <p:cNvGrpSpPr/>
          <p:nvPr/>
        </p:nvGrpSpPr>
        <p:grpSpPr>
          <a:xfrm>
            <a:off x="9055989" y="3092450"/>
            <a:ext cx="1925669" cy="948532"/>
            <a:chOff x="9055989" y="3092450"/>
            <a:chExt cx="1925669" cy="948532"/>
          </a:xfrm>
        </p:grpSpPr>
        <p:sp>
          <p:nvSpPr>
            <p:cNvPr id="28" name="TextBox 28"/>
            <p:cNvSpPr txBox="1"/>
            <p:nvPr/>
          </p:nvSpPr>
          <p:spPr>
            <a:xfrm>
              <a:off x="9055989" y="3092450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整合得分估計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9057513" y="3644932"/>
              <a:ext cx="192414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依局勢近似換算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609600" y="5734050"/>
            <a:ext cx="10972800" cy="704850"/>
            <a:chOff x="609600" y="5734050"/>
            <a:chExt cx="10972800" cy="704850"/>
          </a:xfrm>
        </p:grpSpPr>
        <p:sp>
          <p:nvSpPr>
            <p:cNvPr id="31" name="Rectangle 31"/>
            <p:cNvSpPr/>
            <p:nvPr/>
          </p:nvSpPr>
          <p:spPr>
            <a:xfrm>
              <a:off x="609600" y="573405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2" name="TextBox 32"/>
            <p:cNvSpPr/>
            <p:nvPr/>
          </p:nvSpPr>
          <p:spPr>
            <a:xfrm>
              <a:off x="828294" y="5826157"/>
              <a:ext cx="739130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[1] 小樣本估計依據見第 39 頁；預測與實際結果仍需分開解讀。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474202" cy="1063625"/>
            <a:chOff x="592836" y="250825"/>
            <a:chExt cx="847420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資料與方法｜判讀方式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先分清楚：比較基準、模型差距、相對排名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FFBD3AEC-B6E3-46F8-AD8A-F202ACAFC18E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12</a:t>
            </a:fld>
          </a:p>
        </p:txBody>
      </p:sp>
      <p:grpSp>
        <p:nvGrpSpPr>
          <p:cNvPr id="12" name="score-0"/>
          <p:cNvGrpSpPr/>
          <p:nvPr/>
        </p:nvGrpSpPr>
        <p:grpSpPr>
          <a:xfrm>
            <a:off x="598170" y="2025650"/>
            <a:ext cx="3107055" cy="2953449"/>
            <a:chOff x="598170" y="2025650"/>
            <a:chExt cx="3107055" cy="2953449"/>
          </a:xfrm>
        </p:grpSpPr>
        <p:sp>
          <p:nvSpPr>
            <p:cNvPr id="7" name="TextBox 7"/>
            <p:cNvSpPr txBox="1"/>
            <p:nvPr/>
          </p:nvSpPr>
          <p:spPr>
            <a:xfrm>
              <a:off x="598170" y="20256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比較基準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67128" y="2686050"/>
              <a:ext cx="390144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0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362200" y="354330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38100">
              <a:solidFill>
                <a:srgbClr val="18344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9694" y="4238625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候選與同一位現任相比。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其餘局勢與對手保持一致。</a:t>
              </a:r>
            </a:p>
          </p:txBody>
        </p:sp>
      </p:grpSp>
      <p:grpSp>
        <p:nvGrpSpPr>
          <p:cNvPr id="18" name="score-1"/>
          <p:cNvGrpSpPr/>
          <p:nvPr/>
        </p:nvGrpSpPr>
        <p:grpSpPr>
          <a:xfrm>
            <a:off x="4331970" y="2025650"/>
            <a:ext cx="3240786" cy="2953449"/>
            <a:chOff x="4331970" y="2025650"/>
            <a:chExt cx="3240786" cy="2953449"/>
          </a:xfrm>
        </p:grpSpPr>
        <p:sp>
          <p:nvSpPr>
            <p:cNvPr id="13" name="TextBox 13"/>
            <p:cNvSpPr txBox="1"/>
            <p:nvPr/>
          </p:nvSpPr>
          <p:spPr>
            <a:xfrm>
              <a:off x="4331970" y="20256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模型差距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60278" y="2686050"/>
              <a:ext cx="167144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+1.05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7244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0" y="3629025"/>
              <a:ext cx="1047750" cy="190500"/>
            </a:xfrm>
            <a:prstGeom prst="roundRect">
              <a:avLst>
                <a:gd name="adj" fmla="val 15000"/>
              </a:avLst>
            </a:prstGeom>
            <a:solidFill>
              <a:srgbClr val="237A5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33494" y="42386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依局勢換算的估計差距。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單位：百分點，非成效保證。</a:t>
              </a:r>
            </a:p>
          </p:txBody>
        </p:sp>
      </p:grpSp>
      <p:grpSp>
        <p:nvGrpSpPr>
          <p:cNvPr id="25" name="score-2"/>
          <p:cNvGrpSpPr/>
          <p:nvPr/>
        </p:nvGrpSpPr>
        <p:grpSpPr>
          <a:xfrm>
            <a:off x="8065770" y="2025650"/>
            <a:ext cx="3240786" cy="2953449"/>
            <a:chOff x="8065770" y="2025650"/>
            <a:chExt cx="3240786" cy="2953449"/>
          </a:xfrm>
        </p:grpSpPr>
        <p:sp>
          <p:nvSpPr>
            <p:cNvPr id="19" name="TextBox 19"/>
            <p:cNvSpPr txBox="1"/>
            <p:nvPr/>
          </p:nvSpPr>
          <p:spPr>
            <a:xfrm>
              <a:off x="8065770" y="20256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價值分數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30640" y="2686050"/>
              <a:ext cx="1798320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9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1–100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4582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74395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093470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4" name="TextBox 24"/>
            <p:cNvSpPr/>
            <p:nvPr/>
          </p:nvSpPr>
          <p:spPr>
            <a:xfrm>
              <a:off x="8067294" y="42386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截止日前同角色的百分位。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非四位候選排名或成功率。</a:t>
              </a:r>
            </a:p>
          </p:txBody>
        </p:sp>
      </p:grpSp>
      <p:grpSp>
        <p:nvGrpSpPr>
          <p:cNvPr id="28" name="takeaway"/>
          <p:cNvGrpSpPr/>
          <p:nvPr/>
        </p:nvGrpSpPr>
        <p:grpSpPr>
          <a:xfrm>
            <a:off x="609600" y="5619750"/>
            <a:ext cx="10972800" cy="704850"/>
            <a:chOff x="609600" y="5619750"/>
            <a:chExt cx="10972800" cy="704850"/>
          </a:xfrm>
        </p:grpSpPr>
        <p:sp>
          <p:nvSpPr>
            <p:cNvPr id="26" name="Rectangle 26"/>
            <p:cNvSpPr/>
            <p:nvPr/>
          </p:nvSpPr>
          <p:spPr>
            <a:xfrm>
              <a:off x="609600" y="561975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7" name="TextBox 27"/>
            <p:cNvSpPr/>
            <p:nvPr/>
          </p:nvSpPr>
          <p:spPr>
            <a:xfrm>
              <a:off x="828294" y="5711857"/>
              <a:ext cx="6022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逐球機率以 log loss 評估 [3]；方法依據見第 39 頁。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資料與方法｜驗證範圍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功能已核對，用人效益仍待實際驗證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13</a:t>
            </a:fld>
          </a:p>
        </p:txBody>
      </p:sp>
      <p:grpSp>
        <p:nvGrpSpPr>
          <p:cNvPr id="11" name="validation-0"/>
          <p:cNvGrpSpPr/>
          <p:nvPr/>
        </p:nvGrpSpPr>
        <p:grpSpPr>
          <a:xfrm>
            <a:off x="591693" y="2012950"/>
            <a:ext cx="2999613" cy="3229991"/>
            <a:chOff x="591693" y="2012950"/>
            <a:chExt cx="2999613" cy="3229991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201295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工程一致性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1693" y="2673350"/>
              <a:ext cx="1385875" cy="68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5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452 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8551" y="3552825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單日雙向重算對照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414337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226 打席 × 代打／換投。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最大數值差小於 0.000005，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證明網站與重算一致。</a:t>
              </a:r>
            </a:p>
          </p:txBody>
        </p:sp>
      </p:grpSp>
      <p:grpSp>
        <p:nvGrpSpPr>
          <p:cNvPr id="16" name="validation-1"/>
          <p:cNvGrpSpPr/>
          <p:nvPr/>
        </p:nvGrpSpPr>
        <p:grpSpPr>
          <a:xfrm>
            <a:off x="4325493" y="2012950"/>
            <a:ext cx="2999613" cy="3229991"/>
            <a:chOff x="4325493" y="2012950"/>
            <a:chExt cx="2999613" cy="3229991"/>
          </a:xfrm>
        </p:grpSpPr>
        <p:sp>
          <p:nvSpPr>
            <p:cNvPr id="12" name="TextBox 12"/>
            <p:cNvSpPr txBox="1"/>
            <p:nvPr/>
          </p:nvSpPr>
          <p:spPr>
            <a:xfrm>
              <a:off x="4332732" y="20129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預測效能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25493" y="2673350"/>
              <a:ext cx="1457401" cy="68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5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待驗證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2351" y="3552825"/>
              <a:ext cx="187706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v2 須獨立評估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3494" y="414337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逐球機率用 log loss，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得分估計用預測誤差。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舊版成效不代替新版結果。</a:t>
              </a:r>
            </a:p>
          </p:txBody>
        </p:sp>
      </p:grpSp>
      <p:grpSp>
        <p:nvGrpSpPr>
          <p:cNvPr id="21" name="validation-2"/>
          <p:cNvGrpSpPr/>
          <p:nvPr/>
        </p:nvGrpSpPr>
        <p:grpSpPr>
          <a:xfrm>
            <a:off x="8059293" y="2012950"/>
            <a:ext cx="2999613" cy="3229991"/>
            <a:chOff x="8059293" y="2012950"/>
            <a:chExt cx="2999613" cy="3229991"/>
          </a:xfrm>
        </p:grpSpPr>
        <p:sp>
          <p:nvSpPr>
            <p:cNvPr id="17" name="TextBox 17"/>
            <p:cNvSpPr txBox="1"/>
            <p:nvPr/>
          </p:nvSpPr>
          <p:spPr>
            <a:xfrm>
              <a:off x="8066532" y="20129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實務成效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59293" y="2673350"/>
              <a:ext cx="1457401" cy="68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5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待試用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6151" y="3552825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理解與調度價值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7294" y="414337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真人任務與球隊現場，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需另記錄誤解及可用性。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不能由操作測試推論效益。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609600" y="5695950"/>
            <a:ext cx="10972800" cy="704850"/>
            <a:chOff x="609600" y="5695950"/>
            <a:chExt cx="10972800" cy="704850"/>
          </a:xfrm>
        </p:grpSpPr>
        <p:sp>
          <p:nvSpPr>
            <p:cNvPr id="22" name="Rectangle 22"/>
            <p:cNvSpPr/>
            <p:nvPr/>
          </p:nvSpPr>
          <p:spPr>
            <a:xfrm>
              <a:off x="609600" y="569595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294" y="5788025"/>
              <a:ext cx="78950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已有的驗收回答「有沒有算對、能不能操作」，不等同換人成功率。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585710" cy="1063625"/>
            <a:chOff x="592836" y="250825"/>
            <a:chExt cx="758571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先分清樣本：只在實際續投時比較風險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14</a:t>
            </a:fld>
          </a:p>
        </p:txBody>
      </p:sp>
      <p:grpSp>
        <p:nvGrpSpPr>
          <p:cNvPr id="11" name="sample-population"/>
          <p:cNvGrpSpPr/>
          <p:nvPr/>
        </p:nvGrpSpPr>
        <p:grpSpPr>
          <a:xfrm>
            <a:off x="609600" y="1714500"/>
            <a:ext cx="3429000" cy="1771650"/>
            <a:chOff x="609600" y="1714500"/>
            <a:chExt cx="3429000" cy="1771650"/>
          </a:xfrm>
        </p:grpSpPr>
        <p:sp>
          <p:nvSpPr>
            <p:cNvPr id="7" name="Rectangle 7"/>
            <p:cNvSpPr/>
            <p:nvPr/>
          </p:nvSpPr>
          <p:spPr>
            <a:xfrm>
              <a:off x="609600" y="1714500"/>
              <a:ext cx="3429000" cy="1771650"/>
            </a:xfrm>
            <a:prstGeom prst="roundRect">
              <a:avLst>
                <a:gd name="adj" fmla="val 6452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7532" y="1860550"/>
              <a:ext cx="18402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 第 6 局起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9150" y="2263775"/>
              <a:ext cx="1767027" cy="8620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4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11,868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8675" y="3019425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個有效換投決策點</a:t>
              </a:r>
            </a:p>
          </p:txBody>
        </p:sp>
      </p:grpSp>
      <p:grpSp>
        <p:nvGrpSpPr>
          <p:cNvPr id="18" name="split-connectors"/>
          <p:cNvGrpSpPr/>
          <p:nvPr/>
        </p:nvGrpSpPr>
        <p:grpSpPr>
          <a:xfrm>
            <a:off x="4124325" y="2324100"/>
            <a:ext cx="942975" cy="2305050"/>
            <a:chOff x="4124325" y="2324100"/>
            <a:chExt cx="942975" cy="2305050"/>
          </a:xfrm>
        </p:grpSpPr>
        <p:sp>
          <p:nvSpPr>
            <p:cNvPr id="12" name="Line 12"/>
            <p:cNvSpPr/>
            <p:nvPr/>
          </p:nvSpPr>
          <p:spPr>
            <a:xfrm>
              <a:off x="4124325" y="2628900"/>
              <a:ext cx="447675" cy="9525"/>
            </a:xfrm>
            <a:custGeom>
              <a:avLst/>
              <a:gdLst/>
              <a:ahLst/>
              <a:cxnLst/>
              <a:rect l="l" t="t" r="r" b="b"/>
              <a:pathLst>
                <a:path w="447675" h="9525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572000" y="2390775"/>
              <a:ext cx="9525" cy="2171700"/>
            </a:xfrm>
            <a:custGeom>
              <a:avLst/>
              <a:gdLst/>
              <a:ahLst/>
              <a:cxnLst/>
              <a:rect l="l" t="t" r="r" b="b"/>
              <a:pathLst>
                <a:path w="9525" h="2171700">
                  <a:moveTo>
                    <a:pt x="0" y="0"/>
                  </a:moveTo>
                  <a:lnTo>
                    <a:pt x="0" y="2171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572000" y="23907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4953000" y="23241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572000" y="4562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4953000" y="44958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22" name="changed-excluded"/>
          <p:cNvGrpSpPr/>
          <p:nvPr/>
        </p:nvGrpSpPr>
        <p:grpSpPr>
          <a:xfrm>
            <a:off x="5248275" y="1714500"/>
            <a:ext cx="6334125" cy="1590675"/>
            <a:chOff x="5248275" y="1714500"/>
            <a:chExt cx="6334125" cy="1590675"/>
          </a:xfrm>
        </p:grpSpPr>
        <p:sp>
          <p:nvSpPr>
            <p:cNvPr id="19" name="Rectangle 19"/>
            <p:cNvSpPr/>
            <p:nvPr/>
          </p:nvSpPr>
          <p:spPr>
            <a:xfrm>
              <a:off x="5248275" y="1714500"/>
              <a:ext cx="6334125" cy="1590675"/>
            </a:xfrm>
            <a:prstGeom prst="roundRect">
              <a:avLst>
                <a:gd name="adj" fmla="val 7186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82971" y="1825625"/>
              <a:ext cx="23058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實際換投 2,184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85638" y="2473325"/>
              <a:ext cx="355569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未納入續投結果的兩組比較。</a:t>
              </a:r>
            </a:p>
          </p:txBody>
        </p:sp>
      </p:grpSp>
      <p:grpSp>
        <p:nvGrpSpPr>
          <p:cNvPr id="27" name="stayed-included"/>
          <p:cNvGrpSpPr/>
          <p:nvPr/>
        </p:nvGrpSpPr>
        <p:grpSpPr>
          <a:xfrm>
            <a:off x="5248275" y="3781425"/>
            <a:ext cx="6334125" cy="1762125"/>
            <a:chOff x="5248275" y="3781425"/>
            <a:chExt cx="6334125" cy="1762125"/>
          </a:xfrm>
        </p:grpSpPr>
        <p:sp>
          <p:nvSpPr>
            <p:cNvPr id="23" name="Rectangle 23"/>
            <p:cNvSpPr/>
            <p:nvPr/>
          </p:nvSpPr>
          <p:spPr>
            <a:xfrm>
              <a:off x="5248275" y="3781425"/>
              <a:ext cx="6334125" cy="1762125"/>
            </a:xfrm>
            <a:prstGeom prst="roundRect">
              <a:avLst>
                <a:gd name="adj" fmla="val 648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82590" y="3854450"/>
              <a:ext cx="2369160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6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實際續投 9,684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85257" y="4527550"/>
              <a:ext cx="2464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系統建議換投 1,954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85257" y="4994275"/>
              <a:ext cx="2747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系統未建議換投 7,730</a:t>
              </a:r>
            </a:p>
          </p:txBody>
        </p:sp>
      </p:grpSp>
      <p:grpSp>
        <p:nvGrpSpPr>
          <p:cNvPr id="30" name="takeaway"/>
          <p:cNvGrpSpPr/>
          <p:nvPr/>
        </p:nvGrpSpPr>
        <p:grpSpPr>
          <a:xfrm>
            <a:off x="609600" y="5743575"/>
            <a:ext cx="10972800" cy="704850"/>
            <a:chOff x="609600" y="5743575"/>
            <a:chExt cx="10972800" cy="704850"/>
          </a:xfrm>
        </p:grpSpPr>
        <p:sp>
          <p:nvSpPr>
            <p:cNvPr id="28" name="Rectangle 28"/>
            <p:cNvSpPr/>
            <p:nvPr/>
          </p:nvSpPr>
          <p:spPr>
            <a:xfrm>
              <a:off x="609600" y="574357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8294" y="5835650"/>
              <a:ext cx="813150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門檻為候選相對現任差距 ≥ 1 百分點；這是提示設定，尚非最佳門檻。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585710" cy="1063625"/>
            <a:chOff x="592836" y="250825"/>
            <a:chExt cx="758571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440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　資料與方法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建議換投組的續投打席，得分價值較高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15</a:t>
            </a:fld>
          </a:p>
        </p:txBody>
      </p:sp>
      <p:grpSp>
        <p:nvGrpSpPr>
          <p:cNvPr id="9" name="result-context"/>
          <p:cNvGrpSpPr/>
          <p:nvPr/>
        </p:nvGrpSpPr>
        <p:grpSpPr>
          <a:xfrm>
            <a:off x="598551" y="1743075"/>
            <a:ext cx="7441946" cy="816356"/>
            <a:chOff x="598551" y="1743075"/>
            <a:chExt cx="7441946" cy="816356"/>
          </a:xfrm>
        </p:grpSpPr>
        <p:sp>
          <p:nvSpPr>
            <p:cNvPr id="7" name="TextBox 7"/>
            <p:cNvSpPr txBox="1"/>
            <p:nvPr/>
          </p:nvSpPr>
          <p:spPr>
            <a:xfrm>
              <a:off x="598551" y="1743075"/>
              <a:ext cx="744194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比較實際續投的兩組：建議換投 1,954／未建議換投 7,730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694" y="2178050"/>
              <a:ext cx="59430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觀察到的 RE24 組間平均差；防守方越高越不利。</a:t>
              </a:r>
            </a:p>
          </p:txBody>
        </p:sp>
      </p:grpSp>
      <p:grpSp>
        <p:nvGrpSpPr>
          <p:cNvPr id="19" name="interval"/>
          <p:cNvGrpSpPr/>
          <p:nvPr/>
        </p:nvGrpSpPr>
        <p:grpSpPr>
          <a:xfrm>
            <a:off x="990422" y="3181350"/>
            <a:ext cx="6291273" cy="1358265"/>
            <a:chOff x="990422" y="3181350"/>
            <a:chExt cx="6291273" cy="1358265"/>
          </a:xfrm>
        </p:grpSpPr>
        <p:sp>
          <p:nvSpPr>
            <p:cNvPr id="10" name="Line 10"/>
            <p:cNvSpPr/>
            <p:nvPr/>
          </p:nvSpPr>
          <p:spPr>
            <a:xfrm>
              <a:off x="1066800" y="3924300"/>
              <a:ext cx="5895975" cy="9525"/>
            </a:xfrm>
            <a:custGeom>
              <a:avLst/>
              <a:gdLst/>
              <a:ahLst/>
              <a:cxnLst/>
              <a:rect l="l" t="t" r="r" b="b"/>
              <a:pathLst>
                <a:path w="5895975" h="9525">
                  <a:moveTo>
                    <a:pt x="0" y="0"/>
                  </a:moveTo>
                  <a:lnTo>
                    <a:pt x="5895975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" y="3181350"/>
              <a:ext cx="9525" cy="1038225"/>
            </a:xfrm>
            <a:custGeom>
              <a:avLst/>
              <a:gdLst/>
              <a:ahLst/>
              <a:cxnLst/>
              <a:rect l="l" t="t" r="r" b="b"/>
              <a:pathLst>
                <a:path w="9525" h="1038225">
                  <a:moveTo>
                    <a:pt x="0" y="0"/>
                  </a:moveTo>
                  <a:lnTo>
                    <a:pt x="0" y="1038225"/>
                  </a:lnTo>
                </a:path>
              </a:pathLst>
            </a:custGeom>
            <a:noFill/>
            <a:ln w="19050">
              <a:solidFill>
                <a:srgbClr val="58616B"/>
              </a:solidFill>
              <a:custDash>
                <a:ds d="350000" sp="35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2319695" y="3600450"/>
              <a:ext cx="3758684" cy="9525"/>
            </a:xfrm>
            <a:custGeom>
              <a:avLst/>
              <a:gdLst/>
              <a:ahLst/>
              <a:cxnLst/>
              <a:rect l="l" t="t" r="r" b="b"/>
              <a:pathLst>
                <a:path w="3758684" h="9525">
                  <a:moveTo>
                    <a:pt x="0" y="0"/>
                  </a:moveTo>
                  <a:lnTo>
                    <a:pt x="3758684" y="0"/>
                  </a:lnTo>
                </a:path>
              </a:pathLst>
            </a:custGeom>
            <a:noFill/>
            <a:ln w="47625">
              <a:solidFill>
                <a:srgbClr val="B5483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319695" y="3467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078379" y="3467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159687" y="3524250"/>
              <a:ext cx="152400" cy="15240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0422" y="4171950"/>
              <a:ext cx="15275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95868" y="4171950"/>
              <a:ext cx="63784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+0.04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3855" y="4171950"/>
              <a:ext cx="63784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+0.08</a:t>
              </a:r>
            </a:p>
          </p:txBody>
        </p:sp>
      </p:grpSp>
      <p:grpSp>
        <p:nvGrpSpPr>
          <p:cNvPr id="22" name="result-number"/>
          <p:cNvGrpSpPr/>
          <p:nvPr/>
        </p:nvGrpSpPr>
        <p:grpSpPr>
          <a:xfrm>
            <a:off x="7924800" y="2841625"/>
            <a:ext cx="2690533" cy="1347089"/>
            <a:chOff x="7924800" y="2841625"/>
            <a:chExt cx="2690533" cy="1347089"/>
          </a:xfrm>
        </p:grpSpPr>
        <p:sp>
          <p:nvSpPr>
            <p:cNvPr id="20" name="TextBox 20"/>
            <p:cNvSpPr txBox="1"/>
            <p:nvPr/>
          </p:nvSpPr>
          <p:spPr>
            <a:xfrm>
              <a:off x="7924800" y="2841625"/>
              <a:ext cx="2115738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1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+0.043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32801" y="3762375"/>
              <a:ext cx="268253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分／打席（RE24）</a:t>
              </a:r>
            </a:p>
          </p:txBody>
        </p:sp>
      </p:grpSp>
      <p:grpSp>
        <p:nvGrpSpPr>
          <p:cNvPr id="26" name="interval-interpretation"/>
          <p:cNvGrpSpPr/>
          <p:nvPr/>
        </p:nvGrpSpPr>
        <p:grpSpPr>
          <a:xfrm>
            <a:off x="599313" y="4768850"/>
            <a:ext cx="7632954" cy="1234694"/>
            <a:chOff x="599313" y="4768850"/>
            <a:chExt cx="7632954" cy="1234694"/>
          </a:xfrm>
        </p:grpSpPr>
        <p:sp>
          <p:nvSpPr>
            <p:cNvPr id="23" name="TextBox 23"/>
            <p:cNvSpPr txBox="1"/>
            <p:nvPr/>
          </p:nvSpPr>
          <p:spPr>
            <a:xfrm>
              <a:off x="599313" y="4768850"/>
              <a:ext cx="576613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95% 常態近似區間：+0.017 至 +0.068 分／打席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9694" y="5187950"/>
              <a:ext cx="76325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目前未依比賽群聚校正；觀察性差異，不能證明換投能改善結果。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0456" y="5651500"/>
              <a:ext cx="7346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代打組差異仍不明顯；RE24 為本打席得分加上前後預期得分變化。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368290" cy="4496562"/>
            <a:chOff x="590550" y="673132"/>
            <a:chExt cx="5368290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把比較變成可操作的網站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換打、換投、名單配置與單日回放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相同評估工具，名單限制依使用方式調整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17</a:t>
            </a:r>
          </a:p>
        </p:txBody>
      </p:sp>
      <p:grpSp>
        <p:nvGrpSpPr>
          <p:cNvPr id="14" name="mode-rules-0"/>
          <p:cNvGrpSpPr/>
          <p:nvPr/>
        </p:nvGrpSpPr>
        <p:grpSpPr>
          <a:xfrm>
            <a:off x="595884" y="1898650"/>
            <a:ext cx="2743327" cy="3304350"/>
            <a:chOff x="595884" y="1898650"/>
            <a:chExt cx="2743327" cy="3304350"/>
          </a:xfrm>
        </p:grpSpPr>
        <p:sp>
          <p:nvSpPr>
            <p:cNvPr id="7" name="TextBox 7"/>
            <p:cNvSpPr txBox="1"/>
            <p:nvPr/>
          </p:nvSpPr>
          <p:spPr>
            <a:xfrm>
              <a:off x="595884" y="1898650"/>
              <a:ext cx="1844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一般使用者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075" y="269557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開始評估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313" y="3073400"/>
              <a:ext cx="219603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不需先設定名單。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075" y="3562350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現任與候選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313" y="3940175"/>
              <a:ext cx="27398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可選場上或其他球員。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075" y="44291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適合用途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313" y="4806950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自由模擬投打組合。</a:t>
              </a:r>
            </a:p>
          </p:txBody>
        </p:sp>
      </p:grpSp>
      <p:grpSp>
        <p:nvGrpSpPr>
          <p:cNvPr id="22" name="mode-rules-1"/>
          <p:cNvGrpSpPr/>
          <p:nvPr/>
        </p:nvGrpSpPr>
        <p:grpSpPr>
          <a:xfrm>
            <a:off x="6234684" y="1898650"/>
            <a:ext cx="4102989" cy="3304350"/>
            <a:chOff x="6234684" y="1898650"/>
            <a:chExt cx="4102989" cy="3304350"/>
          </a:xfrm>
        </p:grpSpPr>
        <p:sp>
          <p:nvSpPr>
            <p:cNvPr id="15" name="TextBox 15"/>
            <p:cNvSpPr txBox="1"/>
            <p:nvPr/>
          </p:nvSpPr>
          <p:spPr>
            <a:xfrm>
              <a:off x="6234684" y="1898650"/>
              <a:ext cx="7543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球隊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38875" y="269557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開始評估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38113" y="3073400"/>
              <a:ext cx="328376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先套用九棒、守位與投手。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8875" y="3562350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現任與候選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38113" y="3940175"/>
              <a:ext cx="409956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現任依配置；替補排除場上人員。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38875" y="44291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今日可用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38113" y="4806950"/>
              <a:ext cx="328376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板凳與牛棚仍需人工勾選。</a:t>
              </a:r>
            </a:p>
          </p:txBody>
        </p:sp>
      </p:grpSp>
      <p:grpSp>
        <p:nvGrpSpPr>
          <p:cNvPr id="25" name="takeaway"/>
          <p:cNvGrpSpPr/>
          <p:nvPr/>
        </p:nvGrpSpPr>
        <p:grpSpPr>
          <a:xfrm>
            <a:off x="609600" y="5638800"/>
            <a:ext cx="10972800" cy="704850"/>
            <a:chOff x="609600" y="5638800"/>
            <a:chExt cx="10972800" cy="704850"/>
          </a:xfrm>
        </p:grpSpPr>
        <p:sp>
          <p:nvSpPr>
            <p:cNvPr id="23" name="Rectangle 23"/>
            <p:cNvSpPr/>
            <p:nvPr/>
          </p:nvSpPr>
          <p:spPr>
            <a:xfrm>
              <a:off x="609600" y="563880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4" name="TextBox 24"/>
            <p:cNvSpPr/>
            <p:nvPr/>
          </p:nvSpPr>
          <p:spPr>
            <a:xfrm>
              <a:off x="828294" y="5730907"/>
              <a:ext cx="80090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球隊模式依已套用配置限制現任；兩種使用方式皆可另開單日分析。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381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網站實作｜自訂代打示例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只替換候選打者，其餘條件保持相同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18</a:t>
            </a:r>
          </a:p>
        </p:txBody>
      </p:sp>
      <p:grpSp>
        <p:nvGrpSpPr>
          <p:cNvPr id="10" name="fixed-condition-0"/>
          <p:cNvGrpSpPr/>
          <p:nvPr/>
        </p:nvGrpSpPr>
        <p:grpSpPr>
          <a:xfrm>
            <a:off x="595122" y="2308225"/>
            <a:ext cx="1179957" cy="1868043"/>
            <a:chOff x="595122" y="2308225"/>
            <a:chExt cx="1179957" cy="1868043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23082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對方投手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5122" y="3067050"/>
              <a:ext cx="117995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魔力藍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8932" y="37655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左投</a:t>
              </a:r>
            </a:p>
          </p:txBody>
        </p:sp>
      </p:grpSp>
      <p:grpSp>
        <p:nvGrpSpPr>
          <p:cNvPr id="14" name="fixed-condition-1"/>
          <p:cNvGrpSpPr/>
          <p:nvPr/>
        </p:nvGrpSpPr>
        <p:grpSpPr>
          <a:xfrm>
            <a:off x="4328922" y="2308225"/>
            <a:ext cx="2286762" cy="1868043"/>
            <a:chOff x="4328922" y="2308225"/>
            <a:chExt cx="2286762" cy="1868043"/>
          </a:xfrm>
        </p:grpSpPr>
        <p:sp>
          <p:nvSpPr>
            <p:cNvPr id="11" name="TextBox 11"/>
            <p:cNvSpPr txBox="1"/>
            <p:nvPr/>
          </p:nvSpPr>
          <p:spPr>
            <a:xfrm>
              <a:off x="4332732" y="23082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比賽局勢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8922" y="3067050"/>
              <a:ext cx="2273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8 局上・1：2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2732" y="37655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一出局，二壘有人</a:t>
              </a:r>
            </a:p>
          </p:txBody>
        </p:sp>
      </p:grpSp>
      <p:grpSp>
        <p:nvGrpSpPr>
          <p:cNvPr id="18" name="fixed-condition-2"/>
          <p:cNvGrpSpPr/>
          <p:nvPr/>
        </p:nvGrpSpPr>
        <p:grpSpPr>
          <a:xfrm>
            <a:off x="8062722" y="2308225"/>
            <a:ext cx="2004060" cy="1868043"/>
            <a:chOff x="8062722" y="2308225"/>
            <a:chExt cx="2004060" cy="1868043"/>
          </a:xfrm>
        </p:grpSpPr>
        <p:sp>
          <p:nvSpPr>
            <p:cNvPr id="15" name="TextBox 15"/>
            <p:cNvSpPr txBox="1"/>
            <p:nvPr/>
          </p:nvSpPr>
          <p:spPr>
            <a:xfrm>
              <a:off x="8066532" y="23082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現任打者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2722" y="3067050"/>
              <a:ext cx="117995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林佳緯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66532" y="376555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左打，指定打擊</a:t>
              </a:r>
            </a:p>
          </p:txBody>
        </p:sp>
      </p:grpSp>
      <p:grpSp>
        <p:nvGrpSpPr>
          <p:cNvPr id="21" name="takeaway"/>
          <p:cNvGrpSpPr/>
          <p:nvPr/>
        </p:nvGrpSpPr>
        <p:grpSpPr>
          <a:xfrm>
            <a:off x="609600" y="5095875"/>
            <a:ext cx="10972800" cy="1028700"/>
            <a:chOff x="609600" y="5095875"/>
            <a:chExt cx="10972800" cy="1028700"/>
          </a:xfrm>
        </p:grpSpPr>
        <p:sp>
          <p:nvSpPr>
            <p:cNvPr id="19" name="Rectangle 19"/>
            <p:cNvSpPr/>
            <p:nvPr/>
          </p:nvSpPr>
          <p:spPr>
            <a:xfrm>
              <a:off x="609600" y="5095875"/>
              <a:ext cx="10972800" cy="1028700"/>
            </a:xfrm>
            <a:prstGeom prst="roundRect">
              <a:avLst>
                <a:gd name="adj" fmla="val 11111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8294" y="5162550"/>
              <a:ext cx="67063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只改候選：林佳緯續打，或由胡金龍／陳鏞基／楊竣翔代打。</a:t>
              </a:r>
              <a:b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同一條件下的實際比較畫面見下一頁。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585710" cy="1063657"/>
            <a:chOff x="592836" y="250793"/>
            <a:chExt cx="758571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381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網站實作｜自訂代打示例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胡金龍估計較有利，本例承接指定打擊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19</a:t>
            </a:r>
          </a:p>
        </p:txBody>
      </p:sp>
      <p:grpSp>
        <p:nvGrpSpPr>
          <p:cNvPr id="8" name="context"/>
          <p:cNvGrpSpPr/>
          <p:nvPr/>
        </p:nvGrpSpPr>
        <p:grpSpPr>
          <a:xfrm>
            <a:off x="599694" y="1644650"/>
            <a:ext cx="4967859" cy="381381"/>
            <a:chOff x="599694" y="1644650"/>
            <a:chExt cx="4967859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644650"/>
              <a:ext cx="496785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基準：林佳緯｜統一對富邦｜8 局上・1：2</a:t>
              </a:r>
            </a:p>
          </p:txBody>
        </p:sp>
      </p:grpSp>
      <p:grpSp>
        <p:nvGrpSpPr>
          <p:cNvPr id="10" name="source-picture"/>
          <p:cNvGrpSpPr/>
          <p:nvPr/>
        </p:nvGrpSpPr>
        <p:grpSpPr>
          <a:xfrm>
            <a:off x="457200" y="2452334"/>
            <a:ext cx="11277600" cy="1762831"/>
            <a:chOff x="457200" y="2452334"/>
            <a:chExt cx="11277600" cy="1762831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2452334"/>
              <a:ext cx="11277600" cy="1762831"/>
            </a:xfrm>
            <a:prstGeom prst="rect">
              <a:avLst/>
            </a:prstGeom>
          </p:spPr>
        </p:pic>
      </p:grpSp>
      <p:grpSp>
        <p:nvGrpSpPr>
          <p:cNvPr id="13" name="result"/>
          <p:cNvGrpSpPr/>
          <p:nvPr/>
        </p:nvGrpSpPr>
        <p:grpSpPr>
          <a:xfrm>
            <a:off x="590550" y="4752975"/>
            <a:ext cx="3704082" cy="1311656"/>
            <a:chOff x="590550" y="4752975"/>
            <a:chExt cx="3704082" cy="1311656"/>
          </a:xfrm>
        </p:grpSpPr>
        <p:sp>
          <p:nvSpPr>
            <p:cNvPr id="11" name="TextBox 11"/>
            <p:cNvSpPr txBox="1"/>
            <p:nvPr/>
          </p:nvSpPr>
          <p:spPr>
            <a:xfrm>
              <a:off x="590550" y="4752975"/>
              <a:ext cx="167144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9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+1.05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5683250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相對現任的模型差距（百分點）</a:t>
              </a:r>
            </a:p>
          </p:txBody>
        </p:sp>
      </p:grpSp>
      <p:grpSp>
        <p:nvGrpSpPr>
          <p:cNvPr id="16" name="note-655-536"/>
          <p:cNvGrpSpPr/>
          <p:nvPr/>
        </p:nvGrpSpPr>
        <p:grpSpPr>
          <a:xfrm>
            <a:off x="6227445" y="4826000"/>
            <a:ext cx="3736086" cy="1191324"/>
            <a:chOff x="6227445" y="4826000"/>
            <a:chExt cx="3736086" cy="1191324"/>
          </a:xfrm>
        </p:grpSpPr>
        <p:sp>
          <p:nvSpPr>
            <p:cNvPr id="14" name="TextBox 14"/>
            <p:cNvSpPr txBox="1"/>
            <p:nvPr/>
          </p:nvSpPr>
          <p:spPr>
            <a:xfrm>
              <a:off x="6227445" y="482600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承接指定打擊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6228969" y="5276850"/>
              <a:ext cx="37345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仍須核對今日可用資格。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楊竣翔資料較少，保留樣本提醒。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6697218" cy="1063657"/>
            <a:chOff x="592836" y="250793"/>
            <a:chExt cx="6697218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381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網站實作｜自訂換投示例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朱承洋在已選後援中，估計較有利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20</a:t>
            </a:r>
          </a:p>
        </p:txBody>
      </p:sp>
      <p:grpSp>
        <p:nvGrpSpPr>
          <p:cNvPr id="8" name="context"/>
          <p:cNvGrpSpPr/>
          <p:nvPr/>
        </p:nvGrpSpPr>
        <p:grpSpPr>
          <a:xfrm>
            <a:off x="599694" y="1644650"/>
            <a:ext cx="6696456" cy="381381"/>
            <a:chOff x="599694" y="1644650"/>
            <a:chExt cx="6696456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644650"/>
              <a:ext cx="66964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基準：魔神龍 95 球｜8 局上・0：0｜兩出局，二三壘有人</a:t>
              </a:r>
            </a:p>
          </p:txBody>
        </p:sp>
      </p:grpSp>
      <p:grpSp>
        <p:nvGrpSpPr>
          <p:cNvPr id="10" name="source-picture"/>
          <p:cNvGrpSpPr/>
          <p:nvPr/>
        </p:nvGrpSpPr>
        <p:grpSpPr>
          <a:xfrm>
            <a:off x="457200" y="2275298"/>
            <a:ext cx="11277600" cy="2116904"/>
            <a:chOff x="457200" y="2275298"/>
            <a:chExt cx="11277600" cy="2116904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275298"/>
              <a:ext cx="11277600" cy="2116904"/>
            </a:xfrm>
            <a:prstGeom prst="rect">
              <a:avLst/>
            </a:prstGeom>
          </p:spPr>
        </p:pic>
      </p:grpSp>
      <p:grpSp>
        <p:nvGrpSpPr>
          <p:cNvPr id="13" name="result"/>
          <p:cNvGrpSpPr/>
          <p:nvPr/>
        </p:nvGrpSpPr>
        <p:grpSpPr>
          <a:xfrm>
            <a:off x="590550" y="4752975"/>
            <a:ext cx="3704082" cy="1311656"/>
            <a:chOff x="590550" y="4752975"/>
            <a:chExt cx="3704082" cy="1311656"/>
          </a:xfrm>
        </p:grpSpPr>
        <p:sp>
          <p:nvSpPr>
            <p:cNvPr id="11" name="TextBox 11"/>
            <p:cNvSpPr txBox="1"/>
            <p:nvPr/>
          </p:nvSpPr>
          <p:spPr>
            <a:xfrm>
              <a:off x="590550" y="4752975"/>
              <a:ext cx="167144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950" b="1" dirty="0" altLang="en-US">
                  <a:solidFill>
                    <a:srgbClr val="237A53"/>
                  </a:solidFill>
                  <a:latin typeface="Times New Roman"/>
                  <a:ea typeface="標楷體"/>
                  <a:cs typeface="Times New Roman"/>
                </a:rPr>
                <a:t>+2.51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5683250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相對現任的模型差距（百分點）</a:t>
              </a:r>
            </a:p>
          </p:txBody>
        </p:sp>
      </p:grpSp>
      <p:grpSp>
        <p:nvGrpSpPr>
          <p:cNvPr id="16" name="note-655-536"/>
          <p:cNvGrpSpPr/>
          <p:nvPr/>
        </p:nvGrpSpPr>
        <p:grpSpPr>
          <a:xfrm>
            <a:off x="6227445" y="4826000"/>
            <a:ext cx="3983736" cy="1191324"/>
            <a:chOff x="6227445" y="4826000"/>
            <a:chExt cx="3983736" cy="1191324"/>
          </a:xfrm>
        </p:grpSpPr>
        <p:sp>
          <p:nvSpPr>
            <p:cNvPr id="14" name="TextBox 14"/>
            <p:cNvSpPr txBox="1"/>
            <p:nvPr/>
          </p:nvSpPr>
          <p:spPr>
            <a:xfrm>
              <a:off x="6227445" y="482600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一起比較接下來三棒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6228969" y="5276850"/>
              <a:ext cx="39822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郭天信、李凱威、吉力吉撈．鞏冠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含本場球數調整；非整場換投效益。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252972" cy="1063625"/>
            <a:chOff x="592836" y="250825"/>
            <a:chExt cx="625297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在球場圖上選人，確認誰守哪裡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21</a:t>
            </a:r>
          </a:p>
        </p:txBody>
      </p:sp>
      <p:grpSp>
        <p:nvGrpSpPr>
          <p:cNvPr id="8" name="source-picture"/>
          <p:cNvGrpSpPr/>
          <p:nvPr/>
        </p:nvGrpSpPr>
        <p:grpSpPr>
          <a:xfrm>
            <a:off x="1190346" y="1524000"/>
            <a:ext cx="5791758" cy="4762500"/>
            <a:chOff x="1190346" y="1524000"/>
            <a:chExt cx="5791758" cy="4762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0346" y="1524000"/>
              <a:ext cx="5791758" cy="4762500"/>
            </a:xfrm>
            <a:prstGeom prst="rect">
              <a:avLst/>
            </a:prstGeom>
          </p:spPr>
        </p:pic>
      </p:grpSp>
      <p:grpSp>
        <p:nvGrpSpPr>
          <p:cNvPr id="11" name="note-826-236"/>
          <p:cNvGrpSpPr/>
          <p:nvPr/>
        </p:nvGrpSpPr>
        <p:grpSpPr>
          <a:xfrm>
            <a:off x="7856220" y="1968500"/>
            <a:ext cx="2669804" cy="1191324"/>
            <a:chOff x="7856220" y="1968500"/>
            <a:chExt cx="2669804" cy="1191324"/>
          </a:xfrm>
        </p:grpSpPr>
        <p:sp>
          <p:nvSpPr>
            <p:cNvPr id="9" name="TextBox 9"/>
            <p:cNvSpPr txBox="1"/>
            <p:nvPr/>
          </p:nvSpPr>
          <p:spPr>
            <a:xfrm>
              <a:off x="7856220" y="1968500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　守備配置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57744" y="2419350"/>
              <a:ext cx="2668280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九棒含八個守位與 DH，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另設場上投手。</a:t>
              </a:r>
            </a:p>
          </p:txBody>
        </p:sp>
      </p:grpSp>
      <p:grpSp>
        <p:nvGrpSpPr>
          <p:cNvPr id="14" name="note-826-444"/>
          <p:cNvGrpSpPr/>
          <p:nvPr/>
        </p:nvGrpSpPr>
        <p:grpSpPr>
          <a:xfrm>
            <a:off x="7856220" y="3949700"/>
            <a:ext cx="2993136" cy="1191324"/>
            <a:chOff x="7856220" y="3949700"/>
            <a:chExt cx="2993136" cy="1191324"/>
          </a:xfrm>
        </p:grpSpPr>
        <p:sp>
          <p:nvSpPr>
            <p:cNvPr id="12" name="TextBox 12"/>
            <p:cNvSpPr txBox="1"/>
            <p:nvPr/>
          </p:nvSpPr>
          <p:spPr>
            <a:xfrm>
              <a:off x="7856220" y="3949700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　互換守位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57744" y="4400550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依序點兩個位置，可復原；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套用後更新評估。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打序與人選分開調整，交換後再套用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22</a:t>
            </a:r>
          </a:p>
        </p:txBody>
      </p:sp>
      <p:grpSp>
        <p:nvGrpSpPr>
          <p:cNvPr id="8" name="source-picture"/>
          <p:cNvGrpSpPr/>
          <p:nvPr/>
        </p:nvGrpSpPr>
        <p:grpSpPr>
          <a:xfrm>
            <a:off x="767560" y="1524000"/>
            <a:ext cx="6637330" cy="4762500"/>
            <a:chOff x="767560" y="1524000"/>
            <a:chExt cx="6637330" cy="4762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60" y="1524000"/>
              <a:ext cx="6637330" cy="4762500"/>
            </a:xfrm>
            <a:prstGeom prst="rect">
              <a:avLst/>
            </a:prstGeom>
          </p:spPr>
        </p:pic>
      </p:grpSp>
      <p:grpSp>
        <p:nvGrpSpPr>
          <p:cNvPr id="11" name="note-826-219"/>
          <p:cNvGrpSpPr/>
          <p:nvPr/>
        </p:nvGrpSpPr>
        <p:grpSpPr>
          <a:xfrm>
            <a:off x="7856220" y="1806575"/>
            <a:ext cx="2646426" cy="857631"/>
            <a:chOff x="7856220" y="1806575"/>
            <a:chExt cx="2646426" cy="857631"/>
          </a:xfrm>
        </p:grpSpPr>
        <p:sp>
          <p:nvSpPr>
            <p:cNvPr id="9" name="TextBox 9"/>
            <p:cNvSpPr txBox="1"/>
            <p:nvPr/>
          </p:nvSpPr>
          <p:spPr>
            <a:xfrm>
              <a:off x="7856220" y="180657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　選擇球員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57744" y="22828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點姓名，搜尋或改選。</a:t>
              </a:r>
            </a:p>
          </p:txBody>
        </p:sp>
      </p:grpSp>
      <p:grpSp>
        <p:nvGrpSpPr>
          <p:cNvPr id="14" name="note-826-385"/>
          <p:cNvGrpSpPr/>
          <p:nvPr/>
        </p:nvGrpSpPr>
        <p:grpSpPr>
          <a:xfrm>
            <a:off x="7856220" y="3387725"/>
            <a:ext cx="2908935" cy="857631"/>
            <a:chOff x="7856220" y="3387725"/>
            <a:chExt cx="2908935" cy="857631"/>
          </a:xfrm>
        </p:grpSpPr>
        <p:sp>
          <p:nvSpPr>
            <p:cNvPr id="12" name="TextBox 12"/>
            <p:cNvSpPr txBox="1"/>
            <p:nvPr/>
          </p:nvSpPr>
          <p:spPr>
            <a:xfrm>
              <a:off x="7856220" y="338772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　調整棒次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57744" y="38639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用上下箭頭或互換棒次。</a:t>
              </a:r>
            </a:p>
          </p:txBody>
        </p:sp>
      </p:grpSp>
      <p:grpSp>
        <p:nvGrpSpPr>
          <p:cNvPr id="17" name="note-826-551"/>
          <p:cNvGrpSpPr/>
          <p:nvPr/>
        </p:nvGrpSpPr>
        <p:grpSpPr>
          <a:xfrm>
            <a:off x="7856220" y="4968875"/>
            <a:ext cx="2908935" cy="857631"/>
            <a:chOff x="7856220" y="4968875"/>
            <a:chExt cx="2908935" cy="857631"/>
          </a:xfrm>
        </p:grpSpPr>
        <p:sp>
          <p:nvSpPr>
            <p:cNvPr id="15" name="TextBox 15"/>
            <p:cNvSpPr txBox="1"/>
            <p:nvPr/>
          </p:nvSpPr>
          <p:spPr>
            <a:xfrm>
              <a:off x="7856220" y="496887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3　套用配置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57744" y="54451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確認九棒與守位後生效。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474202" cy="1063625"/>
            <a:chOff x="592836" y="250825"/>
            <a:chExt cx="847420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把常用牛棚存成群組，再確認今日可用人選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23</a:t>
            </a:r>
          </a:p>
        </p:txBody>
      </p:sp>
      <p:grpSp>
        <p:nvGrpSpPr>
          <p:cNvPr id="8" name="source-picture"/>
          <p:cNvGrpSpPr/>
          <p:nvPr/>
        </p:nvGrpSpPr>
        <p:grpSpPr>
          <a:xfrm>
            <a:off x="1137204" y="1524000"/>
            <a:ext cx="5898043" cy="4762500"/>
            <a:chOff x="1137204" y="1524000"/>
            <a:chExt cx="5898043" cy="4762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7204" y="1524000"/>
              <a:ext cx="5898043" cy="4762500"/>
            </a:xfrm>
            <a:prstGeom prst="rect">
              <a:avLst/>
            </a:prstGeom>
          </p:spPr>
        </p:pic>
      </p:grpSp>
      <p:grpSp>
        <p:nvGrpSpPr>
          <p:cNvPr id="11" name="note-826-219"/>
          <p:cNvGrpSpPr/>
          <p:nvPr/>
        </p:nvGrpSpPr>
        <p:grpSpPr>
          <a:xfrm>
            <a:off x="7856220" y="1806575"/>
            <a:ext cx="3240786" cy="1191324"/>
            <a:chOff x="7856220" y="1806575"/>
            <a:chExt cx="3240786" cy="1191324"/>
          </a:xfrm>
        </p:grpSpPr>
        <p:sp>
          <p:nvSpPr>
            <p:cNvPr id="9" name="TextBox 9"/>
            <p:cNvSpPr txBox="1"/>
            <p:nvPr/>
          </p:nvSpPr>
          <p:spPr>
            <a:xfrm>
              <a:off x="7856220" y="1806575"/>
              <a:ext cx="16973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1　群組範本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57744" y="22574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勝投組／敗投組／自訂義群組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可修改，並非官方分組。</a:t>
              </a:r>
            </a:p>
          </p:txBody>
        </p:sp>
      </p:grpSp>
      <p:grpSp>
        <p:nvGrpSpPr>
          <p:cNvPr id="14" name="note-826-385"/>
          <p:cNvGrpSpPr/>
          <p:nvPr/>
        </p:nvGrpSpPr>
        <p:grpSpPr>
          <a:xfrm>
            <a:off x="7856220" y="3387725"/>
            <a:ext cx="2908935" cy="857631"/>
            <a:chOff x="7856220" y="3387725"/>
            <a:chExt cx="2908935" cy="857631"/>
          </a:xfrm>
        </p:grpSpPr>
        <p:sp>
          <p:nvSpPr>
            <p:cNvPr id="12" name="TextBox 12"/>
            <p:cNvSpPr txBox="1"/>
            <p:nvPr/>
          </p:nvSpPr>
          <p:spPr>
            <a:xfrm>
              <a:off x="7856220" y="3387725"/>
              <a:ext cx="20002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　編輯後儲存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57744" y="38639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保存在此網站與瀏覽器。</a:t>
              </a:r>
            </a:p>
          </p:txBody>
        </p:sp>
      </p:grpSp>
      <p:grpSp>
        <p:nvGrpSpPr>
          <p:cNvPr id="17" name="note-826-551"/>
          <p:cNvGrpSpPr/>
          <p:nvPr/>
        </p:nvGrpSpPr>
        <p:grpSpPr>
          <a:xfrm>
            <a:off x="7856220" y="4968875"/>
            <a:ext cx="2908935" cy="857631"/>
            <a:chOff x="7856220" y="4968875"/>
            <a:chExt cx="2908935" cy="857631"/>
          </a:xfrm>
        </p:grpSpPr>
        <p:sp>
          <p:nvSpPr>
            <p:cNvPr id="15" name="TextBox 15"/>
            <p:cNvSpPr txBox="1"/>
            <p:nvPr/>
          </p:nvSpPr>
          <p:spPr>
            <a:xfrm>
              <a:off x="7856220" y="4968875"/>
              <a:ext cx="20002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3　套用與微調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57744" y="54451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仍需核對今日可用資格。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魔力藍對右打：低落類增加，速球類減少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24</a:t>
            </a:r>
          </a:p>
        </p:txBody>
      </p:sp>
      <p:grpSp>
        <p:nvGrpSpPr>
          <p:cNvPr id="16" name="mix-0"/>
          <p:cNvGrpSpPr/>
          <p:nvPr/>
        </p:nvGrpSpPr>
        <p:grpSpPr>
          <a:xfrm>
            <a:off x="597027" y="1952625"/>
            <a:ext cx="4989474" cy="2343912"/>
            <a:chOff x="597027" y="1952625"/>
            <a:chExt cx="4989474" cy="2343912"/>
          </a:xfrm>
        </p:grpSpPr>
        <p:sp>
          <p:nvSpPr>
            <p:cNvPr id="7" name="TextBox 7"/>
            <p:cNvSpPr txBox="1"/>
            <p:nvPr/>
          </p:nvSpPr>
          <p:spPr>
            <a:xfrm>
              <a:off x="597027" y="1952625"/>
              <a:ext cx="1694434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低落類球種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694" y="2806700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基準期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590675" y="2781300"/>
              <a:ext cx="2952750" cy="295275"/>
            </a:xfrm>
            <a:prstGeom prst="roundRect">
              <a:avLst>
                <a:gd name="adj" fmla="val 12903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590675" y="2781300"/>
              <a:ext cx="531495" cy="295275"/>
            </a:xfrm>
            <a:prstGeom prst="roundRect">
              <a:avLst>
                <a:gd name="adj" fmla="val 12903"/>
              </a:avLst>
            </a:prstGeom>
            <a:solidFill>
              <a:srgbClr val="58616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67453" y="2705100"/>
              <a:ext cx="81904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18%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38544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近期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590675" y="3829050"/>
              <a:ext cx="2952750" cy="295275"/>
            </a:xfrm>
            <a:prstGeom prst="roundRect">
              <a:avLst>
                <a:gd name="adj" fmla="val 12903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90675" y="3829050"/>
              <a:ext cx="1003935" cy="295275"/>
            </a:xfrm>
            <a:prstGeom prst="roundRect">
              <a:avLst>
                <a:gd name="adj" fmla="val 12903"/>
              </a:avLst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67453" y="3752850"/>
              <a:ext cx="81904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34%</a:t>
              </a:r>
            </a:p>
          </p:txBody>
        </p:sp>
      </p:grpSp>
      <p:grpSp>
        <p:nvGrpSpPr>
          <p:cNvPr id="26" name="mix-1"/>
          <p:cNvGrpSpPr/>
          <p:nvPr/>
        </p:nvGrpSpPr>
        <p:grpSpPr>
          <a:xfrm>
            <a:off x="6235827" y="1952625"/>
            <a:ext cx="4989474" cy="2343912"/>
            <a:chOff x="6235827" y="1952625"/>
            <a:chExt cx="4989474" cy="2343912"/>
          </a:xfrm>
        </p:grpSpPr>
        <p:sp>
          <p:nvSpPr>
            <p:cNvPr id="17" name="TextBox 17"/>
            <p:cNvSpPr txBox="1"/>
            <p:nvPr/>
          </p:nvSpPr>
          <p:spPr>
            <a:xfrm>
              <a:off x="6235827" y="1952625"/>
              <a:ext cx="1694434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速球類球種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8494" y="2806700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基準期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229475" y="2781300"/>
              <a:ext cx="2952750" cy="295275"/>
            </a:xfrm>
            <a:prstGeom prst="roundRect">
              <a:avLst>
                <a:gd name="adj" fmla="val 12903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29475" y="2781300"/>
              <a:ext cx="1564958" cy="295275"/>
            </a:xfrm>
            <a:prstGeom prst="roundRect">
              <a:avLst>
                <a:gd name="adj" fmla="val 12903"/>
              </a:avLst>
            </a:prstGeom>
            <a:solidFill>
              <a:srgbClr val="58616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06253" y="2705100"/>
              <a:ext cx="81904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53%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38494" y="38544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近期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229475" y="3829050"/>
              <a:ext cx="2952750" cy="295275"/>
            </a:xfrm>
            <a:prstGeom prst="roundRect">
              <a:avLst>
                <a:gd name="adj" fmla="val 12903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229475" y="3829050"/>
              <a:ext cx="1210628" cy="295275"/>
            </a:xfrm>
            <a:prstGeom prst="roundRect">
              <a:avLst>
                <a:gd name="adj" fmla="val 12903"/>
              </a:avLst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406253" y="3752850"/>
              <a:ext cx="819048" cy="5436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41%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609600" y="5572125"/>
            <a:ext cx="10972800" cy="704850"/>
            <a:chOff x="609600" y="5572125"/>
            <a:chExt cx="10972800" cy="704850"/>
          </a:xfrm>
        </p:grpSpPr>
        <p:sp>
          <p:nvSpPr>
            <p:cNvPr id="27" name="Rectangle 27"/>
            <p:cNvSpPr/>
            <p:nvPr/>
          </p:nvSpPr>
          <p:spPr>
            <a:xfrm>
              <a:off x="609600" y="557212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8" name="TextBox 28"/>
            <p:cNvSpPr/>
            <p:nvPr/>
          </p:nvSpPr>
          <p:spPr>
            <a:xfrm>
              <a:off x="828294" y="5664232"/>
              <a:ext cx="71967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前 10 場 428 球／近 5 場 258 球；不代表球種效果提升。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585710" cy="1063625"/>
            <a:chOff x="592836" y="250825"/>
            <a:chExt cx="758571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網站依相同左右打條件，比較兩段配球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25</a:t>
            </a:r>
          </a:p>
        </p:txBody>
      </p:sp>
      <p:grpSp>
        <p:nvGrpSpPr>
          <p:cNvPr id="8" name="source-picture"/>
          <p:cNvGrpSpPr/>
          <p:nvPr/>
        </p:nvGrpSpPr>
        <p:grpSpPr>
          <a:xfrm>
            <a:off x="1030897" y="1562100"/>
            <a:ext cx="10130206" cy="4667250"/>
            <a:chOff x="1030897" y="1562100"/>
            <a:chExt cx="10130206" cy="466725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0897" y="1562100"/>
              <a:ext cx="10130206" cy="4667250"/>
            </a:xfrm>
            <a:prstGeom prst="rect">
              <a:avLst/>
            </a:prstGeom>
          </p:spPr>
        </p:pic>
      </p:grpSp>
      <p:grpSp>
        <p:nvGrpSpPr>
          <p:cNvPr id="9" name="mix-reading"/>
          <p:cNvGrpSpPr/>
          <p:nvPr/>
        </p:nvGrpSpPr>
        <p:grpSpPr>
          <a:xfrm>
            <a:off x="601218" y="6283325"/>
            <a:ext cx="6458331" cy="322707"/>
            <a:chOff x="601218" y="6283325"/>
            <a:chExt cx="6458331" cy="322707"/>
          </a:xfrm>
        </p:grpSpPr>
        <p:sp>
          <p:nvSpPr>
            <p:cNvPr id="10" name="TextBox 7"/>
            <p:cNvSpPr txBox="1"/>
            <p:nvPr/>
          </p:nvSpPr>
          <p:spPr>
            <a:xfrm>
              <a:off x="601218" y="6283325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先看比例與樣本，再看區間；配球變化只作描述，不改推薦分數。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9212770" cy="1063625"/>
            <a:chOff x="592836" y="250825"/>
            <a:chExt cx="921277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727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網站實作｜2025 單日分析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921277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2025/09/20：六隊三場，226 打席皆可攻守比較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26</a:t>
            </a:r>
          </a:p>
        </p:txBody>
      </p:sp>
      <p:grpSp>
        <p:nvGrpSpPr>
          <p:cNvPr id="8" name="shot-單日比賽摘要"/>
          <p:cNvGrpSpPr/>
          <p:nvPr/>
        </p:nvGrpSpPr>
        <p:grpSpPr>
          <a:xfrm>
            <a:off x="790735" y="1524000"/>
            <a:ext cx="4952679" cy="4686300"/>
            <a:chOff x="790735" y="1524000"/>
            <a:chExt cx="4952679" cy="46863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0735" y="1524000"/>
              <a:ext cx="4952679" cy="4686300"/>
            </a:xfrm>
            <a:prstGeom prst="rect">
              <a:avLst/>
            </a:prstGeom>
          </p:spPr>
        </p:pic>
      </p:grpSp>
      <p:grpSp>
        <p:nvGrpSpPr>
          <p:cNvPr id="19" name="day-scope"/>
          <p:cNvGrpSpPr/>
          <p:nvPr/>
        </p:nvGrpSpPr>
        <p:grpSpPr>
          <a:xfrm>
            <a:off x="6553200" y="1797050"/>
            <a:ext cx="4077843" cy="4266565"/>
            <a:chOff x="6553200" y="1797050"/>
            <a:chExt cx="4077843" cy="4266565"/>
          </a:xfrm>
        </p:grpSpPr>
        <p:sp>
          <p:nvSpPr>
            <p:cNvPr id="9" name="TextBox 9"/>
            <p:cNvSpPr txBox="1"/>
            <p:nvPr/>
          </p:nvSpPr>
          <p:spPr>
            <a:xfrm>
              <a:off x="6560439" y="1797050"/>
              <a:ext cx="2858728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2025/09/20 六隊三場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53200" y="2117725"/>
              <a:ext cx="1463345" cy="12915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6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226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27364" y="2663825"/>
              <a:ext cx="96057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個打席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61201" y="3438525"/>
              <a:ext cx="162675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樂天 vs 統一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70923" y="3451225"/>
              <a:ext cx="960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70 打席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61201" y="4143375"/>
              <a:ext cx="162675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台鋼 vs 富邦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70923" y="4156075"/>
              <a:ext cx="960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74 打席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1201" y="4848225"/>
              <a:ext cx="162675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味全 vs 中信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70923" y="4860925"/>
              <a:ext cx="960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82 打席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2725" y="5695950"/>
              <a:ext cx="356224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左圖為樂天對統一的當日摘要。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141464" cy="1063625"/>
            <a:chOff x="592836" y="250825"/>
            <a:chExt cx="7141464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回放案例一：代打與換投的基準不同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27</a:t>
            </a:fld>
          </a:p>
        </p:txBody>
      </p:sp>
      <p:grpSp>
        <p:nvGrpSpPr>
          <p:cNvPr id="10" name="replay-baseline-0"/>
          <p:cNvGrpSpPr/>
          <p:nvPr/>
        </p:nvGrpSpPr>
        <p:grpSpPr>
          <a:xfrm>
            <a:off x="596265" y="1863725"/>
            <a:ext cx="2742946" cy="1643825"/>
            <a:chOff x="596265" y="1863725"/>
            <a:chExt cx="2742946" cy="1643825"/>
          </a:xfrm>
        </p:grpSpPr>
        <p:sp>
          <p:nvSpPr>
            <p:cNvPr id="7" name="TextBox 7"/>
            <p:cNvSpPr txBox="1"/>
            <p:nvPr/>
          </p:nvSpPr>
          <p:spPr>
            <a:xfrm>
              <a:off x="596265" y="1863725"/>
              <a:ext cx="1437488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6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代打評估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551" y="2552700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固定投手：王志煊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313" y="3111500"/>
              <a:ext cx="27398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比較陳傑憲與其他打者</a:t>
              </a:r>
            </a:p>
          </p:txBody>
        </p:sp>
      </p:grpSp>
      <p:grpSp>
        <p:nvGrpSpPr>
          <p:cNvPr id="14" name="replay-baseline-1"/>
          <p:cNvGrpSpPr/>
          <p:nvPr/>
        </p:nvGrpSpPr>
        <p:grpSpPr>
          <a:xfrm>
            <a:off x="6235065" y="1863725"/>
            <a:ext cx="3414030" cy="1643825"/>
            <a:chOff x="6235065" y="1863725"/>
            <a:chExt cx="3414030" cy="1643825"/>
          </a:xfrm>
        </p:grpSpPr>
        <p:sp>
          <p:nvSpPr>
            <p:cNvPr id="11" name="TextBox 11"/>
            <p:cNvSpPr txBox="1"/>
            <p:nvPr/>
          </p:nvSpPr>
          <p:spPr>
            <a:xfrm>
              <a:off x="6235065" y="1863725"/>
              <a:ext cx="1437488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6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換投評估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37351" y="2552700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固定接下來的打者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38113" y="3111500"/>
              <a:ext cx="341098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林子崴續投 vs 王志煊等候選</a:t>
              </a:r>
            </a:p>
          </p:txBody>
        </p:sp>
      </p:grpSp>
      <p:grpSp>
        <p:nvGrpSpPr>
          <p:cNvPr id="16" name="source-picture"/>
          <p:cNvGrpSpPr/>
          <p:nvPr/>
        </p:nvGrpSpPr>
        <p:grpSpPr>
          <a:xfrm>
            <a:off x="1091595" y="4010025"/>
            <a:ext cx="10008810" cy="1905000"/>
            <a:chOff x="1091595" y="4010025"/>
            <a:chExt cx="10008810" cy="190500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1595" y="4010025"/>
              <a:ext cx="10008810" cy="1905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只拿當時已知資訊，結果留在打席結束後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28</a:t>
            </a:r>
          </a:p>
        </p:txBody>
      </p:sp>
      <p:grpSp>
        <p:nvGrpSpPr>
          <p:cNvPr id="19" name="time-boundary"/>
          <p:cNvGrpSpPr/>
          <p:nvPr/>
        </p:nvGrpSpPr>
        <p:grpSpPr>
          <a:xfrm>
            <a:off x="609600" y="1857375"/>
            <a:ext cx="10972800" cy="2114550"/>
            <a:chOff x="609600" y="1857375"/>
            <a:chExt cx="10972800" cy="2114550"/>
          </a:xfrm>
        </p:grpSpPr>
        <p:sp>
          <p:nvSpPr>
            <p:cNvPr id="7" name="Rectangle 7"/>
            <p:cNvSpPr/>
            <p:nvPr/>
          </p:nvSpPr>
          <p:spPr>
            <a:xfrm>
              <a:off x="609600" y="1857375"/>
              <a:ext cx="7229475" cy="2114550"/>
            </a:xfrm>
            <a:prstGeom prst="roundRect">
              <a:avLst>
                <a:gd name="adj" fmla="val 5405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153400" y="1857375"/>
              <a:ext cx="3429000" cy="21145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9050">
              <a:solidFill>
                <a:srgbClr val="D7D1C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28700" y="27622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724025" y="2676525"/>
              <a:ext cx="171450" cy="1714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87104" y="2073275"/>
              <a:ext cx="44529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7883" y="3181350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逐球模型訓練截止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153025" y="2676525"/>
              <a:ext cx="171450" cy="1714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80037" y="2073275"/>
              <a:ext cx="131742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9/20 賽前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63797" y="3181350"/>
              <a:ext cx="25499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能力、近期出賽與配球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9725025" y="2676525"/>
              <a:ext cx="171450" cy="17145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18143" y="2073275"/>
              <a:ext cx="158521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打席結束後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15425" y="3181350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實際調度與結果</a:t>
              </a:r>
            </a:p>
          </p:txBody>
        </p:sp>
      </p:grpSp>
      <p:grpSp>
        <p:nvGrpSpPr>
          <p:cNvPr id="24" name="known-and-outcomes"/>
          <p:cNvGrpSpPr/>
          <p:nvPr/>
        </p:nvGrpSpPr>
        <p:grpSpPr>
          <a:xfrm>
            <a:off x="597789" y="4349750"/>
            <a:ext cx="10384060" cy="1273810"/>
            <a:chOff x="597789" y="4349750"/>
            <a:chExt cx="10384060" cy="1273810"/>
          </a:xfrm>
        </p:grpSpPr>
        <p:sp>
          <p:nvSpPr>
            <p:cNvPr id="20" name="TextBox 20"/>
            <p:cNvSpPr txBox="1"/>
            <p:nvPr/>
          </p:nvSpPr>
          <p:spPr>
            <a:xfrm>
              <a:off x="597789" y="4349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決策輸入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9313" y="4854575"/>
              <a:ext cx="463829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同日結果不進能力估計；負荷截於賽前。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歷史名單與守位仍為推估，需人工確認。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98539" y="4349750"/>
              <a:ext cx="127289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判讀界線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6600063" y="4854607"/>
              <a:ext cx="4381786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6 局起；1 百分點為目前提示設定。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單日結果不是準確率，也非因果證據。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381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網站實作｜回放案例二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回放案例二：估計、判讀與結果分開看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29</a:t>
            </a:r>
          </a:p>
        </p:txBody>
      </p:sp>
      <p:grpSp>
        <p:nvGrpSpPr>
          <p:cNvPr id="8" name="source-picture"/>
          <p:cNvGrpSpPr/>
          <p:nvPr/>
        </p:nvGrpSpPr>
        <p:grpSpPr>
          <a:xfrm>
            <a:off x="1054073" y="1628775"/>
            <a:ext cx="10083854" cy="3048000"/>
            <a:chOff x="1054073" y="1628775"/>
            <a:chExt cx="10083854" cy="3048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4073" y="1628775"/>
              <a:ext cx="10083854" cy="3048000"/>
            </a:xfrm>
            <a:prstGeom prst="rect">
              <a:avLst/>
            </a:prstGeom>
          </p:spPr>
        </p:pic>
      </p:grpSp>
      <p:grpSp>
        <p:nvGrpSpPr>
          <p:cNvPr id="12" name="result-0"/>
          <p:cNvGrpSpPr/>
          <p:nvPr/>
        </p:nvGrpSpPr>
        <p:grpSpPr>
          <a:xfrm>
            <a:off x="597027" y="4959350"/>
            <a:ext cx="1960245" cy="1282319"/>
            <a:chOff x="597027" y="4959350"/>
            <a:chExt cx="1960245" cy="1282319"/>
          </a:xfrm>
        </p:grpSpPr>
        <p:sp>
          <p:nvSpPr>
            <p:cNvPr id="9" name="TextBox 9"/>
            <p:cNvSpPr txBox="1"/>
            <p:nvPr/>
          </p:nvSpPr>
          <p:spPr>
            <a:xfrm>
              <a:off x="599694" y="4959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模型差距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7027" y="5353050"/>
              <a:ext cx="1933229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+0.54 百分點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588962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郭永維相對林家鋐</a:t>
              </a:r>
            </a:p>
          </p:txBody>
        </p:sp>
      </p:grpSp>
      <p:grpSp>
        <p:nvGrpSpPr>
          <p:cNvPr id="16" name="result-1"/>
          <p:cNvGrpSpPr/>
          <p:nvPr/>
        </p:nvGrpSpPr>
        <p:grpSpPr>
          <a:xfrm>
            <a:off x="4330827" y="4959350"/>
            <a:ext cx="2458593" cy="1282319"/>
            <a:chOff x="4330827" y="4959350"/>
            <a:chExt cx="2458593" cy="1282319"/>
          </a:xfrm>
        </p:grpSpPr>
        <p:sp>
          <p:nvSpPr>
            <p:cNvPr id="13" name="TextBox 13"/>
            <p:cNvSpPr txBox="1"/>
            <p:nvPr/>
          </p:nvSpPr>
          <p:spPr>
            <a:xfrm>
              <a:off x="4333494" y="4959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系統判讀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0827" y="5353050"/>
              <a:ext cx="1360576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續打為主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4256" y="5889625"/>
              <a:ext cx="24551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未達 1 百分點建議門檻</a:t>
              </a:r>
            </a:p>
          </p:txBody>
        </p:sp>
      </p:grpSp>
      <p:grpSp>
        <p:nvGrpSpPr>
          <p:cNvPr id="20" name="result-2"/>
          <p:cNvGrpSpPr/>
          <p:nvPr/>
        </p:nvGrpSpPr>
        <p:grpSpPr>
          <a:xfrm>
            <a:off x="8064627" y="4959350"/>
            <a:ext cx="2202561" cy="1282319"/>
            <a:chOff x="8064627" y="4959350"/>
            <a:chExt cx="2202561" cy="1282319"/>
          </a:xfrm>
        </p:grpSpPr>
        <p:sp>
          <p:nvSpPr>
            <p:cNvPr id="17" name="TextBox 17"/>
            <p:cNvSpPr txBox="1"/>
            <p:nvPr/>
          </p:nvSpPr>
          <p:spPr>
            <a:xfrm>
              <a:off x="8067294" y="4959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實際發生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64627" y="5353050"/>
              <a:ext cx="1360576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一壘安打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8056" y="588962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郭永維對魔力藍代打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697218" cy="1063625"/>
            <a:chOff x="592836" y="250825"/>
            <a:chExt cx="6697218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2247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網站實作｜賽前負荷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換投前，也要看前幾天投了多少球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30</a:t>
            </a:r>
          </a:p>
        </p:txBody>
      </p:sp>
      <p:grpSp>
        <p:nvGrpSpPr>
          <p:cNvPr id="8" name="shot-陳冠宇賽前負荷"/>
          <p:cNvGrpSpPr/>
          <p:nvPr/>
        </p:nvGrpSpPr>
        <p:grpSpPr>
          <a:xfrm>
            <a:off x="1220947" y="1952625"/>
            <a:ext cx="5863907" cy="4076700"/>
            <a:chOff x="1220947" y="1952625"/>
            <a:chExt cx="5863907" cy="40767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0947" y="1952625"/>
              <a:ext cx="5863907" cy="4076700"/>
            </a:xfrm>
            <a:prstGeom prst="rect">
              <a:avLst/>
            </a:prstGeom>
          </p:spPr>
        </p:pic>
      </p:grpSp>
      <p:grpSp>
        <p:nvGrpSpPr>
          <p:cNvPr id="17" name="load-reading"/>
          <p:cNvGrpSpPr/>
          <p:nvPr/>
        </p:nvGrpSpPr>
        <p:grpSpPr>
          <a:xfrm>
            <a:off x="8082534" y="1812925"/>
            <a:ext cx="3022092" cy="3907790"/>
            <a:chOff x="8082534" y="1812925"/>
            <a:chExt cx="3022092" cy="3907790"/>
          </a:xfrm>
        </p:grpSpPr>
        <p:sp>
          <p:nvSpPr>
            <p:cNvPr id="9" name="TextBox 9"/>
            <p:cNvSpPr txBox="1"/>
            <p:nvPr/>
          </p:nvSpPr>
          <p:spPr>
            <a:xfrm>
              <a:off x="8082534" y="1812925"/>
              <a:ext cx="11178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陳冠宇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85582" y="2336800"/>
              <a:ext cx="20221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2025/09/20 賽前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85201" y="2990850"/>
              <a:ext cx="178292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最近一次登板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86725" y="3448050"/>
              <a:ext cx="251913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9/18，完整休息一天。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85201" y="394335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近三天球數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86725" y="4400550"/>
              <a:ext cx="143250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累計 17 球。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85201" y="4895850"/>
              <a:ext cx="166110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近 14 天出賽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8086725" y="5353050"/>
              <a:ext cx="301790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4 場；不等同疲勞診斷。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先固定條件，再比較人選，最後檢查提醒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31</a:t>
            </a:r>
          </a:p>
        </p:txBody>
      </p:sp>
      <p:grpSp>
        <p:nvGrpSpPr>
          <p:cNvPr id="10" name="operation-step-0"/>
          <p:cNvGrpSpPr/>
          <p:nvPr/>
        </p:nvGrpSpPr>
        <p:grpSpPr>
          <a:xfrm>
            <a:off x="590550" y="2349500"/>
            <a:ext cx="2963418" cy="2451608"/>
            <a:chOff x="590550" y="2349500"/>
            <a:chExt cx="2963418" cy="2451608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2349500"/>
              <a:ext cx="624129" cy="804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1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6646" y="331470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設定局勢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8932" y="4003675"/>
              <a:ext cx="295503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球隊、投打人選、比分、</a:t>
              </a:r>
              <a:b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局數、出局與壘況。</a:t>
              </a:r>
            </a:p>
          </p:txBody>
        </p:sp>
      </p:grpSp>
      <p:grpSp>
        <p:nvGrpSpPr>
          <p:cNvPr id="14" name="operation-step-1"/>
          <p:cNvGrpSpPr/>
          <p:nvPr/>
        </p:nvGrpSpPr>
        <p:grpSpPr>
          <a:xfrm>
            <a:off x="4324350" y="2349500"/>
            <a:ext cx="2696718" cy="2451608"/>
            <a:chOff x="4324350" y="2349500"/>
            <a:chExt cx="2696718" cy="2451608"/>
          </a:xfrm>
        </p:grpSpPr>
        <p:sp>
          <p:nvSpPr>
            <p:cNvPr id="11" name="TextBox 11"/>
            <p:cNvSpPr txBox="1"/>
            <p:nvPr/>
          </p:nvSpPr>
          <p:spPr>
            <a:xfrm>
              <a:off x="4324350" y="2349500"/>
              <a:ext cx="624129" cy="804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1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30446" y="331470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比較人選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2732" y="4003675"/>
              <a:ext cx="268833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先看相對現任的差距，</a:t>
              </a:r>
              <a:b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最多選四人檢視比較。</a:t>
              </a:r>
            </a:p>
          </p:txBody>
        </p:sp>
      </p:grpSp>
      <p:grpSp>
        <p:nvGrpSpPr>
          <p:cNvPr id="18" name="operation-step-2"/>
          <p:cNvGrpSpPr/>
          <p:nvPr/>
        </p:nvGrpSpPr>
        <p:grpSpPr>
          <a:xfrm>
            <a:off x="8058150" y="2349500"/>
            <a:ext cx="3230118" cy="2451608"/>
            <a:chOff x="8058150" y="2349500"/>
            <a:chExt cx="3230118" cy="2451608"/>
          </a:xfrm>
        </p:grpSpPr>
        <p:sp>
          <p:nvSpPr>
            <p:cNvPr id="15" name="TextBox 15"/>
            <p:cNvSpPr txBox="1"/>
            <p:nvPr/>
          </p:nvSpPr>
          <p:spPr>
            <a:xfrm>
              <a:off x="8058150" y="2349500"/>
              <a:ext cx="624129" cy="804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1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4246" y="331470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核對限制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66532" y="4003675"/>
              <a:ext cx="322173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確認接守、今日可用名單，</a:t>
              </a:r>
              <a:b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10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留意模型分歧與資料量。</a:t>
              </a:r>
            </a:p>
          </p:txBody>
        </p:sp>
      </p:grpSp>
      <p:grpSp>
        <p:nvGrpSpPr>
          <p:cNvPr id="21" name="takeaway"/>
          <p:cNvGrpSpPr/>
          <p:nvPr/>
        </p:nvGrpSpPr>
        <p:grpSpPr>
          <a:xfrm>
            <a:off x="609600" y="5610225"/>
            <a:ext cx="10972800" cy="704850"/>
            <a:chOff x="609600" y="5610225"/>
            <a:chExt cx="10972800" cy="704850"/>
          </a:xfrm>
        </p:grpSpPr>
        <p:sp>
          <p:nvSpPr>
            <p:cNvPr id="19" name="Rectangle 19"/>
            <p:cNvSpPr/>
            <p:nvPr/>
          </p:nvSpPr>
          <p:spPr>
            <a:xfrm>
              <a:off x="609600" y="561022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0" name="TextBox 20"/>
            <p:cNvSpPr/>
            <p:nvPr/>
          </p:nvSpPr>
          <p:spPr>
            <a:xfrm>
              <a:off x="828294" y="5702332"/>
              <a:ext cx="6057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確認今日可用與接守；分數不能代替現場判斷。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6252972" cy="1063625"/>
            <a:chOff x="592836" y="250825"/>
            <a:chExt cx="625297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238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遇到提醒時，下一步要做什麼？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32</a:t>
            </a:fld>
          </a:p>
        </p:txBody>
      </p:sp>
      <p:grpSp>
        <p:nvGrpSpPr>
          <p:cNvPr id="10" name="action-0"/>
          <p:cNvGrpSpPr/>
          <p:nvPr/>
        </p:nvGrpSpPr>
        <p:grpSpPr>
          <a:xfrm>
            <a:off x="596646" y="2190750"/>
            <a:ext cx="2845181" cy="2461228"/>
            <a:chOff x="596646" y="2190750"/>
            <a:chExt cx="2845181" cy="2461228"/>
          </a:xfrm>
        </p:grpSpPr>
        <p:sp>
          <p:nvSpPr>
            <p:cNvPr id="7" name="TextBox 7"/>
            <p:cNvSpPr txBox="1"/>
            <p:nvPr/>
          </p:nvSpPr>
          <p:spPr>
            <a:xfrm>
              <a:off x="596646" y="21907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接守需求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932" y="312737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替補能守原位置嗎？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313" y="3883025"/>
              <a:ext cx="284251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先確認代打後守備配置，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缺接守人選就重新選人。</a:t>
              </a:r>
            </a:p>
          </p:txBody>
        </p:sp>
      </p:grpSp>
      <p:grpSp>
        <p:nvGrpSpPr>
          <p:cNvPr id="14" name="action-1"/>
          <p:cNvGrpSpPr/>
          <p:nvPr/>
        </p:nvGrpSpPr>
        <p:grpSpPr>
          <a:xfrm>
            <a:off x="4330446" y="2190750"/>
            <a:ext cx="2850642" cy="2461228"/>
            <a:chOff x="4330446" y="2190750"/>
            <a:chExt cx="2850642" cy="2461228"/>
          </a:xfrm>
        </p:grpSpPr>
        <p:sp>
          <p:nvSpPr>
            <p:cNvPr id="11" name="TextBox 11"/>
            <p:cNvSpPr txBox="1"/>
            <p:nvPr/>
          </p:nvSpPr>
          <p:spPr>
            <a:xfrm>
              <a:off x="4330446" y="21907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模型分歧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32732" y="312737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兩種估計方向相同嗎？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3113" y="3883025"/>
              <a:ext cx="258597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查看拆解與樣本，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保留差距未定的判斷。</a:t>
              </a:r>
            </a:p>
          </p:txBody>
        </p:sp>
      </p:grpSp>
      <p:grpSp>
        <p:nvGrpSpPr>
          <p:cNvPr id="18" name="action-2"/>
          <p:cNvGrpSpPr/>
          <p:nvPr/>
        </p:nvGrpSpPr>
        <p:grpSpPr>
          <a:xfrm>
            <a:off x="8064246" y="2190750"/>
            <a:ext cx="3133344" cy="2461228"/>
            <a:chOff x="8064246" y="2190750"/>
            <a:chExt cx="3133344" cy="2461228"/>
          </a:xfrm>
        </p:grpSpPr>
        <p:sp>
          <p:nvSpPr>
            <p:cNvPr id="15" name="TextBox 15"/>
            <p:cNvSpPr txBox="1"/>
            <p:nvPr/>
          </p:nvSpPr>
          <p:spPr>
            <a:xfrm>
              <a:off x="8064246" y="21907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資料有限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6532" y="312737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個人資料夠描述對決嗎？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66913" y="3883025"/>
              <a:ext cx="309905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核對今日可用與近期出賽，</a:t>
              </a:r>
              <a:b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202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勿把低樣本排序視為定論。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01980" y="266700"/>
            <a:ext cx="10980420" cy="1047750"/>
            <a:chOff x="601980" y="266700"/>
            <a:chExt cx="10980420" cy="1047750"/>
          </a:xfrm>
        </p:grpSpPr>
        <p:sp>
          <p:nvSpPr>
            <p:cNvPr id="2" name="TextBox 2"/>
            <p:cNvSpPr/>
            <p:nvPr/>
          </p:nvSpPr>
          <p:spPr>
            <a:xfrm>
              <a:off x="601980" y="266700"/>
              <a:ext cx="2458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00" rIns="0" bIns="0" anchor="t" anchorCtr="0">
              <a:no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　網站實作｜影片 Demo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9600" y="571500"/>
              <a:ext cx="10972800" cy="666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2225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代打操作示範：設定局勢、評估並比較候選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33</a:t>
            </a:r>
          </a:p>
        </p:txBody>
      </p:sp>
      <p:grpSp>
        <p:nvGrpSpPr>
          <p:cNvPr id="8" name="play-instruction"/>
          <p:cNvGrpSpPr/>
          <p:nvPr/>
        </p:nvGrpSpPr>
        <p:grpSpPr>
          <a:xfrm>
            <a:off x="10051256" y="263557"/>
            <a:ext cx="1539526" cy="322707"/>
            <a:chOff x="10051256" y="263557"/>
            <a:chExt cx="1539526" cy="322707"/>
          </a:xfrm>
        </p:grpSpPr>
        <p:sp>
          <p:nvSpPr>
            <p:cNvPr id="7" name="TextBox 7"/>
            <p:cNvSpPr/>
            <p:nvPr/>
          </p:nvSpPr>
          <p:spPr>
            <a:xfrm>
              <a:off x="10051256" y="263557"/>
              <a:ext cx="15395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r"/>
              <a:r>
                <a:rPr lang="zh-TW" sz="16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點選播放影片</a:t>
              </a:r>
            </a:p>
          </p:txBody>
        </p:sp>
      </p:grpSp>
      <p:grpSp>
        <p:nvGrpSpPr>
          <p:cNvPr id="10" name="movie-frame"/>
          <p:cNvGrpSpPr/>
          <p:nvPr/>
        </p:nvGrpSpPr>
        <p:grpSpPr>
          <a:xfrm>
            <a:off x="1447800" y="1314450"/>
            <a:ext cx="9296400" cy="5229225"/>
            <a:chOff x="1447800" y="1314450"/>
            <a:chExt cx="9296400" cy="5229225"/>
          </a:xfrm>
        </p:grpSpPr>
      </p:grpSp>
      <p:pic>
        <p:nvPicPr>
          <p:cNvPr id="11" name="實際網站操作影片 Demo（點選播放，25秒）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447800" y="1314450"/>
            <a:ext cx="9296400" cy="5229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7143750" cy="4496562"/>
            <a:chOff x="590550" y="673132"/>
            <a:chExt cx="7143750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已完成什麼，接著驗證什麼？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0550" y="3562350"/>
              <a:ext cx="7143750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8382" tIns="3175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網站現況、跨年度資料與賽季更新規劃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7585710" cy="1063625"/>
            <a:chOff x="592836" y="250825"/>
            <a:chExt cx="7585710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1844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網站已完成，下一步驗證實際使用價值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1383518" y="6473825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F68A7C-1876-48FF-B6D0-0286EDF9DBBF}" type="slidenum"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35</a:t>
            </a:fld>
          </a:p>
        </p:txBody>
      </p:sp>
      <p:grpSp>
        <p:nvGrpSpPr>
          <p:cNvPr id="10" name="delivered-0"/>
          <p:cNvGrpSpPr/>
          <p:nvPr/>
        </p:nvGrpSpPr>
        <p:grpSpPr>
          <a:xfrm>
            <a:off x="590550" y="2101850"/>
            <a:ext cx="3000756" cy="2543874"/>
            <a:chOff x="590550" y="2101850"/>
            <a:chExt cx="3000756" cy="2543874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2101850"/>
              <a:ext cx="2141525" cy="804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1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 種方式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551" y="3248025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一般使用者／球隊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3905250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皆可評估與安排我方名單；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依模式使用不同人選限制。</a:t>
              </a:r>
            </a:p>
          </p:txBody>
        </p:sp>
      </p:grpSp>
      <p:grpSp>
        <p:nvGrpSpPr>
          <p:cNvPr id="14" name="delivered-1"/>
          <p:cNvGrpSpPr/>
          <p:nvPr/>
        </p:nvGrpSpPr>
        <p:grpSpPr>
          <a:xfrm>
            <a:off x="4324350" y="2101850"/>
            <a:ext cx="3000756" cy="2543874"/>
            <a:chOff x="4324350" y="2101850"/>
            <a:chExt cx="3000756" cy="2543874"/>
          </a:xfrm>
        </p:grpSpPr>
        <p:sp>
          <p:nvSpPr>
            <p:cNvPr id="11" name="TextBox 11"/>
            <p:cNvSpPr txBox="1"/>
            <p:nvPr/>
          </p:nvSpPr>
          <p:spPr>
            <a:xfrm>
              <a:off x="4324350" y="2101850"/>
              <a:ext cx="2141525" cy="804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1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3 個入口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32351" y="3248025"/>
              <a:ext cx="295681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評估、名單、單日分析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3494" y="3905250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換打與換投共用比較邏輯；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單日分析獨立於使用模式。</a:t>
              </a:r>
            </a:p>
          </p:txBody>
        </p:sp>
      </p:grpSp>
      <p:grpSp>
        <p:nvGrpSpPr>
          <p:cNvPr id="18" name="delivered-2"/>
          <p:cNvGrpSpPr/>
          <p:nvPr/>
        </p:nvGrpSpPr>
        <p:grpSpPr>
          <a:xfrm>
            <a:off x="8058150" y="2101850"/>
            <a:ext cx="3248406" cy="2543874"/>
            <a:chOff x="8058150" y="2101850"/>
            <a:chExt cx="3248406" cy="2543874"/>
          </a:xfrm>
        </p:grpSpPr>
        <p:sp>
          <p:nvSpPr>
            <p:cNvPr id="15" name="TextBox 15"/>
            <p:cNvSpPr txBox="1"/>
            <p:nvPr/>
          </p:nvSpPr>
          <p:spPr>
            <a:xfrm>
              <a:off x="8058150" y="2101850"/>
              <a:ext cx="2172919" cy="804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1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226 打席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6151" y="3248025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六隊三場歷史回放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67294" y="3905250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2025/09/20 可雙向比較；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回放涵蓋量不是預測準確率。</a:t>
              </a:r>
            </a:p>
          </p:txBody>
        </p:sp>
      </p:grpSp>
      <p:grpSp>
        <p:nvGrpSpPr>
          <p:cNvPr id="21" name="takeaway"/>
          <p:cNvGrpSpPr/>
          <p:nvPr/>
        </p:nvGrpSpPr>
        <p:grpSpPr>
          <a:xfrm>
            <a:off x="609600" y="5600700"/>
            <a:ext cx="10972800" cy="704850"/>
            <a:chOff x="609600" y="5600700"/>
            <a:chExt cx="10972800" cy="704850"/>
          </a:xfrm>
        </p:grpSpPr>
        <p:sp>
          <p:nvSpPr>
            <p:cNvPr id="19" name="Rectangle 19"/>
            <p:cNvSpPr/>
            <p:nvPr/>
          </p:nvSpPr>
          <p:spPr>
            <a:xfrm>
              <a:off x="609600" y="5600700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8294" y="5692775"/>
              <a:ext cx="86826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後續驗收：真人能否讀懂差距與限制、完成任務，以及在哪些步驟誤操作。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197596" cy="1063625"/>
            <a:chOff x="592836" y="250825"/>
            <a:chExt cx="819759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3863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成果與開發規劃｜跨年度資料（規劃）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593725"/>
              <a:ext cx="81975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第一項規劃：接入 2026，補齊球員與名單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36</a:t>
            </a:r>
          </a:p>
        </p:txBody>
      </p:sp>
      <p:grpSp>
        <p:nvGrpSpPr>
          <p:cNvPr id="12" name="year-transition"/>
          <p:cNvGrpSpPr/>
          <p:nvPr/>
        </p:nvGrpSpPr>
        <p:grpSpPr>
          <a:xfrm>
            <a:off x="592074" y="1816100"/>
            <a:ext cx="7202424" cy="1302861"/>
            <a:chOff x="592074" y="1816100"/>
            <a:chExt cx="7202424" cy="1302861"/>
          </a:xfrm>
        </p:grpSpPr>
        <p:sp>
          <p:nvSpPr>
            <p:cNvPr id="7" name="TextBox 7"/>
            <p:cNvSpPr txBox="1"/>
            <p:nvPr/>
          </p:nvSpPr>
          <p:spPr>
            <a:xfrm>
              <a:off x="592074" y="1866900"/>
              <a:ext cx="224332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2024–2025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781425" y="213360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4714875" y="20669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467350" y="1816100"/>
              <a:ext cx="1124814" cy="747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82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2026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598932" y="2708243"/>
              <a:ext cx="71955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先取得資料並確認授權，再做串接；2026 尚未納入本版。</a:t>
              </a:r>
            </a:p>
          </p:txBody>
        </p:sp>
      </p:grpSp>
      <p:grpSp>
        <p:nvGrpSpPr>
          <p:cNvPr id="15" name="future-data-0"/>
          <p:cNvGrpSpPr/>
          <p:nvPr/>
        </p:nvGrpSpPr>
        <p:grpSpPr>
          <a:xfrm>
            <a:off x="597789" y="3673475"/>
            <a:ext cx="2993517" cy="1683766"/>
            <a:chOff x="597789" y="3673475"/>
            <a:chExt cx="2993517" cy="1683766"/>
          </a:xfrm>
        </p:grpSpPr>
        <p:sp>
          <p:nvSpPr>
            <p:cNvPr id="13" name="TextBox 13"/>
            <p:cNvSpPr txBox="1"/>
            <p:nvPr/>
          </p:nvSpPr>
          <p:spPr>
            <a:xfrm>
              <a:off x="597789" y="3673475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人員與當日名單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9694" y="4257675"/>
              <a:ext cx="2991612" cy="10995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新增球員、轉隊與背號，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補入正式登錄及逐場名單，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並串接逐場守位。</a:t>
              </a:r>
            </a:p>
          </p:txBody>
        </p:sp>
      </p:grpSp>
      <p:grpSp>
        <p:nvGrpSpPr>
          <p:cNvPr id="18" name="future-data-1"/>
          <p:cNvGrpSpPr/>
          <p:nvPr/>
        </p:nvGrpSpPr>
        <p:grpSpPr>
          <a:xfrm>
            <a:off x="4331589" y="3673475"/>
            <a:ext cx="3241167" cy="1324674"/>
            <a:chOff x="4331589" y="3673475"/>
            <a:chExt cx="3241167" cy="1324674"/>
          </a:xfrm>
        </p:grpSpPr>
        <p:sp>
          <p:nvSpPr>
            <p:cNvPr id="16" name="TextBox 16"/>
            <p:cNvSpPr txBox="1"/>
            <p:nvPr/>
          </p:nvSpPr>
          <p:spPr>
            <a:xfrm>
              <a:off x="4331589" y="3673475"/>
              <a:ext cx="220985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逐球與投球負荷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3494" y="425767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持續累積逐球與出賽資料，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以球員編號串接跨年度紀錄。</a:t>
              </a:r>
            </a:p>
          </p:txBody>
        </p:sp>
      </p:grpSp>
      <p:grpSp>
        <p:nvGrpSpPr>
          <p:cNvPr id="21" name="future-data-2"/>
          <p:cNvGrpSpPr/>
          <p:nvPr/>
        </p:nvGrpSpPr>
        <p:grpSpPr>
          <a:xfrm>
            <a:off x="8065389" y="3673475"/>
            <a:ext cx="3241167" cy="1324674"/>
            <a:chOff x="8065389" y="3673475"/>
            <a:chExt cx="3241167" cy="1324674"/>
          </a:xfrm>
        </p:grpSpPr>
        <p:sp>
          <p:nvSpPr>
            <p:cNvPr id="19" name="TextBox 19"/>
            <p:cNvSpPr txBox="1"/>
            <p:nvPr/>
          </p:nvSpPr>
          <p:spPr>
            <a:xfrm>
              <a:off x="8065389" y="3673475"/>
              <a:ext cx="189753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新球員的估計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7294" y="425767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樣本少時保留整體基準，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累積個人紀錄並顯示資料量。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609600" y="5467350"/>
            <a:ext cx="10972800" cy="1028700"/>
            <a:chOff x="609600" y="5467350"/>
            <a:chExt cx="10972800" cy="1028700"/>
          </a:xfrm>
        </p:grpSpPr>
        <p:sp>
          <p:nvSpPr>
            <p:cNvPr id="22" name="Rectangle 22"/>
            <p:cNvSpPr/>
            <p:nvPr/>
          </p:nvSpPr>
          <p:spPr>
            <a:xfrm>
              <a:off x="609600" y="5467350"/>
              <a:ext cx="10972800" cy="1028700"/>
            </a:xfrm>
            <a:prstGeom prst="roundRect">
              <a:avLst>
                <a:gd name="adj" fmla="val 11111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294" y="5534025"/>
              <a:ext cx="69540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完成條件：人員、轉隊、日期可核對；缺漏名單保留人工確認。</a:t>
              </a:r>
              <a:b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依日期順序驗證，避免使用評估日之後的資料。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474202" cy="1063625"/>
            <a:chOff x="592836" y="250825"/>
            <a:chExt cx="8474202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4267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成果與開發規劃｜賽季中動態更新（規劃）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第二項規劃：更新近況，驗證後再調整權重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37</a:t>
            </a:r>
          </a:p>
        </p:txBody>
      </p:sp>
      <p:grpSp>
        <p:nvGrpSpPr>
          <p:cNvPr id="26" name="weighted-games"/>
          <p:cNvGrpSpPr/>
          <p:nvPr/>
        </p:nvGrpSpPr>
        <p:grpSpPr>
          <a:xfrm>
            <a:off x="598551" y="1809750"/>
            <a:ext cx="10269474" cy="1805940"/>
            <a:chOff x="598551" y="1809750"/>
            <a:chExt cx="10269474" cy="1805940"/>
          </a:xfrm>
        </p:grpSpPr>
        <p:sp>
          <p:nvSpPr>
            <p:cNvPr id="7" name="TextBox 7"/>
            <p:cNvSpPr txBox="1"/>
            <p:nvPr/>
          </p:nvSpPr>
          <p:spPr>
            <a:xfrm>
              <a:off x="598551" y="1809750"/>
              <a:ext cx="6478473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概念示意：較舊比賽逐步淡化，近期資訊持續加入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763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46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11455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DCE0D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0286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528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BCC8C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411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9105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91A5A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7936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8293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647F8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176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6755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3D5B7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5586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05800" y="2476500"/>
              <a:ext cx="866775" cy="619125"/>
            </a:xfrm>
            <a:prstGeom prst="roundRect">
              <a:avLst>
                <a:gd name="adj" fmla="val 18462"/>
              </a:avLst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94116" y="2679700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 altLang="en-US">
                  <a:solidFill>
                    <a:srgbClr val="FFFFFF"/>
                  </a:solidFill>
                  <a:latin typeface="Times New Roman"/>
                  <a:ea typeface="標楷體"/>
                  <a:cs typeface="Times New Roman"/>
                </a:rPr>
                <a:t>比賽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620250" y="27813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0744200" y="27146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6775" y="324802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58616B"/>
                  </a:solidFill>
                  <a:latin typeface="Times New Roman"/>
                  <a:ea typeface="標楷體"/>
                  <a:cs typeface="Times New Roman"/>
                </a:rPr>
                <a:t>較舊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42804" y="324802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88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近期</a:t>
              </a:r>
            </a:p>
          </p:txBody>
        </p:sp>
      </p:grpSp>
      <p:grpSp>
        <p:nvGrpSpPr>
          <p:cNvPr id="29" name="update-0"/>
          <p:cNvGrpSpPr/>
          <p:nvPr/>
        </p:nvGrpSpPr>
        <p:grpSpPr>
          <a:xfrm>
            <a:off x="598551" y="3962400"/>
            <a:ext cx="2745105" cy="1226249"/>
            <a:chOff x="598551" y="3962400"/>
            <a:chExt cx="2745105" cy="1226249"/>
          </a:xfrm>
        </p:grpSpPr>
        <p:sp>
          <p:nvSpPr>
            <p:cNvPr id="27" name="TextBox 27"/>
            <p:cNvSpPr txBox="1"/>
            <p:nvPr/>
          </p:nvSpPr>
          <p:spPr>
            <a:xfrm>
              <a:off x="598551" y="396240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每場後更新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9694" y="4448175"/>
              <a:ext cx="27439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補入逐球、出賽與負荷，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顯示資料更新日期。</a:t>
              </a:r>
            </a:p>
          </p:txBody>
        </p:sp>
      </p:grpSp>
      <p:grpSp>
        <p:nvGrpSpPr>
          <p:cNvPr id="32" name="update-1"/>
          <p:cNvGrpSpPr/>
          <p:nvPr/>
        </p:nvGrpSpPr>
        <p:grpSpPr>
          <a:xfrm>
            <a:off x="4332351" y="3962400"/>
            <a:ext cx="2745105" cy="1226249"/>
            <a:chOff x="4332351" y="3962400"/>
            <a:chExt cx="2745105" cy="1226249"/>
          </a:xfrm>
        </p:grpSpPr>
        <p:sp>
          <p:nvSpPr>
            <p:cNvPr id="30" name="TextBox 30"/>
            <p:cNvSpPr txBox="1"/>
            <p:nvPr/>
          </p:nvSpPr>
          <p:spPr>
            <a:xfrm>
              <a:off x="4332351" y="3962400"/>
              <a:ext cx="266334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樣本不足時保留基準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33494" y="4448175"/>
              <a:ext cx="27439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比較近幾場與時間衰減；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樣本少時降低近期影響。</a:t>
              </a:r>
            </a:p>
          </p:txBody>
        </p:sp>
      </p:grpSp>
      <p:grpSp>
        <p:nvGrpSpPr>
          <p:cNvPr id="35" name="update-2"/>
          <p:cNvGrpSpPr/>
          <p:nvPr/>
        </p:nvGrpSpPr>
        <p:grpSpPr>
          <a:xfrm>
            <a:off x="8066151" y="3962400"/>
            <a:ext cx="3240405" cy="1226249"/>
            <a:chOff x="8066151" y="3962400"/>
            <a:chExt cx="3240405" cy="1226249"/>
          </a:xfrm>
        </p:grpSpPr>
        <p:sp>
          <p:nvSpPr>
            <p:cNvPr id="33" name="TextBox 33"/>
            <p:cNvSpPr txBox="1"/>
            <p:nvPr/>
          </p:nvSpPr>
          <p:spPr>
            <a:xfrm>
              <a:off x="8066151" y="3962400"/>
              <a:ext cx="23698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按時間驗證才採用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67294" y="444817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與固定權重比較預測誤差；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有改善才採用，否則留原版。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609600" y="5629275"/>
            <a:ext cx="10972800" cy="704850"/>
            <a:chOff x="609600" y="5629275"/>
            <a:chExt cx="10972800" cy="704850"/>
          </a:xfrm>
        </p:grpSpPr>
        <p:sp>
          <p:nvSpPr>
            <p:cNvPr id="36" name="Rectangle 36"/>
            <p:cNvSpPr/>
            <p:nvPr/>
          </p:nvSpPr>
          <p:spPr>
            <a:xfrm>
              <a:off x="609600" y="5629275"/>
              <a:ext cx="10972800" cy="704850"/>
            </a:xfrm>
            <a:prstGeom prst="roundRect">
              <a:avLst>
                <a:gd name="adj" fmla="val 16216"/>
              </a:avLst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37" name="TextBox 37"/>
            <p:cNvSpPr/>
            <p:nvPr/>
          </p:nvSpPr>
          <p:spPr>
            <a:xfrm>
              <a:off x="828294" y="5721382"/>
              <a:ext cx="81575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既有時間衰減實驗尚不足支持啟用；新資料到位後再驗證，保留原版。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825"/>
            <a:ext cx="8029956" cy="1063625"/>
            <a:chOff x="592836" y="250825"/>
            <a:chExt cx="8029956" cy="106362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50825"/>
              <a:ext cx="3257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04　成果與開發規劃｜新增功能規劃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第三項規劃：先補資料，再完成實務功能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38</a:t>
            </a:r>
          </a:p>
        </p:txBody>
      </p:sp>
      <p:grpSp>
        <p:nvGrpSpPr>
          <p:cNvPr id="12" name="planned-task-0"/>
          <p:cNvGrpSpPr/>
          <p:nvPr/>
        </p:nvGrpSpPr>
        <p:grpSpPr>
          <a:xfrm>
            <a:off x="592074" y="1790700"/>
            <a:ext cx="10303078" cy="1254824"/>
            <a:chOff x="592074" y="1790700"/>
            <a:chExt cx="10303078" cy="1254824"/>
          </a:xfrm>
        </p:grpSpPr>
        <p:sp>
          <p:nvSpPr>
            <p:cNvPr id="7" name="TextBox 7"/>
            <p:cNvSpPr txBox="1"/>
            <p:nvPr/>
          </p:nvSpPr>
          <p:spPr>
            <a:xfrm>
              <a:off x="592074" y="1790700"/>
              <a:ext cx="52578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59458" y="182245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單場名單與退場管理</a:t>
              </a:r>
            </a:p>
          </p:txBody>
        </p:sp>
        <p:sp>
          <p:nvSpPr>
            <p:cNvPr id="9" name="TextBox 9"/>
            <p:cNvSpPr/>
            <p:nvPr/>
          </p:nvSpPr>
          <p:spPr>
            <a:xfrm>
              <a:off x="1761744" y="2305050"/>
              <a:ext cx="37345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先取得或人工確認單場名單，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避免重複勾選已退場者。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39075" y="188595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完成條件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39075" y="234315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狀態可修正，重整可恢復。</a:t>
              </a:r>
            </a:p>
          </p:txBody>
        </p:sp>
      </p:grpSp>
      <p:grpSp>
        <p:nvGrpSpPr>
          <p:cNvPr id="18" name="planned-task-1"/>
          <p:cNvGrpSpPr/>
          <p:nvPr/>
        </p:nvGrpSpPr>
        <p:grpSpPr>
          <a:xfrm>
            <a:off x="592074" y="3228975"/>
            <a:ext cx="10556164" cy="1254824"/>
            <a:chOff x="592074" y="3228975"/>
            <a:chExt cx="10556164" cy="1254824"/>
          </a:xfrm>
        </p:grpSpPr>
        <p:sp>
          <p:nvSpPr>
            <p:cNvPr id="13" name="TextBox 13"/>
            <p:cNvSpPr txBox="1"/>
            <p:nvPr/>
          </p:nvSpPr>
          <p:spPr>
            <a:xfrm>
              <a:off x="592074" y="3228975"/>
              <a:ext cx="52578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59458" y="326072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換投候選負荷對照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61744" y="3743325"/>
              <a:ext cx="37345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休息日、近三天球數與連投並排，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直接看依據，暫不改評分公式。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39075" y="33242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完成條件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39075" y="3781425"/>
              <a:ext cx="33091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數值可追溯，缺資料有提醒。</a:t>
              </a:r>
            </a:p>
          </p:txBody>
        </p:sp>
      </p:grpSp>
      <p:grpSp>
        <p:nvGrpSpPr>
          <p:cNvPr id="24" name="planned-task-2"/>
          <p:cNvGrpSpPr/>
          <p:nvPr/>
        </p:nvGrpSpPr>
        <p:grpSpPr>
          <a:xfrm>
            <a:off x="592074" y="4667250"/>
            <a:ext cx="10303078" cy="1254824"/>
            <a:chOff x="592074" y="4667250"/>
            <a:chExt cx="10303078" cy="1254824"/>
          </a:xfrm>
        </p:grpSpPr>
        <p:sp>
          <p:nvSpPr>
            <p:cNvPr id="19" name="TextBox 19"/>
            <p:cNvSpPr txBox="1"/>
            <p:nvPr/>
          </p:nvSpPr>
          <p:spPr>
            <a:xfrm>
              <a:off x="592074" y="4667250"/>
              <a:ext cx="52578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45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59458" y="469900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逐場守位與名單回放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1761744" y="5181600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逐場守位到位後減少推估，</a:t>
              </a:r>
              <a:b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195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只讀取決策前可得資料。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39075" y="476250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完成條件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39075" y="521970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 altLang="en-US">
                  <a:solidFill>
                    <a:srgbClr val="1D2934"/>
                  </a:solidFill>
                  <a:latin typeface="Times New Roman"/>
                  <a:ea typeface="標楷體"/>
                  <a:cs typeface="Times New Roman"/>
                </a:rPr>
                <a:t>後續出賽不改變當時資料。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601980" y="2667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TW" sz="150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研究依據</a:t>
            </a:r>
          </a:p>
        </p:txBody>
      </p:sp>
      <p:sp>
        <p:nvSpPr>
          <p:cNvPr id="3" name="TextBox 3"/>
          <p:cNvSpPr/>
          <p:nvPr/>
        </p:nvSpPr>
        <p:spPr>
          <a:xfrm>
            <a:off x="609600" y="5715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22225" rIns="0" bIns="0" anchor="t" anchorCtr="0">
            <a:noAutofit/>
          </a:bodyPr>
          <a:lstStyle/>
          <a:p>
            <a:pPr algn="l"/>
            <a:r>
              <a:rPr lang="zh-TW" sz="330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方法有研究基礎，應用範圍清楚界定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66825"/>
            <a:ext cx="3429000" cy="47625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089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-6858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39</a:t>
            </a:r>
          </a:p>
        </p:txBody>
      </p:sp>
      <p:sp>
        <p:nvSpPr>
          <p:cNvPr id="6" name="TextBox 6"/>
          <p:cNvSpPr/>
          <p:nvPr/>
        </p:nvSpPr>
        <p:spPr>
          <a:xfrm>
            <a:off x="600075" y="1571625"/>
            <a:ext cx="721941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[1] Efron &amp; Morris（1975）｜JASA 70(350), 311–319</a:t>
            </a:r>
          </a:p>
        </p:txBody>
      </p:sp>
      <p:sp>
        <p:nvSpPr>
          <p:cNvPr id="7" name="TextBox 7"/>
          <p:cNvSpPr/>
          <p:nvPr/>
        </p:nvSpPr>
        <p:spPr>
          <a:xfrm>
            <a:off x="601599" y="1952625"/>
            <a:ext cx="7000989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58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Data Analysis Using Stein’s Estimator and its Generalizations</a:t>
            </a:r>
          </a:p>
        </p:txBody>
      </p:sp>
      <p:sp>
        <p:nvSpPr>
          <p:cNvPr id="8" name="TextBox 8"/>
          <p:cNvSpPr/>
          <p:nvPr/>
        </p:nvSpPr>
        <p:spPr>
          <a:xfrm>
            <a:off x="600456" y="2289143"/>
            <a:ext cx="670986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 altLang="en-US">
                <a:solidFill>
                  <a:srgbClr val="1D2934"/>
                </a:solidFill>
                <a:latin typeface="Times New Roman"/>
                <a:ea typeface="標楷體"/>
                <a:cs typeface="Times New Roman"/>
              </a:rPr>
              <a:t>小樣本估計向整體收縮，作為部分池化的研究依據。</a:t>
            </a:r>
          </a:p>
        </p:txBody>
      </p:sp>
      <p:sp>
        <p:nvSpPr>
          <p:cNvPr id="9" name="TextBox 9">
            <a:hlinkClick r:id="rId2"/>
          </p:cNvPr>
          <p:cNvSpPr/>
          <p:nvPr/>
        </p:nvSpPr>
        <p:spPr>
          <a:xfrm>
            <a:off x="602361" y="2679668"/>
            <a:ext cx="435734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42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DOI: 10.1080/01621459.1975.10479864</a:t>
            </a:r>
          </a:p>
        </p:txBody>
      </p:sp>
      <p:sp>
        <p:nvSpPr>
          <p:cNvPr id="10" name="Line 10"/>
          <p:cNvSpPr/>
          <p:nvPr/>
        </p:nvSpPr>
        <p:spPr>
          <a:xfrm>
            <a:off x="609600" y="3009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1" name="TextBox 11"/>
          <p:cNvSpPr/>
          <p:nvPr/>
        </p:nvSpPr>
        <p:spPr>
          <a:xfrm>
            <a:off x="600075" y="3038475"/>
            <a:ext cx="736274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[2] Efron（1979）｜The Annals of Statistics 7(1), 1–26</a:t>
            </a:r>
          </a:p>
        </p:txBody>
      </p:sp>
      <p:sp>
        <p:nvSpPr>
          <p:cNvPr id="12" name="TextBox 12"/>
          <p:cNvSpPr/>
          <p:nvPr/>
        </p:nvSpPr>
        <p:spPr>
          <a:xfrm>
            <a:off x="601599" y="3419475"/>
            <a:ext cx="570528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58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Bootstrap Methods: Another Look at the Jackknife</a:t>
            </a:r>
          </a:p>
        </p:txBody>
      </p:sp>
      <p:sp>
        <p:nvSpPr>
          <p:cNvPr id="13" name="TextBox 13"/>
          <p:cNvSpPr/>
          <p:nvPr/>
        </p:nvSpPr>
        <p:spPr>
          <a:xfrm>
            <a:off x="600456" y="3755993"/>
            <a:ext cx="7000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 altLang="en-US">
                <a:solidFill>
                  <a:srgbClr val="1D2934"/>
                </a:solidFill>
                <a:latin typeface="Times New Roman"/>
                <a:ea typeface="標楷體"/>
                <a:cs typeface="Times New Roman"/>
              </a:rPr>
              <a:t>近期配球以整場出賽重抽樣描述區間，不視為候選勝出機率。</a:t>
            </a:r>
          </a:p>
        </p:txBody>
      </p:sp>
      <p:sp>
        <p:nvSpPr>
          <p:cNvPr id="14" name="TextBox 14">
            <a:hlinkClick r:id="rId3"/>
          </p:cNvPr>
          <p:cNvSpPr/>
          <p:nvPr/>
        </p:nvSpPr>
        <p:spPr>
          <a:xfrm>
            <a:off x="602361" y="4146518"/>
            <a:ext cx="32439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42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DOI: 10.1214/aos/1176344552</a:t>
            </a:r>
          </a:p>
        </p:txBody>
      </p:sp>
      <p:sp>
        <p:nvSpPr>
          <p:cNvPr id="15" name="Line 15"/>
          <p:cNvSpPr/>
          <p:nvPr/>
        </p:nvSpPr>
        <p:spPr>
          <a:xfrm>
            <a:off x="609600" y="4476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6" name="TextBox 16"/>
          <p:cNvSpPr/>
          <p:nvPr/>
        </p:nvSpPr>
        <p:spPr>
          <a:xfrm>
            <a:off x="600075" y="4505325"/>
            <a:ext cx="795333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 altLang="en-US">
                <a:solidFill>
                  <a:srgbClr val="18344A"/>
                </a:solidFill>
                <a:latin typeface="Times New Roman"/>
                <a:ea typeface="標楷體"/>
                <a:cs typeface="Times New Roman"/>
              </a:rPr>
              <a:t>[3] Gneiting &amp; Raftery（2007）｜JASA 102(477), 359–378</a:t>
            </a:r>
          </a:p>
        </p:txBody>
      </p:sp>
      <p:sp>
        <p:nvSpPr>
          <p:cNvPr id="17" name="TextBox 17"/>
          <p:cNvSpPr/>
          <p:nvPr/>
        </p:nvSpPr>
        <p:spPr>
          <a:xfrm>
            <a:off x="601599" y="4886325"/>
            <a:ext cx="6433033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58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Strictly Proper Scoring Rules, Prediction, and Estimation</a:t>
            </a:r>
          </a:p>
        </p:txBody>
      </p:sp>
      <p:sp>
        <p:nvSpPr>
          <p:cNvPr id="18" name="TextBox 18"/>
          <p:cNvSpPr/>
          <p:nvPr/>
        </p:nvSpPr>
        <p:spPr>
          <a:xfrm>
            <a:off x="600456" y="5222843"/>
            <a:ext cx="785743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 altLang="en-US">
                <a:solidFill>
                  <a:srgbClr val="1D2934"/>
                </a:solidFill>
                <a:latin typeface="Times New Roman"/>
                <a:ea typeface="標楷體"/>
                <a:cs typeface="Times New Roman"/>
              </a:rPr>
              <a:t>以 log loss 評估逐球機率預測，並區分模型分數與真實結果。</a:t>
            </a:r>
          </a:p>
        </p:txBody>
      </p:sp>
      <p:sp>
        <p:nvSpPr>
          <p:cNvPr id="19" name="TextBox 19">
            <a:hlinkClick r:id="rId4"/>
          </p:cNvPr>
          <p:cNvSpPr/>
          <p:nvPr/>
        </p:nvSpPr>
        <p:spPr>
          <a:xfrm>
            <a:off x="602361" y="5613368"/>
            <a:ext cx="3953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420" dirty="0" altLang="en-US">
                <a:solidFill>
                  <a:srgbClr val="B54836"/>
                </a:solidFill>
                <a:latin typeface="Times New Roman"/>
                <a:ea typeface="標楷體"/>
                <a:cs typeface="Times New Roman"/>
              </a:rPr>
              <a:t>DOI: 10.1198/016214506000001437</a:t>
            </a:r>
          </a:p>
        </p:txBody>
      </p:sp>
      <p:sp>
        <p:nvSpPr>
          <p:cNvPr id="20" name="Line 20"/>
          <p:cNvSpPr/>
          <p:nvPr/>
        </p:nvSpPr>
        <p:spPr>
          <a:xfrm>
            <a:off x="609600" y="5943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1" name="TextBox 21"/>
          <p:cNvSpPr/>
          <p:nvPr/>
        </p:nvSpPr>
        <p:spPr>
          <a:xfrm>
            <a:off x="601980" y="5981700"/>
            <a:ext cx="7082790" cy="29337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"/>
          <p:cNvGrpSpPr/>
          <p:nvPr/>
        </p:nvGrpSpPr>
        <p:grpSpPr>
          <a:xfrm>
            <a:off x="590550" y="1390650"/>
            <a:ext cx="6553200" cy="2114550"/>
            <a:chOff x="590550" y="1390650"/>
            <a:chExt cx="6553200" cy="2114550"/>
          </a:xfrm>
        </p:grpSpPr>
        <p:sp>
          <p:nvSpPr>
            <p:cNvPr id="2" name="TextBox 2"/>
            <p:cNvSpPr/>
            <p:nvPr/>
          </p:nvSpPr>
          <p:spPr>
            <a:xfrm>
              <a:off x="590550" y="1390650"/>
              <a:ext cx="6553200" cy="2114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7950"/>
                </a:lnSpc>
              </a:pPr>
              <a: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換人之前，</a:t>
              </a:r>
              <a:b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</a:br>
              <a:r>
                <a:rPr lang="zh-TW" sz="5700" b="1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先看清差距與代價。</a:t>
              </a:r>
            </a:p>
          </p:txBody>
        </p:sp>
      </p:grpSp>
      <p:grpSp>
        <p:nvGrpSpPr>
          <p:cNvPr id="6" name="team"/>
          <p:cNvGrpSpPr/>
          <p:nvPr/>
        </p:nvGrpSpPr>
        <p:grpSpPr>
          <a:xfrm>
            <a:off x="592836" y="3822668"/>
            <a:ext cx="1781461" cy="1134618"/>
            <a:chOff x="592836" y="3822668"/>
            <a:chExt cx="1781461" cy="1134618"/>
          </a:xfrm>
        </p:grpSpPr>
        <p:sp>
          <p:nvSpPr>
            <p:cNvPr id="4" name="TextBox 4"/>
            <p:cNvSpPr/>
            <p:nvPr/>
          </p:nvSpPr>
          <p:spPr>
            <a:xfrm>
              <a:off x="592836" y="3822668"/>
              <a:ext cx="17814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一球兩面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4546568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TW" sz="1800" dirty="0" altLang="en-US">
                  <a:solidFill>
                    <a:srgbClr val="18344A"/>
                  </a:solidFill>
                  <a:latin typeface="Times New Roman"/>
                  <a:ea typeface="標楷體"/>
                  <a:cs typeface="Times New Roman"/>
                </a:rPr>
                <a:t>蘇櫟、陳信安</a:t>
              </a:r>
            </a:p>
          </p:txBody>
        </p:sp>
      </p:grpSp>
      <p:grpSp>
        <p:nvGrpSpPr>
          <p:cNvPr id="8" name="baseball"/>
          <p:cNvGrpSpPr/>
          <p:nvPr/>
        </p:nvGrpSpPr>
        <p:grpSpPr>
          <a:xfrm>
            <a:off x="8858250" y="2095500"/>
            <a:ext cx="2762250" cy="2762250"/>
            <a:chOff x="8858250" y="2095500"/>
            <a:chExt cx="2762250" cy="276225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95500"/>
              <a:ext cx="2762250" cy="2762250"/>
            </a:xfrm>
            <a:prstGeom prst="rect">
              <a:avLst/>
            </a:prstGeom>
          </p:spPr>
        </p:pic>
      </p:grpSp>
      <p:sp>
        <p:nvSpPr>
          <p:cNvPr id="12" name="TextBox 12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 altLang="en-US">
                <a:solidFill>
                  <a:srgbClr val="58616B"/>
                </a:solidFill>
                <a:latin typeface="Times New Roman"/>
                <a:ea typeface="標楷體"/>
                <a:cs typeface="Times New Roman"/>
              </a:rPr>
              <a:t>40</a:t>
            </a:r>
          </a:p>
        </p:txBody>
      </p:sp>
      <p:grpSp>
        <p:nvGrpSpPr>
          <p:cNvPr id="13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0" name="TextBox 10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1" name="TextBox 11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 altLang="en-US">
                  <a:solidFill>
                    <a:srgbClr val="B54836"/>
                  </a:solidFill>
                  <a:latin typeface="Times New Roman"/>
                  <a:ea typeface="標楷體"/>
                  <a:cs typeface="Times New Roman"/>
                </a:rPr>
                <a:t>原始碼 https://github.com/Da-Xiong-Chen/baseball_project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aseball_competition_polished19">
  <a:themeElements>
    <a:clrScheme name="baseball_competition_polished19">
      <a:dk1>
        <a:srgbClr val="1D2934"/>
      </a:dk1>
      <a:lt1>
        <a:srgbClr val="F7F5EF"/>
      </a:lt1>
      <a:dk2>
        <a:srgbClr val="1F497D"/>
      </a:dk2>
      <a:lt2>
        <a:srgbClr val="ECE5D9"/>
      </a:lt2>
      <a:accent1>
        <a:srgbClr val="18344A"/>
      </a:accent1>
      <a:accent2>
        <a:srgbClr val="B54836"/>
      </a:accent2>
      <a:accent3>
        <a:srgbClr val="9A6118"/>
      </a:accent3>
      <a:accent4>
        <a:srgbClr val="18344A"/>
      </a:accent4>
      <a:accent5>
        <a:srgbClr val="58616B"/>
      </a:accent5>
      <a:accent6>
        <a:srgbClr val="D7D1C5"/>
      </a:accent6>
      <a:hlink>
        <a:srgbClr val="B54836"/>
      </a:hlink>
      <a:folHlink>
        <a:srgbClr val="9A6118"/>
      </a:folHlink>
    </a:clrScheme>
    <a:fontScheme name="baseball_competition_polished19">
      <a:maj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seball_competition_polished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40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2026-10-15T13:31:12Z</dcterms:created>
  <dcterms:modified xsi:type="dcterms:W3CDTF">2026-10-15T13:31:12Z</dcterms:modified>
  <cp:category/>
  <cp:contentStatus/>
</cp:coreProperties>
</file>