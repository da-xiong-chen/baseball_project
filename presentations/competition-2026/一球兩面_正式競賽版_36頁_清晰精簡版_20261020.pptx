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eb8ea92e100165d0.jpg" /><Relationship Id="rId5" Type="http://schemas.openxmlformats.org/officeDocument/2006/relationships/image" Target="../media/image_10d8c7aad298808c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9285a77aedd54ee7.jpg" /><Relationship Id="rId4" Type="http://schemas.openxmlformats.org/officeDocument/2006/relationships/image" Target="../media/image_1bff69bf6bcad942.jpg" /><Relationship Id="rId5" Type="http://schemas.openxmlformats.org/officeDocument/2006/relationships/image" Target="../media/image_a8743e3c266c6900.jp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1c7bf0c65fbfaba3.jp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270f4c408850e89.jp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1ac4e4a85b691c4.jp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四個章節，說清楚問題、方法與網站成果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25"/>
            <a:ext cx="3903726" cy="1848676"/>
            <a:chOff x="594741" y="1711325"/>
            <a:chExt cx="3903726" cy="1848676"/>
          </a:xfrm>
        </p:grpSpPr>
        <p:sp>
          <p:nvSpPr>
            <p:cNvPr id="7" name="TextBox 7"/>
            <p:cNvSpPr txBox="1"/>
            <p:nvPr/>
          </p:nvSpPr>
          <p:spPr>
            <a:xfrm>
              <a:off x="5947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94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關鍵打席的換人比較，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球隊與一般使用者的需求。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0937" y="32226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25"/>
            <a:ext cx="3903726" cy="1848676"/>
            <a:chOff x="6233541" y="1711325"/>
            <a:chExt cx="3903726" cy="1848676"/>
          </a:xfrm>
        </p:grpSpPr>
        <p:sp>
          <p:nvSpPr>
            <p:cNvPr id="12" name="TextBox 12"/>
            <p:cNvSpPr txBox="1"/>
            <p:nvPr/>
          </p:nvSpPr>
          <p:spPr>
            <a:xfrm>
              <a:off x="62335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82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資料從哪裡來，如何估計，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驗證結果能解釋到哪裡。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9737" y="322262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50"/>
            <a:ext cx="4338253" cy="1848676"/>
            <a:chOff x="594741" y="3892550"/>
            <a:chExt cx="4338253" cy="1848676"/>
          </a:xfrm>
        </p:grpSpPr>
        <p:sp>
          <p:nvSpPr>
            <p:cNvPr id="17" name="TextBox 17"/>
            <p:cNvSpPr txBox="1"/>
            <p:nvPr/>
          </p:nvSpPr>
          <p:spPr>
            <a:xfrm>
              <a:off x="5947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9413" y="4492625"/>
              <a:ext cx="3533581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代打、換投、場上名單，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以及獨立的單日回放與 Demo。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09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產品構想與操作成果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50"/>
            <a:ext cx="3647186" cy="1848676"/>
            <a:chOff x="6233541" y="3892550"/>
            <a:chExt cx="3647186" cy="1848676"/>
          </a:xfrm>
        </p:grpSpPr>
        <p:sp>
          <p:nvSpPr>
            <p:cNvPr id="22" name="TextBox 22"/>
            <p:cNvSpPr txBox="1"/>
            <p:nvPr/>
          </p:nvSpPr>
          <p:spPr>
            <a:xfrm>
              <a:off x="62335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成果與開發規劃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8213" y="449262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已完成範圍、驗證工作，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與跨年度及賽季更新。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7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預期成果與開發規劃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875654"/>
            <a:ext cx="6191250" cy="1811291"/>
            <a:chOff x="609600" y="1875654"/>
            <a:chExt cx="6191250" cy="18112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75654"/>
              <a:ext cx="6191250" cy="1811291"/>
            </a:xfrm>
            <a:prstGeom prst="rect">
              <a:avLst/>
            </a:prstGeom>
          </p:spPr>
        </p:pic>
      </p:grp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43"/>
            <a:chOff x="2525649" y="3971925"/>
            <a:chExt cx="2282952" cy="2109343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5649" y="5670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89" cy="1421575"/>
            <a:chOff x="7415022" y="2047875"/>
            <a:chExt cx="2744089" cy="1421575"/>
          </a:xfrm>
        </p:grpSpPr>
        <p:sp>
          <p:nvSpPr>
            <p:cNvPr id="17" name="TextBox 17"/>
            <p:cNvSpPr txBox="1"/>
            <p:nvPr/>
          </p:nvSpPr>
          <p:spPr>
            <a:xfrm>
              <a:off x="7419975" y="2047875"/>
              <a:ext cx="8409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9213" y="30734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6021" cy="1421575"/>
            <a:chOff x="7415022" y="4200525"/>
            <a:chExt cx="3016021" cy="1421575"/>
          </a:xfrm>
        </p:grpSpPr>
        <p:sp>
          <p:nvSpPr>
            <p:cNvPr id="21" name="TextBox 21"/>
            <p:cNvSpPr txBox="1"/>
            <p:nvPr/>
          </p:nvSpPr>
          <p:spPr>
            <a:xfrm>
              <a:off x="7419975" y="4200525"/>
              <a:ext cx="8229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9213" y="522605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6BB5314-78C7-42B1-802B-7E8455716EA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8" name="screenshot-一般使用者_4x.jpg"/>
          <p:cNvGrpSpPr/>
          <p:nvPr/>
        </p:nvGrpSpPr>
        <p:grpSpPr>
          <a:xfrm>
            <a:off x="609600" y="2049942"/>
            <a:ext cx="5334000" cy="1434142"/>
            <a:chOff x="609600" y="2049942"/>
            <a:chExt cx="5334000" cy="143414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049942"/>
              <a:ext cx="5334000" cy="1434142"/>
            </a:xfrm>
            <a:prstGeom prst="rect">
              <a:avLst/>
            </a:prstGeom>
          </p:spPr>
        </p:pic>
      </p:grpSp>
      <p:grpSp>
        <p:nvGrpSpPr>
          <p:cNvPr id="11" name="mode-0"/>
          <p:cNvGrpSpPr/>
          <p:nvPr/>
        </p:nvGrpSpPr>
        <p:grpSpPr>
          <a:xfrm>
            <a:off x="6960108" y="1889125"/>
            <a:ext cx="3241548" cy="1639316"/>
            <a:chOff x="6960108" y="1889125"/>
            <a:chExt cx="3241548" cy="1639316"/>
          </a:xfrm>
        </p:grpSpPr>
        <p:sp>
          <p:nvSpPr>
            <p:cNvPr id="9" name="TextBox 9"/>
            <p:cNvSpPr txBox="1"/>
            <p:nvPr/>
          </p:nvSpPr>
          <p:spPr>
            <a:xfrm>
              <a:off x="6960108" y="18891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62394" y="2428875"/>
              <a:ext cx="32392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可選場上或其他球員做評估，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也可自行安排九棒。</a:t>
              </a:r>
            </a:p>
          </p:txBody>
        </p:sp>
      </p:grpSp>
      <p:grpSp>
        <p:nvGrpSpPr>
          <p:cNvPr id="13" name="screenshot-球隊_4x.jpg"/>
          <p:cNvGrpSpPr/>
          <p:nvPr/>
        </p:nvGrpSpPr>
        <p:grpSpPr>
          <a:xfrm>
            <a:off x="609600" y="4259742"/>
            <a:ext cx="5334000" cy="1434142"/>
            <a:chOff x="609600" y="4259742"/>
            <a:chExt cx="5334000" cy="1434142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4259742"/>
              <a:ext cx="5334000" cy="1434142"/>
            </a:xfrm>
            <a:prstGeom prst="rect">
              <a:avLst/>
            </a:prstGeom>
          </p:spPr>
        </p:pic>
      </p:grpSp>
      <p:grpSp>
        <p:nvGrpSpPr>
          <p:cNvPr id="16" name="mode-1"/>
          <p:cNvGrpSpPr/>
          <p:nvPr/>
        </p:nvGrpSpPr>
        <p:grpSpPr>
          <a:xfrm>
            <a:off x="6960108" y="4098925"/>
            <a:ext cx="3489198" cy="1639316"/>
            <a:chOff x="6960108" y="4098925"/>
            <a:chExt cx="3489198" cy="1639316"/>
          </a:xfrm>
        </p:grpSpPr>
        <p:sp>
          <p:nvSpPr>
            <p:cNvPr id="14" name="TextBox 14"/>
            <p:cNvSpPr txBox="1"/>
            <p:nvPr/>
          </p:nvSpPr>
          <p:spPr>
            <a:xfrm>
              <a:off x="6960108" y="40989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62394" y="4638675"/>
              <a:ext cx="34869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現任依配置；替補排除場上者。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今日板凳、牛棚仍須人工勾選。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把投打數據，放進同一個換人情境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fld>
          </a:p>
        </p:txBody>
      </p:sp>
      <p:grpSp>
        <p:nvGrpSpPr>
          <p:cNvPr id="10" name="input-0"/>
          <p:cNvGrpSpPr/>
          <p:nvPr/>
        </p:nvGrpSpPr>
        <p:grpSpPr>
          <a:xfrm>
            <a:off x="609600" y="1828800"/>
            <a:ext cx="3714750" cy="1162050"/>
            <a:chOff x="609600" y="1828800"/>
            <a:chExt cx="3714750" cy="116205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389" y="1958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投打能力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294" y="2454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球路適性、左右投打</a:t>
              </a:r>
            </a:p>
          </p:txBody>
        </p:sp>
      </p:grpSp>
      <p:grpSp>
        <p:nvGrpSpPr>
          <p:cNvPr id="14" name="input-1"/>
          <p:cNvGrpSpPr/>
          <p:nvPr/>
        </p:nvGrpSpPr>
        <p:grpSpPr>
          <a:xfrm>
            <a:off x="609600" y="3190875"/>
            <a:ext cx="3714750" cy="1162050"/>
            <a:chOff x="609600" y="3190875"/>
            <a:chExt cx="371475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09600" y="3190875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389" y="3321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當下局勢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294" y="38163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局數、比分、出局與壘況</a:t>
              </a:r>
            </a:p>
          </p:txBody>
        </p:sp>
      </p:grpSp>
      <p:grpSp>
        <p:nvGrpSpPr>
          <p:cNvPr id="18" name="input-2"/>
          <p:cNvGrpSpPr/>
          <p:nvPr/>
        </p:nvGrpSpPr>
        <p:grpSpPr>
          <a:xfrm>
            <a:off x="609600" y="4552950"/>
            <a:ext cx="3714750" cy="1162050"/>
            <a:chOff x="609600" y="4552950"/>
            <a:chExt cx="3714750" cy="1162050"/>
          </a:xfrm>
        </p:grpSpPr>
        <p:sp>
          <p:nvSpPr>
            <p:cNvPr id="15" name="Rectangle 15"/>
            <p:cNvSpPr/>
            <p:nvPr/>
          </p:nvSpPr>
          <p:spPr>
            <a:xfrm>
              <a:off x="609600" y="455295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6389" y="46831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可用人選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294" y="51784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板凳、牛棚與接守安排</a:t>
              </a:r>
            </a:p>
          </p:txBody>
        </p:sp>
      </p:grpSp>
      <p:grpSp>
        <p:nvGrpSpPr>
          <p:cNvPr id="23" name="fixed-comparison"/>
          <p:cNvGrpSpPr/>
          <p:nvPr/>
        </p:nvGrpSpPr>
        <p:grpSpPr>
          <a:xfrm>
            <a:off x="5095875" y="2524125"/>
            <a:ext cx="2781300" cy="2333625"/>
            <a:chOff x="5095875" y="2524125"/>
            <a:chExt cx="2781300" cy="2333625"/>
          </a:xfrm>
        </p:grpSpPr>
        <p:sp>
          <p:nvSpPr>
            <p:cNvPr id="19" name="Rectangle 19"/>
            <p:cNvSpPr/>
            <p:nvPr/>
          </p:nvSpPr>
          <p:spPr>
            <a:xfrm>
              <a:off x="5095875" y="2524125"/>
              <a:ext cx="2781300" cy="2333625"/>
            </a:xfrm>
            <a:prstGeom prst="roundRect">
              <a:avLst>
                <a:gd name="adj" fmla="val 4898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02377" y="2800350"/>
              <a:ext cx="2028292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固定比較條件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3520" y="34067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4282" y="40036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只替換人選</a:t>
              </a:r>
            </a:p>
          </p:txBody>
        </p:sp>
      </p:grpSp>
      <p:grpSp>
        <p:nvGrpSpPr>
          <p:cNvPr id="29" name="convergence"/>
          <p:cNvGrpSpPr/>
          <p:nvPr/>
        </p:nvGrpSpPr>
        <p:grpSpPr>
          <a:xfrm>
            <a:off x="4524375" y="2409825"/>
            <a:ext cx="466725" cy="2733675"/>
            <a:chOff x="4524375" y="2409825"/>
            <a:chExt cx="466725" cy="2733675"/>
          </a:xfrm>
        </p:grpSpPr>
        <p:sp>
          <p:nvSpPr>
            <p:cNvPr id="24" name="Line 24"/>
            <p:cNvSpPr/>
            <p:nvPr/>
          </p:nvSpPr>
          <p:spPr>
            <a:xfrm>
              <a:off x="4524375" y="24098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24375" y="513397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724400" y="2409825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724400" y="37623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876800" y="3695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4" name="output"/>
          <p:cNvGrpSpPr/>
          <p:nvPr/>
        </p:nvGrpSpPr>
        <p:grpSpPr>
          <a:xfrm>
            <a:off x="8558403" y="2543175"/>
            <a:ext cx="2743708" cy="2459800"/>
            <a:chOff x="8558403" y="2543175"/>
            <a:chExt cx="2743708" cy="2459800"/>
          </a:xfrm>
        </p:grpSpPr>
        <p:sp>
          <p:nvSpPr>
            <p:cNvPr id="30" name="TextBox 30"/>
            <p:cNvSpPr txBox="1"/>
            <p:nvPr/>
          </p:nvSpPr>
          <p:spPr>
            <a:xfrm>
              <a:off x="8558403" y="2543175"/>
              <a:ext cx="152516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差多少？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2213" y="315912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相對現任的估計差距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58403" y="3990975"/>
              <a:ext cx="1899412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換得成嗎？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2213" y="460692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守位、人選與資料提醒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應用創新：把數據查詢接成換人比較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fld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25"/>
            <a:ext cx="9535744" cy="1062800"/>
            <a:chOff x="597789" y="1787525"/>
            <a:chExt cx="9535744" cy="1062800"/>
          </a:xfrm>
        </p:grpSpPr>
        <p:sp>
          <p:nvSpPr>
            <p:cNvPr id="7" name="TextBox 7"/>
            <p:cNvSpPr txBox="1"/>
            <p:nvPr/>
          </p:nvSpPr>
          <p:spPr>
            <a:xfrm>
              <a:off x="597789" y="17875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90038" y="1825625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自行比對不同成績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89776" y="1800225"/>
              <a:ext cx="35437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固定對手與局勢，只換候選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90038" y="245427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直接看相對現任的估計差距。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50"/>
            <a:ext cx="9535744" cy="1062800"/>
            <a:chOff x="597789" y="3206750"/>
            <a:chExt cx="9535744" cy="1062800"/>
          </a:xfrm>
        </p:grpSpPr>
        <p:sp>
          <p:nvSpPr>
            <p:cNvPr id="14" name="TextBox 14"/>
            <p:cNvSpPr txBox="1"/>
            <p:nvPr/>
          </p:nvSpPr>
          <p:spPr>
            <a:xfrm>
              <a:off x="597789" y="3206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90038" y="32448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另行核對上場與守位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9776" y="3219450"/>
              <a:ext cx="35437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評估連動場上、板凳與牛棚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90038" y="3873500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同時確認可用人選與接守安排。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5975"/>
            <a:ext cx="9829216" cy="1062800"/>
            <a:chOff x="597789" y="4625975"/>
            <a:chExt cx="9829216" cy="1062800"/>
          </a:xfrm>
        </p:grpSpPr>
        <p:sp>
          <p:nvSpPr>
            <p:cNvPr id="21" name="TextBox 21"/>
            <p:cNvSpPr txBox="1"/>
            <p:nvPr/>
          </p:nvSpPr>
          <p:spPr>
            <a:xfrm>
              <a:off x="597789" y="4625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90038" y="466407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賽後才看結果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9776" y="4638675"/>
              <a:ext cx="383722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保留決策前資訊，再對照結果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0038" y="52927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區分事前判讀與事後發生的事。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6BB5314-78C7-42B1-802B-7E8455716EA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fld>
          </a:p>
        </p:txBody>
      </p:sp>
      <p:grpSp>
        <p:nvGrpSpPr>
          <p:cNvPr id="8" name="screenshot-選單評估_4x.jpg"/>
          <p:cNvGrpSpPr/>
          <p:nvPr/>
        </p:nvGrpSpPr>
        <p:grpSpPr>
          <a:xfrm>
            <a:off x="1219200" y="1809750"/>
            <a:ext cx="3295650" cy="1000125"/>
            <a:chOff x="1219200" y="1809750"/>
            <a:chExt cx="3295650" cy="100012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1809750"/>
              <a:ext cx="3295650" cy="1000125"/>
            </a:xfrm>
            <a:prstGeom prst="rect">
              <a:avLst/>
            </a:prstGeom>
          </p:spPr>
        </p:pic>
      </p:grpSp>
      <p:grpSp>
        <p:nvGrpSpPr>
          <p:cNvPr id="10" name="screenshot-選單名單_4x.jpg"/>
          <p:cNvGrpSpPr/>
          <p:nvPr/>
        </p:nvGrpSpPr>
        <p:grpSpPr>
          <a:xfrm>
            <a:off x="4667250" y="1809750"/>
            <a:ext cx="3009900" cy="1000125"/>
            <a:chOff x="4667250" y="1809750"/>
            <a:chExt cx="3009900" cy="10001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7250" y="1809750"/>
              <a:ext cx="3009900" cy="1000125"/>
            </a:xfrm>
            <a:prstGeom prst="rect">
              <a:avLst/>
            </a:prstGeom>
          </p:spPr>
        </p:pic>
      </p:grpSp>
      <p:grpSp>
        <p:nvGrpSpPr>
          <p:cNvPr id="12" name="screenshot-選單回放_4x.jpg"/>
          <p:cNvGrpSpPr/>
          <p:nvPr/>
        </p:nvGrpSpPr>
        <p:grpSpPr>
          <a:xfrm>
            <a:off x="7829550" y="1809750"/>
            <a:ext cx="3143250" cy="1000125"/>
            <a:chOff x="7829550" y="1809750"/>
            <a:chExt cx="3143250" cy="100012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29550" y="1809750"/>
              <a:ext cx="3143250" cy="1000125"/>
            </a:xfrm>
            <a:prstGeom prst="rect">
              <a:avLst/>
            </a:prstGeom>
          </p:spPr>
        </p:pic>
      </p:grpSp>
      <p:grpSp>
        <p:nvGrpSpPr>
          <p:cNvPr id="15" name="entry-0"/>
          <p:cNvGrpSpPr/>
          <p:nvPr/>
        </p:nvGrpSpPr>
        <p:grpSpPr>
          <a:xfrm>
            <a:off x="597789" y="3730625"/>
            <a:ext cx="3100578" cy="1330928"/>
            <a:chOff x="597789" y="3730625"/>
            <a:chExt cx="3100578" cy="1330928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73062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代打／換投評估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313" y="42926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8" name="entry-1"/>
          <p:cNvGrpSpPr/>
          <p:nvPr/>
        </p:nvGrpSpPr>
        <p:grpSpPr>
          <a:xfrm>
            <a:off x="4331589" y="3730625"/>
            <a:ext cx="2844038" cy="1330928"/>
            <a:chOff x="4331589" y="3730625"/>
            <a:chExt cx="2844038" cy="1330928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73062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113" y="429260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21" name="entry-2"/>
          <p:cNvGrpSpPr/>
          <p:nvPr/>
        </p:nvGrpSpPr>
        <p:grpSpPr>
          <a:xfrm>
            <a:off x="8065389" y="3730625"/>
            <a:ext cx="3100578" cy="1330928"/>
            <a:chOff x="8065389" y="3730625"/>
            <a:chExt cx="3100578" cy="1330928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73062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6913" y="42926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回到特定比賽日，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查看賽前負荷與打席回放。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6420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單日分析獨立於一般使用者／球隊模式。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不同來源分工，歷史分析遵守資料截止日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fld>
          </a:p>
        </p:txBody>
      </p:sp>
      <p:grpSp>
        <p:nvGrpSpPr>
          <p:cNvPr id="11" name="data-0"/>
          <p:cNvGrpSpPr/>
          <p:nvPr/>
        </p:nvGrpSpPr>
        <p:grpSpPr>
          <a:xfrm>
            <a:off x="593598" y="1990725"/>
            <a:ext cx="2997708" cy="3042666"/>
            <a:chOff x="593598" y="1990725"/>
            <a:chExt cx="2997708" cy="3042666"/>
          </a:xfrm>
        </p:grpSpPr>
        <p:sp>
          <p:nvSpPr>
            <p:cNvPr id="7" name="TextBox 7"/>
            <p:cNvSpPr txBox="1"/>
            <p:nvPr/>
          </p:nvSpPr>
          <p:spPr>
            <a:xfrm>
              <a:off x="5935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789" y="2825750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349625"/>
              <a:ext cx="24251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Rebas（ODC-By）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球種、投打側與逐球結果，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用於對決估計及登板負荷。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背號只用於搜尋。</a:t>
              </a:r>
            </a:p>
          </p:txBody>
        </p:sp>
      </p:grpSp>
      <p:grpSp>
        <p:nvGrpSpPr>
          <p:cNvPr id="16" name="data-1"/>
          <p:cNvGrpSpPr/>
          <p:nvPr/>
        </p:nvGrpSpPr>
        <p:grpSpPr>
          <a:xfrm>
            <a:off x="4327398" y="1990725"/>
            <a:ext cx="2997708" cy="3042666"/>
            <a:chOff x="4327398" y="1990725"/>
            <a:chExt cx="2997708" cy="3042666"/>
          </a:xfrm>
        </p:grpSpPr>
        <p:sp>
          <p:nvSpPr>
            <p:cNvPr id="12" name="TextBox 12"/>
            <p:cNvSpPr txBox="1"/>
            <p:nvPr/>
          </p:nvSpPr>
          <p:spPr>
            <a:xfrm>
              <a:off x="43273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1589" y="2825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3494" y="3349625"/>
              <a:ext cx="1793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依過去各守位出賽紀錄，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檢查歷史人選的守位經驗。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不使用 2025 整季守位。</a:t>
              </a:r>
            </a:p>
          </p:txBody>
        </p:sp>
      </p:grpSp>
      <p:grpSp>
        <p:nvGrpSpPr>
          <p:cNvPr id="21" name="data-2"/>
          <p:cNvGrpSpPr/>
          <p:nvPr/>
        </p:nvGrpSpPr>
        <p:grpSpPr>
          <a:xfrm>
            <a:off x="8061198" y="1990725"/>
            <a:ext cx="2750058" cy="3042666"/>
            <a:chOff x="8061198" y="1990725"/>
            <a:chExt cx="2750058" cy="3042666"/>
          </a:xfrm>
        </p:grpSpPr>
        <p:sp>
          <p:nvSpPr>
            <p:cNvPr id="17" name="TextBox 17"/>
            <p:cNvSpPr txBox="1"/>
            <p:nvPr/>
          </p:nvSpPr>
          <p:spPr>
            <a:xfrm>
              <a:off x="8061198" y="1990725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5389" y="282575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球員與整季守位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7294" y="3349625"/>
              <a:ext cx="19963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3933825"/>
              <a:ext cx="27439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球員連至官方個人頁；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整季守位用於季後情境，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不冒充實際當日守位。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81650"/>
            <a:ext cx="10972800" cy="704850"/>
            <a:chOff x="609600" y="5581650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816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73725"/>
              <a:ext cx="789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歷史能力、名單與負荷只用當日前資訊；逐球模型另列訓練截止日。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先估計對決，再依局勢換算候選差距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fld>
          </a:p>
        </p:txBody>
      </p:sp>
      <p:grpSp>
        <p:nvGrpSpPr>
          <p:cNvPr id="9" name="method-input"/>
          <p:cNvGrpSpPr/>
          <p:nvPr/>
        </p:nvGrpSpPr>
        <p:grpSpPr>
          <a:xfrm>
            <a:off x="598551" y="3219450"/>
            <a:ext cx="2076399" cy="935800"/>
            <a:chOff x="598551" y="3219450"/>
            <a:chExt cx="2076399" cy="93580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321945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逐球與出賽資料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313" y="37592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同一投手與候選</a:t>
              </a:r>
            </a:p>
          </p:txBody>
        </p:sp>
      </p:grpSp>
      <p:grpSp>
        <p:nvGrpSpPr>
          <p:cNvPr id="13" name="method-182"/>
          <p:cNvGrpSpPr/>
          <p:nvPr/>
        </p:nvGrpSpPr>
        <p:grpSpPr>
          <a:xfrm>
            <a:off x="3524250" y="1733550"/>
            <a:ext cx="4695825" cy="1724025"/>
            <a:chOff x="3524250" y="1733550"/>
            <a:chExt cx="4695825" cy="1724025"/>
          </a:xfrm>
        </p:grpSpPr>
        <p:sp>
          <p:nvSpPr>
            <p:cNvPr id="10" name="Rectangle 10"/>
            <p:cNvSpPr/>
            <p:nvPr/>
          </p:nvSpPr>
          <p:spPr>
            <a:xfrm>
              <a:off x="3524250" y="1733550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50183" y="1870075"/>
              <a:ext cx="18001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部分池化 [1]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2850" y="2413000"/>
              <a:ext cx="336169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綜合能力、左右投打與球路適性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小樣本向整體基準收縮</a:t>
              </a:r>
            </a:p>
          </p:txBody>
        </p:sp>
      </p:grpSp>
      <p:grpSp>
        <p:nvGrpSpPr>
          <p:cNvPr id="17" name="method-403"/>
          <p:cNvGrpSpPr/>
          <p:nvPr/>
        </p:nvGrpSpPr>
        <p:grpSpPr>
          <a:xfrm>
            <a:off x="3524250" y="3838575"/>
            <a:ext cx="4695825" cy="1724025"/>
            <a:chOff x="3524250" y="3838575"/>
            <a:chExt cx="4695825" cy="1724025"/>
          </a:xfrm>
        </p:grpSpPr>
        <p:sp>
          <p:nvSpPr>
            <p:cNvPr id="14" name="Rectangle 14"/>
            <p:cNvSpPr/>
            <p:nvPr/>
          </p:nvSpPr>
          <p:spPr>
            <a:xfrm>
              <a:off x="3524250" y="3838575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0183" y="3975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梯度提升樹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2850" y="4518025"/>
              <a:ext cx="312293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沿用投手歷史投球，替換打者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預測逐球結果，再換算得分</a:t>
              </a:r>
            </a:p>
          </p:txBody>
        </p:sp>
      </p:grpSp>
      <p:grpSp>
        <p:nvGrpSpPr>
          <p:cNvPr id="27" name="method-links"/>
          <p:cNvGrpSpPr/>
          <p:nvPr/>
        </p:nvGrpSpPr>
        <p:grpSpPr>
          <a:xfrm>
            <a:off x="3124200" y="2600325"/>
            <a:ext cx="5715000" cy="2105025"/>
            <a:chOff x="3124200" y="2600325"/>
            <a:chExt cx="5715000" cy="2105025"/>
          </a:xfrm>
        </p:grpSpPr>
        <p:sp>
          <p:nvSpPr>
            <p:cNvPr id="18" name="Line 18"/>
            <p:cNvSpPr/>
            <p:nvPr/>
          </p:nvSpPr>
          <p:spPr>
            <a:xfrm>
              <a:off x="3124200" y="37242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3375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33750" y="26003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33750" y="46958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286750" y="26003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86750" y="46958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572500" y="37242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724900" y="36576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0" name="method-output"/>
          <p:cNvGrpSpPr/>
          <p:nvPr/>
        </p:nvGrpSpPr>
        <p:grpSpPr>
          <a:xfrm>
            <a:off x="9055989" y="3092450"/>
            <a:ext cx="1925669" cy="948532"/>
            <a:chOff x="9055989" y="3092450"/>
            <a:chExt cx="1925669" cy="948532"/>
          </a:xfrm>
        </p:grpSpPr>
        <p:sp>
          <p:nvSpPr>
            <p:cNvPr id="28" name="TextBox 28"/>
            <p:cNvSpPr txBox="1"/>
            <p:nvPr/>
          </p:nvSpPr>
          <p:spPr>
            <a:xfrm>
              <a:off x="9055989" y="3092450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整合得分估計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9057513" y="3644932"/>
              <a:ext cx="192414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依局勢近似換算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fld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50"/>
            <a:ext cx="3107055" cy="2953449"/>
            <a:chOff x="598170" y="2025650"/>
            <a:chExt cx="3107055" cy="2953449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候選與同一位現任相比。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331970" y="2025650"/>
            <a:ext cx="3240786" cy="2953449"/>
            <a:chOff x="4331970" y="2025650"/>
            <a:chExt cx="3240786" cy="2953449"/>
          </a:xfrm>
        </p:grpSpPr>
        <p:sp>
          <p:nvSpPr>
            <p:cNvPr id="13" name="TextBox 13"/>
            <p:cNvSpPr txBox="1"/>
            <p:nvPr/>
          </p:nvSpPr>
          <p:spPr>
            <a:xfrm>
              <a:off x="43319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0278" y="2686050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34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依局勢換算的估計差距。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單位：百分點，非成效保證。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50"/>
            <a:ext cx="3240786" cy="2953449"/>
            <a:chOff x="8065770" y="2025650"/>
            <a:chExt cx="3240786" cy="2953449"/>
          </a:xfrm>
        </p:grpSpPr>
        <p:sp>
          <p:nvSpPr>
            <p:cNvPr id="19" name="TextBox 19"/>
            <p:cNvSpPr txBox="1"/>
            <p:nvPr/>
          </p:nvSpPr>
          <p:spPr>
            <a:xfrm>
              <a:off x="80657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截止日前同角色的百分位。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非四位候選排名或成功率。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功能已核對，用人效益仍待實際驗證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13</a:t>
            </a:fld>
          </a:p>
        </p:txBody>
      </p:sp>
      <p:grpSp>
        <p:nvGrpSpPr>
          <p:cNvPr id="11" name="validation-0"/>
          <p:cNvGrpSpPr/>
          <p:nvPr/>
        </p:nvGrpSpPr>
        <p:grpSpPr>
          <a:xfrm>
            <a:off x="591693" y="2012950"/>
            <a:ext cx="2999613" cy="3229991"/>
            <a:chOff x="591693" y="2012950"/>
            <a:chExt cx="2999613" cy="3229991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0129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工程一致性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1693" y="2673350"/>
              <a:ext cx="1385875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452 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551" y="35528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單日雙向重算對照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5996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226 打席 × 代打／換投。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網站與重算通過數值對照。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不代表預測命中率。</a:t>
              </a:r>
            </a:p>
          </p:txBody>
        </p:sp>
      </p:grpSp>
      <p:grpSp>
        <p:nvGrpSpPr>
          <p:cNvPr id="16" name="validation-1"/>
          <p:cNvGrpSpPr/>
          <p:nvPr/>
        </p:nvGrpSpPr>
        <p:grpSpPr>
          <a:xfrm>
            <a:off x="4325493" y="2012950"/>
            <a:ext cx="2999613" cy="3229991"/>
            <a:chOff x="4325493" y="2012950"/>
            <a:chExt cx="2999613" cy="3229991"/>
          </a:xfrm>
        </p:grpSpPr>
        <p:sp>
          <p:nvSpPr>
            <p:cNvPr id="12" name="TextBox 12"/>
            <p:cNvSpPr txBox="1"/>
            <p:nvPr/>
          </p:nvSpPr>
          <p:spPr>
            <a:xfrm>
              <a:off x="43327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預測效能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54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待驗證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4332351" y="3552825"/>
              <a:ext cx="187709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現行模型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逐球機率用 log loss，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得分估計用預測誤差。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舊版成效不代替新版結果。</a:t>
              </a:r>
            </a:p>
          </p:txBody>
        </p:sp>
      </p:grpSp>
      <p:grpSp>
        <p:nvGrpSpPr>
          <p:cNvPr id="21" name="validation-2"/>
          <p:cNvGrpSpPr/>
          <p:nvPr/>
        </p:nvGrpSpPr>
        <p:grpSpPr>
          <a:xfrm>
            <a:off x="8059293" y="2012950"/>
            <a:ext cx="2999613" cy="3229991"/>
            <a:chOff x="8059293" y="2012950"/>
            <a:chExt cx="2999613" cy="3229991"/>
          </a:xfrm>
        </p:grpSpPr>
        <p:sp>
          <p:nvSpPr>
            <p:cNvPr id="17" name="TextBox 17"/>
            <p:cNvSpPr txBox="1"/>
            <p:nvPr/>
          </p:nvSpPr>
          <p:spPr>
            <a:xfrm>
              <a:off x="80665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實務成效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92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待試用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6151" y="355282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理解與調度價值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真人任務與球隊現場，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需另記錄誤解及可用性。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不能由操作測試推論效益。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先分清樣本：只在實際續投時比較風險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fld>
          </a:p>
        </p:txBody>
      </p:sp>
      <p:grpSp>
        <p:nvGrpSpPr>
          <p:cNvPr id="11" name="sample-population"/>
          <p:cNvGrpSpPr/>
          <p:nvPr/>
        </p:nvGrpSpPr>
        <p:grpSpPr>
          <a:xfrm>
            <a:off x="609600" y="1714500"/>
            <a:ext cx="3429000" cy="1771650"/>
            <a:chOff x="609600" y="1714500"/>
            <a:chExt cx="3429000" cy="177165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429000" cy="1771650"/>
            </a:xfrm>
            <a:prstGeom prst="roundRect">
              <a:avLst>
                <a:gd name="adj" fmla="val 645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1860550"/>
              <a:ext cx="1840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第 6 局起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9150" y="2263775"/>
              <a:ext cx="1767027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4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11,868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8675" y="301942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個有效換投決策點</a:t>
              </a:r>
            </a:p>
          </p:txBody>
        </p:sp>
      </p:grpSp>
      <p:grpSp>
        <p:nvGrpSpPr>
          <p:cNvPr id="18" name="split-connectors"/>
          <p:cNvGrpSpPr/>
          <p:nvPr/>
        </p:nvGrpSpPr>
        <p:grpSpPr>
          <a:xfrm>
            <a:off x="4124325" y="2324100"/>
            <a:ext cx="942975" cy="2305050"/>
            <a:chOff x="4124325" y="2324100"/>
            <a:chExt cx="942975" cy="2305050"/>
          </a:xfrm>
        </p:grpSpPr>
        <p:sp>
          <p:nvSpPr>
            <p:cNvPr id="12" name="Line 12"/>
            <p:cNvSpPr/>
            <p:nvPr/>
          </p:nvSpPr>
          <p:spPr>
            <a:xfrm>
              <a:off x="4124325" y="262890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2390775"/>
              <a:ext cx="9525" cy="2171700"/>
            </a:xfrm>
            <a:custGeom>
              <a:avLst/>
              <a:gdLst/>
              <a:ahLst/>
              <a:cxnLst/>
              <a:rect l="l" t="t" r="r" b="b"/>
              <a:pathLst>
                <a:path w="9525" h="2171700">
                  <a:moveTo>
                    <a:pt x="0" y="0"/>
                  </a:moveTo>
                  <a:lnTo>
                    <a:pt x="0" y="2171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23907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953000" y="23241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4562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953000" y="44958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22" name="changed-excluded"/>
          <p:cNvGrpSpPr/>
          <p:nvPr/>
        </p:nvGrpSpPr>
        <p:grpSpPr>
          <a:xfrm>
            <a:off x="5248275" y="1714500"/>
            <a:ext cx="6334125" cy="1590675"/>
            <a:chOff x="5248275" y="1714500"/>
            <a:chExt cx="6334125" cy="1590675"/>
          </a:xfrm>
        </p:grpSpPr>
        <p:sp>
          <p:nvSpPr>
            <p:cNvPr id="19" name="Rectangle 19"/>
            <p:cNvSpPr/>
            <p:nvPr/>
          </p:nvSpPr>
          <p:spPr>
            <a:xfrm>
              <a:off x="5248275" y="1714500"/>
              <a:ext cx="6334125" cy="1590675"/>
            </a:xfrm>
            <a:prstGeom prst="roundRect">
              <a:avLst>
                <a:gd name="adj" fmla="val 718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82971" y="1825625"/>
              <a:ext cx="2305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實際換投 2,184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5638" y="247332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未納入續投結果的兩組比較。</a:t>
              </a:r>
            </a:p>
          </p:txBody>
        </p:sp>
      </p:grpSp>
      <p:grpSp>
        <p:nvGrpSpPr>
          <p:cNvPr id="27" name="stayed-included"/>
          <p:cNvGrpSpPr/>
          <p:nvPr/>
        </p:nvGrpSpPr>
        <p:grpSpPr>
          <a:xfrm>
            <a:off x="5248275" y="3781425"/>
            <a:ext cx="6334125" cy="1762125"/>
            <a:chOff x="5248275" y="3781425"/>
            <a:chExt cx="6334125" cy="1762125"/>
          </a:xfrm>
        </p:grpSpPr>
        <p:sp>
          <p:nvSpPr>
            <p:cNvPr id="23" name="Rectangle 23"/>
            <p:cNvSpPr/>
            <p:nvPr/>
          </p:nvSpPr>
          <p:spPr>
            <a:xfrm>
              <a:off x="5248275" y="3781425"/>
              <a:ext cx="6334125" cy="1762125"/>
            </a:xfrm>
            <a:prstGeom prst="roundRect">
              <a:avLst>
                <a:gd name="adj" fmla="val 648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2590" y="3854450"/>
              <a:ext cx="236916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實際續投 9,684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85257" y="4527550"/>
              <a:ext cx="2464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系統建議換投 1,954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5257" y="4994275"/>
              <a:ext cx="2747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系統未建議換投 7,730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609600" y="5743575"/>
            <a:ext cx="10972800" cy="704850"/>
            <a:chOff x="609600" y="5743575"/>
            <a:chExt cx="10972800" cy="704850"/>
          </a:xfrm>
        </p:grpSpPr>
        <p:sp>
          <p:nvSpPr>
            <p:cNvPr id="28" name="Rectangle 28"/>
            <p:cNvSpPr/>
            <p:nvPr/>
          </p:nvSpPr>
          <p:spPr>
            <a:xfrm>
              <a:off x="609600" y="57435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8294" y="5835650"/>
              <a:ext cx="81315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門檻為候選相對現任差距 ≥ 1 百分點；這是提示設定，尚非最佳門檻。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建議換投組的續投打席，得分價值較高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fld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7441946" cy="816356"/>
            <a:chOff x="598551" y="1743075"/>
            <a:chExt cx="7441946" cy="816356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743075"/>
              <a:ext cx="744194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比較實際續投的兩組：建議換投 1,954／未建議換投 7,730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178050"/>
              <a:ext cx="59430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觀察到的 RE24 組間平均差；防守方越高越不利。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22" y="3181350"/>
            <a:ext cx="6291273" cy="1358265"/>
            <a:chOff x="990422" y="3181350"/>
            <a:chExt cx="6291273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319695" y="3600450"/>
              <a:ext cx="3758684" cy="9525"/>
            </a:xfrm>
            <a:custGeom>
              <a:avLst/>
              <a:gdLst/>
              <a:ahLst/>
              <a:cxnLst/>
              <a:rect l="l" t="t" r="r" b="b"/>
              <a:pathLst>
                <a:path w="3758684" h="9525">
                  <a:moveTo>
                    <a:pt x="0" y="0"/>
                  </a:moveTo>
                  <a:lnTo>
                    <a:pt x="3758684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319695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78379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9687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0422" y="417195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5868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3855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625"/>
            <a:ext cx="2690533" cy="1347089"/>
            <a:chOff x="7924800" y="2841625"/>
            <a:chExt cx="2690533" cy="1347089"/>
          </a:xfrm>
        </p:grpSpPr>
        <p:sp>
          <p:nvSpPr>
            <p:cNvPr id="20" name="TextBox 20"/>
            <p:cNvSpPr txBox="1"/>
            <p:nvPr/>
          </p:nvSpPr>
          <p:spPr>
            <a:xfrm>
              <a:off x="7924800" y="2841625"/>
              <a:ext cx="2115738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1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2801" y="3762375"/>
              <a:ext cx="26825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50"/>
            <a:ext cx="7632954" cy="1234694"/>
            <a:chOff x="599313" y="4768850"/>
            <a:chExt cx="7632954" cy="1234694"/>
          </a:xfrm>
        </p:grpSpPr>
        <p:sp>
          <p:nvSpPr>
            <p:cNvPr id="23" name="TextBox 23"/>
            <p:cNvSpPr txBox="1"/>
            <p:nvPr/>
          </p:nvSpPr>
          <p:spPr>
            <a:xfrm>
              <a:off x="599313" y="4768850"/>
              <a:ext cx="57661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95% 常態近似區間：+0.017 至 +0.068 分／打席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694" y="518795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目前未依比賽群聚校正；觀察性差異，不能證明換投能改善結果。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651500"/>
              <a:ext cx="7346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代打組差異仍不明顯；RE24 為本打席得分加上前後預期得分變化。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368290" cy="4496562"/>
            <a:chOff x="590550" y="673132"/>
            <a:chExt cx="536829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網站實作｜自訂代打示例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胡金龍估計較有利，本例承接指定打擊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543050"/>
            <a:ext cx="10972800" cy="771525"/>
            <a:chOff x="599694" y="1543050"/>
            <a:chExt cx="10972800" cy="771525"/>
          </a:xfrm>
        </p:grpSpPr>
        <p:sp>
          <p:nvSpPr>
            <p:cNvPr id="7" name="TextBox 7"/>
            <p:cNvSpPr/>
            <p:nvPr/>
          </p:nvSpPr>
          <p:spPr>
            <a:xfrm>
              <a:off x="599694" y="1543050"/>
              <a:ext cx="109728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基準：林佳緯（DH）對魔力藍｜統一對富邦</a:t>
              </a:r>
              <a:b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 局上・1：2｜一出局，二壘有人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52334"/>
            <a:ext cx="11277600" cy="1762831"/>
            <a:chOff x="457200" y="2452334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52334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736086" cy="1191324"/>
            <a:chOff x="6227445" y="4826000"/>
            <a:chExt cx="373608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仍須核對今日可用資格。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網站實作｜自訂換投示例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6696456" cy="381381"/>
            <a:chOff x="599694" y="1644650"/>
            <a:chExt cx="669645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275298"/>
            <a:ext cx="11277600" cy="2116904"/>
            <a:chOff x="457200" y="2275298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75298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983736" cy="1191324"/>
            <a:chOff x="6227445" y="4826000"/>
            <a:chExt cx="398373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一起比較接下來三棒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9822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含本場球數調整；非整場換投效益。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190346" y="1524000"/>
            <a:ext cx="5791758" cy="4762500"/>
            <a:chOff x="1190346" y="1524000"/>
            <a:chExt cx="5791758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346" y="1524000"/>
              <a:ext cx="5791758" cy="4762500"/>
            </a:xfrm>
            <a:prstGeom prst="rect">
              <a:avLst/>
            </a:prstGeom>
          </p:spPr>
        </p:pic>
      </p:grpSp>
      <p:grpSp>
        <p:nvGrpSpPr>
          <p:cNvPr id="11" name="note-826-236"/>
          <p:cNvGrpSpPr/>
          <p:nvPr/>
        </p:nvGrpSpPr>
        <p:grpSpPr>
          <a:xfrm>
            <a:off x="7856220" y="1968500"/>
            <a:ext cx="2669804" cy="1191324"/>
            <a:chOff x="7856220" y="1968500"/>
            <a:chExt cx="2669804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9685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守備配置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419350"/>
              <a:ext cx="2668280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另設場上投手。</a:t>
              </a:r>
            </a:p>
          </p:txBody>
        </p:sp>
      </p:grpSp>
      <p:grpSp>
        <p:nvGrpSpPr>
          <p:cNvPr id="14" name="note-826-444"/>
          <p:cNvGrpSpPr/>
          <p:nvPr/>
        </p:nvGrpSpPr>
        <p:grpSpPr>
          <a:xfrm>
            <a:off x="7856220" y="3949700"/>
            <a:ext cx="2993136" cy="1191324"/>
            <a:chOff x="7856220" y="3949700"/>
            <a:chExt cx="2993136" cy="1191324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9497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互換守位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44005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依序點兩個位置，可復原；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套用後更新評估。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767560" y="1524000"/>
            <a:ext cx="6637330" cy="4762500"/>
            <a:chOff x="767560" y="1524000"/>
            <a:chExt cx="6637330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60" y="1524000"/>
              <a:ext cx="6637330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2646426" cy="857631"/>
            <a:chOff x="7856220" y="1806575"/>
            <a:chExt cx="2646426" cy="857631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選擇球員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828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點姓名，搜尋或改選。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調整棒次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用上下箭頭或互換棒次。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確認九棒與守位後生效。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常用牛棚存成群組，再核對今日可用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6BB5314-78C7-42B1-802B-7E8455716EA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fld>
          </a:p>
        </p:txBody>
      </p:sp>
      <p:grpSp>
        <p:nvGrpSpPr>
          <p:cNvPr id="8" name="screenshot-投手群組選取_3x.jpg"/>
          <p:cNvGrpSpPr/>
          <p:nvPr/>
        </p:nvGrpSpPr>
        <p:grpSpPr>
          <a:xfrm>
            <a:off x="609600" y="2021277"/>
            <a:ext cx="5905500" cy="3844146"/>
            <a:chOff x="609600" y="2021277"/>
            <a:chExt cx="5905500" cy="384414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021277"/>
              <a:ext cx="5905500" cy="3844146"/>
            </a:xfrm>
            <a:prstGeom prst="rect">
              <a:avLst/>
            </a:prstGeom>
          </p:spPr>
        </p:pic>
      </p:grpSp>
      <p:grpSp>
        <p:nvGrpSpPr>
          <p:cNvPr id="11" name="group-task-0"/>
          <p:cNvGrpSpPr/>
          <p:nvPr/>
        </p:nvGrpSpPr>
        <p:grpSpPr>
          <a:xfrm>
            <a:off x="7151370" y="1920875"/>
            <a:ext cx="3488436" cy="1248474"/>
            <a:chOff x="7151370" y="1920875"/>
            <a:chExt cx="3488436" cy="1248474"/>
          </a:xfrm>
        </p:grpSpPr>
        <p:sp>
          <p:nvSpPr>
            <p:cNvPr id="9" name="TextBox 9"/>
            <p:cNvSpPr txBox="1"/>
            <p:nvPr/>
          </p:nvSpPr>
          <p:spPr>
            <a:xfrm>
              <a:off x="7151370" y="1920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選擇群組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52894" y="2428875"/>
              <a:ext cx="34869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勝投組、敗投組或自訂義群組；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範本可修改，並非官方分組。</a:t>
              </a:r>
            </a:p>
          </p:txBody>
        </p:sp>
      </p:grpSp>
      <p:grpSp>
        <p:nvGrpSpPr>
          <p:cNvPr id="14" name="group-task-1"/>
          <p:cNvGrpSpPr/>
          <p:nvPr/>
        </p:nvGrpSpPr>
        <p:grpSpPr>
          <a:xfrm>
            <a:off x="7151370" y="3397250"/>
            <a:ext cx="2745486" cy="1248474"/>
            <a:chOff x="7151370" y="3397250"/>
            <a:chExt cx="2745486" cy="1248474"/>
          </a:xfrm>
        </p:grpSpPr>
        <p:sp>
          <p:nvSpPr>
            <p:cNvPr id="12" name="TextBox 12"/>
            <p:cNvSpPr txBox="1"/>
            <p:nvPr/>
          </p:nvSpPr>
          <p:spPr>
            <a:xfrm>
              <a:off x="7151370" y="3397250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52894" y="3905250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勾選成員，修改後儲存；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保存在此網站與瀏覽器。</a:t>
              </a:r>
            </a:p>
          </p:txBody>
        </p:sp>
      </p:grpSp>
      <p:grpSp>
        <p:nvGrpSpPr>
          <p:cNvPr id="17" name="group-task-2"/>
          <p:cNvGrpSpPr/>
          <p:nvPr/>
        </p:nvGrpSpPr>
        <p:grpSpPr>
          <a:xfrm>
            <a:off x="7151370" y="4873625"/>
            <a:ext cx="3958971" cy="914781"/>
            <a:chOff x="7151370" y="4873625"/>
            <a:chExt cx="3958971" cy="914781"/>
          </a:xfrm>
        </p:grpSpPr>
        <p:sp>
          <p:nvSpPr>
            <p:cNvPr id="15" name="TextBox 15"/>
            <p:cNvSpPr txBox="1"/>
            <p:nvPr/>
          </p:nvSpPr>
          <p:spPr>
            <a:xfrm>
              <a:off x="7151370" y="487362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52894" y="540702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套用群組，再確認今日可用資格。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魔力藍對右打：近期配球分布有變化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6BB5314-78C7-42B1-802B-7E8455716EA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fld>
          </a:p>
        </p:txBody>
      </p:sp>
      <p:grpSp>
        <p:nvGrpSpPr>
          <p:cNvPr id="8" name="period-samples"/>
          <p:cNvGrpSpPr/>
          <p:nvPr/>
        </p:nvGrpSpPr>
        <p:grpSpPr>
          <a:xfrm>
            <a:off x="600075" y="1562100"/>
            <a:ext cx="7831277" cy="367665"/>
            <a:chOff x="600075" y="1562100"/>
            <a:chExt cx="7831277" cy="367665"/>
          </a:xfrm>
        </p:grpSpPr>
        <p:sp>
          <p:nvSpPr>
            <p:cNvPr id="7" name="TextBox 7"/>
            <p:cNvSpPr txBox="1"/>
            <p:nvPr/>
          </p:nvSpPr>
          <p:spPr>
            <a:xfrm>
              <a:off x="600075" y="1562100"/>
              <a:ext cx="78312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之前 10 場 428 球，最近 5 場 258 球；比例改變不代表球種效果提升。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1496060" y="1981200"/>
            <a:ext cx="9199881" cy="4238625"/>
            <a:chOff x="1496060" y="1981200"/>
            <a:chExt cx="9199881" cy="42386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6060" y="1981200"/>
              <a:ext cx="9199881" cy="4238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9212770" cy="1063625"/>
            <a:chOff x="592836" y="250825"/>
            <a:chExt cx="921277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2025/09/20：六隊三場，226 打席皆可攻守比較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r>
          </a:p>
        </p:txBody>
      </p:sp>
      <p:grpSp>
        <p:nvGrpSpPr>
          <p:cNvPr id="8" name="shot-單日比賽摘要"/>
          <p:cNvGrpSpPr/>
          <p:nvPr/>
        </p:nvGrpSpPr>
        <p:grpSpPr>
          <a:xfrm>
            <a:off x="790735" y="1524000"/>
            <a:ext cx="4952679" cy="4686300"/>
            <a:chOff x="790735" y="1524000"/>
            <a:chExt cx="4952679" cy="46863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735" y="1524000"/>
              <a:ext cx="4952679" cy="4686300"/>
            </a:xfrm>
            <a:prstGeom prst="rect">
              <a:avLst/>
            </a:prstGeom>
          </p:spPr>
        </p:pic>
      </p:grpSp>
      <p:grpSp>
        <p:nvGrpSpPr>
          <p:cNvPr id="19" name="day-scope"/>
          <p:cNvGrpSpPr/>
          <p:nvPr/>
        </p:nvGrpSpPr>
        <p:grpSpPr>
          <a:xfrm>
            <a:off x="6553200" y="1797050"/>
            <a:ext cx="4077843" cy="4266565"/>
            <a:chOff x="6553200" y="1797050"/>
            <a:chExt cx="4077843" cy="4266565"/>
          </a:xfrm>
        </p:grpSpPr>
        <p:sp>
          <p:nvSpPr>
            <p:cNvPr id="9" name="TextBox 9"/>
            <p:cNvSpPr txBox="1"/>
            <p:nvPr/>
          </p:nvSpPr>
          <p:spPr>
            <a:xfrm>
              <a:off x="6560439" y="1797050"/>
              <a:ext cx="285872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 六隊三場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53200" y="2117725"/>
              <a:ext cx="1463345" cy="1291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27364" y="2663825"/>
              <a:ext cx="96057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個打席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1201" y="34385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0923" y="34512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70 打席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1201" y="414337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0923" y="415607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74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1201" y="48482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0923" y="48609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82 打席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2725" y="5695950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左圖為樂天對統一的當日摘要。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回放案例一：代打與換投的基準不同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r>
          </a:p>
        </p:txBody>
      </p:sp>
      <p:grpSp>
        <p:nvGrpSpPr>
          <p:cNvPr id="10" name="replay-baseline-0"/>
          <p:cNvGrpSpPr/>
          <p:nvPr/>
        </p:nvGrpSpPr>
        <p:grpSpPr>
          <a:xfrm>
            <a:off x="596265" y="1863725"/>
            <a:ext cx="2742946" cy="1643825"/>
            <a:chOff x="596265" y="1863725"/>
            <a:chExt cx="2742946" cy="1643825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1863725"/>
              <a:ext cx="143748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551" y="25527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固定投手：王志煊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1115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比較陳傑憲與其他打者</a:t>
              </a:r>
            </a:p>
          </p:txBody>
        </p:sp>
      </p:grpSp>
      <p:grpSp>
        <p:nvGrpSpPr>
          <p:cNvPr id="14" name="replay-baseline-1"/>
          <p:cNvGrpSpPr/>
          <p:nvPr/>
        </p:nvGrpSpPr>
        <p:grpSpPr>
          <a:xfrm>
            <a:off x="6235065" y="1863725"/>
            <a:ext cx="3414030" cy="1643825"/>
            <a:chOff x="6235065" y="1863725"/>
            <a:chExt cx="3414030" cy="1643825"/>
          </a:xfrm>
        </p:grpSpPr>
        <p:sp>
          <p:nvSpPr>
            <p:cNvPr id="11" name="TextBox 11"/>
            <p:cNvSpPr txBox="1"/>
            <p:nvPr/>
          </p:nvSpPr>
          <p:spPr>
            <a:xfrm>
              <a:off x="6235065" y="1863725"/>
              <a:ext cx="143748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37351" y="25527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固定接下來的打者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38113" y="3111500"/>
              <a:ext cx="341098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林子崴續投 vs 王志煊等候選</a:t>
              </a:r>
            </a:p>
          </p:txBody>
        </p:sp>
      </p:grpSp>
      <p:grpSp>
        <p:nvGrpSpPr>
          <p:cNvPr id="16" name="source-picture"/>
          <p:cNvGrpSpPr/>
          <p:nvPr/>
        </p:nvGrpSpPr>
        <p:grpSpPr>
          <a:xfrm>
            <a:off x="1091595" y="4010025"/>
            <a:ext cx="10008810" cy="1905000"/>
            <a:chOff x="1091595" y="4010025"/>
            <a:chExt cx="10008810" cy="19050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1595" y="4010025"/>
              <a:ext cx="1000881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只拿當時已知資訊，結果留在打席結束後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r>
          </a:p>
        </p:txBody>
      </p:sp>
      <p:grpSp>
        <p:nvGrpSpPr>
          <p:cNvPr id="19" name="time-boundary"/>
          <p:cNvGrpSpPr/>
          <p:nvPr/>
        </p:nvGrpSpPr>
        <p:grpSpPr>
          <a:xfrm>
            <a:off x="609600" y="1857375"/>
            <a:ext cx="10972800" cy="2114550"/>
            <a:chOff x="609600" y="1857375"/>
            <a:chExt cx="10972800" cy="2114550"/>
          </a:xfrm>
        </p:grpSpPr>
        <p:sp>
          <p:nvSpPr>
            <p:cNvPr id="7" name="Rectangle 7"/>
            <p:cNvSpPr/>
            <p:nvPr/>
          </p:nvSpPr>
          <p:spPr>
            <a:xfrm>
              <a:off x="609600" y="1857375"/>
              <a:ext cx="7229475" cy="2114550"/>
            </a:xfrm>
            <a:prstGeom prst="roundRect">
              <a:avLst>
                <a:gd name="adj" fmla="val 540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153400" y="1857375"/>
              <a:ext cx="34290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762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24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104" y="2073275"/>
              <a:ext cx="44529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883" y="3181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逐球模型訓練截止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153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0037" y="2073275"/>
              <a:ext cx="13174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797" y="318135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725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8143" y="20732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25" y="3181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實際調度與結果</a:t>
              </a:r>
            </a:p>
          </p:txBody>
        </p:sp>
      </p:grpSp>
      <p:grpSp>
        <p:nvGrpSpPr>
          <p:cNvPr id="24" name="known-and-outcomes"/>
          <p:cNvGrpSpPr/>
          <p:nvPr/>
        </p:nvGrpSpPr>
        <p:grpSpPr>
          <a:xfrm>
            <a:off x="597789" y="4349750"/>
            <a:ext cx="10384060" cy="1273810"/>
            <a:chOff x="597789" y="4349750"/>
            <a:chExt cx="10384060" cy="1273810"/>
          </a:xfrm>
        </p:grpSpPr>
        <p:sp>
          <p:nvSpPr>
            <p:cNvPr id="20" name="TextBox 20"/>
            <p:cNvSpPr txBox="1"/>
            <p:nvPr/>
          </p:nvSpPr>
          <p:spPr>
            <a:xfrm>
              <a:off x="59778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決策輸入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313" y="4854575"/>
              <a:ext cx="463829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同日結果不進能力估計；負荷截於賽前。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853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判讀界線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600063" y="4854607"/>
              <a:ext cx="4381786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局起；1 百分點為目前提示設定。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單日結果不是準確率，也非因果證據。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網站實作｜回放案例二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回放案例二：估計、判讀與結果分開看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054073" y="1628775"/>
            <a:ext cx="10083854" cy="3048000"/>
            <a:chOff x="1054073" y="1628775"/>
            <a:chExt cx="1008385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073" y="1628775"/>
              <a:ext cx="10083854" cy="3048000"/>
            </a:xfrm>
            <a:prstGeom prst="rect">
              <a:avLst/>
            </a:prstGeom>
          </p:spPr>
        </p:pic>
      </p:grpSp>
      <p:grpSp>
        <p:nvGrpSpPr>
          <p:cNvPr id="12" name="result-0"/>
          <p:cNvGrpSpPr/>
          <p:nvPr/>
        </p:nvGrpSpPr>
        <p:grpSpPr>
          <a:xfrm>
            <a:off x="597027" y="4959350"/>
            <a:ext cx="1960245" cy="1282319"/>
            <a:chOff x="597027" y="4959350"/>
            <a:chExt cx="1960245" cy="1282319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027" y="5353050"/>
              <a:ext cx="193322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5889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result-1"/>
          <p:cNvGrpSpPr/>
          <p:nvPr/>
        </p:nvGrpSpPr>
        <p:grpSpPr>
          <a:xfrm>
            <a:off x="4330827" y="4959350"/>
            <a:ext cx="2458593" cy="1282319"/>
            <a:chOff x="4330827" y="4959350"/>
            <a:chExt cx="2458593" cy="1282319"/>
          </a:xfrm>
        </p:grpSpPr>
        <p:sp>
          <p:nvSpPr>
            <p:cNvPr id="13" name="TextBox 13"/>
            <p:cNvSpPr txBox="1"/>
            <p:nvPr/>
          </p:nvSpPr>
          <p:spPr>
            <a:xfrm>
              <a:off x="43334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8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5889625"/>
              <a:ext cx="2455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result-2"/>
          <p:cNvGrpSpPr/>
          <p:nvPr/>
        </p:nvGrpSpPr>
        <p:grpSpPr>
          <a:xfrm>
            <a:off x="8064627" y="4959350"/>
            <a:ext cx="2202561" cy="1282319"/>
            <a:chOff x="8064627" y="4959350"/>
            <a:chExt cx="2202561" cy="1282319"/>
          </a:xfrm>
        </p:grpSpPr>
        <p:sp>
          <p:nvSpPr>
            <p:cNvPr id="17" name="TextBox 17"/>
            <p:cNvSpPr txBox="1"/>
            <p:nvPr/>
          </p:nvSpPr>
          <p:spPr>
            <a:xfrm>
              <a:off x="80672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46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8056" y="58896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r>
          </a:p>
        </p:txBody>
      </p:sp>
      <p:grpSp>
        <p:nvGrpSpPr>
          <p:cNvPr id="8" name="shot-陳冠宇賽前負荷"/>
          <p:cNvGrpSpPr/>
          <p:nvPr/>
        </p:nvGrpSpPr>
        <p:grpSpPr>
          <a:xfrm>
            <a:off x="1220947" y="1952625"/>
            <a:ext cx="5863907" cy="4076700"/>
            <a:chOff x="1220947" y="1952625"/>
            <a:chExt cx="5863907" cy="40767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47" y="1952625"/>
              <a:ext cx="5863907" cy="4076700"/>
            </a:xfrm>
            <a:prstGeom prst="rect">
              <a:avLst/>
            </a:prstGeom>
          </p:spPr>
        </p:pic>
      </p:grpSp>
      <p:grpSp>
        <p:nvGrpSpPr>
          <p:cNvPr id="17" name="load-reading"/>
          <p:cNvGrpSpPr/>
          <p:nvPr/>
        </p:nvGrpSpPr>
        <p:grpSpPr>
          <a:xfrm>
            <a:off x="8082534" y="1812925"/>
            <a:ext cx="3022092" cy="3907790"/>
            <a:chOff x="8082534" y="1812925"/>
            <a:chExt cx="3022092" cy="3907790"/>
          </a:xfrm>
        </p:grpSpPr>
        <p:sp>
          <p:nvSpPr>
            <p:cNvPr id="9" name="TextBox 9"/>
            <p:cNvSpPr txBox="1"/>
            <p:nvPr/>
          </p:nvSpPr>
          <p:spPr>
            <a:xfrm>
              <a:off x="8082534" y="181292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5582" y="2336800"/>
              <a:ext cx="20221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2025/09/20 賽前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85201" y="2990850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6725" y="3448050"/>
              <a:ext cx="251913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9/18，完整休息一天。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5201" y="39433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近三天球數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6725" y="4400550"/>
              <a:ext cx="143250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累計 17 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5201" y="4895850"/>
              <a:ext cx="166110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 14 天出賽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8086725" y="5353050"/>
              <a:ext cx="301790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4 場；不等同疲勞診斷。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遇到提醒時，下一步要做什麼？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r>
          </a:p>
        </p:txBody>
      </p:sp>
      <p:grpSp>
        <p:nvGrpSpPr>
          <p:cNvPr id="10" name="action-0"/>
          <p:cNvGrpSpPr/>
          <p:nvPr/>
        </p:nvGrpSpPr>
        <p:grpSpPr>
          <a:xfrm>
            <a:off x="596646" y="2190750"/>
            <a:ext cx="2845181" cy="2461228"/>
            <a:chOff x="596646" y="2190750"/>
            <a:chExt cx="2845181" cy="2461228"/>
          </a:xfrm>
        </p:grpSpPr>
        <p:sp>
          <p:nvSpPr>
            <p:cNvPr id="7" name="TextBox 7"/>
            <p:cNvSpPr txBox="1"/>
            <p:nvPr/>
          </p:nvSpPr>
          <p:spPr>
            <a:xfrm>
              <a:off x="5966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接守需求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1273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替補能守原位置嗎？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88302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先確認代打後守備配置，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缺接守人選就重新選人。</a:t>
              </a:r>
            </a:p>
          </p:txBody>
        </p:sp>
      </p:grpSp>
      <p:grpSp>
        <p:nvGrpSpPr>
          <p:cNvPr id="14" name="action-1"/>
          <p:cNvGrpSpPr/>
          <p:nvPr/>
        </p:nvGrpSpPr>
        <p:grpSpPr>
          <a:xfrm>
            <a:off x="4330446" y="2190750"/>
            <a:ext cx="2850642" cy="2461228"/>
            <a:chOff x="4330446" y="2190750"/>
            <a:chExt cx="2850642" cy="2461228"/>
          </a:xfrm>
        </p:grpSpPr>
        <p:sp>
          <p:nvSpPr>
            <p:cNvPr id="11" name="TextBox 11"/>
            <p:cNvSpPr txBox="1"/>
            <p:nvPr/>
          </p:nvSpPr>
          <p:spPr>
            <a:xfrm>
              <a:off x="43304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模型分歧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2732" y="312737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兩種估計方向相同嗎？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3883025"/>
              <a:ext cx="258597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查看拆解與樣本，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保留差距未定的判斷。</a:t>
              </a:r>
            </a:p>
          </p:txBody>
        </p:sp>
      </p:grpSp>
      <p:grpSp>
        <p:nvGrpSpPr>
          <p:cNvPr id="18" name="action-2"/>
          <p:cNvGrpSpPr/>
          <p:nvPr/>
        </p:nvGrpSpPr>
        <p:grpSpPr>
          <a:xfrm>
            <a:off x="8064246" y="2190750"/>
            <a:ext cx="3133344" cy="2461228"/>
            <a:chOff x="8064246" y="2190750"/>
            <a:chExt cx="3133344" cy="2461228"/>
          </a:xfrm>
        </p:grpSpPr>
        <p:sp>
          <p:nvSpPr>
            <p:cNvPr id="15" name="TextBox 15"/>
            <p:cNvSpPr txBox="1"/>
            <p:nvPr/>
          </p:nvSpPr>
          <p:spPr>
            <a:xfrm>
              <a:off x="80642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資料有限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532" y="312737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個人資料夠描述對決嗎？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913" y="388302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核對今日可用與近期出賽，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勿把低樣本排序視為定論。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r>
          </a:p>
        </p:txBody>
      </p:sp>
      <p:grpSp>
        <p:nvGrpSpPr>
          <p:cNvPr id="8" name="play-instruction"/>
          <p:cNvGrpSpPr/>
          <p:nvPr/>
        </p:nvGrpSpPr>
        <p:grpSpPr>
          <a:xfrm>
            <a:off x="10051256" y="263557"/>
            <a:ext cx="1539526" cy="322707"/>
            <a:chOff x="10051256" y="263557"/>
            <a:chExt cx="1539526" cy="322707"/>
          </a:xfrm>
        </p:grpSpPr>
        <p:sp>
          <p:nvSpPr>
            <p:cNvPr id="7" name="TextBox 7"/>
            <p:cNvSpPr/>
            <p:nvPr/>
          </p:nvSpPr>
          <p:spPr>
            <a:xfrm>
              <a:off x="10051256" y="263557"/>
              <a:ext cx="153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點選播放影片</a:t>
              </a:r>
            </a:p>
          </p:txBody>
        </p:sp>
      </p:grp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84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網站已完成，下一步驗證實際使用價值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r>
          </a:p>
        </p:txBody>
      </p:sp>
      <p:grpSp>
        <p:nvGrpSpPr>
          <p:cNvPr id="10" name="delivered-0"/>
          <p:cNvGrpSpPr/>
          <p:nvPr/>
        </p:nvGrpSpPr>
        <p:grpSpPr>
          <a:xfrm>
            <a:off x="590550" y="2101850"/>
            <a:ext cx="3000756" cy="2543874"/>
            <a:chOff x="590550" y="2101850"/>
            <a:chExt cx="3000756" cy="2543874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101850"/>
              <a:ext cx="2141525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 種方式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551" y="32480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一般使用者／球隊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9052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皆可評估與安排我方名單；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依模式使用不同人選限制。</a:t>
              </a:r>
            </a:p>
          </p:txBody>
        </p:sp>
      </p:grpSp>
      <p:grpSp>
        <p:nvGrpSpPr>
          <p:cNvPr id="14" name="delivered-1"/>
          <p:cNvGrpSpPr/>
          <p:nvPr/>
        </p:nvGrpSpPr>
        <p:grpSpPr>
          <a:xfrm>
            <a:off x="4324350" y="2101850"/>
            <a:ext cx="3000756" cy="2543874"/>
            <a:chOff x="4324350" y="2101850"/>
            <a:chExt cx="3000756" cy="2543874"/>
          </a:xfrm>
        </p:grpSpPr>
        <p:sp>
          <p:nvSpPr>
            <p:cNvPr id="11" name="TextBox 11"/>
            <p:cNvSpPr txBox="1"/>
            <p:nvPr/>
          </p:nvSpPr>
          <p:spPr>
            <a:xfrm>
              <a:off x="4324350" y="2101850"/>
              <a:ext cx="2141525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3 個入口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2351" y="3248025"/>
              <a:ext cx="295681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評估、名單、單日分析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494" y="39052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換打與換投共用比較邏輯；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單日分析獨立於使用模式。</a:t>
              </a:r>
            </a:p>
          </p:txBody>
        </p:sp>
      </p:grpSp>
      <p:grpSp>
        <p:nvGrpSpPr>
          <p:cNvPr id="18" name="delivered-2"/>
          <p:cNvGrpSpPr/>
          <p:nvPr/>
        </p:nvGrpSpPr>
        <p:grpSpPr>
          <a:xfrm>
            <a:off x="8058150" y="2101850"/>
            <a:ext cx="3248406" cy="2543874"/>
            <a:chOff x="8058150" y="2101850"/>
            <a:chExt cx="3248406" cy="2543874"/>
          </a:xfrm>
        </p:grpSpPr>
        <p:sp>
          <p:nvSpPr>
            <p:cNvPr id="15" name="TextBox 15"/>
            <p:cNvSpPr txBox="1"/>
            <p:nvPr/>
          </p:nvSpPr>
          <p:spPr>
            <a:xfrm>
              <a:off x="8058150" y="2101850"/>
              <a:ext cx="217291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151" y="32480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六隊三場歷史回放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7294" y="3905250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2025/09/20 可雙向比較；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回放涵蓋量不是預測準確率。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197596" cy="1063625"/>
            <a:chOff x="592836" y="250825"/>
            <a:chExt cx="819759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1975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2026，補齊球員與名單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r>
          </a:p>
        </p:txBody>
      </p:sp>
      <p:grpSp>
        <p:nvGrpSpPr>
          <p:cNvPr id="12" name="year-transition"/>
          <p:cNvGrpSpPr/>
          <p:nvPr/>
        </p:nvGrpSpPr>
        <p:grpSpPr>
          <a:xfrm>
            <a:off x="592074" y="1816100"/>
            <a:ext cx="7202424" cy="1302861"/>
            <a:chOff x="592074" y="1816100"/>
            <a:chExt cx="7202424" cy="1302861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866900"/>
              <a:ext cx="224332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81425" y="21336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714875" y="2066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67350" y="1816100"/>
              <a:ext cx="1124814" cy="747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8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2026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2708243"/>
              <a:ext cx="719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先取得資料並確認授權，再做串接；2026 尚未納入本版。</a:t>
              </a:r>
            </a:p>
          </p:txBody>
        </p:sp>
      </p:grpSp>
      <p:grpSp>
        <p:nvGrpSpPr>
          <p:cNvPr id="15" name="future-data-0"/>
          <p:cNvGrpSpPr/>
          <p:nvPr/>
        </p:nvGrpSpPr>
        <p:grpSpPr>
          <a:xfrm>
            <a:off x="597789" y="3673475"/>
            <a:ext cx="2993517" cy="1683766"/>
            <a:chOff x="597789" y="3673475"/>
            <a:chExt cx="2993517" cy="1683766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人員與當日名單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694" y="42576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補入正式登錄及逐場名單，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並串接逐場守位。</a:t>
              </a:r>
            </a:p>
          </p:txBody>
        </p:sp>
      </p:grpSp>
      <p:grpSp>
        <p:nvGrpSpPr>
          <p:cNvPr id="18" name="future-data-1"/>
          <p:cNvGrpSpPr/>
          <p:nvPr/>
        </p:nvGrpSpPr>
        <p:grpSpPr>
          <a:xfrm>
            <a:off x="4331589" y="3673475"/>
            <a:ext cx="3241167" cy="1324674"/>
            <a:chOff x="4331589" y="3673475"/>
            <a:chExt cx="3241167" cy="1324674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逐球與投球負荷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4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持續累積逐球與出賽資料，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以球員編號串接跨年度紀錄。</a:t>
              </a:r>
            </a:p>
          </p:txBody>
        </p:sp>
      </p:grpSp>
      <p:grpSp>
        <p:nvGrpSpPr>
          <p:cNvPr id="21" name="future-data-2"/>
          <p:cNvGrpSpPr/>
          <p:nvPr/>
        </p:nvGrpSpPr>
        <p:grpSpPr>
          <a:xfrm>
            <a:off x="8065389" y="3673475"/>
            <a:ext cx="3241167" cy="1324674"/>
            <a:chOff x="8065389" y="3673475"/>
            <a:chExt cx="3241167" cy="1324674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6734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新球員的估計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467350"/>
            <a:ext cx="10972800" cy="1028700"/>
            <a:chOff x="609600" y="5467350"/>
            <a:chExt cx="109728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609600" y="546735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534025"/>
              <a:ext cx="69540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完成條件：人員、轉隊、日期可核對；缺漏名單保留人工確認。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第二項規劃：更新近況，驗證後再調整權重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33</a:t>
            </a:r>
          </a:p>
        </p:txBody>
      </p:sp>
      <p:grpSp>
        <p:nvGrpSpPr>
          <p:cNvPr id="26" name="weighted-games"/>
          <p:cNvGrpSpPr/>
          <p:nvPr/>
        </p:nvGrpSpPr>
        <p:grpSpPr>
          <a:xfrm>
            <a:off x="598551" y="1809750"/>
            <a:ext cx="10269474" cy="1805940"/>
            <a:chOff x="598551" y="1809750"/>
            <a:chExt cx="10269474" cy="180594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809750"/>
              <a:ext cx="647847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概念示意：較舊比賽逐步淡化，近期資訊持續加入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4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14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DCE0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02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BCC8C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41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910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91A5A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793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647F8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3D5B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5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4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620250" y="2781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44200" y="27146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775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較舊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2804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</p:grpSp>
      <p:grpSp>
        <p:nvGrpSpPr>
          <p:cNvPr id="29" name="update-0"/>
          <p:cNvGrpSpPr/>
          <p:nvPr/>
        </p:nvGrpSpPr>
        <p:grpSpPr>
          <a:xfrm>
            <a:off x="598551" y="3962400"/>
            <a:ext cx="2745105" cy="1226249"/>
            <a:chOff x="598551" y="3962400"/>
            <a:chExt cx="2745105" cy="1226249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624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每場後更新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6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補入逐球、出賽與負荷，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顯示資料更新日期。</a:t>
              </a:r>
            </a:p>
          </p:txBody>
        </p:sp>
      </p:grpSp>
      <p:grpSp>
        <p:nvGrpSpPr>
          <p:cNvPr id="32" name="update-1"/>
          <p:cNvGrpSpPr/>
          <p:nvPr/>
        </p:nvGrpSpPr>
        <p:grpSpPr>
          <a:xfrm>
            <a:off x="4332351" y="3962400"/>
            <a:ext cx="2745105" cy="1226249"/>
            <a:chOff x="4332351" y="3962400"/>
            <a:chExt cx="2745105" cy="1226249"/>
          </a:xfrm>
        </p:grpSpPr>
        <p:sp>
          <p:nvSpPr>
            <p:cNvPr id="30" name="TextBox 30"/>
            <p:cNvSpPr txBox="1"/>
            <p:nvPr/>
          </p:nvSpPr>
          <p:spPr>
            <a:xfrm>
              <a:off x="4332351" y="39624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樣本不足時保留基準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4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樣本少時降低近期影響。</a:t>
              </a:r>
            </a:p>
          </p:txBody>
        </p:sp>
      </p:grpSp>
      <p:grpSp>
        <p:nvGrpSpPr>
          <p:cNvPr id="35" name="update-2"/>
          <p:cNvGrpSpPr/>
          <p:nvPr/>
        </p:nvGrpSpPr>
        <p:grpSpPr>
          <a:xfrm>
            <a:off x="8066151" y="3962400"/>
            <a:ext cx="3240405" cy="1226249"/>
            <a:chOff x="8066151" y="3962400"/>
            <a:chExt cx="3240405" cy="1226249"/>
          </a:xfrm>
        </p:grpSpPr>
        <p:sp>
          <p:nvSpPr>
            <p:cNvPr id="33" name="TextBox 33"/>
            <p:cNvSpPr txBox="1"/>
            <p:nvPr/>
          </p:nvSpPr>
          <p:spPr>
            <a:xfrm>
              <a:off x="8066151" y="39624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按時間驗證才採用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294" y="44481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與固定權重比較預測誤差；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6" name="Rectangle 36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7" name="TextBox 37"/>
            <p:cNvSpPr/>
            <p:nvPr/>
          </p:nvSpPr>
          <p:spPr>
            <a:xfrm>
              <a:off x="828294" y="5721382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既有時間衰減實驗尚不足支持啟用；新資料到位後再驗證，保留原版。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第三項規劃：先補資料，再完成實務功能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34</a:t>
            </a:r>
          </a:p>
        </p:txBody>
      </p:sp>
      <p:grpSp>
        <p:nvGrpSpPr>
          <p:cNvPr id="12" name="planned-task-0"/>
          <p:cNvGrpSpPr/>
          <p:nvPr/>
        </p:nvGrpSpPr>
        <p:grpSpPr>
          <a:xfrm>
            <a:off x="592074" y="1790700"/>
            <a:ext cx="10303078" cy="1254824"/>
            <a:chOff x="592074" y="1790700"/>
            <a:chExt cx="10303078" cy="1254824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79070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59458" y="18224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761744" y="23050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先取得或人工確認單場名單，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避免重複勾選已退場者。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075" y="18859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75" y="23431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狀態可修正，重整可恢復。</a:t>
              </a:r>
            </a:p>
          </p:txBody>
        </p:sp>
      </p:grpSp>
      <p:grpSp>
        <p:nvGrpSpPr>
          <p:cNvPr id="18" name="planned-task-1"/>
          <p:cNvGrpSpPr/>
          <p:nvPr/>
        </p:nvGrpSpPr>
        <p:grpSpPr>
          <a:xfrm>
            <a:off x="592074" y="3228975"/>
            <a:ext cx="10556164" cy="1254824"/>
            <a:chOff x="592074" y="3228975"/>
            <a:chExt cx="10556164" cy="1254824"/>
          </a:xfrm>
        </p:grpSpPr>
        <p:sp>
          <p:nvSpPr>
            <p:cNvPr id="13" name="TextBox 13"/>
            <p:cNvSpPr txBox="1"/>
            <p:nvPr/>
          </p:nvSpPr>
          <p:spPr>
            <a:xfrm>
              <a:off x="592074" y="3228975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458" y="32607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換投候選負荷對照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1744" y="3743325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直接看依據，暫不改評分公式。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39075" y="33242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39075" y="378142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數值可追溯，缺資料有提醒。</a:t>
              </a:r>
            </a:p>
          </p:txBody>
        </p:sp>
      </p:grpSp>
      <p:grpSp>
        <p:nvGrpSpPr>
          <p:cNvPr id="24" name="planned-task-2"/>
          <p:cNvGrpSpPr/>
          <p:nvPr/>
        </p:nvGrpSpPr>
        <p:grpSpPr>
          <a:xfrm>
            <a:off x="592074" y="4667250"/>
            <a:ext cx="10303078" cy="1254824"/>
            <a:chOff x="592074" y="4667250"/>
            <a:chExt cx="10303078" cy="1254824"/>
          </a:xfrm>
        </p:grpSpPr>
        <p:sp>
          <p:nvSpPr>
            <p:cNvPr id="19" name="TextBox 19"/>
            <p:cNvSpPr txBox="1"/>
            <p:nvPr/>
          </p:nvSpPr>
          <p:spPr>
            <a:xfrm>
              <a:off x="592074" y="466725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9458" y="46990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1761744" y="518160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逐場守位到位後減少推估，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只讀取決策前可得資料。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75" y="47625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75" y="52197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後續出賽不改變當時資料。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35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41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8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近期配球以整場出賽重抽樣描述區間，不視為候選勝出機率。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3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303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  <a:b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61" cy="1134618"/>
            <a:chOff x="592836" y="3822668"/>
            <a:chExt cx="1781461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36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36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