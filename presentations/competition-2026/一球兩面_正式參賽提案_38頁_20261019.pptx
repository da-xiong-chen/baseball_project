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a69731a2453d3d2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e3f121c878d3fb8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</a:t>
            </a:fld>
          </a:p>
        </p:txBody>
      </p:sp>
      <p:grpSp>
        <p:nvGrpSpPr>
          <p:cNvPr id="5" name="cover-heading"/>
          <p:cNvGrpSpPr/>
          <p:nvPr/>
        </p:nvGrpSpPr>
        <p:grpSpPr>
          <a:xfrm>
            <a:off x="3813277" y="146050"/>
            <a:ext cx="4565447" cy="823151"/>
            <a:chOff x="3813277" y="146050"/>
            <a:chExt cx="4565447" cy="823151"/>
          </a:xfrm>
        </p:grpSpPr>
        <p:sp>
          <p:nvSpPr>
            <p:cNvPr id="3" name="TextBox 3"/>
            <p:cNvSpPr txBox="1"/>
            <p:nvPr/>
          </p:nvSpPr>
          <p:spPr>
            <a:xfrm>
              <a:off x="5355336" y="146050"/>
              <a:ext cx="1481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7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3277" y="631825"/>
              <a:ext cx="456544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original-picture"/>
          <p:cNvGrpSpPr/>
          <p:nvPr/>
        </p:nvGrpSpPr>
        <p:grpSpPr>
          <a:xfrm>
            <a:off x="5238750" y="1104900"/>
            <a:ext cx="1714500" cy="1714500"/>
            <a:chOff x="5238750" y="1104900"/>
            <a:chExt cx="1714500" cy="17145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8750" y="1104900"/>
              <a:ext cx="1714500" cy="1714500"/>
            </a:xfrm>
            <a:prstGeom prst="rect">
              <a:avLst/>
            </a:prstGeom>
          </p:spPr>
        </p:pic>
      </p:grpSp>
      <p:grpSp>
        <p:nvGrpSpPr>
          <p:cNvPr id="13" name="cover-message"/>
          <p:cNvGrpSpPr/>
          <p:nvPr/>
        </p:nvGrpSpPr>
        <p:grpSpPr>
          <a:xfrm>
            <a:off x="3509962" y="2873375"/>
            <a:ext cx="5172075" cy="2410206"/>
            <a:chOff x="3509962" y="2873375"/>
            <a:chExt cx="5172075" cy="2410206"/>
          </a:xfrm>
        </p:grpSpPr>
        <p:sp>
          <p:nvSpPr>
            <p:cNvPr id="8" name="TextBox 8"/>
            <p:cNvSpPr txBox="1"/>
            <p:nvPr/>
          </p:nvSpPr>
          <p:spPr>
            <a:xfrm>
              <a:off x="4138422" y="2873375"/>
              <a:ext cx="39151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8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0" y="371475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9962" y="3921125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01440" y="434657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73549" y="49022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grpSp>
        <p:nvGrpSpPr>
          <p:cNvPr id="16" name="visible-project-urls"/>
          <p:cNvGrpSpPr/>
          <p:nvPr/>
        </p:nvGrpSpPr>
        <p:grpSpPr>
          <a:xfrm>
            <a:off x="2839476" y="5505450"/>
            <a:ext cx="6513049" cy="796290"/>
            <a:chOff x="2839476" y="5505450"/>
            <a:chExt cx="6513049" cy="796290"/>
          </a:xfrm>
        </p:grpSpPr>
        <p:sp>
          <p:nvSpPr>
            <p:cNvPr id="14" name="TextBox 14">
              <a:hlinkClick r:id="rId3"/>
            </p:cNvPr>
            <p:cNvSpPr txBox="1"/>
            <p:nvPr/>
          </p:nvSpPr>
          <p:spPr>
            <a:xfrm>
              <a:off x="3193399" y="5505450"/>
              <a:ext cx="580520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5" name="TextBox 15">
              <a:hlinkClick r:id="rId4"/>
            </p:cNvPr>
            <p:cNvSpPr txBox="1"/>
            <p:nvPr/>
          </p:nvSpPr>
          <p:spPr>
            <a:xfrm>
              <a:off x="2839476" y="5934075"/>
              <a:ext cx="65130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3635883" y="193675"/>
            <a:ext cx="4920234" cy="1111250"/>
            <a:chOff x="3635883" y="193675"/>
            <a:chExt cx="492023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684520" y="193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35883" y="54610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從換人情境，到網站實作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0" name="agenda-0"/>
          <p:cNvGrpSpPr/>
          <p:nvPr/>
        </p:nvGrpSpPr>
        <p:grpSpPr>
          <a:xfrm>
            <a:off x="990600" y="1927225"/>
            <a:ext cx="4572000" cy="1082675"/>
            <a:chOff x="990600" y="1927225"/>
            <a:chExt cx="4572000" cy="1082675"/>
          </a:xfrm>
        </p:grpSpPr>
        <p:sp>
          <p:nvSpPr>
            <p:cNvPr id="7" name="TextBox 7"/>
            <p:cNvSpPr txBox="1"/>
            <p:nvPr/>
          </p:nvSpPr>
          <p:spPr>
            <a:xfrm>
              <a:off x="2286000" y="1927225"/>
              <a:ext cx="19812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01　棒球問題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7876" y="245427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關鍵打席，如何比較續打與換人？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000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  <p:grpSp>
        <p:nvGrpSpPr>
          <p:cNvPr id="14" name="agenda-1"/>
          <p:cNvGrpSpPr/>
          <p:nvPr/>
        </p:nvGrpSpPr>
        <p:grpSpPr>
          <a:xfrm>
            <a:off x="990600" y="3289300"/>
            <a:ext cx="4572000" cy="1082675"/>
            <a:chOff x="990600" y="3289300"/>
            <a:chExt cx="4572000" cy="1082675"/>
          </a:xfrm>
        </p:grpSpPr>
        <p:sp>
          <p:nvSpPr>
            <p:cNvPr id="11" name="TextBox 11"/>
            <p:cNvSpPr txBox="1"/>
            <p:nvPr/>
          </p:nvSpPr>
          <p:spPr>
            <a:xfrm>
              <a:off x="1962912" y="3289300"/>
              <a:ext cx="26273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02　使用者與情境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0386" y="38163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球隊調度討論與球迷情境模擬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90600" y="43624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  <p:grpSp>
        <p:nvGrpSpPr>
          <p:cNvPr id="18" name="agenda-2"/>
          <p:cNvGrpSpPr/>
          <p:nvPr/>
        </p:nvGrpSpPr>
        <p:grpSpPr>
          <a:xfrm>
            <a:off x="990600" y="4651375"/>
            <a:ext cx="4572000" cy="1082675"/>
            <a:chOff x="990600" y="4651375"/>
            <a:chExt cx="4572000" cy="1082675"/>
          </a:xfrm>
        </p:grpSpPr>
        <p:sp>
          <p:nvSpPr>
            <p:cNvPr id="15" name="TextBox 15"/>
            <p:cNvSpPr txBox="1"/>
            <p:nvPr/>
          </p:nvSpPr>
          <p:spPr>
            <a:xfrm>
              <a:off x="2286000" y="4651375"/>
              <a:ext cx="19812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03　使用資料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91640" y="5178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逐球、出賽紀錄與守位資訊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90600" y="57245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  <p:grpSp>
        <p:nvGrpSpPr>
          <p:cNvPr id="22" name="agenda-3"/>
          <p:cNvGrpSpPr/>
          <p:nvPr/>
        </p:nvGrpSpPr>
        <p:grpSpPr>
          <a:xfrm>
            <a:off x="6629400" y="1927225"/>
            <a:ext cx="4572000" cy="1082675"/>
            <a:chOff x="6629400" y="1927225"/>
            <a:chExt cx="4572000" cy="1082675"/>
          </a:xfrm>
        </p:grpSpPr>
        <p:sp>
          <p:nvSpPr>
            <p:cNvPr id="19" name="TextBox 19"/>
            <p:cNvSpPr txBox="1"/>
            <p:nvPr/>
          </p:nvSpPr>
          <p:spPr>
            <a:xfrm>
              <a:off x="7924800" y="1927225"/>
              <a:ext cx="19812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04　分析方法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0440" y="24542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能力估計、回測與研究依據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629400" y="3000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  <p:grpSp>
        <p:nvGrpSpPr>
          <p:cNvPr id="26" name="agenda-4"/>
          <p:cNvGrpSpPr/>
          <p:nvPr/>
        </p:nvGrpSpPr>
        <p:grpSpPr>
          <a:xfrm>
            <a:off x="6629400" y="3289300"/>
            <a:ext cx="4572000" cy="1082675"/>
            <a:chOff x="6629400" y="3289300"/>
            <a:chExt cx="4572000" cy="1082675"/>
          </a:xfrm>
        </p:grpSpPr>
        <p:sp>
          <p:nvSpPr>
            <p:cNvPr id="23" name="TextBox 23"/>
            <p:cNvSpPr txBox="1"/>
            <p:nvPr/>
          </p:nvSpPr>
          <p:spPr>
            <a:xfrm>
              <a:off x="7924800" y="3289300"/>
              <a:ext cx="19812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05　網站功能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99186" y="38163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代打、換投、名單與單日回放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629400" y="43624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  <p:grpSp>
        <p:nvGrpSpPr>
          <p:cNvPr id="30" name="agenda-5"/>
          <p:cNvGrpSpPr/>
          <p:nvPr/>
        </p:nvGrpSpPr>
        <p:grpSpPr>
          <a:xfrm>
            <a:off x="6629400" y="4651375"/>
            <a:ext cx="4572000" cy="1082675"/>
            <a:chOff x="6629400" y="4651375"/>
            <a:chExt cx="4572000" cy="1082675"/>
          </a:xfrm>
        </p:grpSpPr>
        <p:sp>
          <p:nvSpPr>
            <p:cNvPr id="27" name="TextBox 27"/>
            <p:cNvSpPr txBox="1"/>
            <p:nvPr/>
          </p:nvSpPr>
          <p:spPr>
            <a:xfrm>
              <a:off x="7440168" y="4651375"/>
              <a:ext cx="29504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06　成果與開發規劃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67931" y="51784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網站現況、使用驗證與資料更新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629400" y="57245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4288">
              <a:solidFill>
                <a:srgbClr val="D7D1C5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</a:t>
            </a:fld>
          </a:p>
        </p:txBody>
      </p:sp>
      <p:grpSp>
        <p:nvGrpSpPr>
          <p:cNvPr id="7" name="chapter-heading"/>
          <p:cNvGrpSpPr/>
          <p:nvPr/>
        </p:nvGrpSpPr>
        <p:grpSpPr>
          <a:xfrm>
            <a:off x="2926842" y="723900"/>
            <a:ext cx="6338316" cy="3151505"/>
            <a:chOff x="2926842" y="723900"/>
            <a:chExt cx="6338316" cy="3151505"/>
          </a:xfrm>
        </p:grpSpPr>
        <p:sp>
          <p:nvSpPr>
            <p:cNvPr id="3" name="TextBox 3"/>
            <p:cNvSpPr txBox="1"/>
            <p:nvPr/>
          </p:nvSpPr>
          <p:spPr>
            <a:xfrm>
              <a:off x="5543550" y="723900"/>
              <a:ext cx="11049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7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26842" y="2301875"/>
              <a:ext cx="6338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0" y="310515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812858" y="3435350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</p:grpSp>
      <p:grpSp>
        <p:nvGrpSpPr>
          <p:cNvPr id="9" name="original-picture"/>
          <p:cNvGrpSpPr/>
          <p:nvPr/>
        </p:nvGrpSpPr>
        <p:grpSpPr>
          <a:xfrm>
            <a:off x="5143500" y="4238625"/>
            <a:ext cx="1905000" cy="1905000"/>
            <a:chOff x="5143500" y="4238625"/>
            <a:chExt cx="1905000" cy="1905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0" y="4238625"/>
              <a:ext cx="190500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3191637" y="193675"/>
            <a:ext cx="5808726" cy="1111250"/>
            <a:chOff x="3191637" y="193675"/>
            <a:chExt cx="580872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375910" y="19367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91637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685800" y="2052576"/>
            <a:ext cx="6381750" cy="1867023"/>
            <a:chOff x="685800" y="2052576"/>
            <a:chExt cx="6381750" cy="186702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052576"/>
              <a:ext cx="6381750" cy="1867023"/>
            </a:xfrm>
            <a:prstGeom prst="rect">
              <a:avLst/>
            </a:prstGeom>
          </p:spPr>
        </p:pic>
      </p:grpSp>
      <p:grpSp>
        <p:nvGrpSpPr>
          <p:cNvPr id="12" name="bases"/>
          <p:cNvGrpSpPr/>
          <p:nvPr/>
        </p:nvGrpSpPr>
        <p:grpSpPr>
          <a:xfrm>
            <a:off x="2735199" y="4239582"/>
            <a:ext cx="2282952" cy="1660711"/>
            <a:chOff x="2735199" y="4239582"/>
            <a:chExt cx="2282952" cy="1660711"/>
          </a:xfrm>
        </p:grpSpPr>
        <p:sp>
          <p:nvSpPr>
            <p:cNvPr id="9" name="Polygon 9"/>
            <p:cNvSpPr/>
            <p:nvPr/>
          </p:nvSpPr>
          <p:spPr>
            <a:xfrm>
              <a:off x="3305175" y="4333875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500" y="0"/>
                  </a:moveTo>
                  <a:lnTo>
                    <a:pt x="1143000" y="571500"/>
                  </a:lnTo>
                  <a:lnTo>
                    <a:pt x="571500" y="11430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19050">
              <a:solidFill>
                <a:srgbClr val="18344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 rot="2700000">
              <a:off x="3810000" y="4267200"/>
              <a:ext cx="133350" cy="13335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35199" y="54895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一出局・二壘有人</a:t>
              </a:r>
            </a:p>
          </p:txBody>
        </p:sp>
      </p:grpSp>
      <p:grpSp>
        <p:nvGrpSpPr>
          <p:cNvPr id="17" name="choice-a"/>
          <p:cNvGrpSpPr/>
          <p:nvPr/>
        </p:nvGrpSpPr>
        <p:grpSpPr>
          <a:xfrm>
            <a:off x="7505700" y="1857375"/>
            <a:ext cx="3962400" cy="1962150"/>
            <a:chOff x="7505700" y="1857375"/>
            <a:chExt cx="3962400" cy="1962150"/>
          </a:xfrm>
        </p:grpSpPr>
        <p:sp>
          <p:nvSpPr>
            <p:cNvPr id="13" name="Rectangle 13"/>
            <p:cNvSpPr/>
            <p:nvPr/>
          </p:nvSpPr>
          <p:spPr>
            <a:xfrm>
              <a:off x="7505700" y="1857375"/>
              <a:ext cx="3962400" cy="1962150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84313" y="2184400"/>
              <a:ext cx="80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8232" y="26352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2722" y="33083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2" name="choice-b"/>
          <p:cNvGrpSpPr/>
          <p:nvPr/>
        </p:nvGrpSpPr>
        <p:grpSpPr>
          <a:xfrm>
            <a:off x="7505700" y="4143375"/>
            <a:ext cx="3962400" cy="1962150"/>
            <a:chOff x="7505700" y="4143375"/>
            <a:chExt cx="3962400" cy="1962150"/>
          </a:xfrm>
        </p:grpSpPr>
        <p:sp>
          <p:nvSpPr>
            <p:cNvPr id="18" name="Rectangle 18"/>
            <p:cNvSpPr/>
            <p:nvPr/>
          </p:nvSpPr>
          <p:spPr>
            <a:xfrm>
              <a:off x="7505700" y="4143375"/>
              <a:ext cx="3962400" cy="1962150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92894" y="4470400"/>
              <a:ext cx="788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8232" y="49212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21371" y="55943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081022" y="193675"/>
            <a:ext cx="8029956" cy="1111250"/>
            <a:chOff x="2081022" y="193675"/>
            <a:chExt cx="802995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770120" y="19367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81022" y="546100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兩種使用方式，都能評估與安排場上名單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15" name="user-344"/>
          <p:cNvGrpSpPr/>
          <p:nvPr/>
        </p:nvGrpSpPr>
        <p:grpSpPr>
          <a:xfrm>
            <a:off x="685800" y="1866900"/>
            <a:ext cx="5181600" cy="4095750"/>
            <a:chOff x="685800" y="1866900"/>
            <a:chExt cx="5181600" cy="4095750"/>
          </a:xfrm>
        </p:grpSpPr>
        <p:sp>
          <p:nvSpPr>
            <p:cNvPr id="7" name="Rectangle 7"/>
            <p:cNvSpPr/>
            <p:nvPr/>
          </p:nvSpPr>
          <p:spPr>
            <a:xfrm>
              <a:off x="685800" y="1866900"/>
              <a:ext cx="51816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07932" y="24161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2786" y="279717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可直接評估，也可先設定九棒。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06676" y="3568700"/>
              <a:ext cx="253984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01　選擇投打組合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0517" y="4321175"/>
              <a:ext cx="285216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02　設定局勢與候選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50517" y="5073650"/>
              <a:ext cx="285216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03　比較差距與提醒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200400" y="1952625"/>
              <a:ext cx="152400" cy="152400"/>
            </a:xfrm>
            <a:prstGeom prst="ellipse">
              <a:avLst/>
            </a:prstGeom>
            <a:noFill/>
            <a:ln w="26670" cap="rnd">
              <a:solidFill>
                <a:srgbClr val="18344A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3124200" y="2162175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0" y="190500"/>
                  </a:moveTo>
                  <a:cubicBezTo>
                    <a:pt x="0" y="63532"/>
                    <a:pt x="50768" y="0"/>
                    <a:pt x="152400" y="0"/>
                  </a:cubicBezTo>
                  <a:cubicBezTo>
                    <a:pt x="254032" y="0"/>
                    <a:pt x="304800" y="63532"/>
                    <a:pt x="304800" y="190500"/>
                  </a:cubicBezTo>
                </a:path>
              </a:pathLst>
            </a:custGeom>
            <a:noFill/>
            <a:ln w="26670" cap="rnd">
              <a:solidFill>
                <a:srgbClr val="18344A"/>
              </a:solidFill>
              <a:round/>
            </a:ln>
          </p:spPr>
        </p:sp>
      </p:grpSp>
      <p:grpSp>
        <p:nvGrpSpPr>
          <p:cNvPr id="25" name="user-936"/>
          <p:cNvGrpSpPr/>
          <p:nvPr/>
        </p:nvGrpSpPr>
        <p:grpSpPr>
          <a:xfrm>
            <a:off x="6324600" y="1866900"/>
            <a:ext cx="5181600" cy="4095750"/>
            <a:chOff x="6324600" y="1866900"/>
            <a:chExt cx="5181600" cy="4095750"/>
          </a:xfrm>
        </p:grpSpPr>
        <p:sp>
          <p:nvSpPr>
            <p:cNvPr id="16" name="Rectangle 16"/>
            <p:cNvSpPr/>
            <p:nvPr/>
          </p:nvSpPr>
          <p:spPr>
            <a:xfrm>
              <a:off x="6324600" y="1866900"/>
              <a:ext cx="51816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0942" y="24161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球隊分析員與教練團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1586" y="279717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先確認場上九棒、守位及投手。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45476" y="3568700"/>
              <a:ext cx="253984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01　套用場上名單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9317" y="4321175"/>
              <a:ext cx="285216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02　勾選板凳與牛棚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45476" y="5073650"/>
              <a:ext cx="253984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03　比較可用人選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771296" y="1999943"/>
              <a:ext cx="120445" cy="120445"/>
            </a:xfrm>
            <a:prstGeom prst="ellipse">
              <a:avLst/>
            </a:prstGeom>
            <a:noFill/>
            <a:ln w="24089" cap="rnd">
              <a:solidFill>
                <a:srgbClr val="18344A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8943360" y="1969831"/>
              <a:ext cx="120445" cy="120445"/>
            </a:xfrm>
            <a:prstGeom prst="ellipse">
              <a:avLst/>
            </a:prstGeom>
            <a:noFill/>
            <a:ln w="24089" cap="rnd">
              <a:solidFill>
                <a:srgbClr val="18344A"/>
              </a:solidFill>
              <a:round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15375" y="2127529"/>
              <a:ext cx="400050" cy="207940"/>
            </a:xfrm>
            <a:custGeom>
              <a:avLst/>
              <a:gdLst/>
              <a:ahLst/>
              <a:cxnLst/>
              <a:rect l="l" t="t" r="r" b="b"/>
              <a:pathLst>
                <a:path w="400050" h="207940">
                  <a:moveTo>
                    <a:pt x="0" y="207940"/>
                  </a:moveTo>
                  <a:cubicBezTo>
                    <a:pt x="0" y="90334"/>
                    <a:pt x="38715" y="31574"/>
                    <a:pt x="116144" y="31574"/>
                  </a:cubicBezTo>
                  <a:cubicBezTo>
                    <a:pt x="193573" y="31574"/>
                    <a:pt x="232287" y="90334"/>
                    <a:pt x="232287" y="207940"/>
                  </a:cubicBezTo>
                  <a:moveTo>
                    <a:pt x="219382" y="31574"/>
                  </a:moveTo>
                  <a:cubicBezTo>
                    <a:pt x="339827" y="0"/>
                    <a:pt x="400050" y="50243"/>
                    <a:pt x="400050" y="182130"/>
                  </a:cubicBezTo>
                </a:path>
              </a:pathLst>
            </a:custGeom>
            <a:noFill/>
            <a:ln w="24089" cap="rnd">
              <a:solidFill>
                <a:srgbClr val="18344A"/>
              </a:solidFill>
              <a:round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747391" y="193675"/>
            <a:ext cx="6697218" cy="1111250"/>
            <a:chOff x="2747391" y="193675"/>
            <a:chExt cx="669721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375910" y="19367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747391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把投打數據，放進同一個換人情境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fld>
          </a:p>
        </p:txBody>
      </p:sp>
      <p:grpSp>
        <p:nvGrpSpPr>
          <p:cNvPr id="10" name="input-0"/>
          <p:cNvGrpSpPr/>
          <p:nvPr/>
        </p:nvGrpSpPr>
        <p:grpSpPr>
          <a:xfrm>
            <a:off x="609600" y="1847850"/>
            <a:ext cx="3352800" cy="1162050"/>
            <a:chOff x="609600" y="1847850"/>
            <a:chExt cx="3352800" cy="1162050"/>
          </a:xfrm>
        </p:grpSpPr>
        <p:sp>
          <p:nvSpPr>
            <p:cNvPr id="7" name="Rectangle 7"/>
            <p:cNvSpPr/>
            <p:nvPr/>
          </p:nvSpPr>
          <p:spPr>
            <a:xfrm>
              <a:off x="609600" y="1847850"/>
              <a:ext cx="335280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68780" y="19208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投打能力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590" y="2419350"/>
              <a:ext cx="22968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球路適性、左右投打</a:t>
              </a:r>
            </a:p>
          </p:txBody>
        </p:sp>
      </p:grpSp>
      <p:grpSp>
        <p:nvGrpSpPr>
          <p:cNvPr id="14" name="input-1"/>
          <p:cNvGrpSpPr/>
          <p:nvPr/>
        </p:nvGrpSpPr>
        <p:grpSpPr>
          <a:xfrm>
            <a:off x="609600" y="3228975"/>
            <a:ext cx="3352800" cy="1162050"/>
            <a:chOff x="609600" y="3228975"/>
            <a:chExt cx="335280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09600" y="3228975"/>
              <a:ext cx="335280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68780" y="33020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當下局勢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4504" y="3800475"/>
              <a:ext cx="28029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局數、比分、出局與壘況</a:t>
              </a:r>
            </a:p>
          </p:txBody>
        </p:sp>
      </p:grpSp>
      <p:grpSp>
        <p:nvGrpSpPr>
          <p:cNvPr id="18" name="input-2"/>
          <p:cNvGrpSpPr/>
          <p:nvPr/>
        </p:nvGrpSpPr>
        <p:grpSpPr>
          <a:xfrm>
            <a:off x="609600" y="4610100"/>
            <a:ext cx="3352800" cy="1162050"/>
            <a:chOff x="609600" y="4610100"/>
            <a:chExt cx="3352800" cy="1162050"/>
          </a:xfrm>
        </p:grpSpPr>
        <p:sp>
          <p:nvSpPr>
            <p:cNvPr id="15" name="Rectangle 15"/>
            <p:cNvSpPr/>
            <p:nvPr/>
          </p:nvSpPr>
          <p:spPr>
            <a:xfrm>
              <a:off x="609600" y="4610100"/>
              <a:ext cx="335280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68780" y="46831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可用人選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1047" y="518160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板凳、牛棚與接守安排</a:t>
              </a:r>
            </a:p>
          </p:txBody>
        </p:sp>
      </p:grpSp>
      <p:grpSp>
        <p:nvGrpSpPr>
          <p:cNvPr id="22" name="comparison-core"/>
          <p:cNvGrpSpPr/>
          <p:nvPr/>
        </p:nvGrpSpPr>
        <p:grpSpPr>
          <a:xfrm>
            <a:off x="4495800" y="2781300"/>
            <a:ext cx="3200400" cy="2114550"/>
            <a:chOff x="4495800" y="2781300"/>
            <a:chExt cx="3200400" cy="2114550"/>
          </a:xfrm>
        </p:grpSpPr>
        <p:sp>
          <p:nvSpPr>
            <p:cNvPr id="19" name="Rectangle 19"/>
            <p:cNvSpPr/>
            <p:nvPr/>
          </p:nvSpPr>
          <p:spPr>
            <a:xfrm>
              <a:off x="4495800" y="2781300"/>
              <a:ext cx="32004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75885" y="304482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固定比較條件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78577" y="37179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</p:grpSp>
      <p:grpSp>
        <p:nvGrpSpPr>
          <p:cNvPr id="27" name="meaning"/>
          <p:cNvGrpSpPr/>
          <p:nvPr/>
        </p:nvGrpSpPr>
        <p:grpSpPr>
          <a:xfrm>
            <a:off x="8583549" y="2466975"/>
            <a:ext cx="2644902" cy="2549906"/>
            <a:chOff x="8583549" y="2466975"/>
            <a:chExt cx="2644902" cy="2549906"/>
          </a:xfrm>
        </p:grpSpPr>
        <p:sp>
          <p:nvSpPr>
            <p:cNvPr id="23" name="TextBox 23"/>
            <p:cNvSpPr txBox="1"/>
            <p:nvPr/>
          </p:nvSpPr>
          <p:spPr>
            <a:xfrm>
              <a:off x="9206484" y="246697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差多少？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4804" y="30257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相對現任的估計差距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34844" y="4076700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換得成嗎？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83549" y="46355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守位、人選與資料提醒</a:t>
              </a:r>
            </a:p>
          </p:txBody>
        </p:sp>
      </p:grpSp>
      <p:grpSp>
        <p:nvGrpSpPr>
          <p:cNvPr id="29" name="connections"/>
          <p:cNvGrpSpPr/>
          <p:nvPr/>
        </p:nvGrpSpPr>
        <p:grpSpPr>
          <a:xfrm>
            <a:off x="4103370" y="3708400"/>
            <a:ext cx="365760" cy="469392"/>
            <a:chOff x="4103370" y="3708400"/>
            <a:chExt cx="365760" cy="469392"/>
          </a:xfrm>
        </p:grpSpPr>
        <p:sp>
          <p:nvSpPr>
            <p:cNvPr id="28" name="TextBox 28"/>
            <p:cNvSpPr txBox="1"/>
            <p:nvPr/>
          </p:nvSpPr>
          <p:spPr>
            <a:xfrm>
              <a:off x="4103370" y="3708400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→</a:t>
              </a:r>
            </a:p>
          </p:txBody>
        </p:sp>
      </p:grpSp>
      <p:grpSp>
        <p:nvGrpSpPr>
          <p:cNvPr id="31" name="connections-2"/>
          <p:cNvGrpSpPr/>
          <p:nvPr/>
        </p:nvGrpSpPr>
        <p:grpSpPr>
          <a:xfrm>
            <a:off x="7799070" y="3708400"/>
            <a:ext cx="365760" cy="469392"/>
            <a:chOff x="7799070" y="3708400"/>
            <a:chExt cx="365760" cy="469392"/>
          </a:xfrm>
        </p:grpSpPr>
        <p:sp>
          <p:nvSpPr>
            <p:cNvPr id="30" name="TextBox 30"/>
            <p:cNvSpPr txBox="1"/>
            <p:nvPr/>
          </p:nvSpPr>
          <p:spPr>
            <a:xfrm>
              <a:off x="7799070" y="3708400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636776" y="193675"/>
            <a:ext cx="8918448" cy="1111250"/>
            <a:chOff x="1636776" y="193675"/>
            <a:chExt cx="891844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871085" y="19367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636776" y="546100"/>
              <a:ext cx="89184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應用創新：把個人成績，變成當下的換人比較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fld>
          </a:p>
        </p:txBody>
      </p:sp>
      <p:grpSp>
        <p:nvGrpSpPr>
          <p:cNvPr id="12" name="innovation-0"/>
          <p:cNvGrpSpPr/>
          <p:nvPr/>
        </p:nvGrpSpPr>
        <p:grpSpPr>
          <a:xfrm>
            <a:off x="1909267" y="1816100"/>
            <a:ext cx="8843747" cy="1323340"/>
            <a:chOff x="1909267" y="1816100"/>
            <a:chExt cx="8843747" cy="1323340"/>
          </a:xfrm>
        </p:grpSpPr>
        <p:sp>
          <p:nvSpPr>
            <p:cNvPr id="7" name="TextBox 7"/>
            <p:cNvSpPr txBox="1"/>
            <p:nvPr/>
          </p:nvSpPr>
          <p:spPr>
            <a:xfrm>
              <a:off x="5167312" y="1816100"/>
              <a:ext cx="18573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比較單位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9267" y="233997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一位球員的個人成績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5470" y="2289175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25386" y="233997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相同局勢下，現任與候選差多少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35247" y="2771775"/>
              <a:ext cx="432150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固定投手／打者與局勢，只替換候選。</a:t>
              </a:r>
            </a:p>
          </p:txBody>
        </p:sp>
      </p:grpSp>
      <p:grpSp>
        <p:nvGrpSpPr>
          <p:cNvPr id="18" name="innovation-1"/>
          <p:cNvGrpSpPr/>
          <p:nvPr/>
        </p:nvGrpSpPr>
        <p:grpSpPr>
          <a:xfrm>
            <a:off x="1773301" y="3206750"/>
            <a:ext cx="8979713" cy="1323340"/>
            <a:chOff x="1773301" y="3206750"/>
            <a:chExt cx="8979713" cy="1323340"/>
          </a:xfrm>
        </p:grpSpPr>
        <p:sp>
          <p:nvSpPr>
            <p:cNvPr id="13" name="TextBox 13"/>
            <p:cNvSpPr txBox="1"/>
            <p:nvPr/>
          </p:nvSpPr>
          <p:spPr>
            <a:xfrm>
              <a:off x="5167312" y="3206750"/>
              <a:ext cx="18573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名單連動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3301" y="373062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能力排序與名單分開看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5470" y="3679825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5386" y="37306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比較時一起檢查接守與可用人選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35247" y="4162425"/>
              <a:ext cx="432150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球隊先套用九棒，再確認板凳與牛棚。</a:t>
              </a:r>
            </a:p>
          </p:txBody>
        </p:sp>
      </p:grpSp>
      <p:grpSp>
        <p:nvGrpSpPr>
          <p:cNvPr id="24" name="innovation-2"/>
          <p:cNvGrpSpPr/>
          <p:nvPr/>
        </p:nvGrpSpPr>
        <p:grpSpPr>
          <a:xfrm>
            <a:off x="2045233" y="4597400"/>
            <a:ext cx="8707781" cy="1323340"/>
            <a:chOff x="2045233" y="4597400"/>
            <a:chExt cx="8707781" cy="1323340"/>
          </a:xfrm>
        </p:grpSpPr>
        <p:sp>
          <p:nvSpPr>
            <p:cNvPr id="19" name="TextBox 19"/>
            <p:cNvSpPr txBox="1"/>
            <p:nvPr/>
          </p:nvSpPr>
          <p:spPr>
            <a:xfrm>
              <a:off x="5167312" y="4597400"/>
              <a:ext cx="18573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時間回放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45233" y="5121275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只看賽後發生什麼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65470" y="5070475"/>
              <a:ext cx="365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25386" y="512127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回到決策當下，再對照實際結果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35247" y="5553075"/>
              <a:ext cx="432150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分清模型估計、系統門檻與實際調度。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3191637" y="193675"/>
            <a:ext cx="5808726" cy="1111250"/>
            <a:chOff x="3191637" y="193675"/>
            <a:chExt cx="580872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375910" y="19367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91637" y="5461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fld>
          </a:p>
        </p:txBody>
      </p:sp>
      <p:grpSp>
        <p:nvGrpSpPr>
          <p:cNvPr id="11" name="column-1"/>
          <p:cNvGrpSpPr/>
          <p:nvPr/>
        </p:nvGrpSpPr>
        <p:grpSpPr>
          <a:xfrm>
            <a:off x="853440" y="3673475"/>
            <a:ext cx="3169920" cy="1448181"/>
            <a:chOff x="853440" y="3673475"/>
            <a:chExt cx="3169920" cy="1448181"/>
          </a:xfrm>
        </p:grpSpPr>
        <p:sp>
          <p:nvSpPr>
            <p:cNvPr id="7" name="TextBox 7"/>
            <p:cNvSpPr txBox="1"/>
            <p:nvPr/>
          </p:nvSpPr>
          <p:spPr>
            <a:xfrm>
              <a:off x="1366838" y="36734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換打／換投評估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8458" y="433070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3440" y="47402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9" name="column-2"/>
          <p:cNvGrpSpPr/>
          <p:nvPr/>
        </p:nvGrpSpPr>
        <p:grpSpPr>
          <a:xfrm>
            <a:off x="4642294" y="3673475"/>
            <a:ext cx="2907411" cy="1448181"/>
            <a:chOff x="4642294" y="3673475"/>
            <a:chExt cx="2907411" cy="1448181"/>
          </a:xfrm>
        </p:grpSpPr>
        <p:sp>
          <p:nvSpPr>
            <p:cNvPr id="12" name="TextBox 12"/>
            <p:cNvSpPr txBox="1"/>
            <p:nvPr/>
          </p:nvSpPr>
          <p:spPr>
            <a:xfrm>
              <a:off x="5175885" y="367347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36058" y="433070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2294" y="47402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25" name="column-3"/>
          <p:cNvGrpSpPr/>
          <p:nvPr/>
        </p:nvGrpSpPr>
        <p:grpSpPr>
          <a:xfrm>
            <a:off x="8168640" y="3673475"/>
            <a:ext cx="3169920" cy="1448181"/>
            <a:chOff x="8168640" y="3673475"/>
            <a:chExt cx="3169920" cy="1448181"/>
          </a:xfrm>
        </p:grpSpPr>
        <p:sp>
          <p:nvSpPr>
            <p:cNvPr id="22" name="TextBox 22"/>
            <p:cNvSpPr txBox="1"/>
            <p:nvPr/>
          </p:nvSpPr>
          <p:spPr>
            <a:xfrm>
              <a:off x="8776335" y="3673475"/>
              <a:ext cx="19545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1149" y="43307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回到賽季中特定一天，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8640" y="47402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查看賽前負荷與打席回放。</a:t>
              </a:r>
            </a:p>
          </p:txBody>
        </p:sp>
      </p:grpSp>
      <p:grpSp>
        <p:nvGrpSpPr>
          <p:cNvPr id="26" name="restored-icon-0"/>
          <p:cNvGrpSpPr/>
          <p:nvPr/>
        </p:nvGrpSpPr>
        <p:grpSpPr>
          <a:xfrm>
            <a:off x="2114550" y="2840743"/>
            <a:ext cx="647700" cy="509764"/>
            <a:chOff x="2114550" y="2840743"/>
            <a:chExt cx="647700" cy="509764"/>
          </a:xfrm>
        </p:grpSpPr>
        <p:sp>
          <p:nvSpPr>
            <p:cNvPr id="9" name="Freeform 9"/>
            <p:cNvSpPr/>
            <p:nvPr/>
          </p:nvSpPr>
          <p:spPr>
            <a:xfrm>
              <a:off x="2114550" y="2840743"/>
              <a:ext cx="647700" cy="509764"/>
            </a:xfrm>
            <a:custGeom>
              <a:avLst/>
              <a:gdLst/>
              <a:ahLst/>
              <a:cxnLst/>
              <a:rect l="l" t="t" r="r" b="b"/>
              <a:pathLst>
                <a:path w="647700" h="509764">
                  <a:moveTo>
                    <a:pt x="0" y="29986"/>
                  </a:moveTo>
                  <a:lnTo>
                    <a:pt x="0" y="509764"/>
                  </a:lnTo>
                  <a:lnTo>
                    <a:pt x="647700" y="509764"/>
                  </a:lnTo>
                  <a:moveTo>
                    <a:pt x="143933" y="419806"/>
                  </a:moveTo>
                  <a:lnTo>
                    <a:pt x="143933" y="251883"/>
                  </a:lnTo>
                  <a:moveTo>
                    <a:pt x="317853" y="419806"/>
                  </a:moveTo>
                  <a:lnTo>
                    <a:pt x="317853" y="107950"/>
                  </a:lnTo>
                  <a:moveTo>
                    <a:pt x="491772" y="419806"/>
                  </a:moveTo>
                  <a:lnTo>
                    <a:pt x="491772" y="0"/>
                  </a:lnTo>
                </a:path>
              </a:pathLst>
            </a:custGeom>
            <a:noFill/>
            <a:ln w="23989">
              <a:solidFill>
                <a:srgbClr val="18344A"/>
              </a:solidFill>
            </a:ln>
          </p:spPr>
        </p:sp>
      </p:grpSp>
      <p:grpSp>
        <p:nvGrpSpPr>
          <p:cNvPr id="27" name="restored-icon-1"/>
          <p:cNvGrpSpPr/>
          <p:nvPr/>
        </p:nvGrpSpPr>
        <p:grpSpPr>
          <a:xfrm>
            <a:off x="5772150" y="2803024"/>
            <a:ext cx="647700" cy="585203"/>
            <a:chOff x="5772150" y="2803024"/>
            <a:chExt cx="647700" cy="585203"/>
          </a:xfrm>
        </p:grpSpPr>
        <p:sp>
          <p:nvSpPr>
            <p:cNvPr id="13" name="Freeform 13"/>
            <p:cNvSpPr/>
            <p:nvPr/>
          </p:nvSpPr>
          <p:spPr>
            <a:xfrm>
              <a:off x="5800558" y="2831432"/>
              <a:ext cx="590884" cy="556795"/>
            </a:xfrm>
            <a:custGeom>
              <a:avLst/>
              <a:gdLst/>
              <a:ahLst/>
              <a:cxnLst/>
              <a:rect l="l" t="t" r="r" b="b"/>
              <a:pathLst>
                <a:path w="590884" h="556795">
                  <a:moveTo>
                    <a:pt x="295442" y="0"/>
                  </a:moveTo>
                  <a:lnTo>
                    <a:pt x="590884" y="278397"/>
                  </a:lnTo>
                  <a:lnTo>
                    <a:pt x="295442" y="556795"/>
                  </a:lnTo>
                  <a:lnTo>
                    <a:pt x="0" y="278397"/>
                  </a:lnTo>
                  <a:close/>
                </a:path>
              </a:pathLst>
            </a:custGeom>
            <a:noFill/>
            <a:ln w="22726">
              <a:solidFill>
                <a:srgbClr val="18344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67592" y="2803024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63034" y="3081421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72150" y="3081421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</p:grpSp>
      <p:grpSp>
        <p:nvGrpSpPr>
          <p:cNvPr id="28" name="restored-icon-2"/>
          <p:cNvGrpSpPr/>
          <p:nvPr/>
        </p:nvGrpSpPr>
        <p:grpSpPr>
          <a:xfrm>
            <a:off x="9429750" y="2771775"/>
            <a:ext cx="647700" cy="647700"/>
            <a:chOff x="9429750" y="2771775"/>
            <a:chExt cx="647700" cy="647700"/>
          </a:xfrm>
        </p:grpSpPr>
        <p:sp>
          <p:nvSpPr>
            <p:cNvPr id="20" name="Ellipse 20"/>
            <p:cNvSpPr/>
            <p:nvPr/>
          </p:nvSpPr>
          <p:spPr>
            <a:xfrm>
              <a:off x="9429750" y="2771775"/>
              <a:ext cx="647700" cy="647700"/>
            </a:xfrm>
            <a:prstGeom prst="ellipse">
              <a:avLst/>
            </a:prstGeom>
            <a:noFill/>
            <a:ln w="26988">
              <a:solidFill>
                <a:srgbClr val="18344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753600" y="2893219"/>
              <a:ext cx="168672" cy="310356"/>
            </a:xfrm>
            <a:custGeom>
              <a:avLst/>
              <a:gdLst/>
              <a:ahLst/>
              <a:cxnLst/>
              <a:rect l="l" t="t" r="r" b="b"/>
              <a:pathLst>
                <a:path w="168672" h="310356">
                  <a:moveTo>
                    <a:pt x="0" y="0"/>
                  </a:moveTo>
                  <a:lnTo>
                    <a:pt x="0" y="202406"/>
                  </a:lnTo>
                  <a:lnTo>
                    <a:pt x="168672" y="310356"/>
                  </a:lnTo>
                </a:path>
              </a:pathLst>
            </a:custGeom>
            <a:noFill/>
            <a:ln w="26988">
              <a:solidFill>
                <a:srgbClr val="18344A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9</a:t>
            </a:fld>
          </a:p>
        </p:txBody>
      </p:sp>
      <p:grpSp>
        <p:nvGrpSpPr>
          <p:cNvPr id="7" name="chapter-heading"/>
          <p:cNvGrpSpPr/>
          <p:nvPr/>
        </p:nvGrpSpPr>
        <p:grpSpPr>
          <a:xfrm>
            <a:off x="2926842" y="723900"/>
            <a:ext cx="6338316" cy="3151505"/>
            <a:chOff x="2926842" y="723900"/>
            <a:chExt cx="6338316" cy="3151505"/>
          </a:xfrm>
        </p:grpSpPr>
        <p:sp>
          <p:nvSpPr>
            <p:cNvPr id="3" name="TextBox 3"/>
            <p:cNvSpPr txBox="1"/>
            <p:nvPr/>
          </p:nvSpPr>
          <p:spPr>
            <a:xfrm>
              <a:off x="5543550" y="723900"/>
              <a:ext cx="11049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7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26842" y="2301875"/>
              <a:ext cx="6338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0" y="310515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64305" y="3435350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</p:grpSp>
      <p:grpSp>
        <p:nvGrpSpPr>
          <p:cNvPr id="9" name="original-picture"/>
          <p:cNvGrpSpPr/>
          <p:nvPr/>
        </p:nvGrpSpPr>
        <p:grpSpPr>
          <a:xfrm>
            <a:off x="5143500" y="4238625"/>
            <a:ext cx="1905000" cy="1905000"/>
            <a:chOff x="5143500" y="4238625"/>
            <a:chExt cx="1905000" cy="1905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0" y="4238625"/>
              <a:ext cx="190500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081022" y="193675"/>
            <a:ext cx="8029956" cy="1111250"/>
            <a:chOff x="2081022" y="193675"/>
            <a:chExt cx="802995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871085" y="19367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81022" y="546100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逐球、守位與球員對照，各自有清楚用途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fld>
          </a:p>
        </p:txBody>
      </p:sp>
      <p:grpSp>
        <p:nvGrpSpPr>
          <p:cNvPr id="13" name="column-1"/>
          <p:cNvGrpSpPr/>
          <p:nvPr/>
        </p:nvGrpSpPr>
        <p:grpSpPr>
          <a:xfrm>
            <a:off x="853440" y="1911350"/>
            <a:ext cx="3169920" cy="2676906"/>
            <a:chOff x="853440" y="1911350"/>
            <a:chExt cx="3169920" cy="2676906"/>
          </a:xfrm>
        </p:grpSpPr>
        <p:sp>
          <p:nvSpPr>
            <p:cNvPr id="7" name="TextBox 7"/>
            <p:cNvSpPr txBox="1"/>
            <p:nvPr/>
          </p:nvSpPr>
          <p:spPr>
            <a:xfrm>
              <a:off x="1669732" y="19113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0859" y="2568575"/>
              <a:ext cx="213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Rebas · ODC-By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4416" y="2978150"/>
              <a:ext cx="12679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694" y="33877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球種、投打側、逐球結果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3440" y="37973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打席局勢、出賽與投球負荷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694" y="42068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用於能力估計與情境比較</a:t>
              </a:r>
            </a:p>
          </p:txBody>
        </p:sp>
      </p:grpSp>
      <p:grpSp>
        <p:nvGrpSpPr>
          <p:cNvPr id="20" name="column-2"/>
          <p:cNvGrpSpPr/>
          <p:nvPr/>
        </p:nvGrpSpPr>
        <p:grpSpPr>
          <a:xfrm>
            <a:off x="4642294" y="1911350"/>
            <a:ext cx="2907411" cy="2676906"/>
            <a:chOff x="4642294" y="1911350"/>
            <a:chExt cx="2907411" cy="2676906"/>
          </a:xfrm>
        </p:grpSpPr>
        <p:sp>
          <p:nvSpPr>
            <p:cNvPr id="14" name="TextBox 14"/>
            <p:cNvSpPr txBox="1"/>
            <p:nvPr/>
          </p:nvSpPr>
          <p:spPr>
            <a:xfrm>
              <a:off x="5478780" y="19113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9010" y="2568575"/>
              <a:ext cx="1793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62016" y="2978150"/>
              <a:ext cx="12679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67312" y="338772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各守位出賽紀錄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2294" y="379730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歷史回放用既往守位經驗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20602" y="4206875"/>
              <a:ext cx="25507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不讀入 2025 整季守位</a:t>
              </a:r>
            </a:p>
          </p:txBody>
        </p:sp>
      </p:grpSp>
      <p:grpSp>
        <p:nvGrpSpPr>
          <p:cNvPr id="27" name="column-3"/>
          <p:cNvGrpSpPr/>
          <p:nvPr/>
        </p:nvGrpSpPr>
        <p:grpSpPr>
          <a:xfrm>
            <a:off x="7992021" y="1911350"/>
            <a:ext cx="3523158" cy="2676906"/>
            <a:chOff x="7992021" y="1911350"/>
            <a:chExt cx="3523158" cy="2676906"/>
          </a:xfrm>
        </p:grpSpPr>
        <p:sp>
          <p:nvSpPr>
            <p:cNvPr id="21" name="TextBox 21"/>
            <p:cNvSpPr txBox="1"/>
            <p:nvPr/>
          </p:nvSpPr>
          <p:spPr>
            <a:xfrm>
              <a:off x="8682038" y="191135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守位與球員對照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55402" y="2568575"/>
              <a:ext cx="19963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4128" y="2978150"/>
              <a:ext cx="22189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守位／球員頁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8640" y="33877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整季守位用於季後自訂情境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9894" y="379730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官方編號連至球員資料頁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2021" y="4206875"/>
              <a:ext cx="35231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背號取自 Rebas，僅搜尋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609600" y="5619750"/>
            <a:ext cx="10972800" cy="609600"/>
            <a:chOff x="609600" y="5619750"/>
            <a:chExt cx="10972800" cy="609600"/>
          </a:xfrm>
        </p:grpSpPr>
        <p:sp>
          <p:nvSpPr>
            <p:cNvPr id="28" name="Rectangle 28"/>
            <p:cNvSpPr/>
            <p:nvPr/>
          </p:nvSpPr>
          <p:spPr>
            <a:xfrm>
              <a:off x="609600" y="5619750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84020" y="5695950"/>
              <a:ext cx="8623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歷史回放：能力估計、名單與負荷只用當日前資訊；模型另列訓練截止日期。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375910" y="19367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先估計對決，再換算當下的勝率差距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fld>
          </a:p>
        </p:txBody>
      </p:sp>
      <p:grpSp>
        <p:nvGrpSpPr>
          <p:cNvPr id="29" name="method-network"/>
          <p:cNvGrpSpPr/>
          <p:nvPr/>
        </p:nvGrpSpPr>
        <p:grpSpPr>
          <a:xfrm>
            <a:off x="685800" y="1743075"/>
            <a:ext cx="10896600" cy="4267200"/>
            <a:chOff x="685800" y="1743075"/>
            <a:chExt cx="10896600" cy="4267200"/>
          </a:xfrm>
        </p:grpSpPr>
        <p:grpSp>
          <p:nvGrpSpPr>
            <p:cNvPr id="10" name="input"/>
            <p:cNvGrpSpPr/>
            <p:nvPr/>
          </p:nvGrpSpPr>
          <p:grpSpPr>
            <a:xfrm>
              <a:off x="685800" y="2905125"/>
              <a:ext cx="3200400" cy="2000250"/>
              <a:chOff x="685800" y="2905125"/>
              <a:chExt cx="3200400" cy="2000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85800" y="2905125"/>
                <a:ext cx="3200400" cy="200025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14288">
                <a:solidFill>
                  <a:srgbClr val="D7D1C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14437" y="3168650"/>
                <a:ext cx="214312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逐球與出賽資料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85875" y="384175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10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同一投手與候選</a:t>
                </a:r>
              </a:p>
            </p:txBody>
          </p:sp>
        </p:grpSp>
        <p:grpSp>
          <p:nvGrpSpPr>
            <p:cNvPr id="15" name="method-183"/>
            <p:cNvGrpSpPr/>
            <p:nvPr/>
          </p:nvGrpSpPr>
          <p:grpSpPr>
            <a:xfrm>
              <a:off x="4267200" y="1743075"/>
              <a:ext cx="4114800" cy="1981200"/>
              <a:chOff x="4267200" y="1743075"/>
              <a:chExt cx="4114800" cy="19812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267200" y="1743075"/>
                <a:ext cx="4114800" cy="1981200"/>
              </a:xfrm>
              <a:prstGeom prst="roundRect">
                <a:avLst>
                  <a:gd name="adj" fmla="val 5769"/>
                </a:avLst>
              </a:prstGeom>
              <a:solidFill>
                <a:srgbClr val="FFFFFF"/>
              </a:solidFill>
              <a:ln w="14288">
                <a:solidFill>
                  <a:srgbClr val="D7D1C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666232" y="187960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40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部分池化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43476" y="2505075"/>
                <a:ext cx="3562248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8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綜合能力、左右投打與球路適性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049647" y="2924175"/>
                <a:ext cx="2549906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8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小樣本向整體基準收縮</a:t>
                </a:r>
              </a:p>
            </p:txBody>
          </p:sp>
        </p:grpSp>
        <p:grpSp>
          <p:nvGrpSpPr>
            <p:cNvPr id="20" name="method-423"/>
            <p:cNvGrpSpPr/>
            <p:nvPr/>
          </p:nvGrpSpPr>
          <p:grpSpPr>
            <a:xfrm>
              <a:off x="4267200" y="4029075"/>
              <a:ext cx="4114800" cy="1981200"/>
              <a:chOff x="4267200" y="4029075"/>
              <a:chExt cx="4114800" cy="19812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267200" y="4029075"/>
                <a:ext cx="4114800" cy="1981200"/>
              </a:xfrm>
              <a:prstGeom prst="roundRect">
                <a:avLst>
                  <a:gd name="adj" fmla="val 5769"/>
                </a:avLst>
              </a:prstGeom>
              <a:solidFill>
                <a:srgbClr val="FFFFFF"/>
              </a:solidFill>
              <a:ln w="14288">
                <a:solidFill>
                  <a:srgbClr val="D7D1C5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504688" y="4165600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40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梯度提升樹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70019" y="4791075"/>
                <a:ext cx="3309163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8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沿用投手歷史投球，替換打者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923104" y="5210175"/>
                <a:ext cx="2802992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8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預測逐球結果，換算得分</a:t>
                </a:r>
              </a:p>
            </p:txBody>
          </p:sp>
        </p:grpSp>
        <p:grpSp>
          <p:nvGrpSpPr>
            <p:cNvPr id="24" name="output"/>
            <p:cNvGrpSpPr/>
            <p:nvPr/>
          </p:nvGrpSpPr>
          <p:grpSpPr>
            <a:xfrm>
              <a:off x="8801100" y="2905125"/>
              <a:ext cx="2781300" cy="2000250"/>
              <a:chOff x="8801100" y="2905125"/>
              <a:chExt cx="2781300" cy="2000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801100" y="2905125"/>
                <a:ext cx="2781300" cy="200025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14288">
                <a:solidFill>
                  <a:srgbClr val="D7D1C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271635" y="3168650"/>
                <a:ext cx="184023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整合得分估計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191625" y="384175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10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依局勢換算差距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3886200" y="2733675"/>
              <a:ext cx="381000" cy="1171575"/>
            </a:xfrm>
            <a:custGeom>
              <a:avLst/>
              <a:gdLst/>
              <a:ahLst/>
              <a:cxnLst/>
              <a:rect l="l" t="t" r="r" b="b"/>
              <a:pathLst>
                <a:path w="381000" h="1171575">
                  <a:moveTo>
                    <a:pt x="0" y="1171575"/>
                  </a:moveTo>
                  <a:lnTo>
                    <a:pt x="161925" y="1171575"/>
                  </a:lnTo>
                  <a:lnTo>
                    <a:pt x="161925" y="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54836"/>
              </a:solidFill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3886200" y="3905250"/>
              <a:ext cx="381000" cy="1114425"/>
            </a:xfrm>
            <a:custGeom>
              <a:avLst/>
              <a:gdLst/>
              <a:ahLst/>
              <a:cxnLst/>
              <a:rect l="l" t="t" r="r" b="b"/>
              <a:pathLst>
                <a:path w="381000" h="1114425">
                  <a:moveTo>
                    <a:pt x="0" y="0"/>
                  </a:moveTo>
                  <a:lnTo>
                    <a:pt x="161925" y="0"/>
                  </a:lnTo>
                  <a:lnTo>
                    <a:pt x="161925" y="1114425"/>
                  </a:lnTo>
                  <a:lnTo>
                    <a:pt x="381000" y="1114425"/>
                  </a:lnTo>
                </a:path>
              </a:pathLst>
            </a:custGeom>
            <a:noFill/>
            <a:ln w="19050">
              <a:solidFill>
                <a:srgbClr val="B54836"/>
              </a:solidFill>
              <a:tailEnd type="triangle" w="lg" len="lg"/>
            </a:ln>
          </p:spPr>
        </p:sp>
        <p:sp>
          <p:nvSpPr>
            <p:cNvPr id="27" name="Freeform 27"/>
            <p:cNvSpPr/>
            <p:nvPr/>
          </p:nvSpPr>
          <p:spPr>
            <a:xfrm>
              <a:off x="8382000" y="2733675"/>
              <a:ext cx="419100" cy="1171575"/>
            </a:xfrm>
            <a:custGeom>
              <a:avLst/>
              <a:gdLst/>
              <a:ahLst/>
              <a:cxnLst/>
              <a:rect l="l" t="t" r="r" b="b"/>
              <a:pathLst>
                <a:path w="419100" h="1171575">
                  <a:moveTo>
                    <a:pt x="0" y="0"/>
                  </a:moveTo>
                  <a:lnTo>
                    <a:pt x="209550" y="0"/>
                  </a:lnTo>
                  <a:lnTo>
                    <a:pt x="209550" y="1171575"/>
                  </a:lnTo>
                  <a:lnTo>
                    <a:pt x="419100" y="1171575"/>
                  </a:lnTo>
                </a:path>
              </a:pathLst>
            </a:custGeom>
            <a:noFill/>
            <a:ln w="19050">
              <a:solidFill>
                <a:srgbClr val="B54836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8382000" y="3905250"/>
              <a:ext cx="419100" cy="1114425"/>
            </a:xfrm>
            <a:custGeom>
              <a:avLst/>
              <a:gdLst/>
              <a:ahLst/>
              <a:cxnLst/>
              <a:rect l="l" t="t" r="r" b="b"/>
              <a:pathLst>
                <a:path w="419100" h="1114425">
                  <a:moveTo>
                    <a:pt x="0" y="1114425"/>
                  </a:moveTo>
                  <a:lnTo>
                    <a:pt x="209550" y="11144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B54836"/>
              </a:solidFill>
              <a:tailEnd type="triangle" w="lg" len="lg"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858899" y="193675"/>
            <a:ext cx="8474202" cy="1111250"/>
            <a:chOff x="1858899" y="193675"/>
            <a:chExt cx="847420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871085" y="19367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858899" y="546100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fld>
          </a:p>
        </p:txBody>
      </p:sp>
      <p:grpSp>
        <p:nvGrpSpPr>
          <p:cNvPr id="12" name="score-256"/>
          <p:cNvGrpSpPr/>
          <p:nvPr/>
        </p:nvGrpSpPr>
        <p:grpSpPr>
          <a:xfrm>
            <a:off x="685800" y="2000250"/>
            <a:ext cx="3505200" cy="3886200"/>
            <a:chOff x="685800" y="2000250"/>
            <a:chExt cx="3505200" cy="3886200"/>
          </a:xfrm>
        </p:grpSpPr>
        <p:sp>
          <p:nvSpPr>
            <p:cNvPr id="7" name="Rectangle 7"/>
            <p:cNvSpPr/>
            <p:nvPr/>
          </p:nvSpPr>
          <p:spPr>
            <a:xfrm>
              <a:off x="685800" y="2000250"/>
              <a:ext cx="3505200" cy="38862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37994" y="2378075"/>
              <a:ext cx="400812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5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3672" y="34671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現任是基準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3440" y="41497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候選都與同一位現任相比，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3440" y="45878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640"/>
          <p:cNvGrpSpPr/>
          <p:nvPr/>
        </p:nvGrpSpPr>
        <p:grpSpPr>
          <a:xfrm>
            <a:off x="4343400" y="2000250"/>
            <a:ext cx="3505200" cy="3886200"/>
            <a:chOff x="4343400" y="2000250"/>
            <a:chExt cx="3505200" cy="3886200"/>
          </a:xfrm>
        </p:grpSpPr>
        <p:sp>
          <p:nvSpPr>
            <p:cNvPr id="13" name="Rectangle 13"/>
            <p:cNvSpPr/>
            <p:nvPr/>
          </p:nvSpPr>
          <p:spPr>
            <a:xfrm>
              <a:off x="4343400" y="2000250"/>
              <a:ext cx="3505200" cy="38862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35531" y="2378075"/>
              <a:ext cx="172093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510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11065" y="34671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模型差距・百分點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9786" y="414972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按當下局勢換算的估計差距，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79786" y="45878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不等於換人後必然增加勝率。</a:t>
              </a:r>
            </a:p>
          </p:txBody>
        </p:sp>
      </p:grpSp>
      <p:grpSp>
        <p:nvGrpSpPr>
          <p:cNvPr id="24" name="score-1024"/>
          <p:cNvGrpSpPr/>
          <p:nvPr/>
        </p:nvGrpSpPr>
        <p:grpSpPr>
          <a:xfrm>
            <a:off x="8001000" y="2000250"/>
            <a:ext cx="3505200" cy="3886200"/>
            <a:chOff x="8001000" y="2000250"/>
            <a:chExt cx="3505200" cy="3886200"/>
          </a:xfrm>
        </p:grpSpPr>
        <p:sp>
          <p:nvSpPr>
            <p:cNvPr id="19" name="Rectangle 19"/>
            <p:cNvSpPr/>
            <p:nvPr/>
          </p:nvSpPr>
          <p:spPr>
            <a:xfrm>
              <a:off x="8001000" y="2000250"/>
              <a:ext cx="3505200" cy="38862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27770" y="2378075"/>
              <a:ext cx="185166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5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1929" y="34671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價值分數・相對排名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8640" y="41497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表示同一比較池內的位置，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7386" y="45878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不是安打率或換人成功機率。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acktest-comparison"/>
          <p:cNvGrpSpPr/>
          <p:nvPr/>
        </p:nvGrpSpPr>
        <p:grpSpPr>
          <a:xfrm>
            <a:off x="609600" y="2552700"/>
            <a:ext cx="10972800" cy="2268855"/>
            <a:chOff x="609600" y="2552700"/>
            <a:chExt cx="10972800" cy="2268855"/>
          </a:xfrm>
        </p:grpSpPr>
        <p:sp>
          <p:nvSpPr>
            <p:cNvPr id="12" name="TextBox 12"/>
            <p:cNvSpPr/>
            <p:nvPr/>
          </p:nvSpPr>
          <p:spPr>
            <a:xfrm>
              <a:off x="609600" y="2552700"/>
              <a:ext cx="10972800" cy="39624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/>
            <p:nvPr/>
          </p:nvSpPr>
          <p:spPr>
            <a:xfrm>
              <a:off x="609600" y="2971800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990600" y="37719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25040" y="338137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3274314" y="3648075"/>
              <a:ext cx="3147822" cy="9525"/>
            </a:xfrm>
            <a:custGeom>
              <a:avLst/>
              <a:gdLst/>
              <a:ahLst/>
              <a:cxnLst/>
              <a:rect l="l" t="t" r="r" b="b"/>
              <a:pathLst>
                <a:path w="3147822" h="9525">
                  <a:moveTo>
                    <a:pt x="0" y="0"/>
                  </a:moveTo>
                  <a:lnTo>
                    <a:pt x="3147822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4314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422136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793361" y="3562350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1767840" y="4067175"/>
              <a:ext cx="914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925" rIns="0" bIns="0" anchor="t" anchorCtr="0">
              <a:noAutofit/>
            </a:bodyPr>
            <a:lstStyle/>
            <a:p>
              <a:pPr algn="ctr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236720" y="4067175"/>
              <a:ext cx="914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925" rIns="0" bIns="0" anchor="t" anchorCtr="0">
              <a:noAutofit/>
            </a:bodyPr>
            <a:lstStyle/>
            <a:p>
              <a:pPr algn="ctr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6705600" y="4067175"/>
              <a:ext cx="914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925" rIns="0" bIns="0" anchor="t" anchorCtr="0">
              <a:noAutofit/>
            </a:bodyPr>
            <a:lstStyle/>
            <a:p>
              <a:pPr algn="ctr"/>
              <a:r>
                <a:rPr lang="zh-TW" sz="16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9600" y="4486275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</p:sp>
      </p:grpSp>
      <p:grpSp>
        <p:nvGrpSpPr>
          <p:cNvPr id="5" name="unified-header"/>
          <p:cNvGrpSpPr/>
          <p:nvPr/>
        </p:nvGrpSpPr>
        <p:grpSpPr>
          <a:xfrm>
            <a:off x="2969514" y="193675"/>
            <a:ext cx="6252972" cy="1111250"/>
            <a:chOff x="2969514" y="193675"/>
            <a:chExt cx="625297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375910" y="19367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969514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換投提示，能否辨識續投風險？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13</a:t>
            </a:fld>
          </a:p>
        </p:txBody>
      </p:sp>
      <p:grpSp>
        <p:nvGrpSpPr>
          <p:cNvPr id="25" name="study-scope"/>
          <p:cNvGrpSpPr/>
          <p:nvPr/>
        </p:nvGrpSpPr>
        <p:grpSpPr>
          <a:xfrm>
            <a:off x="2542896" y="1498600"/>
            <a:ext cx="7106209" cy="894525"/>
            <a:chOff x="2542896" y="1498600"/>
            <a:chExt cx="7106209" cy="894525"/>
          </a:xfrm>
        </p:grpSpPr>
        <p:sp>
          <p:nvSpPr>
            <p:cNvPr id="10" name="TextBox 10"/>
            <p:cNvSpPr txBox="1"/>
            <p:nvPr/>
          </p:nvSpPr>
          <p:spPr>
            <a:xfrm>
              <a:off x="2916936" y="1498600"/>
              <a:ext cx="63581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例行賽第 6 局起｜11,868 個換投決策點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2896" y="1997075"/>
              <a:ext cx="710620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每個打席前評估一次；候選差距達 1 百分點視為系統建議。</a:t>
              </a:r>
            </a:p>
          </p:txBody>
        </p:sp>
      </p:grpSp>
      <p:grpSp>
        <p:nvGrpSpPr>
          <p:cNvPr id="28" name="chart-heading"/>
          <p:cNvGrpSpPr/>
          <p:nvPr/>
        </p:nvGrpSpPr>
        <p:grpSpPr>
          <a:xfrm>
            <a:off x="2108154" y="2454275"/>
            <a:ext cx="7482568" cy="838581"/>
            <a:chOff x="2108154" y="2454275"/>
            <a:chExt cx="7482568" cy="838581"/>
          </a:xfrm>
        </p:grpSpPr>
        <p:sp>
          <p:nvSpPr>
            <p:cNvPr id="26" name="TextBox 26"/>
            <p:cNvSpPr txBox="1"/>
            <p:nvPr/>
          </p:nvSpPr>
          <p:spPr>
            <a:xfrm>
              <a:off x="2601277" y="2454275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實際未換投時，比較「建議換」與「不建議換」兩組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08154" y="2911475"/>
              <a:ext cx="39370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續投打席的得分價值（RE24）差</a:t>
              </a:r>
            </a:p>
          </p:txBody>
        </p:sp>
      </p:grpSp>
      <p:grpSp>
        <p:nvGrpSpPr>
          <p:cNvPr id="32" name="interval-value"/>
          <p:cNvGrpSpPr/>
          <p:nvPr/>
        </p:nvGrpSpPr>
        <p:grpSpPr>
          <a:xfrm>
            <a:off x="8731758" y="3092450"/>
            <a:ext cx="2119884" cy="1524381"/>
            <a:chOff x="8731758" y="3092450"/>
            <a:chExt cx="2119884" cy="1524381"/>
          </a:xfrm>
        </p:grpSpPr>
        <p:sp>
          <p:nvSpPr>
            <p:cNvPr id="29" name="TextBox 29"/>
            <p:cNvSpPr txBox="1"/>
            <p:nvPr/>
          </p:nvSpPr>
          <p:spPr>
            <a:xfrm>
              <a:off x="8810038" y="3092450"/>
              <a:ext cx="196332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8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91575" y="38417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打席得分價值差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31758" y="42354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防守方越高越不利</a:t>
              </a:r>
            </a:p>
          </p:txBody>
        </p:sp>
      </p:grpSp>
      <p:grpSp>
        <p:nvGrpSpPr>
          <p:cNvPr id="38" name="study-reading"/>
          <p:cNvGrpSpPr/>
          <p:nvPr/>
        </p:nvGrpSpPr>
        <p:grpSpPr>
          <a:xfrm>
            <a:off x="1999909" y="4594225"/>
            <a:ext cx="8192183" cy="1809369"/>
            <a:chOff x="1999909" y="4594225"/>
            <a:chExt cx="8192183" cy="1809369"/>
          </a:xfrm>
        </p:grpSpPr>
        <p:sp>
          <p:nvSpPr>
            <p:cNvPr id="33" name="TextBox 33"/>
            <p:cNvSpPr txBox="1"/>
            <p:nvPr/>
          </p:nvSpPr>
          <p:spPr>
            <a:xfrm>
              <a:off x="1999909" y="4594225"/>
              <a:ext cx="81921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95% 區間：+0.017 ～ +0.068；高於 0 表示「建議換投」組的續投風險較高。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38450" y="4965700"/>
              <a:ext cx="6515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續投組樣本：建議換投 1,954 打席；未建議換投 7,730 打席。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82365" y="528955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換投有風險線索；代打差異仍不明顯。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41014" y="565150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觀察性比較，不能推論換人的因果效益。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88459" y="6051550"/>
              <a:ext cx="5815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RE24：本打席得分，加上打席前後的預期得分變化。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fld>
          </a:p>
        </p:txBody>
      </p:sp>
      <p:grpSp>
        <p:nvGrpSpPr>
          <p:cNvPr id="7" name="chapter-heading"/>
          <p:cNvGrpSpPr/>
          <p:nvPr/>
        </p:nvGrpSpPr>
        <p:grpSpPr>
          <a:xfrm>
            <a:off x="3189351" y="723900"/>
            <a:ext cx="5813298" cy="3151505"/>
            <a:chOff x="3189351" y="723900"/>
            <a:chExt cx="5813298" cy="3151505"/>
          </a:xfrm>
        </p:grpSpPr>
        <p:sp>
          <p:nvSpPr>
            <p:cNvPr id="3" name="TextBox 3"/>
            <p:cNvSpPr txBox="1"/>
            <p:nvPr/>
          </p:nvSpPr>
          <p:spPr>
            <a:xfrm>
              <a:off x="5543550" y="723900"/>
              <a:ext cx="11049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7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89351" y="2301875"/>
              <a:ext cx="5813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0" y="310515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812858" y="3435350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</p:grpSp>
      <p:grpSp>
        <p:nvGrpSpPr>
          <p:cNvPr id="9" name="original-picture"/>
          <p:cNvGrpSpPr/>
          <p:nvPr/>
        </p:nvGrpSpPr>
        <p:grpSpPr>
          <a:xfrm>
            <a:off x="5143500" y="4238625"/>
            <a:ext cx="1905000" cy="1905000"/>
            <a:chOff x="5143500" y="4238625"/>
            <a:chExt cx="1905000" cy="1905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0" y="4238625"/>
              <a:ext cx="190500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081022" y="193675"/>
            <a:ext cx="8029956" cy="1111250"/>
            <a:chOff x="2081022" y="193675"/>
            <a:chExt cx="802995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81022" y="546100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相同評估工具，名單限制依使用方式調整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fld>
          </a:p>
        </p:txBody>
      </p:sp>
      <p:grpSp>
        <p:nvGrpSpPr>
          <p:cNvPr id="12" name="public"/>
          <p:cNvGrpSpPr/>
          <p:nvPr/>
        </p:nvGrpSpPr>
        <p:grpSpPr>
          <a:xfrm>
            <a:off x="685800" y="2009775"/>
            <a:ext cx="5181600" cy="3486150"/>
            <a:chOff x="685800" y="2009775"/>
            <a:chExt cx="5181600" cy="3486150"/>
          </a:xfrm>
        </p:grpSpPr>
        <p:sp>
          <p:nvSpPr>
            <p:cNvPr id="7" name="Rectangle 7"/>
            <p:cNvSpPr/>
            <p:nvPr/>
          </p:nvSpPr>
          <p:spPr>
            <a:xfrm>
              <a:off x="685800" y="2009775"/>
              <a:ext cx="5181600" cy="348615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07932" y="22733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9720" y="294640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不需先設定名單即可評估。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018" y="34036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可安排九棒，也可選其他球員。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1071" y="386080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適合自由模擬投打組合。</a:t>
              </a:r>
            </a:p>
          </p:txBody>
        </p:sp>
      </p:grpSp>
      <p:grpSp>
        <p:nvGrpSpPr>
          <p:cNvPr id="18" name="team"/>
          <p:cNvGrpSpPr/>
          <p:nvPr/>
        </p:nvGrpSpPr>
        <p:grpSpPr>
          <a:xfrm>
            <a:off x="6324600" y="2009775"/>
            <a:ext cx="5181600" cy="3486150"/>
            <a:chOff x="6324600" y="2009775"/>
            <a:chExt cx="5181600" cy="3486150"/>
          </a:xfrm>
        </p:grpSpPr>
        <p:sp>
          <p:nvSpPr>
            <p:cNvPr id="13" name="Rectangle 13"/>
            <p:cNvSpPr/>
            <p:nvPr/>
          </p:nvSpPr>
          <p:spPr>
            <a:xfrm>
              <a:off x="6324600" y="2009775"/>
              <a:ext cx="5181600" cy="348615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1075" y="22733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8520" y="294640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1765" y="340360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現任依場上配置；替補排除場上人員。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5818" y="38608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今日板凳與牛棚仍需人工勾選。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715000"/>
            <a:ext cx="10972800" cy="609600"/>
            <a:chOff x="609600" y="5715000"/>
            <a:chExt cx="109728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09600" y="5715000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75991" y="5791200"/>
              <a:ext cx="584001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單日分析為獨立入口，一般使用者與球隊皆可使用。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網站實作｜代打情境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只替換候選打者，其餘條件保持相同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fld>
          </a:p>
        </p:txBody>
      </p:sp>
      <p:grpSp>
        <p:nvGrpSpPr>
          <p:cNvPr id="10" name="column-1"/>
          <p:cNvGrpSpPr/>
          <p:nvPr/>
        </p:nvGrpSpPr>
        <p:grpSpPr>
          <a:xfrm>
            <a:off x="1821180" y="2330450"/>
            <a:ext cx="1234440" cy="1448181"/>
            <a:chOff x="1821180" y="2330450"/>
            <a:chExt cx="1234440" cy="1448181"/>
          </a:xfrm>
        </p:grpSpPr>
        <p:sp>
          <p:nvSpPr>
            <p:cNvPr id="7" name="TextBox 7"/>
            <p:cNvSpPr txBox="1"/>
            <p:nvPr/>
          </p:nvSpPr>
          <p:spPr>
            <a:xfrm>
              <a:off x="1821180" y="23304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對方投手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4730" y="2987675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魔力藍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65985" y="33972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左投</a:t>
              </a:r>
            </a:p>
          </p:txBody>
        </p:sp>
      </p:grpSp>
      <p:grpSp>
        <p:nvGrpSpPr>
          <p:cNvPr id="14" name="column-2"/>
          <p:cNvGrpSpPr/>
          <p:nvPr/>
        </p:nvGrpSpPr>
        <p:grpSpPr>
          <a:xfrm>
            <a:off x="5036058" y="2330450"/>
            <a:ext cx="2119884" cy="1448181"/>
            <a:chOff x="5036058" y="2330450"/>
            <a:chExt cx="2119884" cy="1448181"/>
          </a:xfrm>
        </p:grpSpPr>
        <p:sp>
          <p:nvSpPr>
            <p:cNvPr id="11" name="TextBox 11"/>
            <p:cNvSpPr txBox="1"/>
            <p:nvPr/>
          </p:nvSpPr>
          <p:spPr>
            <a:xfrm>
              <a:off x="5478780" y="23304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18379" y="2987675"/>
              <a:ext cx="15552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8 局上・1：2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36058" y="33972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18" name="column-3"/>
          <p:cNvGrpSpPr/>
          <p:nvPr/>
        </p:nvGrpSpPr>
        <p:grpSpPr>
          <a:xfrm>
            <a:off x="8824912" y="2330450"/>
            <a:ext cx="1857375" cy="1448181"/>
            <a:chOff x="8824912" y="2330450"/>
            <a:chExt cx="1857375" cy="1448181"/>
          </a:xfrm>
        </p:grpSpPr>
        <p:sp>
          <p:nvSpPr>
            <p:cNvPr id="15" name="TextBox 15"/>
            <p:cNvSpPr txBox="1"/>
            <p:nvPr/>
          </p:nvSpPr>
          <p:spPr>
            <a:xfrm>
              <a:off x="9136380" y="23304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現任打者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49930" y="2987675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林佳緯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24912" y="33972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左打，指定打擊</a:t>
              </a:r>
            </a:p>
          </p:txBody>
        </p:sp>
      </p:grpSp>
      <p:grpSp>
        <p:nvGrpSpPr>
          <p:cNvPr id="22" name="takeaway"/>
          <p:cNvGrpSpPr/>
          <p:nvPr/>
        </p:nvGrpSpPr>
        <p:grpSpPr>
          <a:xfrm>
            <a:off x="609600" y="5029200"/>
            <a:ext cx="10972800" cy="933450"/>
            <a:chOff x="609600" y="5029200"/>
            <a:chExt cx="10972800" cy="933450"/>
          </a:xfrm>
        </p:grpSpPr>
        <p:sp>
          <p:nvSpPr>
            <p:cNvPr id="19" name="Rectangle 19"/>
            <p:cNvSpPr/>
            <p:nvPr/>
          </p:nvSpPr>
          <p:spPr>
            <a:xfrm>
              <a:off x="609600" y="5029200"/>
              <a:ext cx="10972800" cy="933450"/>
            </a:xfrm>
            <a:prstGeom prst="roundRect">
              <a:avLst>
                <a:gd name="adj" fmla="val 1224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53761" y="51054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只改候選人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5309" y="5429250"/>
              <a:ext cx="496138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 或 胡金龍／陳鏞基／楊竣翔代打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303145" y="193675"/>
            <a:ext cx="7585710" cy="1111250"/>
            <a:chOff x="2303145" y="193675"/>
            <a:chExt cx="7585710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網站實作｜代打比較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303145" y="54610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胡金龍的估計差距最大，仍要確認接守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fld>
          </a:p>
        </p:txBody>
      </p:sp>
      <p:grpSp>
        <p:nvGrpSpPr>
          <p:cNvPr id="8" name="case-context"/>
          <p:cNvGrpSpPr/>
          <p:nvPr/>
        </p:nvGrpSpPr>
        <p:grpSpPr>
          <a:xfrm>
            <a:off x="3522878" y="1654175"/>
            <a:ext cx="5146243" cy="396050"/>
            <a:chOff x="3522878" y="1654175"/>
            <a:chExt cx="5146243" cy="396050"/>
          </a:xfrm>
        </p:grpSpPr>
        <p:sp>
          <p:nvSpPr>
            <p:cNvPr id="7" name="TextBox 7"/>
            <p:cNvSpPr txBox="1"/>
            <p:nvPr/>
          </p:nvSpPr>
          <p:spPr>
            <a:xfrm>
              <a:off x="3522878" y="1654175"/>
              <a:ext cx="514624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基準：林佳緯｜統一對富邦｜8 局上・1：2</a:t>
              </a:r>
            </a:p>
          </p:txBody>
        </p:sp>
      </p:grpSp>
      <p:grpSp>
        <p:nvGrpSpPr>
          <p:cNvPr id="10" name="original-picture"/>
          <p:cNvGrpSpPr/>
          <p:nvPr/>
        </p:nvGrpSpPr>
        <p:grpSpPr>
          <a:xfrm>
            <a:off x="457200" y="2538059"/>
            <a:ext cx="11277600" cy="1762831"/>
            <a:chOff x="457200" y="2538059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538059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case-value"/>
          <p:cNvGrpSpPr/>
          <p:nvPr/>
        </p:nvGrpSpPr>
        <p:grpSpPr>
          <a:xfrm>
            <a:off x="1286586" y="4838700"/>
            <a:ext cx="3827628" cy="1231075"/>
            <a:chOff x="1286586" y="4838700"/>
            <a:chExt cx="3827628" cy="1231075"/>
          </a:xfrm>
        </p:grpSpPr>
        <p:sp>
          <p:nvSpPr>
            <p:cNvPr id="11" name="TextBox 11"/>
            <p:cNvSpPr txBox="1"/>
            <p:nvPr/>
          </p:nvSpPr>
          <p:spPr>
            <a:xfrm>
              <a:off x="2414174" y="4838700"/>
              <a:ext cx="1572453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6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6586" y="56737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7" name="case-notes"/>
          <p:cNvGrpSpPr/>
          <p:nvPr/>
        </p:nvGrpSpPr>
        <p:grpSpPr>
          <a:xfrm>
            <a:off x="6908102" y="4940300"/>
            <a:ext cx="3957447" cy="1238631"/>
            <a:chOff x="6908102" y="4940300"/>
            <a:chExt cx="3957447" cy="1238631"/>
          </a:xfrm>
        </p:grpSpPr>
        <p:sp>
          <p:nvSpPr>
            <p:cNvPr id="14" name="TextBox 14"/>
            <p:cNvSpPr txBox="1"/>
            <p:nvPr/>
          </p:nvSpPr>
          <p:spPr>
            <a:xfrm>
              <a:off x="7938059" y="4940300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0611" y="54165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本例不需額外安排接守人選。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08102" y="579755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747391" y="193675"/>
            <a:ext cx="6697218" cy="1111250"/>
            <a:chOff x="2747391" y="193675"/>
            <a:chExt cx="669721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網站實作｜換投比較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747391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fld>
          </a:p>
        </p:txBody>
      </p:sp>
      <p:grpSp>
        <p:nvGrpSpPr>
          <p:cNvPr id="8" name="case-context"/>
          <p:cNvGrpSpPr/>
          <p:nvPr/>
        </p:nvGrpSpPr>
        <p:grpSpPr>
          <a:xfrm>
            <a:off x="2627554" y="1654175"/>
            <a:ext cx="6936892" cy="396050"/>
            <a:chOff x="2627554" y="1654175"/>
            <a:chExt cx="6936892" cy="396050"/>
          </a:xfrm>
        </p:grpSpPr>
        <p:sp>
          <p:nvSpPr>
            <p:cNvPr id="7" name="TextBox 7"/>
            <p:cNvSpPr txBox="1"/>
            <p:nvPr/>
          </p:nvSpPr>
          <p:spPr>
            <a:xfrm>
              <a:off x="2627554" y="1654175"/>
              <a:ext cx="69368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original-picture"/>
          <p:cNvGrpSpPr/>
          <p:nvPr/>
        </p:nvGrpSpPr>
        <p:grpSpPr>
          <a:xfrm>
            <a:off x="457200" y="2361023"/>
            <a:ext cx="11277600" cy="2116904"/>
            <a:chOff x="457200" y="2361023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361023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case-value"/>
          <p:cNvGrpSpPr/>
          <p:nvPr/>
        </p:nvGrpSpPr>
        <p:grpSpPr>
          <a:xfrm>
            <a:off x="1286586" y="4838700"/>
            <a:ext cx="3827628" cy="1231075"/>
            <a:chOff x="1286586" y="4838700"/>
            <a:chExt cx="3827628" cy="1231075"/>
          </a:xfrm>
        </p:grpSpPr>
        <p:sp>
          <p:nvSpPr>
            <p:cNvPr id="11" name="TextBox 11"/>
            <p:cNvSpPr txBox="1"/>
            <p:nvPr/>
          </p:nvSpPr>
          <p:spPr>
            <a:xfrm>
              <a:off x="2414174" y="4838700"/>
              <a:ext cx="1572453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6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6586" y="56737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7" name="case-notes"/>
          <p:cNvGrpSpPr/>
          <p:nvPr/>
        </p:nvGrpSpPr>
        <p:grpSpPr>
          <a:xfrm>
            <a:off x="6645592" y="4940300"/>
            <a:ext cx="4482465" cy="1238631"/>
            <a:chOff x="6645592" y="4940300"/>
            <a:chExt cx="4482465" cy="1238631"/>
          </a:xfrm>
        </p:grpSpPr>
        <p:sp>
          <p:nvSpPr>
            <p:cNvPr id="14" name="TextBox 14"/>
            <p:cNvSpPr txBox="1"/>
            <p:nvPr/>
          </p:nvSpPr>
          <p:spPr>
            <a:xfrm>
              <a:off x="7313422" y="4940300"/>
              <a:ext cx="314680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把接下來三棒一起比較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08102" y="541655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45592" y="5797550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含本場用球數調整，未模擬後續換局。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969514" y="193675"/>
            <a:ext cx="6252972" cy="1111250"/>
            <a:chOff x="2969514" y="193675"/>
            <a:chExt cx="625297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969514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1142721" y="1524000"/>
            <a:ext cx="5791758" cy="4762500"/>
            <a:chOff x="1142721" y="1524000"/>
            <a:chExt cx="5791758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2721" y="1524000"/>
              <a:ext cx="5791758" cy="4762500"/>
            </a:xfrm>
            <a:prstGeom prst="rect">
              <a:avLst/>
            </a:prstGeom>
          </p:spPr>
        </p:pic>
      </p:grpSp>
      <p:grpSp>
        <p:nvGrpSpPr>
          <p:cNvPr id="11" name="image-note-0"/>
          <p:cNvGrpSpPr/>
          <p:nvPr/>
        </p:nvGrpSpPr>
        <p:grpSpPr>
          <a:xfrm>
            <a:off x="8267060" y="1990725"/>
            <a:ext cx="2668280" cy="1632966"/>
            <a:chOff x="8267060" y="1990725"/>
            <a:chExt cx="2668280" cy="1632966"/>
          </a:xfrm>
        </p:grpSpPr>
        <p:sp>
          <p:nvSpPr>
            <p:cNvPr id="9" name="TextBox 9"/>
            <p:cNvSpPr txBox="1"/>
            <p:nvPr/>
          </p:nvSpPr>
          <p:spPr>
            <a:xfrm>
              <a:off x="9003208" y="1990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守備配置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67060" y="2524125"/>
              <a:ext cx="2668280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點選守位挑選球員。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另設場上投手。</a:t>
              </a:r>
            </a:p>
          </p:txBody>
        </p:sp>
      </p:grpSp>
      <p:grpSp>
        <p:nvGrpSpPr>
          <p:cNvPr id="14" name="image-note-1"/>
          <p:cNvGrpSpPr/>
          <p:nvPr/>
        </p:nvGrpSpPr>
        <p:grpSpPr>
          <a:xfrm>
            <a:off x="8105394" y="4067175"/>
            <a:ext cx="2991612" cy="1273874"/>
            <a:chOff x="8105394" y="4067175"/>
            <a:chExt cx="2991612" cy="1273874"/>
          </a:xfrm>
        </p:grpSpPr>
        <p:sp>
          <p:nvSpPr>
            <p:cNvPr id="12" name="TextBox 12"/>
            <p:cNvSpPr txBox="1"/>
            <p:nvPr/>
          </p:nvSpPr>
          <p:spPr>
            <a:xfrm>
              <a:off x="9003208" y="406717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互換守位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5394" y="460057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開啟後依序點兩個位置；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可復原，套用後更新評估。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719935" y="1524000"/>
            <a:ext cx="6637330" cy="4762500"/>
            <a:chOff x="719935" y="1524000"/>
            <a:chExt cx="6637330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935" y="1524000"/>
              <a:ext cx="6637330" cy="4762500"/>
            </a:xfrm>
            <a:prstGeom prst="rect">
              <a:avLst/>
            </a:prstGeom>
          </p:spPr>
        </p:pic>
      </p:grpSp>
      <p:grpSp>
        <p:nvGrpSpPr>
          <p:cNvPr id="11" name="image-note-0"/>
          <p:cNvGrpSpPr/>
          <p:nvPr/>
        </p:nvGrpSpPr>
        <p:grpSpPr>
          <a:xfrm>
            <a:off x="8016240" y="1762125"/>
            <a:ext cx="3169920" cy="940181"/>
            <a:chOff x="8016240" y="1762125"/>
            <a:chExt cx="3169920" cy="940181"/>
          </a:xfrm>
        </p:grpSpPr>
        <p:sp>
          <p:nvSpPr>
            <p:cNvPr id="9" name="TextBox 9"/>
            <p:cNvSpPr txBox="1"/>
            <p:nvPr/>
          </p:nvSpPr>
          <p:spPr>
            <a:xfrm>
              <a:off x="9003208" y="17621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選擇球員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6240" y="23209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點姓名，搜尋或改選人選。</a:t>
              </a:r>
            </a:p>
          </p:txBody>
        </p:sp>
      </p:grpSp>
      <p:grpSp>
        <p:nvGrpSpPr>
          <p:cNvPr id="14" name="image-note-1"/>
          <p:cNvGrpSpPr/>
          <p:nvPr/>
        </p:nvGrpSpPr>
        <p:grpSpPr>
          <a:xfrm>
            <a:off x="8201978" y="3324225"/>
            <a:ext cx="2798445" cy="940181"/>
            <a:chOff x="8201978" y="3324225"/>
            <a:chExt cx="2798445" cy="940181"/>
          </a:xfrm>
        </p:grpSpPr>
        <p:sp>
          <p:nvSpPr>
            <p:cNvPr id="12" name="TextBox 12"/>
            <p:cNvSpPr txBox="1"/>
            <p:nvPr/>
          </p:nvSpPr>
          <p:spPr>
            <a:xfrm>
              <a:off x="9003208" y="33242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調整棒次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01978" y="3883025"/>
              <a:ext cx="27984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 ↑↓ 或互換兩個棒次。</a:t>
              </a:r>
            </a:p>
          </p:txBody>
        </p:sp>
      </p:grpSp>
      <p:grpSp>
        <p:nvGrpSpPr>
          <p:cNvPr id="17" name="image-note-2"/>
          <p:cNvGrpSpPr/>
          <p:nvPr/>
        </p:nvGrpSpPr>
        <p:grpSpPr>
          <a:xfrm>
            <a:off x="8016240" y="4886325"/>
            <a:ext cx="3169920" cy="940181"/>
            <a:chOff x="8016240" y="4886325"/>
            <a:chExt cx="3169920" cy="940181"/>
          </a:xfrm>
        </p:grpSpPr>
        <p:sp>
          <p:nvSpPr>
            <p:cNvPr id="15" name="TextBox 15"/>
            <p:cNvSpPr txBox="1"/>
            <p:nvPr/>
          </p:nvSpPr>
          <p:spPr>
            <a:xfrm>
              <a:off x="9003208" y="48863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16240" y="54451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確認九棒與守位後再生效。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858899" y="193675"/>
            <a:ext cx="8474202" cy="1111250"/>
            <a:chOff x="1858899" y="193675"/>
            <a:chExt cx="847420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858899" y="546100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把常用牛棚存成群組，再確認今日可用人選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1089579" y="1524000"/>
            <a:ext cx="5898043" cy="4762500"/>
            <a:chOff x="1089579" y="1524000"/>
            <a:chExt cx="5898043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9579" y="1524000"/>
              <a:ext cx="5898043" cy="4762500"/>
            </a:xfrm>
            <a:prstGeom prst="rect">
              <a:avLst/>
            </a:prstGeom>
          </p:spPr>
        </p:pic>
      </p:grpSp>
      <p:grpSp>
        <p:nvGrpSpPr>
          <p:cNvPr id="11" name="image-note-0"/>
          <p:cNvGrpSpPr/>
          <p:nvPr/>
        </p:nvGrpSpPr>
        <p:grpSpPr>
          <a:xfrm>
            <a:off x="7753731" y="1787525"/>
            <a:ext cx="3694938" cy="914781"/>
            <a:chOff x="7753731" y="1787525"/>
            <a:chExt cx="3694938" cy="914781"/>
          </a:xfrm>
        </p:grpSpPr>
        <p:sp>
          <p:nvSpPr>
            <p:cNvPr id="9" name="TextBox 9"/>
            <p:cNvSpPr txBox="1"/>
            <p:nvPr/>
          </p:nvSpPr>
          <p:spPr>
            <a:xfrm>
              <a:off x="7823352" y="178752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勝投組／敗投組／自訂義群組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53731" y="23209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三個可修改範本，非官方分組。</a:t>
              </a:r>
            </a:p>
          </p:txBody>
        </p:sp>
      </p:grpSp>
      <p:grpSp>
        <p:nvGrpSpPr>
          <p:cNvPr id="14" name="image-note-1"/>
          <p:cNvGrpSpPr/>
          <p:nvPr/>
        </p:nvGrpSpPr>
        <p:grpSpPr>
          <a:xfrm>
            <a:off x="7884986" y="3324225"/>
            <a:ext cx="3432429" cy="940181"/>
            <a:chOff x="7884986" y="3324225"/>
            <a:chExt cx="3432429" cy="940181"/>
          </a:xfrm>
        </p:grpSpPr>
        <p:sp>
          <p:nvSpPr>
            <p:cNvPr id="12" name="TextBox 12"/>
            <p:cNvSpPr txBox="1"/>
            <p:nvPr/>
          </p:nvSpPr>
          <p:spPr>
            <a:xfrm>
              <a:off x="8563000" y="332422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編輯成員並儲存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84986" y="388302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群組保存在此網站與瀏覽器。</a:t>
              </a:r>
            </a:p>
          </p:txBody>
        </p:sp>
      </p:grpSp>
      <p:grpSp>
        <p:nvGrpSpPr>
          <p:cNvPr id="17" name="image-note-2"/>
          <p:cNvGrpSpPr/>
          <p:nvPr/>
        </p:nvGrpSpPr>
        <p:grpSpPr>
          <a:xfrm>
            <a:off x="7753731" y="4886325"/>
            <a:ext cx="3694938" cy="940181"/>
            <a:chOff x="7753731" y="4886325"/>
            <a:chExt cx="3694938" cy="940181"/>
          </a:xfrm>
        </p:grpSpPr>
        <p:sp>
          <p:nvSpPr>
            <p:cNvPr id="15" name="TextBox 15"/>
            <p:cNvSpPr txBox="1"/>
            <p:nvPr/>
          </p:nvSpPr>
          <p:spPr>
            <a:xfrm>
              <a:off x="8269529" y="4886325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套用後仍可手動勾選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53731" y="54451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其餘可用資格，由使用者核對。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081022" y="193675"/>
            <a:ext cx="8029956" cy="1111250"/>
            <a:chOff x="2081022" y="193675"/>
            <a:chExt cx="802995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81022" y="546100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魔力藍對右打：低落類增加，速球類減少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fld>
          </a:p>
        </p:txBody>
      </p:sp>
      <p:grpSp>
        <p:nvGrpSpPr>
          <p:cNvPr id="10" name="pitch-change-344"/>
          <p:cNvGrpSpPr/>
          <p:nvPr/>
        </p:nvGrpSpPr>
        <p:grpSpPr>
          <a:xfrm>
            <a:off x="1321308" y="2451100"/>
            <a:ext cx="3910584" cy="2208975"/>
            <a:chOff x="1321308" y="2451100"/>
            <a:chExt cx="3910584" cy="2208975"/>
          </a:xfrm>
        </p:grpSpPr>
        <p:sp>
          <p:nvSpPr>
            <p:cNvPr id="7" name="TextBox 7"/>
            <p:cNvSpPr txBox="1"/>
            <p:nvPr/>
          </p:nvSpPr>
          <p:spPr>
            <a:xfrm>
              <a:off x="2456688" y="2451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低落類球種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1308" y="3171825"/>
              <a:ext cx="391058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18% → 34%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2617" y="426402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　　　　近期</a:t>
              </a:r>
            </a:p>
          </p:txBody>
        </p:sp>
      </p:grpSp>
      <p:grpSp>
        <p:nvGrpSpPr>
          <p:cNvPr id="14" name="pitch-change-936"/>
          <p:cNvGrpSpPr/>
          <p:nvPr/>
        </p:nvGrpSpPr>
        <p:grpSpPr>
          <a:xfrm>
            <a:off x="6960108" y="2451100"/>
            <a:ext cx="3910584" cy="2208975"/>
            <a:chOff x="6960108" y="2451100"/>
            <a:chExt cx="3910584" cy="2208975"/>
          </a:xfrm>
        </p:grpSpPr>
        <p:sp>
          <p:nvSpPr>
            <p:cNvPr id="11" name="TextBox 11"/>
            <p:cNvSpPr txBox="1"/>
            <p:nvPr/>
          </p:nvSpPr>
          <p:spPr>
            <a:xfrm>
              <a:off x="8095488" y="2451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速球類球種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60108" y="3171825"/>
              <a:ext cx="391058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53% → 41%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1417" y="426402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　　　　近期</a:t>
              </a:r>
            </a:p>
          </p:txBody>
        </p:sp>
      </p:grpSp>
      <p:grpSp>
        <p:nvGrpSpPr>
          <p:cNvPr id="17" name="takeaway"/>
          <p:cNvGrpSpPr/>
          <p:nvPr/>
        </p:nvGrpSpPr>
        <p:grpSpPr>
          <a:xfrm>
            <a:off x="609600" y="5534025"/>
            <a:ext cx="10972800" cy="609600"/>
            <a:chOff x="609600" y="5534025"/>
            <a:chExt cx="10972800" cy="609600"/>
          </a:xfrm>
        </p:grpSpPr>
        <p:sp>
          <p:nvSpPr>
            <p:cNvPr id="15" name="Rectangle 15"/>
            <p:cNvSpPr/>
            <p:nvPr/>
          </p:nvSpPr>
          <p:spPr>
            <a:xfrm>
              <a:off x="609600" y="5534025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18255" y="5610225"/>
              <a:ext cx="455549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之前 10 場・428 球 → 最近 5 場・258 球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303145" y="193675"/>
            <a:ext cx="7585710" cy="1111250"/>
            <a:chOff x="2303145" y="193675"/>
            <a:chExt cx="7585710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303145" y="54610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網站依相同左右打條件，比較兩段配球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927528" y="1514475"/>
            <a:ext cx="10336945" cy="4762500"/>
            <a:chOff x="927528" y="1514475"/>
            <a:chExt cx="10336945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528" y="1514475"/>
              <a:ext cx="10336945" cy="4762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892427" y="193675"/>
            <a:ext cx="8407146" cy="1111250"/>
            <a:chOff x="1892427" y="193675"/>
            <a:chExt cx="840714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732020" y="19367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892427" y="546100"/>
              <a:ext cx="840714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六隊三場、226 個打席，完整重現攻守比較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fld>
          </a:p>
        </p:txBody>
      </p:sp>
      <p:grpSp>
        <p:nvGrpSpPr>
          <p:cNvPr id="9" name="total-pa"/>
          <p:cNvGrpSpPr/>
          <p:nvPr/>
        </p:nvGrpSpPr>
        <p:grpSpPr>
          <a:xfrm>
            <a:off x="2860626" y="1939925"/>
            <a:ext cx="6470748" cy="1436243"/>
            <a:chOff x="2860626" y="1939925"/>
            <a:chExt cx="6470748" cy="1436243"/>
          </a:xfrm>
        </p:grpSpPr>
        <p:sp>
          <p:nvSpPr>
            <p:cNvPr id="7" name="TextBox 7"/>
            <p:cNvSpPr txBox="1"/>
            <p:nvPr/>
          </p:nvSpPr>
          <p:spPr>
            <a:xfrm>
              <a:off x="4216527" y="1939925"/>
              <a:ext cx="375894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57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 個打席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60626" y="2965450"/>
              <a:ext cx="64707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2025/09/20（六），每個打席皆可切換代打與換投。</a:t>
              </a:r>
            </a:p>
          </p:txBody>
        </p:sp>
      </p:grpSp>
      <p:grpSp>
        <p:nvGrpSpPr>
          <p:cNvPr id="13" name="game-256"/>
          <p:cNvGrpSpPr/>
          <p:nvPr/>
        </p:nvGrpSpPr>
        <p:grpSpPr>
          <a:xfrm>
            <a:off x="1447038" y="3965575"/>
            <a:ext cx="1982724" cy="1815275"/>
            <a:chOff x="1447038" y="3965575"/>
            <a:chExt cx="1982724" cy="1815275"/>
          </a:xfrm>
        </p:grpSpPr>
        <p:sp>
          <p:nvSpPr>
            <p:cNvPr id="10" name="TextBox 10"/>
            <p:cNvSpPr txBox="1"/>
            <p:nvPr/>
          </p:nvSpPr>
          <p:spPr>
            <a:xfrm>
              <a:off x="1542912" y="3965575"/>
              <a:ext cx="17909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7038" y="4467225"/>
              <a:ext cx="19827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70 打席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7455" y="5384800"/>
              <a:ext cx="11218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2025-340</a:t>
              </a:r>
            </a:p>
          </p:txBody>
        </p:sp>
      </p:grpSp>
      <p:grpSp>
        <p:nvGrpSpPr>
          <p:cNvPr id="17" name="game-640"/>
          <p:cNvGrpSpPr/>
          <p:nvPr/>
        </p:nvGrpSpPr>
        <p:grpSpPr>
          <a:xfrm>
            <a:off x="5104638" y="3965575"/>
            <a:ext cx="1982724" cy="1815275"/>
            <a:chOff x="5104638" y="3965575"/>
            <a:chExt cx="1982724" cy="1815275"/>
          </a:xfrm>
        </p:grpSpPr>
        <p:sp>
          <p:nvSpPr>
            <p:cNvPr id="14" name="TextBox 14"/>
            <p:cNvSpPr txBox="1"/>
            <p:nvPr/>
          </p:nvSpPr>
          <p:spPr>
            <a:xfrm>
              <a:off x="5200512" y="3965575"/>
              <a:ext cx="17909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04638" y="4467225"/>
              <a:ext cx="19827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74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5055" y="5384800"/>
              <a:ext cx="11218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2025-341</a:t>
              </a:r>
            </a:p>
          </p:txBody>
        </p:sp>
      </p:grpSp>
      <p:grpSp>
        <p:nvGrpSpPr>
          <p:cNvPr id="21" name="game-1024"/>
          <p:cNvGrpSpPr/>
          <p:nvPr/>
        </p:nvGrpSpPr>
        <p:grpSpPr>
          <a:xfrm>
            <a:off x="8762238" y="3965575"/>
            <a:ext cx="1982724" cy="1815275"/>
            <a:chOff x="8762238" y="3965575"/>
            <a:chExt cx="1982724" cy="1815275"/>
          </a:xfrm>
        </p:grpSpPr>
        <p:sp>
          <p:nvSpPr>
            <p:cNvPr id="18" name="TextBox 18"/>
            <p:cNvSpPr txBox="1"/>
            <p:nvPr/>
          </p:nvSpPr>
          <p:spPr>
            <a:xfrm>
              <a:off x="8858112" y="3965575"/>
              <a:ext cx="17909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62238" y="4467225"/>
              <a:ext cx="19827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82 打席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655" y="5384800"/>
              <a:ext cx="11218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2025-342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同一打席，代打與換投各有比較基準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fld>
          </a:p>
        </p:txBody>
      </p:sp>
      <p:grpSp>
        <p:nvGrpSpPr>
          <p:cNvPr id="11" name="pinch"/>
          <p:cNvGrpSpPr/>
          <p:nvPr/>
        </p:nvGrpSpPr>
        <p:grpSpPr>
          <a:xfrm>
            <a:off x="685800" y="1752600"/>
            <a:ext cx="5181600" cy="1962150"/>
            <a:chOff x="685800" y="1752600"/>
            <a:chExt cx="5181600" cy="1962150"/>
          </a:xfrm>
        </p:grpSpPr>
        <p:sp>
          <p:nvSpPr>
            <p:cNvPr id="7" name="Rectangle 7"/>
            <p:cNvSpPr/>
            <p:nvPr/>
          </p:nvSpPr>
          <p:spPr>
            <a:xfrm>
              <a:off x="685800" y="1752600"/>
              <a:ext cx="5181600" cy="1962150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0161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35124" y="26892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陳傑憲或候選打者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6435" y="3146425"/>
              <a:ext cx="26403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面對實際投手 王志煊</a:t>
              </a:r>
            </a:p>
          </p:txBody>
        </p:sp>
      </p:grpSp>
      <p:grpSp>
        <p:nvGrpSpPr>
          <p:cNvPr id="16" name="pitch"/>
          <p:cNvGrpSpPr/>
          <p:nvPr/>
        </p:nvGrpSpPr>
        <p:grpSpPr>
          <a:xfrm>
            <a:off x="6324600" y="1752600"/>
            <a:ext cx="5181600" cy="1962150"/>
            <a:chOff x="6324600" y="1752600"/>
            <a:chExt cx="5181600" cy="1962150"/>
          </a:xfrm>
        </p:grpSpPr>
        <p:sp>
          <p:nvSpPr>
            <p:cNvPr id="12" name="Rectangle 12"/>
            <p:cNvSpPr/>
            <p:nvPr/>
          </p:nvSpPr>
          <p:spPr>
            <a:xfrm>
              <a:off x="6324600" y="1752600"/>
              <a:ext cx="5181600" cy="1962150"/>
            </a:xfrm>
            <a:prstGeom prst="roundRect">
              <a:avLst>
                <a:gd name="adj" fmla="val 5825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98180" y="20161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95235" y="2689225"/>
              <a:ext cx="26403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原投手 林子崴若續投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3884" y="3146425"/>
              <a:ext cx="29230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 王志煊等牛棚候選</a:t>
              </a:r>
            </a:p>
          </p:txBody>
        </p:sp>
      </p:grpSp>
      <p:grpSp>
        <p:nvGrpSpPr>
          <p:cNvPr id="18" name="original-picture"/>
          <p:cNvGrpSpPr/>
          <p:nvPr/>
        </p:nvGrpSpPr>
        <p:grpSpPr>
          <a:xfrm>
            <a:off x="466045" y="4029075"/>
            <a:ext cx="11259911" cy="2143125"/>
            <a:chOff x="466045" y="4029075"/>
            <a:chExt cx="11259911" cy="2143125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6045" y="4029075"/>
              <a:ext cx="11259911" cy="2143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只拿當時已知的資訊，重現決策情境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fld>
          </a:p>
        </p:txBody>
      </p:sp>
      <p:grpSp>
        <p:nvGrpSpPr>
          <p:cNvPr id="12" name="known-before"/>
          <p:cNvGrpSpPr/>
          <p:nvPr/>
        </p:nvGrpSpPr>
        <p:grpSpPr>
          <a:xfrm>
            <a:off x="609600" y="3648075"/>
            <a:ext cx="5715000" cy="2647950"/>
            <a:chOff x="609600" y="3648075"/>
            <a:chExt cx="5715000" cy="2647950"/>
          </a:xfrm>
        </p:grpSpPr>
        <p:sp>
          <p:nvSpPr>
            <p:cNvPr id="7" name="Rectangle 7"/>
            <p:cNvSpPr/>
            <p:nvPr/>
          </p:nvSpPr>
          <p:spPr>
            <a:xfrm>
              <a:off x="609600" y="3648075"/>
              <a:ext cx="5715000" cy="2647950"/>
            </a:xfrm>
            <a:prstGeom prst="roundRect">
              <a:avLst>
                <a:gd name="adj" fmla="val 4317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8300" y="391160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推薦輸入：只用決策前紀錄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7518" y="458470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同日打席結果不進入能力估計。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8675" y="5041900"/>
              <a:ext cx="4376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出賽、休息與負荷截於 9/20 之前。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2114" y="549910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</p:grpSp>
      <p:grpSp>
        <p:nvGrpSpPr>
          <p:cNvPr id="19" name="interpretation"/>
          <p:cNvGrpSpPr/>
          <p:nvPr/>
        </p:nvGrpSpPr>
        <p:grpSpPr>
          <a:xfrm>
            <a:off x="6629400" y="3648075"/>
            <a:ext cx="4953000" cy="2647950"/>
            <a:chOff x="6629400" y="3648075"/>
            <a:chExt cx="4953000" cy="2647950"/>
          </a:xfrm>
        </p:grpSpPr>
        <p:sp>
          <p:nvSpPr>
            <p:cNvPr id="13" name="Rectangle 13"/>
            <p:cNvSpPr/>
            <p:nvPr/>
          </p:nvSpPr>
          <p:spPr>
            <a:xfrm>
              <a:off x="6629400" y="3648075"/>
              <a:ext cx="4953000" cy="2647950"/>
            </a:xfrm>
            <a:prstGeom prst="roundRect">
              <a:avLst>
                <a:gd name="adj" fmla="val 4317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4338" y="3911600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如何解讀回放？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11059" y="4584700"/>
              <a:ext cx="27896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局起標示系統建議，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91019" y="4965700"/>
              <a:ext cx="34297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門檻為相對現任 1 百分點。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1722" y="534670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單日表現不是準確率，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57669" y="5727700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也不能證明換人的因果效益。</a:t>
              </a:r>
            </a:p>
          </p:txBody>
        </p:sp>
      </p:grpSp>
      <p:grpSp>
        <p:nvGrpSpPr>
          <p:cNvPr id="33" name="before-after-timeline"/>
          <p:cNvGrpSpPr/>
          <p:nvPr/>
        </p:nvGrpSpPr>
        <p:grpSpPr>
          <a:xfrm>
            <a:off x="1247204" y="1682750"/>
            <a:ext cx="9435083" cy="1279525"/>
            <a:chOff x="1247204" y="1682750"/>
            <a:chExt cx="9435083" cy="1279525"/>
          </a:xfrm>
        </p:grpSpPr>
        <p:grpSp>
          <p:nvGrpSpPr>
            <p:cNvPr id="22" name="column-1"/>
            <p:cNvGrpSpPr/>
            <p:nvPr/>
          </p:nvGrpSpPr>
          <p:grpSpPr>
            <a:xfrm>
              <a:off x="1247204" y="1682750"/>
              <a:ext cx="2382393" cy="800481"/>
              <a:chOff x="1247204" y="1682750"/>
              <a:chExt cx="2382393" cy="80048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2222496" y="1682750"/>
                <a:ext cx="43180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9/1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47204" y="21018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95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逐球模型的訓練截止</a:t>
                </a:r>
              </a:p>
            </p:txBody>
          </p:sp>
        </p:grpSp>
        <p:grpSp>
          <p:nvGrpSpPr>
            <p:cNvPr id="25" name="column-2"/>
            <p:cNvGrpSpPr/>
            <p:nvPr/>
          </p:nvGrpSpPr>
          <p:grpSpPr>
            <a:xfrm>
              <a:off x="4511040" y="1682750"/>
              <a:ext cx="3169920" cy="800481"/>
              <a:chOff x="4511040" y="1682750"/>
              <a:chExt cx="3169920" cy="8004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457186" y="1682750"/>
                <a:ext cx="1277627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9/20 賽前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11040" y="2101850"/>
                <a:ext cx="31699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95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能力估計、近期出賽與配球</a:t>
                </a:r>
              </a:p>
            </p:txBody>
          </p:sp>
        </p:grpSp>
        <p:grpSp>
          <p:nvGrpSpPr>
            <p:cNvPr id="28" name="column-3"/>
            <p:cNvGrpSpPr/>
            <p:nvPr/>
          </p:nvGrpSpPr>
          <p:grpSpPr>
            <a:xfrm>
              <a:off x="8824912" y="1682750"/>
              <a:ext cx="1857375" cy="800481"/>
              <a:chOff x="8824912" y="1682750"/>
              <a:chExt cx="1857375" cy="80048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8984932" y="1682750"/>
                <a:ext cx="153733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 altLang="en-US">
                    <a:solidFill>
                      <a:srgbClr val="18344A"/>
                    </a:solidFill>
                    <a:latin typeface="Times New Roman"/>
                    <a:ea typeface="標楷體"/>
                    <a:cs typeface="Times New Roman"/>
                  </a:rPr>
                  <a:t>打席結束後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24912" y="210185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950" dirty="0" altLang="en-US">
                    <a:solidFill>
                      <a:srgbClr val="1D2934"/>
                    </a:solidFill>
                    <a:latin typeface="Times New Roman"/>
                    <a:ea typeface="標楷體"/>
                    <a:cs typeface="Times New Roman"/>
                  </a:rPr>
                  <a:t>實際調度與結果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2438400" y="291465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390775" y="286702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048375" y="286702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705975" y="286702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回到同一個打席，分開看建議與結果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fld>
          </a:p>
        </p:txBody>
      </p:sp>
      <p:grpSp>
        <p:nvGrpSpPr>
          <p:cNvPr id="8" name="original-picture"/>
          <p:cNvGrpSpPr/>
          <p:nvPr/>
        </p:nvGrpSpPr>
        <p:grpSpPr>
          <a:xfrm>
            <a:off x="457200" y="1605524"/>
            <a:ext cx="11277600" cy="3408828"/>
            <a:chOff x="457200" y="1605524"/>
            <a:chExt cx="11277600" cy="3408828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605524"/>
              <a:ext cx="11277600" cy="3408828"/>
            </a:xfrm>
            <a:prstGeom prst="rect">
              <a:avLst/>
            </a:prstGeom>
          </p:spPr>
        </p:pic>
      </p:grpSp>
      <p:grpSp>
        <p:nvGrpSpPr>
          <p:cNvPr id="12" name="column-1"/>
          <p:cNvGrpSpPr/>
          <p:nvPr/>
        </p:nvGrpSpPr>
        <p:grpSpPr>
          <a:xfrm>
            <a:off x="1378458" y="5149850"/>
            <a:ext cx="2119884" cy="1171956"/>
            <a:chOff x="1378458" y="5149850"/>
            <a:chExt cx="2119884" cy="1171956"/>
          </a:xfrm>
        </p:grpSpPr>
        <p:sp>
          <p:nvSpPr>
            <p:cNvPr id="9" name="TextBox 9"/>
            <p:cNvSpPr txBox="1"/>
            <p:nvPr/>
          </p:nvSpPr>
          <p:spPr>
            <a:xfrm>
              <a:off x="1821180" y="51498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9145" y="5568950"/>
              <a:ext cx="15185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8458" y="59404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column-2"/>
          <p:cNvGrpSpPr/>
          <p:nvPr/>
        </p:nvGrpSpPr>
        <p:grpSpPr>
          <a:xfrm>
            <a:off x="4766119" y="5149850"/>
            <a:ext cx="2659761" cy="1171956"/>
            <a:chOff x="4766119" y="5149850"/>
            <a:chExt cx="2659761" cy="1171956"/>
          </a:xfrm>
        </p:grpSpPr>
        <p:sp>
          <p:nvSpPr>
            <p:cNvPr id="13" name="TextBox 13"/>
            <p:cNvSpPr txBox="1"/>
            <p:nvPr/>
          </p:nvSpPr>
          <p:spPr>
            <a:xfrm>
              <a:off x="5478780" y="51498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61076" y="55689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66119" y="5940425"/>
              <a:ext cx="26597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column-3"/>
          <p:cNvGrpSpPr/>
          <p:nvPr/>
        </p:nvGrpSpPr>
        <p:grpSpPr>
          <a:xfrm>
            <a:off x="8562404" y="5149850"/>
            <a:ext cx="2382393" cy="1171956"/>
            <a:chOff x="8562404" y="5149850"/>
            <a:chExt cx="2382393" cy="1171956"/>
          </a:xfrm>
        </p:grpSpPr>
        <p:sp>
          <p:nvSpPr>
            <p:cNvPr id="17" name="TextBox 17"/>
            <p:cNvSpPr txBox="1"/>
            <p:nvPr/>
          </p:nvSpPr>
          <p:spPr>
            <a:xfrm>
              <a:off x="9136380" y="51498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18676" y="55689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2404" y="59404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747391" y="193675"/>
            <a:ext cx="6697218" cy="1111250"/>
            <a:chOff x="2747391" y="193675"/>
            <a:chExt cx="669721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972050" y="19367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747391" y="5461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fld>
          </a:p>
        </p:txBody>
      </p:sp>
      <p:grpSp>
        <p:nvGrpSpPr>
          <p:cNvPr id="8" name="load-context"/>
          <p:cNvGrpSpPr/>
          <p:nvPr/>
        </p:nvGrpSpPr>
        <p:grpSpPr>
          <a:xfrm>
            <a:off x="4406893" y="1739900"/>
            <a:ext cx="3378214" cy="440055"/>
            <a:chOff x="4406893" y="1739900"/>
            <a:chExt cx="3378214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4406893" y="1739900"/>
              <a:ext cx="33782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陳冠宇｜2025/09/20 賽前</a:t>
              </a:r>
            </a:p>
          </p:txBody>
        </p:sp>
      </p:grpSp>
      <p:grpSp>
        <p:nvGrpSpPr>
          <p:cNvPr id="10" name="original-picture"/>
          <p:cNvGrpSpPr/>
          <p:nvPr/>
        </p:nvGrpSpPr>
        <p:grpSpPr>
          <a:xfrm>
            <a:off x="457200" y="2506999"/>
            <a:ext cx="11277600" cy="901026"/>
            <a:chOff x="457200" y="2506999"/>
            <a:chExt cx="11277600" cy="901026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506999"/>
              <a:ext cx="11277600" cy="901026"/>
            </a:xfrm>
            <a:prstGeom prst="rect">
              <a:avLst/>
            </a:prstGeom>
          </p:spPr>
        </p:pic>
      </p:grpSp>
      <p:grpSp>
        <p:nvGrpSpPr>
          <p:cNvPr id="14" name="column-1"/>
          <p:cNvGrpSpPr/>
          <p:nvPr/>
        </p:nvGrpSpPr>
        <p:grpSpPr>
          <a:xfrm>
            <a:off x="1432941" y="4254500"/>
            <a:ext cx="2010918" cy="1448181"/>
            <a:chOff x="1432941" y="4254500"/>
            <a:chExt cx="2010918" cy="1448181"/>
          </a:xfrm>
        </p:grpSpPr>
        <p:sp>
          <p:nvSpPr>
            <p:cNvPr id="11" name="TextBox 11"/>
            <p:cNvSpPr txBox="1"/>
            <p:nvPr/>
          </p:nvSpPr>
          <p:spPr>
            <a:xfrm>
              <a:off x="2142486" y="4254500"/>
              <a:ext cx="5918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0967" y="49117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32941" y="5321300"/>
              <a:ext cx="20109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近三天累計 17 球</a:t>
              </a:r>
            </a:p>
          </p:txBody>
        </p:sp>
      </p:grpSp>
      <p:grpSp>
        <p:nvGrpSpPr>
          <p:cNvPr id="18" name="column-2"/>
          <p:cNvGrpSpPr/>
          <p:nvPr/>
        </p:nvGrpSpPr>
        <p:grpSpPr>
          <a:xfrm>
            <a:off x="5167312" y="4254500"/>
            <a:ext cx="1857375" cy="1448181"/>
            <a:chOff x="5167312" y="4254500"/>
            <a:chExt cx="1857375" cy="1448181"/>
          </a:xfrm>
        </p:grpSpPr>
        <p:sp>
          <p:nvSpPr>
            <p:cNvPr id="15" name="TextBox 15"/>
            <p:cNvSpPr txBox="1"/>
            <p:nvPr/>
          </p:nvSpPr>
          <p:spPr>
            <a:xfrm>
              <a:off x="5800086" y="4254500"/>
              <a:ext cx="5918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98567" y="49117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完整休息一天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67312" y="53213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賽前未連續登板</a:t>
              </a:r>
            </a:p>
          </p:txBody>
        </p:sp>
      </p:grpSp>
      <p:grpSp>
        <p:nvGrpSpPr>
          <p:cNvPr id="22" name="column-3"/>
          <p:cNvGrpSpPr/>
          <p:nvPr/>
        </p:nvGrpSpPr>
        <p:grpSpPr>
          <a:xfrm>
            <a:off x="8740712" y="4254500"/>
            <a:ext cx="2025777" cy="1448181"/>
            <a:chOff x="8740712" y="4254500"/>
            <a:chExt cx="2025777" cy="1448181"/>
          </a:xfrm>
        </p:grpSpPr>
        <p:sp>
          <p:nvSpPr>
            <p:cNvPr id="19" name="TextBox 19"/>
            <p:cNvSpPr txBox="1"/>
            <p:nvPr/>
          </p:nvSpPr>
          <p:spPr>
            <a:xfrm>
              <a:off x="9114786" y="4254500"/>
              <a:ext cx="12776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24912" y="491172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準備今天的換投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40712" y="5321300"/>
              <a:ext cx="20257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近 14 天出賽 4 場</a:t>
              </a:r>
            </a:p>
          </p:txBody>
        </p:sp>
      </p:grpSp>
      <p:grpSp>
        <p:nvGrpSpPr>
          <p:cNvPr id="27" name="load-timeline"/>
          <p:cNvGrpSpPr/>
          <p:nvPr/>
        </p:nvGrpSpPr>
        <p:grpSpPr>
          <a:xfrm>
            <a:off x="2390775" y="3800475"/>
            <a:ext cx="7410450" cy="95250"/>
            <a:chOff x="2390775" y="3800475"/>
            <a:chExt cx="7410450" cy="95250"/>
          </a:xfrm>
        </p:grpSpPr>
        <p:sp>
          <p:nvSpPr>
            <p:cNvPr id="23" name="Line 23"/>
            <p:cNvSpPr/>
            <p:nvPr/>
          </p:nvSpPr>
          <p:spPr>
            <a:xfrm>
              <a:off x="2438400" y="38481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390775" y="380047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048375" y="380047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05975" y="3800475"/>
              <a:ext cx="95250" cy="952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081022" y="193675"/>
            <a:ext cx="8029956" cy="1111250"/>
            <a:chOff x="2081022" y="193675"/>
            <a:chExt cx="802995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81022" y="546100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先固定條件，再比較人選，最後檢查提醒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fld>
          </a:p>
        </p:txBody>
      </p:sp>
      <p:grpSp>
        <p:nvGrpSpPr>
          <p:cNvPr id="14" name="column-1"/>
          <p:cNvGrpSpPr/>
          <p:nvPr/>
        </p:nvGrpSpPr>
        <p:grpSpPr>
          <a:xfrm>
            <a:off x="984694" y="3625850"/>
            <a:ext cx="2907411" cy="1448181"/>
            <a:chOff x="984694" y="3625850"/>
            <a:chExt cx="2907411" cy="1448181"/>
          </a:xfrm>
        </p:grpSpPr>
        <p:sp>
          <p:nvSpPr>
            <p:cNvPr id="7" name="TextBox 7"/>
            <p:cNvSpPr txBox="1"/>
            <p:nvPr/>
          </p:nvSpPr>
          <p:spPr>
            <a:xfrm>
              <a:off x="1589722" y="362585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設定局勢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694" y="42830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球隊、投打人選、比分、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7204" y="46926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局數、出局與壘況。</a:t>
              </a:r>
            </a:p>
          </p:txBody>
        </p:sp>
      </p:grpSp>
      <p:grpSp>
        <p:nvGrpSpPr>
          <p:cNvPr id="19" name="column-2"/>
          <p:cNvGrpSpPr/>
          <p:nvPr/>
        </p:nvGrpSpPr>
        <p:grpSpPr>
          <a:xfrm>
            <a:off x="4773549" y="3625850"/>
            <a:ext cx="2644902" cy="1448181"/>
            <a:chOff x="4773549" y="3625850"/>
            <a:chExt cx="2644902" cy="1448181"/>
          </a:xfrm>
        </p:grpSpPr>
        <p:sp>
          <p:nvSpPr>
            <p:cNvPr id="15" name="TextBox 15"/>
            <p:cNvSpPr txBox="1"/>
            <p:nvPr/>
          </p:nvSpPr>
          <p:spPr>
            <a:xfrm>
              <a:off x="5247322" y="362585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比較人選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3549" y="42830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先看相對現任的差距，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3549" y="46926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最多選四人檢視比較。</a:t>
              </a:r>
            </a:p>
          </p:txBody>
        </p:sp>
      </p:grpSp>
      <p:grpSp>
        <p:nvGrpSpPr>
          <p:cNvPr id="25" name="column-3"/>
          <p:cNvGrpSpPr/>
          <p:nvPr/>
        </p:nvGrpSpPr>
        <p:grpSpPr>
          <a:xfrm>
            <a:off x="8168640" y="3625850"/>
            <a:ext cx="3169920" cy="1448181"/>
            <a:chOff x="8168640" y="3625850"/>
            <a:chExt cx="3169920" cy="1448181"/>
          </a:xfrm>
        </p:grpSpPr>
        <p:sp>
          <p:nvSpPr>
            <p:cNvPr id="22" name="TextBox 22"/>
            <p:cNvSpPr txBox="1"/>
            <p:nvPr/>
          </p:nvSpPr>
          <p:spPr>
            <a:xfrm>
              <a:off x="8904922" y="362585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核對限制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68640" y="42830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確認接守安排、可用名單，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8640" y="46926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並留意模型分歧與資料量。</a:t>
              </a:r>
            </a:p>
          </p:txBody>
        </p:sp>
      </p:grpSp>
      <p:grpSp>
        <p:nvGrpSpPr>
          <p:cNvPr id="26" name="restored-icon-0"/>
          <p:cNvGrpSpPr/>
          <p:nvPr/>
        </p:nvGrpSpPr>
        <p:grpSpPr>
          <a:xfrm>
            <a:off x="2114550" y="2803024"/>
            <a:ext cx="647700" cy="585203"/>
            <a:chOff x="2114550" y="2803024"/>
            <a:chExt cx="647700" cy="585203"/>
          </a:xfrm>
        </p:grpSpPr>
        <p:sp>
          <p:nvSpPr>
            <p:cNvPr id="9" name="Freeform 9"/>
            <p:cNvSpPr/>
            <p:nvPr/>
          </p:nvSpPr>
          <p:spPr>
            <a:xfrm>
              <a:off x="2142958" y="2831432"/>
              <a:ext cx="590884" cy="556795"/>
            </a:xfrm>
            <a:custGeom>
              <a:avLst/>
              <a:gdLst/>
              <a:ahLst/>
              <a:cxnLst/>
              <a:rect l="l" t="t" r="r" b="b"/>
              <a:pathLst>
                <a:path w="590884" h="556795">
                  <a:moveTo>
                    <a:pt x="295442" y="0"/>
                  </a:moveTo>
                  <a:lnTo>
                    <a:pt x="590884" y="278397"/>
                  </a:lnTo>
                  <a:lnTo>
                    <a:pt x="295442" y="556795"/>
                  </a:lnTo>
                  <a:lnTo>
                    <a:pt x="0" y="278397"/>
                  </a:lnTo>
                  <a:close/>
                </a:path>
              </a:pathLst>
            </a:custGeom>
            <a:noFill/>
            <a:ln w="22726">
              <a:solidFill>
                <a:srgbClr val="18344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409992" y="2803024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705434" y="3081421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14550" y="3081421"/>
              <a:ext cx="56816" cy="56816"/>
            </a:xfrm>
            <a:prstGeom prst="rect">
              <a:avLst/>
            </a:prstGeom>
            <a:solidFill>
              <a:srgbClr val="B54836"/>
            </a:solidFill>
            <a:ln w="22726">
              <a:solidFill>
                <a:srgbClr val="B54836"/>
              </a:solidFill>
            </a:ln>
          </p:spPr>
        </p:sp>
      </p:grpSp>
      <p:grpSp>
        <p:nvGrpSpPr>
          <p:cNvPr id="27" name="restored-icon-1"/>
          <p:cNvGrpSpPr/>
          <p:nvPr/>
        </p:nvGrpSpPr>
        <p:grpSpPr>
          <a:xfrm>
            <a:off x="5772150" y="2840743"/>
            <a:ext cx="647700" cy="509764"/>
            <a:chOff x="5772150" y="2840743"/>
            <a:chExt cx="647700" cy="509764"/>
          </a:xfrm>
        </p:grpSpPr>
        <p:sp>
          <p:nvSpPr>
            <p:cNvPr id="16" name="Freeform 16"/>
            <p:cNvSpPr/>
            <p:nvPr/>
          </p:nvSpPr>
          <p:spPr>
            <a:xfrm>
              <a:off x="5772150" y="2840743"/>
              <a:ext cx="647700" cy="509764"/>
            </a:xfrm>
            <a:custGeom>
              <a:avLst/>
              <a:gdLst/>
              <a:ahLst/>
              <a:cxnLst/>
              <a:rect l="l" t="t" r="r" b="b"/>
              <a:pathLst>
                <a:path w="647700" h="509764">
                  <a:moveTo>
                    <a:pt x="0" y="29986"/>
                  </a:moveTo>
                  <a:lnTo>
                    <a:pt x="0" y="509764"/>
                  </a:lnTo>
                  <a:lnTo>
                    <a:pt x="647700" y="509764"/>
                  </a:lnTo>
                  <a:moveTo>
                    <a:pt x="143933" y="419806"/>
                  </a:moveTo>
                  <a:lnTo>
                    <a:pt x="143933" y="251883"/>
                  </a:lnTo>
                  <a:moveTo>
                    <a:pt x="317853" y="419806"/>
                  </a:moveTo>
                  <a:lnTo>
                    <a:pt x="317853" y="107950"/>
                  </a:lnTo>
                  <a:moveTo>
                    <a:pt x="491772" y="419806"/>
                  </a:moveTo>
                  <a:lnTo>
                    <a:pt x="491772" y="0"/>
                  </a:lnTo>
                </a:path>
              </a:pathLst>
            </a:custGeom>
            <a:noFill/>
            <a:ln w="23989">
              <a:solidFill>
                <a:srgbClr val="18344A"/>
              </a:solidFill>
            </a:ln>
          </p:spPr>
        </p:sp>
      </p:grpSp>
      <p:grpSp>
        <p:nvGrpSpPr>
          <p:cNvPr id="28" name="restored-icon-2"/>
          <p:cNvGrpSpPr/>
          <p:nvPr/>
        </p:nvGrpSpPr>
        <p:grpSpPr>
          <a:xfrm>
            <a:off x="9429750" y="2771775"/>
            <a:ext cx="647700" cy="647700"/>
            <a:chOff x="9429750" y="2771775"/>
            <a:chExt cx="647700" cy="647700"/>
          </a:xfrm>
        </p:grpSpPr>
        <p:sp>
          <p:nvSpPr>
            <p:cNvPr id="20" name="Ellipse 20"/>
            <p:cNvSpPr/>
            <p:nvPr/>
          </p:nvSpPr>
          <p:spPr>
            <a:xfrm>
              <a:off x="9429750" y="2771775"/>
              <a:ext cx="647700" cy="647700"/>
            </a:xfrm>
            <a:prstGeom prst="ellipse">
              <a:avLst/>
            </a:prstGeom>
            <a:noFill/>
            <a:ln w="26988">
              <a:solidFill>
                <a:srgbClr val="18344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753600" y="2893219"/>
              <a:ext cx="168672" cy="310356"/>
            </a:xfrm>
            <a:custGeom>
              <a:avLst/>
              <a:gdLst/>
              <a:ahLst/>
              <a:cxnLst/>
              <a:rect l="l" t="t" r="r" b="b"/>
              <a:pathLst>
                <a:path w="168672" h="310356">
                  <a:moveTo>
                    <a:pt x="0" y="0"/>
                  </a:moveTo>
                  <a:lnTo>
                    <a:pt x="0" y="202406"/>
                  </a:lnTo>
                  <a:lnTo>
                    <a:pt x="168672" y="310356"/>
                  </a:lnTo>
                </a:path>
              </a:pathLst>
            </a:custGeom>
            <a:noFill/>
            <a:ln w="26988">
              <a:solidFill>
                <a:srgbClr val="18344A"/>
              </a:solidFill>
            </a:ln>
          </p:spPr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969514" y="193675"/>
            <a:ext cx="6252972" cy="1111250"/>
            <a:chOff x="2969514" y="193675"/>
            <a:chExt cx="625297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476875" y="19367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969514" y="5461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差距之外，三種提醒都要一起看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fld>
          </a:p>
        </p:txBody>
      </p:sp>
      <p:grpSp>
        <p:nvGrpSpPr>
          <p:cNvPr id="12" name="column-1"/>
          <p:cNvGrpSpPr/>
          <p:nvPr/>
        </p:nvGrpSpPr>
        <p:grpSpPr>
          <a:xfrm>
            <a:off x="984694" y="3463925"/>
            <a:ext cx="2907411" cy="1857756"/>
            <a:chOff x="984694" y="3463925"/>
            <a:chExt cx="2907411" cy="1857756"/>
          </a:xfrm>
        </p:grpSpPr>
        <p:sp>
          <p:nvSpPr>
            <p:cNvPr id="7" name="TextBox 7"/>
            <p:cNvSpPr txBox="1"/>
            <p:nvPr/>
          </p:nvSpPr>
          <p:spPr>
            <a:xfrm>
              <a:off x="1821180" y="34639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接守需求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5949" y="4121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代打不只換一個名字。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694" y="45307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確認替補能接守原位置，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694" y="494030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以及是否需再調整守備。</a:t>
              </a:r>
            </a:p>
          </p:txBody>
        </p:sp>
      </p:grpSp>
      <p:grpSp>
        <p:nvGrpSpPr>
          <p:cNvPr id="18" name="column-2"/>
          <p:cNvGrpSpPr/>
          <p:nvPr/>
        </p:nvGrpSpPr>
        <p:grpSpPr>
          <a:xfrm>
            <a:off x="4642294" y="3463925"/>
            <a:ext cx="2907411" cy="1857756"/>
            <a:chOff x="4642294" y="3463925"/>
            <a:chExt cx="2907411" cy="1857756"/>
          </a:xfrm>
        </p:grpSpPr>
        <p:sp>
          <p:nvSpPr>
            <p:cNvPr id="13" name="TextBox 13"/>
            <p:cNvSpPr txBox="1"/>
            <p:nvPr/>
          </p:nvSpPr>
          <p:spPr>
            <a:xfrm>
              <a:off x="5478780" y="34639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模型分歧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73549" y="4121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兩種估計的方向不同，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2294" y="45307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代表排序沒有同樣把握，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3549" y="49403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不宜只看分數做決定。</a:t>
              </a:r>
            </a:p>
          </p:txBody>
        </p:sp>
      </p:grpSp>
      <p:grpSp>
        <p:nvGrpSpPr>
          <p:cNvPr id="24" name="column-3"/>
          <p:cNvGrpSpPr/>
          <p:nvPr/>
        </p:nvGrpSpPr>
        <p:grpSpPr>
          <a:xfrm>
            <a:off x="8299894" y="3463925"/>
            <a:ext cx="2907411" cy="1857756"/>
            <a:chOff x="8299894" y="3463925"/>
            <a:chExt cx="2907411" cy="1857756"/>
          </a:xfrm>
        </p:grpSpPr>
        <p:sp>
          <p:nvSpPr>
            <p:cNvPr id="20" name="TextBox 20"/>
            <p:cNvSpPr txBox="1"/>
            <p:nvPr/>
          </p:nvSpPr>
          <p:spPr>
            <a:xfrm>
              <a:off x="9136380" y="346392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資料有限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1149" y="4121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樣本少或資料不完整，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1149" y="45307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估計更倚賴整體基準；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9894" y="494030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球隊仍需核對當日狀態。</a:t>
              </a:r>
            </a:p>
          </p:txBody>
        </p:sp>
      </p:grpSp>
      <p:grpSp>
        <p:nvGrpSpPr>
          <p:cNvPr id="26" name="restored-icon-0"/>
          <p:cNvGrpSpPr/>
          <p:nvPr/>
        </p:nvGrpSpPr>
        <p:grpSpPr>
          <a:xfrm>
            <a:off x="2114550" y="2603345"/>
            <a:ext cx="647700" cy="644934"/>
            <a:chOff x="2114550" y="2603345"/>
            <a:chExt cx="647700" cy="644934"/>
          </a:xfrm>
        </p:grpSpPr>
        <p:sp>
          <p:nvSpPr>
            <p:cNvPr id="9" name="Freeform 9"/>
            <p:cNvSpPr/>
            <p:nvPr/>
          </p:nvSpPr>
          <p:spPr>
            <a:xfrm>
              <a:off x="2114550" y="2603345"/>
              <a:ext cx="647700" cy="584510"/>
            </a:xfrm>
            <a:custGeom>
              <a:avLst/>
              <a:gdLst/>
              <a:ahLst/>
              <a:cxnLst/>
              <a:rect l="l" t="t" r="r" b="b"/>
              <a:pathLst>
                <a:path w="647700" h="584510">
                  <a:moveTo>
                    <a:pt x="323850" y="0"/>
                  </a:moveTo>
                  <a:lnTo>
                    <a:pt x="647700" y="584510"/>
                  </a:lnTo>
                  <a:lnTo>
                    <a:pt x="0" y="584510"/>
                  </a:lnTo>
                  <a:close/>
                </a:path>
              </a:pathLst>
            </a:custGeom>
            <a:noFill/>
            <a:ln w="23696">
              <a:solidFill>
                <a:srgbClr val="B5483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65054" y="2749550"/>
              <a:ext cx="1466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!</a:t>
              </a:r>
            </a:p>
          </p:txBody>
        </p:sp>
      </p:grpSp>
      <p:grpSp>
        <p:nvGrpSpPr>
          <p:cNvPr id="28" name="restored-icon-1"/>
          <p:cNvGrpSpPr/>
          <p:nvPr/>
        </p:nvGrpSpPr>
        <p:grpSpPr>
          <a:xfrm>
            <a:off x="5772150" y="2603345"/>
            <a:ext cx="647700" cy="644934"/>
            <a:chOff x="5772150" y="2603345"/>
            <a:chExt cx="647700" cy="644934"/>
          </a:xfrm>
        </p:grpSpPr>
        <p:sp>
          <p:nvSpPr>
            <p:cNvPr id="14" name="Freeform 14"/>
            <p:cNvSpPr/>
            <p:nvPr/>
          </p:nvSpPr>
          <p:spPr>
            <a:xfrm>
              <a:off x="5772150" y="2603345"/>
              <a:ext cx="647700" cy="584510"/>
            </a:xfrm>
            <a:custGeom>
              <a:avLst/>
              <a:gdLst/>
              <a:ahLst/>
              <a:cxnLst/>
              <a:rect l="l" t="t" r="r" b="b"/>
              <a:pathLst>
                <a:path w="647700" h="584510">
                  <a:moveTo>
                    <a:pt x="323850" y="0"/>
                  </a:moveTo>
                  <a:lnTo>
                    <a:pt x="647700" y="584510"/>
                  </a:lnTo>
                  <a:lnTo>
                    <a:pt x="0" y="584510"/>
                  </a:lnTo>
                  <a:close/>
                </a:path>
              </a:pathLst>
            </a:custGeom>
            <a:noFill/>
            <a:ln w="23696">
              <a:solidFill>
                <a:srgbClr val="B5483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2654" y="2749550"/>
              <a:ext cx="1466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!</a:t>
              </a:r>
            </a:p>
          </p:txBody>
        </p:sp>
      </p:grpSp>
      <p:grpSp>
        <p:nvGrpSpPr>
          <p:cNvPr id="30" name="restored-icon-2"/>
          <p:cNvGrpSpPr/>
          <p:nvPr/>
        </p:nvGrpSpPr>
        <p:grpSpPr>
          <a:xfrm>
            <a:off x="9429750" y="2603345"/>
            <a:ext cx="647700" cy="644934"/>
            <a:chOff x="9429750" y="2603345"/>
            <a:chExt cx="647700" cy="644934"/>
          </a:xfrm>
        </p:grpSpPr>
        <p:sp>
          <p:nvSpPr>
            <p:cNvPr id="19" name="Freeform 19"/>
            <p:cNvSpPr/>
            <p:nvPr/>
          </p:nvSpPr>
          <p:spPr>
            <a:xfrm>
              <a:off x="9429750" y="2603345"/>
              <a:ext cx="647700" cy="584510"/>
            </a:xfrm>
            <a:custGeom>
              <a:avLst/>
              <a:gdLst/>
              <a:ahLst/>
              <a:cxnLst/>
              <a:rect l="l" t="t" r="r" b="b"/>
              <a:pathLst>
                <a:path w="647700" h="584510">
                  <a:moveTo>
                    <a:pt x="323850" y="0"/>
                  </a:moveTo>
                  <a:lnTo>
                    <a:pt x="647700" y="584510"/>
                  </a:lnTo>
                  <a:lnTo>
                    <a:pt x="0" y="584510"/>
                  </a:lnTo>
                  <a:close/>
                </a:path>
              </a:pathLst>
            </a:custGeom>
            <a:noFill/>
            <a:ln w="23696">
              <a:solidFill>
                <a:srgbClr val="B5483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80254" y="2749550"/>
              <a:ext cx="1466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!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grpSp>
        <p:nvGrpSpPr>
          <p:cNvPr id="5" name="unified-header"/>
          <p:cNvGrpSpPr/>
          <p:nvPr/>
        </p:nvGrpSpPr>
        <p:grpSpPr>
          <a:xfrm>
            <a:off x="1858899" y="193675"/>
            <a:ext cx="8474202" cy="1111250"/>
            <a:chOff x="1858899" y="193675"/>
            <a:chExt cx="8474202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871210" y="193675"/>
              <a:ext cx="2449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858899" y="546100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fld>
          </a:p>
        </p:txBody>
      </p:sp>
      <p:grpSp>
        <p:nvGrpSpPr>
          <p:cNvPr id="9" name="play-cue"/>
          <p:cNvGrpSpPr/>
          <p:nvPr/>
        </p:nvGrpSpPr>
        <p:grpSpPr>
          <a:xfrm>
            <a:off x="9736074" y="206375"/>
            <a:ext cx="1349502" cy="322707"/>
            <a:chOff x="9736074" y="206375"/>
            <a:chExt cx="1349502" cy="322707"/>
          </a:xfrm>
        </p:grpSpPr>
        <p:sp>
          <p:nvSpPr>
            <p:cNvPr id="8" name="TextBox 8"/>
            <p:cNvSpPr txBox="1"/>
            <p:nvPr/>
          </p:nvSpPr>
          <p:spPr>
            <a:xfrm>
              <a:off x="9736074" y="2063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點選影片播放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fld>
          </a:p>
        </p:txBody>
      </p:sp>
      <p:grpSp>
        <p:nvGrpSpPr>
          <p:cNvPr id="7" name="chapter-heading"/>
          <p:cNvGrpSpPr/>
          <p:nvPr/>
        </p:nvGrpSpPr>
        <p:grpSpPr>
          <a:xfrm>
            <a:off x="2664333" y="723900"/>
            <a:ext cx="6863334" cy="3151505"/>
            <a:chOff x="2664333" y="723900"/>
            <a:chExt cx="6863334" cy="3151505"/>
          </a:xfrm>
        </p:grpSpPr>
        <p:sp>
          <p:nvSpPr>
            <p:cNvPr id="3" name="TextBox 3"/>
            <p:cNvSpPr txBox="1"/>
            <p:nvPr/>
          </p:nvSpPr>
          <p:spPr>
            <a:xfrm>
              <a:off x="5543550" y="723900"/>
              <a:ext cx="11049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75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64333" y="2301875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0" y="310515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509962" y="3435350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</p:grpSp>
      <p:grpSp>
        <p:nvGrpSpPr>
          <p:cNvPr id="9" name="original-picture"/>
          <p:cNvGrpSpPr/>
          <p:nvPr/>
        </p:nvGrpSpPr>
        <p:grpSpPr>
          <a:xfrm>
            <a:off x="5143500" y="4238625"/>
            <a:ext cx="1905000" cy="1905000"/>
            <a:chOff x="5143500" y="4238625"/>
            <a:chExt cx="1905000" cy="1905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3500" y="4238625"/>
              <a:ext cx="190500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636776" y="193675"/>
            <a:ext cx="8918448" cy="1111250"/>
            <a:chOff x="1636776" y="193675"/>
            <a:chExt cx="891844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173980" y="193675"/>
              <a:ext cx="184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636776" y="546100"/>
              <a:ext cx="89184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已完成可操作網站，下一步驗證能否輔助判讀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33</a:t>
            </a:fld>
          </a:p>
        </p:txBody>
      </p:sp>
      <p:grpSp>
        <p:nvGrpSpPr>
          <p:cNvPr id="12" name="column-1"/>
          <p:cNvGrpSpPr/>
          <p:nvPr/>
        </p:nvGrpSpPr>
        <p:grpSpPr>
          <a:xfrm>
            <a:off x="722185" y="2063750"/>
            <a:ext cx="3432429" cy="2267331"/>
            <a:chOff x="722185" y="2063750"/>
            <a:chExt cx="3432429" cy="2267331"/>
          </a:xfrm>
        </p:grpSpPr>
        <p:sp>
          <p:nvSpPr>
            <p:cNvPr id="7" name="TextBox 7"/>
            <p:cNvSpPr txBox="1"/>
            <p:nvPr/>
          </p:nvSpPr>
          <p:spPr>
            <a:xfrm>
              <a:off x="1972628" y="20637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09712" y="27209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網站功能與回放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2185" y="31305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換打／換投、場上名單、群組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8581" y="3540125"/>
              <a:ext cx="3199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 226 打席皆可攻守比較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694" y="394970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已完成操作與一致性檢查</a:t>
              </a:r>
            </a:p>
          </p:txBody>
        </p:sp>
      </p:grpSp>
      <p:grpSp>
        <p:nvGrpSpPr>
          <p:cNvPr id="19" name="column-2"/>
          <p:cNvGrpSpPr/>
          <p:nvPr/>
        </p:nvGrpSpPr>
        <p:grpSpPr>
          <a:xfrm>
            <a:off x="4379786" y="2063750"/>
            <a:ext cx="3432429" cy="2676906"/>
            <a:chOff x="4379786" y="2063750"/>
            <a:chExt cx="3432429" cy="2676906"/>
          </a:xfrm>
        </p:grpSpPr>
        <p:sp>
          <p:nvSpPr>
            <p:cNvPr id="13" name="TextBox 13"/>
            <p:cNvSpPr txBox="1"/>
            <p:nvPr/>
          </p:nvSpPr>
          <p:spPr>
            <a:xfrm>
              <a:off x="5478780" y="2063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下一階段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73549" y="27209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使用者與球隊情境試用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9786" y="31305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觀察差距、提醒與限制的理解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73549" y="35401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記錄卡住步驟與誤操作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67312" y="39497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並核對名單問題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11040" y="43592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以任務結果及誤解紀錄驗收</a:t>
              </a:r>
            </a:p>
          </p:txBody>
        </p:sp>
      </p:grpSp>
      <p:grpSp>
        <p:nvGrpSpPr>
          <p:cNvPr id="25" name="column-3"/>
          <p:cNvGrpSpPr/>
          <p:nvPr/>
        </p:nvGrpSpPr>
        <p:grpSpPr>
          <a:xfrm>
            <a:off x="8168640" y="2063750"/>
            <a:ext cx="3169920" cy="2267331"/>
            <a:chOff x="8168640" y="2063750"/>
            <a:chExt cx="3169920" cy="2267331"/>
          </a:xfrm>
        </p:grpSpPr>
        <p:sp>
          <p:nvSpPr>
            <p:cNvPr id="20" name="TextBox 20"/>
            <p:cNvSpPr txBox="1"/>
            <p:nvPr/>
          </p:nvSpPr>
          <p:spPr>
            <a:xfrm>
              <a:off x="9136380" y="20637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持續發展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93658" y="272097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跨年度與季中更新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8640" y="31305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補入新年度名單與出賽資料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68640" y="35401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依賽季更新近況，逐期驗證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8640" y="39497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保留截止日與每次比較紀錄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609600" y="5695950"/>
            <a:ext cx="10972800" cy="609600"/>
            <a:chOff x="609600" y="5695950"/>
            <a:chExt cx="10972800" cy="609600"/>
          </a:xfrm>
        </p:grpSpPr>
        <p:sp>
          <p:nvSpPr>
            <p:cNvPr id="26" name="Rectangle 26"/>
            <p:cNvSpPr/>
            <p:nvPr/>
          </p:nvSpPr>
          <p:spPr>
            <a:xfrm>
              <a:off x="609600" y="5695950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290191" y="5772150"/>
              <a:ext cx="761161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預期成效：減少重複整理，說清楚「換誰、差多少、要注意什麼」。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886587" y="193675"/>
            <a:ext cx="10418826" cy="1111250"/>
            <a:chOff x="886587" y="193675"/>
            <a:chExt cx="10418826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164330" y="19367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86587" y="546100"/>
              <a:ext cx="104188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2026，讓新球員與名單跟得上賽季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34</a:t>
            </a:fld>
          </a:p>
        </p:txBody>
      </p:sp>
      <p:grpSp>
        <p:nvGrpSpPr>
          <p:cNvPr id="9" name="data-expansion"/>
          <p:cNvGrpSpPr/>
          <p:nvPr/>
        </p:nvGrpSpPr>
        <p:grpSpPr>
          <a:xfrm>
            <a:off x="1819453" y="1730375"/>
            <a:ext cx="8553094" cy="910400"/>
            <a:chOff x="1819453" y="1730375"/>
            <a:chExt cx="8553094" cy="910400"/>
          </a:xfrm>
        </p:grpSpPr>
        <p:sp>
          <p:nvSpPr>
            <p:cNvPr id="7" name="TextBox 7"/>
            <p:cNvSpPr txBox="1"/>
            <p:nvPr/>
          </p:nvSpPr>
          <p:spPr>
            <a:xfrm>
              <a:off x="2172652" y="1730375"/>
              <a:ext cx="78466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現有 2024–2025 資料 → 新年度資料檢查 → 2026 情境評估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19453" y="2244725"/>
              <a:ext cx="855309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取得可用資料並確認授權後，再逐項接入；2026 資料目前未納入本版。</a:t>
              </a:r>
            </a:p>
          </p:txBody>
        </p:sp>
      </p:grpSp>
      <p:grpSp>
        <p:nvGrpSpPr>
          <p:cNvPr id="14" name="column-1"/>
          <p:cNvGrpSpPr/>
          <p:nvPr/>
        </p:nvGrpSpPr>
        <p:grpSpPr>
          <a:xfrm>
            <a:off x="853440" y="3130550"/>
            <a:ext cx="3169920" cy="1857756"/>
            <a:chOff x="853440" y="3130550"/>
            <a:chExt cx="3169920" cy="1857756"/>
          </a:xfrm>
        </p:grpSpPr>
        <p:sp>
          <p:nvSpPr>
            <p:cNvPr id="10" name="TextBox 10"/>
            <p:cNvSpPr txBox="1"/>
            <p:nvPr/>
          </p:nvSpPr>
          <p:spPr>
            <a:xfrm>
              <a:off x="1063942" y="31305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球員與當日可用名單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694" y="37877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3440" y="41973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接入正式登錄與逐場名單，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3440" y="46069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補上守位，減少紀錄推估。</a:t>
              </a:r>
            </a:p>
          </p:txBody>
        </p:sp>
      </p:grpSp>
      <p:grpSp>
        <p:nvGrpSpPr>
          <p:cNvPr id="19" name="column-2"/>
          <p:cNvGrpSpPr/>
          <p:nvPr/>
        </p:nvGrpSpPr>
        <p:grpSpPr>
          <a:xfrm>
            <a:off x="4511040" y="3130550"/>
            <a:ext cx="3169920" cy="1857756"/>
            <a:chOff x="4511040" y="3130550"/>
            <a:chExt cx="3169920" cy="1857756"/>
          </a:xfrm>
        </p:grpSpPr>
        <p:sp>
          <p:nvSpPr>
            <p:cNvPr id="15" name="TextBox 15"/>
            <p:cNvSpPr txBox="1"/>
            <p:nvPr/>
          </p:nvSpPr>
          <p:spPr>
            <a:xfrm>
              <a:off x="4721542" y="31305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逐球與負荷持續累積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9348" y="3787775"/>
              <a:ext cx="28133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 2026 逐球與出賽。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1040" y="41973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以球員編號串接歷年紀錄，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3549" y="46069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分清同名與轉隊期間。</a:t>
              </a:r>
            </a:p>
          </p:txBody>
        </p:sp>
      </p:grpSp>
      <p:grpSp>
        <p:nvGrpSpPr>
          <p:cNvPr id="24" name="column-3"/>
          <p:cNvGrpSpPr/>
          <p:nvPr/>
        </p:nvGrpSpPr>
        <p:grpSpPr>
          <a:xfrm>
            <a:off x="8037386" y="3130550"/>
            <a:ext cx="3432429" cy="1857756"/>
            <a:chOff x="8037386" y="3130550"/>
            <a:chExt cx="3432429" cy="1857756"/>
          </a:xfrm>
        </p:grpSpPr>
        <p:sp>
          <p:nvSpPr>
            <p:cNvPr id="20" name="TextBox 20"/>
            <p:cNvSpPr txBox="1"/>
            <p:nvPr/>
          </p:nvSpPr>
          <p:spPr>
            <a:xfrm>
              <a:off x="8379142" y="31305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新球員也能開始評估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9894" y="37877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7386" y="41973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68640" y="46069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名單依當時球隊歸屬顯示。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609600" y="5400675"/>
            <a:ext cx="10972800" cy="933450"/>
            <a:chOff x="609600" y="5400675"/>
            <a:chExt cx="10972800" cy="933450"/>
          </a:xfrm>
        </p:grpSpPr>
        <p:sp>
          <p:nvSpPr>
            <p:cNvPr id="25" name="Rectangle 25"/>
            <p:cNvSpPr/>
            <p:nvPr/>
          </p:nvSpPr>
          <p:spPr>
            <a:xfrm>
              <a:off x="609600" y="5400675"/>
              <a:ext cx="10972800" cy="933450"/>
            </a:xfrm>
            <a:prstGeom prst="roundRect">
              <a:avLst>
                <a:gd name="adj" fmla="val 1224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90191" y="5476875"/>
              <a:ext cx="761161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完成條件：人員、轉隊與資料日期可核對；缺漏名單保留人工確認。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94812" y="5800725"/>
              <a:ext cx="600237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 2026 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192530" y="193675"/>
            <a:ext cx="9806940" cy="1111250"/>
            <a:chOff x="1192530" y="193675"/>
            <a:chExt cx="9806940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3962400" y="19367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2530" y="546100"/>
              <a:ext cx="98069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第二項規劃：每場更新近況，近期權重隨驗證調整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35</a:t>
            </a:fld>
          </a:p>
        </p:txBody>
      </p:sp>
      <p:grpSp>
        <p:nvGrpSpPr>
          <p:cNvPr id="11" name="column-1"/>
          <p:cNvGrpSpPr/>
          <p:nvPr/>
        </p:nvGrpSpPr>
        <p:grpSpPr>
          <a:xfrm>
            <a:off x="722185" y="2178050"/>
            <a:ext cx="3432429" cy="1857756"/>
            <a:chOff x="722185" y="2178050"/>
            <a:chExt cx="3432429" cy="1857756"/>
          </a:xfrm>
        </p:grpSpPr>
        <p:sp>
          <p:nvSpPr>
            <p:cNvPr id="7" name="TextBox 7"/>
            <p:cNvSpPr txBox="1"/>
            <p:nvPr/>
          </p:nvSpPr>
          <p:spPr>
            <a:xfrm>
              <a:off x="1358265" y="2178050"/>
              <a:ext cx="21602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01　每場後更新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2185" y="28352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補入逐球、出賽與投球負荷。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3440" y="32448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評估時顯示資料更新日期。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3440" y="365442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回放仍鎖定當時已知資料。</a:t>
              </a:r>
            </a:p>
          </p:txBody>
        </p:sp>
      </p:grpSp>
      <p:grpSp>
        <p:nvGrpSpPr>
          <p:cNvPr id="17" name="column-2"/>
          <p:cNvGrpSpPr/>
          <p:nvPr/>
        </p:nvGrpSpPr>
        <p:grpSpPr>
          <a:xfrm>
            <a:off x="4379786" y="2178050"/>
            <a:ext cx="3432429" cy="2267331"/>
            <a:chOff x="4379786" y="2178050"/>
            <a:chExt cx="3432429" cy="2267331"/>
          </a:xfrm>
        </p:grpSpPr>
        <p:sp>
          <p:nvSpPr>
            <p:cNvPr id="12" name="TextBox 12"/>
            <p:cNvSpPr txBox="1"/>
            <p:nvPr/>
          </p:nvSpPr>
          <p:spPr>
            <a:xfrm>
              <a:off x="4561522" y="2178050"/>
              <a:ext cx="30689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02　讓舊紀錄逐步淡化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9786" y="28352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比較近幾場與時間衰減權重。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1040" y="32448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增加近期比賽的影響程度。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2294" y="36544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73549" y="40640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仍保留長期能力基準。</a:t>
              </a:r>
            </a:p>
          </p:txBody>
        </p:sp>
      </p:grpSp>
      <p:grpSp>
        <p:nvGrpSpPr>
          <p:cNvPr id="22" name="column-3"/>
          <p:cNvGrpSpPr/>
          <p:nvPr/>
        </p:nvGrpSpPr>
        <p:grpSpPr>
          <a:xfrm>
            <a:off x="8037386" y="2178050"/>
            <a:ext cx="3432429" cy="1857756"/>
            <a:chOff x="8037386" y="2178050"/>
            <a:chExt cx="3432429" cy="1857756"/>
          </a:xfrm>
        </p:grpSpPr>
        <p:sp>
          <p:nvSpPr>
            <p:cNvPr id="18" name="TextBox 18"/>
            <p:cNvSpPr txBox="1"/>
            <p:nvPr/>
          </p:nvSpPr>
          <p:spPr>
            <a:xfrm>
              <a:off x="8219122" y="2178050"/>
              <a:ext cx="30689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03　按時間驗證才採用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7386" y="283527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用過去資料預測下一段比賽。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7386" y="3244850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對照固定權重的誤差與排名。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7386" y="365442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609600" y="5410200"/>
            <a:ext cx="10972800" cy="933450"/>
            <a:chOff x="609600" y="541020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5410200"/>
              <a:ext cx="10972800" cy="933450"/>
            </a:xfrm>
            <a:prstGeom prst="roundRect">
              <a:avLst>
                <a:gd name="adj" fmla="val 1224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96362" y="5486400"/>
              <a:ext cx="659927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權重與視窗長度由歷史驗證決定，不預設近期一定比較準。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3648" y="5810250"/>
              <a:ext cx="786470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完成條件：可追溯更新日期與版本，能比較更新前後表現並退回舊版。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1636776" y="193675"/>
            <a:ext cx="8918448" cy="1111250"/>
            <a:chOff x="1636776" y="193675"/>
            <a:chExt cx="8918448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4467225" y="19367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636776" y="546100"/>
              <a:ext cx="89184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第三項規劃：把名單、負荷與回放用得更完整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36</a:t>
            </a:fld>
          </a:p>
        </p:txBody>
      </p:sp>
      <p:grpSp>
        <p:nvGrpSpPr>
          <p:cNvPr id="10" name="roadmap-0"/>
          <p:cNvGrpSpPr/>
          <p:nvPr/>
        </p:nvGrpSpPr>
        <p:grpSpPr>
          <a:xfrm>
            <a:off x="2037105" y="1698625"/>
            <a:ext cx="8117789" cy="1202690"/>
            <a:chOff x="2037105" y="1698625"/>
            <a:chExt cx="8117789" cy="1202690"/>
          </a:xfrm>
        </p:grpSpPr>
        <p:sp>
          <p:nvSpPr>
            <p:cNvPr id="7" name="TextBox 7"/>
            <p:cNvSpPr txBox="1"/>
            <p:nvPr/>
          </p:nvSpPr>
          <p:spPr>
            <a:xfrm>
              <a:off x="4629912" y="16986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74288" y="2149475"/>
              <a:ext cx="464342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保存今日可用、已上場與已退場名單。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37105" y="2533650"/>
              <a:ext cx="811778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減少重複勾選，避免再選已退場者。　驗收：狀態可修正、重整可恢復。</a:t>
              </a:r>
            </a:p>
          </p:txBody>
        </p:sp>
      </p:grpSp>
      <p:grpSp>
        <p:nvGrpSpPr>
          <p:cNvPr id="14" name="roadmap-1"/>
          <p:cNvGrpSpPr/>
          <p:nvPr/>
        </p:nvGrpSpPr>
        <p:grpSpPr>
          <a:xfrm>
            <a:off x="1784020" y="3222625"/>
            <a:ext cx="8623960" cy="1202690"/>
            <a:chOff x="1784020" y="3222625"/>
            <a:chExt cx="8623960" cy="1202690"/>
          </a:xfrm>
        </p:grpSpPr>
        <p:sp>
          <p:nvSpPr>
            <p:cNvPr id="11" name="TextBox 11"/>
            <p:cNvSpPr txBox="1"/>
            <p:nvPr/>
          </p:nvSpPr>
          <p:spPr>
            <a:xfrm>
              <a:off x="4629912" y="32226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換投候選的負荷對照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74288" y="3673475"/>
              <a:ext cx="464342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休息日、近三天球數與連投並排呈現。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84020" y="4057650"/>
              <a:ext cx="8623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直接看見負荷依據，不先改評分公式。　驗收：數值可追溯，缺資料有提醒。</a:t>
              </a:r>
            </a:p>
          </p:txBody>
        </p:sp>
      </p:grpSp>
      <p:grpSp>
        <p:nvGrpSpPr>
          <p:cNvPr id="18" name="roadmap-2"/>
          <p:cNvGrpSpPr/>
          <p:nvPr/>
        </p:nvGrpSpPr>
        <p:grpSpPr>
          <a:xfrm>
            <a:off x="1657477" y="4746625"/>
            <a:ext cx="8877046" cy="1202690"/>
            <a:chOff x="1657477" y="4746625"/>
            <a:chExt cx="8877046" cy="1202690"/>
          </a:xfrm>
        </p:grpSpPr>
        <p:sp>
          <p:nvSpPr>
            <p:cNvPr id="15" name="TextBox 15"/>
            <p:cNvSpPr txBox="1"/>
            <p:nvPr/>
          </p:nvSpPr>
          <p:spPr>
            <a:xfrm>
              <a:off x="4629912" y="47466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38321" y="5197475"/>
              <a:ext cx="491535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取得逐場紀錄後，降低守位與名單推估。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57477" y="5581650"/>
              <a:ext cx="887704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只讀決策前資料，缺漏時保留不足提醒。　驗收：後續出賽不改變當時的資料。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unified-header"/>
          <p:cNvGrpSpPr/>
          <p:nvPr/>
        </p:nvGrpSpPr>
        <p:grpSpPr>
          <a:xfrm>
            <a:off x="2525268" y="193675"/>
            <a:ext cx="7141464" cy="1111250"/>
            <a:chOff x="2525268" y="193675"/>
            <a:chExt cx="7141464" cy="1111250"/>
          </a:xfrm>
        </p:grpSpPr>
        <p:sp>
          <p:nvSpPr>
            <p:cNvPr id="2" name="TextBox 2"/>
            <p:cNvSpPr txBox="1"/>
            <p:nvPr/>
          </p:nvSpPr>
          <p:spPr>
            <a:xfrm>
              <a:off x="5684520" y="193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研究依據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525268" y="5461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方法有研究基礎，應用範圍清楚界定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0" y="12573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37</a:t>
            </a:fld>
          </a:p>
        </p:txBody>
      </p:sp>
      <p:grpSp>
        <p:nvGrpSpPr>
          <p:cNvPr id="11" name="reference-0"/>
          <p:cNvGrpSpPr/>
          <p:nvPr/>
        </p:nvGrpSpPr>
        <p:grpSpPr>
          <a:xfrm>
            <a:off x="2367297" y="1638300"/>
            <a:ext cx="7457406" cy="1431544"/>
            <a:chOff x="2367297" y="1638300"/>
            <a:chExt cx="7457406" cy="1431544"/>
          </a:xfrm>
        </p:grpSpPr>
        <p:sp>
          <p:nvSpPr>
            <p:cNvPr id="7" name="TextBox 7"/>
            <p:cNvSpPr txBox="1"/>
            <p:nvPr/>
          </p:nvSpPr>
          <p:spPr>
            <a:xfrm>
              <a:off x="2367297" y="1638300"/>
              <a:ext cx="745740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Efron &amp; Morris（1975）｜JASA 70(350), 311–319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82495" y="2028825"/>
              <a:ext cx="682701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Data Analysis Using Stein’s Estimator and its Generalizations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67240" y="2359025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小樣本估計向整體收縮，作為部分池化的研究依據。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3547924" y="2717800"/>
              <a:ext cx="5096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DOI: 10.1080/01621459.1975.10479864</a:t>
              </a:r>
            </a:p>
          </p:txBody>
        </p:sp>
      </p:grpSp>
      <p:grpSp>
        <p:nvGrpSpPr>
          <p:cNvPr id="16" name="reference-1"/>
          <p:cNvGrpSpPr/>
          <p:nvPr/>
        </p:nvGrpSpPr>
        <p:grpSpPr>
          <a:xfrm>
            <a:off x="2613426" y="3152775"/>
            <a:ext cx="6965148" cy="1431544"/>
            <a:chOff x="2613426" y="3152775"/>
            <a:chExt cx="6965148" cy="1431544"/>
          </a:xfrm>
        </p:grpSpPr>
        <p:sp>
          <p:nvSpPr>
            <p:cNvPr id="12" name="TextBox 12"/>
            <p:cNvSpPr txBox="1"/>
            <p:nvPr/>
          </p:nvSpPr>
          <p:spPr>
            <a:xfrm>
              <a:off x="2613426" y="3152775"/>
              <a:ext cx="696514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Efron（1979）｜The Annals of Statistics 7(1), 1–26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7398" y="3543300"/>
              <a:ext cx="559720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Bootstrap Methods: Another Look at the Jackknife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35986" y="387350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以重抽樣描述比較的不確定性，不視為候選勝出機率。</a:t>
              </a:r>
            </a:p>
          </p:txBody>
        </p:sp>
        <p:sp>
          <p:nvSpPr>
            <p:cNvPr id="15" name="TextBox 15">
              <a:hlinkClick r:id="rId3"/>
            </p:cNvPr>
            <p:cNvSpPr txBox="1"/>
            <p:nvPr/>
          </p:nvSpPr>
          <p:spPr>
            <a:xfrm>
              <a:off x="4323171" y="4232275"/>
              <a:ext cx="3545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DOI: 10.1214/aos/1176344552</a:t>
              </a:r>
            </a:p>
          </p:txBody>
        </p:sp>
      </p:grpSp>
      <p:grpSp>
        <p:nvGrpSpPr>
          <p:cNvPr id="21" name="reference-2"/>
          <p:cNvGrpSpPr/>
          <p:nvPr/>
        </p:nvGrpSpPr>
        <p:grpSpPr>
          <a:xfrm>
            <a:off x="2044962" y="4667250"/>
            <a:ext cx="8102077" cy="1431544"/>
            <a:chOff x="2044962" y="4667250"/>
            <a:chExt cx="8102077" cy="1431544"/>
          </a:xfrm>
        </p:grpSpPr>
        <p:sp>
          <p:nvSpPr>
            <p:cNvPr id="17" name="TextBox 17"/>
            <p:cNvSpPr txBox="1"/>
            <p:nvPr/>
          </p:nvSpPr>
          <p:spPr>
            <a:xfrm>
              <a:off x="2044962" y="4667250"/>
              <a:ext cx="810207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Gneiting &amp; Raftery（2007）｜JASA 102(477), 359–378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6252" y="5057775"/>
              <a:ext cx="62994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Strictly Proper Scoring Rules, Prediction, and Estimation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70197" y="5387975"/>
              <a:ext cx="70516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 log loss 評估逐球機率預測，並區分模型分數與真實結果。</a:t>
              </a:r>
            </a:p>
          </p:txBody>
        </p:sp>
        <p:sp>
          <p:nvSpPr>
            <p:cNvPr id="20" name="TextBox 20">
              <a:hlinkClick r:id="rId4"/>
            </p:cNvPr>
            <p:cNvSpPr txBox="1"/>
            <p:nvPr/>
          </p:nvSpPr>
          <p:spPr>
            <a:xfrm>
              <a:off x="3781096" y="5746750"/>
              <a:ext cx="4629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DOI: 10.1198/016214506000001437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3130" y="6483350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fld id="{DE652599-0DEB-4738-B10C-90EEF1C9259D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38</a:t>
            </a:fld>
          </a:p>
        </p:txBody>
      </p:sp>
      <p:grpSp>
        <p:nvGrpSpPr>
          <p:cNvPr id="6" name="closing-message"/>
          <p:cNvGrpSpPr/>
          <p:nvPr/>
        </p:nvGrpSpPr>
        <p:grpSpPr>
          <a:xfrm>
            <a:off x="3350895" y="911225"/>
            <a:ext cx="5490210" cy="1803400"/>
            <a:chOff x="3350895" y="911225"/>
            <a:chExt cx="5490210" cy="1803400"/>
          </a:xfrm>
        </p:grpSpPr>
        <p:sp>
          <p:nvSpPr>
            <p:cNvPr id="3" name="TextBox 3"/>
            <p:cNvSpPr txBox="1"/>
            <p:nvPr/>
          </p:nvSpPr>
          <p:spPr>
            <a:xfrm>
              <a:off x="4562475" y="911225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5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50895" y="1701800"/>
              <a:ext cx="549021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5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0" y="2667000"/>
              <a:ext cx="4572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original-picture"/>
          <p:cNvGrpSpPr/>
          <p:nvPr/>
        </p:nvGrpSpPr>
        <p:grpSpPr>
          <a:xfrm>
            <a:off x="5286375" y="3067050"/>
            <a:ext cx="1619250" cy="1619250"/>
            <a:chOff x="5286375" y="3067050"/>
            <a:chExt cx="1619250" cy="1619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6375" y="3067050"/>
              <a:ext cx="1619250" cy="1619250"/>
            </a:xfrm>
            <a:prstGeom prst="rect">
              <a:avLst/>
            </a:prstGeom>
          </p:spPr>
        </p:pic>
      </p:grpSp>
      <p:grpSp>
        <p:nvGrpSpPr>
          <p:cNvPr id="11" name="team-credit"/>
          <p:cNvGrpSpPr/>
          <p:nvPr/>
        </p:nvGrpSpPr>
        <p:grpSpPr>
          <a:xfrm>
            <a:off x="5298567" y="4765675"/>
            <a:ext cx="1594866" cy="794131"/>
            <a:chOff x="5298567" y="4765675"/>
            <a:chExt cx="1594866" cy="794131"/>
          </a:xfrm>
        </p:grpSpPr>
        <p:sp>
          <p:nvSpPr>
            <p:cNvPr id="9" name="TextBox 9"/>
            <p:cNvSpPr txBox="1"/>
            <p:nvPr/>
          </p:nvSpPr>
          <p:spPr>
            <a:xfrm>
              <a:off x="5437632" y="47656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98567" y="51784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14" name="visible-project-urls"/>
          <p:cNvGrpSpPr/>
          <p:nvPr/>
        </p:nvGrpSpPr>
        <p:grpSpPr>
          <a:xfrm>
            <a:off x="2839476" y="5619750"/>
            <a:ext cx="6513049" cy="796290"/>
            <a:chOff x="2839476" y="5619750"/>
            <a:chExt cx="6513049" cy="796290"/>
          </a:xfrm>
        </p:grpSpPr>
        <p:sp>
          <p:nvSpPr>
            <p:cNvPr id="12" name="TextBox 12">
              <a:hlinkClick r:id="rId3"/>
            </p:cNvPr>
            <p:cNvSpPr txBox="1"/>
            <p:nvPr/>
          </p:nvSpPr>
          <p:spPr>
            <a:xfrm>
              <a:off x="3193399" y="5619750"/>
              <a:ext cx="580520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 txBox="1"/>
            <p:nvPr/>
          </p:nvSpPr>
          <p:spPr>
            <a:xfrm>
              <a:off x="2839476" y="6048375"/>
              <a:ext cx="65130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38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