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5" r:id="rId26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281946dee02391a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01c33347c23998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01c33347c23998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ebas-tw/rebas.tw-open-data" TargetMode="External"/><Relationship Id="rId3" Type="http://schemas.openxmlformats.org/officeDocument/2006/relationships/hyperlink" Target="https://github.com/ldkrsi/cpbl-opendat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01c33347c23998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ae6de2bd5180305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1cd136df4f4abfb0.jpg"/><Relationship Id="rId3" Type="http://schemas.openxmlformats.org/officeDocument/2006/relationships/image" Target="../media/image_2a0683c262ba5e3f.jpg"/><Relationship Id="rId4" Type="http://schemas.openxmlformats.org/officeDocument/2006/relationships/image" Target="../media/image_ccaac0f82facf0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fde741cb0cf6af4b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aa79764314f600d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e462619b9e79f8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915bc76cc43f753.jpg"/><Relationship Id="rId3" Type="http://schemas.openxmlformats.org/officeDocument/2006/relationships/image" Target="../media/image_31962202b34f4cda.jpg"/><Relationship Id="rId4" Type="http://schemas.openxmlformats.org/officeDocument/2006/relationships/image" Target="../media/image_58598c2162cbc34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a2b3a54fef83679.jpg"/><Relationship Id="rId3" Type="http://schemas.openxmlformats.org/officeDocument/2006/relationships/image" Target="../media/image_f686771611030518.jpg"/><Relationship Id="rId4" Type="http://schemas.openxmlformats.org/officeDocument/2006/relationships/image" Target="../media/image_f781bcb7ad584fa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44de3d25c6c01d2f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50"/>
            <a:ext cx="3468053" cy="1021207"/>
            <a:chOff x="592836" y="488950"/>
            <a:chExt cx="3468053" cy="1021207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88950"/>
              <a:ext cx="9220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隊名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187450"/>
              <a:ext cx="34596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 野革盃　台灣棒球數據黑客松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00"/>
            <a:ext cx="5561838" cy="1542542"/>
            <a:chOff x="590550" y="1930400"/>
            <a:chExt cx="5561838" cy="1542542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930400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臨場用人決策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508" y="300355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800"/>
            <a:ext cx="5364480" cy="1191768"/>
            <a:chOff x="592836" y="3860800"/>
            <a:chExt cx="5364480" cy="1191768"/>
          </a:xfrm>
        </p:grpSpPr>
        <p:sp>
          <p:nvSpPr>
            <p:cNvPr id="10" name="TextBox 10"/>
            <p:cNvSpPr txBox="1"/>
            <p:nvPr/>
          </p:nvSpPr>
          <p:spPr>
            <a:xfrm>
              <a:off x="592836" y="38608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差多少？誰接守？憑什麼？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464185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參賽者　蘇櫟、陳信安</a:t>
              </a:r>
            </a:p>
          </p:txBody>
        </p:sp>
      </p:grpSp>
      <p:grpSp>
        <p:nvGrpSpPr>
          <p:cNvPr id="15" name="links"/>
          <p:cNvGrpSpPr/>
          <p:nvPr/>
        </p:nvGrpSpPr>
        <p:grpSpPr>
          <a:xfrm>
            <a:off x="597408" y="5422900"/>
            <a:ext cx="5732953" cy="469392"/>
            <a:chOff x="597408" y="5422900"/>
            <a:chExt cx="5732953" cy="469392"/>
          </a:xfrm>
        </p:grpSpPr>
        <p:sp>
          <p:nvSpPr>
            <p:cNvPr id="13" name="TextBox 13">
              <a:hlinkClick r:id="rId3"/>
            </p:cNvPr>
            <p:cNvSpPr txBox="1"/>
            <p:nvPr/>
          </p:nvSpPr>
          <p:spPr>
            <a:xfrm>
              <a:off x="597408" y="5422900"/>
              <a:ext cx="2245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開啟網站 Demo</a:t>
              </a:r>
            </a:p>
          </p:txBody>
        </p:sp>
        <p:sp>
          <p:nvSpPr>
            <p:cNvPr id="14" name="TextBox 14">
              <a:hlinkClick r:id="rId4"/>
            </p:cNvPr>
            <p:cNvSpPr txBox="1"/>
            <p:nvPr/>
          </p:nvSpPr>
          <p:spPr>
            <a:xfrm>
              <a:off x="4178808" y="5422900"/>
              <a:ext cx="21515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GitHub 原始碼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921955" cy="264033"/>
            <a:chOff x="602742" y="177800"/>
            <a:chExt cx="192195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 野革盃　簡報目錄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4475988" cy="645414"/>
            <a:chOff x="592836" y="546100"/>
            <a:chExt cx="447598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從臨場難題到網站實作</a:t>
              </a:r>
            </a:p>
          </p:txBody>
        </p:sp>
      </p:grpSp>
      <p:grpSp>
        <p:nvGrpSpPr>
          <p:cNvPr id="10" name="part-one"/>
          <p:cNvGrpSpPr/>
          <p:nvPr/>
        </p:nvGrpSpPr>
        <p:grpSpPr>
          <a:xfrm>
            <a:off x="590550" y="1682750"/>
            <a:ext cx="5854446" cy="1121918"/>
            <a:chOff x="590550" y="1682750"/>
            <a:chExt cx="5854446" cy="1121918"/>
          </a:xfrm>
        </p:grpSpPr>
        <p:sp>
          <p:nvSpPr>
            <p:cNvPr id="7" name="TextBox 7">
              <a:hlinkClick r:id="rId2" action="ppaction://hlinksldjump"/>
            </p:cNvPr>
            <p:cNvSpPr txBox="1"/>
            <p:nvPr/>
          </p:nvSpPr>
          <p:spPr>
            <a:xfrm>
              <a:off x="590550" y="1682750"/>
              <a:ext cx="882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>
              <a:hlinkClick r:id="rId2" action="ppaction://hlinksldjump"/>
            </p:cNvPr>
            <p:cNvSpPr txBox="1"/>
            <p:nvPr/>
          </p:nvSpPr>
          <p:spPr>
            <a:xfrm>
              <a:off x="2464308" y="19177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問題與需求</a:t>
              </a:r>
            </a:p>
          </p:txBody>
        </p:sp>
        <p:sp>
          <p:nvSpPr>
            <p:cNvPr id="9" name="TextBox 9">
              <a:hlinkClick r:id="rId2" action="ppaction://hlinksldjump"/>
            </p:cNvPr>
            <p:cNvSpPr txBox="1"/>
            <p:nvPr/>
          </p:nvSpPr>
          <p:spPr>
            <a:xfrm>
              <a:off x="2465832" y="23939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換人之前，需要比較哪些條件？</a:t>
              </a:r>
            </a:p>
          </p:txBody>
        </p:sp>
      </p:grpSp>
      <p:grpSp>
        <p:nvGrpSpPr>
          <p:cNvPr id="14" name="part-two"/>
          <p:cNvGrpSpPr/>
          <p:nvPr/>
        </p:nvGrpSpPr>
        <p:grpSpPr>
          <a:xfrm>
            <a:off x="590550" y="3130550"/>
            <a:ext cx="5854446" cy="1121918"/>
            <a:chOff x="590550" y="3130550"/>
            <a:chExt cx="5854446" cy="1121918"/>
          </a:xfrm>
        </p:grpSpPr>
        <p:sp>
          <p:nvSpPr>
            <p:cNvPr id="11" name="TextBox 11">
              <a:hlinkClick r:id="rId3" action="ppaction://hlinksldjump"/>
            </p:cNvPr>
            <p:cNvSpPr txBox="1"/>
            <p:nvPr/>
          </p:nvSpPr>
          <p:spPr>
            <a:xfrm>
              <a:off x="590550" y="3130550"/>
              <a:ext cx="882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>
              <a:hlinkClick r:id="rId3" action="ppaction://hlinksldjump"/>
            </p:cNvPr>
            <p:cNvSpPr txBox="1"/>
            <p:nvPr/>
          </p:nvSpPr>
          <p:spPr>
            <a:xfrm>
              <a:off x="2464308" y="33655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資料與解法</a:t>
              </a:r>
            </a:p>
          </p:txBody>
        </p:sp>
        <p:sp>
          <p:nvSpPr>
            <p:cNvPr id="13" name="TextBox 13">
              <a:hlinkClick r:id="rId3" action="ppaction://hlinksldjump"/>
            </p:cNvPr>
            <p:cNvSpPr txBox="1"/>
            <p:nvPr/>
          </p:nvSpPr>
          <p:spPr>
            <a:xfrm>
              <a:off x="2465832" y="38417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如何估計人選差距，並回測驗證？</a:t>
              </a:r>
            </a:p>
          </p:txBody>
        </p:sp>
      </p:grpSp>
      <p:grpSp>
        <p:nvGrpSpPr>
          <p:cNvPr id="18" name="part-three"/>
          <p:cNvGrpSpPr/>
          <p:nvPr/>
        </p:nvGrpSpPr>
        <p:grpSpPr>
          <a:xfrm>
            <a:off x="590550" y="4578350"/>
            <a:ext cx="7374636" cy="1121918"/>
            <a:chOff x="590550" y="4578350"/>
            <a:chExt cx="7374636" cy="1121918"/>
          </a:xfrm>
        </p:grpSpPr>
        <p:sp>
          <p:nvSpPr>
            <p:cNvPr id="15" name="TextBox 15">
              <a:hlinkClick r:id="rId4" action="ppaction://hlinksldjump"/>
            </p:cNvPr>
            <p:cNvSpPr txBox="1"/>
            <p:nvPr/>
          </p:nvSpPr>
          <p:spPr>
            <a:xfrm>
              <a:off x="590550" y="4578350"/>
              <a:ext cx="882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>
              <a:hlinkClick r:id="rId4" action="ppaction://hlinksldjump"/>
            </p:cNvPr>
            <p:cNvSpPr txBox="1"/>
            <p:nvPr/>
          </p:nvSpPr>
          <p:spPr>
            <a:xfrm>
              <a:off x="2464308" y="48133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網站成果與決策體驗</a:t>
              </a:r>
            </a:p>
          </p:txBody>
        </p:sp>
        <p:sp>
          <p:nvSpPr>
            <p:cNvPr id="17" name="TextBox 17">
              <a:hlinkClick r:id="rId4" action="ppaction://hlinksldjump"/>
            </p:cNvPr>
            <p:cNvSpPr txBox="1"/>
            <p:nvPr/>
          </p:nvSpPr>
          <p:spPr>
            <a:xfrm>
              <a:off x="2465832" y="5289550"/>
              <a:ext cx="54993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操作實錄　／　案例判讀　／　UI／UX 設計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ber"/>
          <p:cNvGrpSpPr/>
          <p:nvPr/>
        </p:nvGrpSpPr>
        <p:grpSpPr>
          <a:xfrm>
            <a:off x="590550" y="1714500"/>
            <a:ext cx="1520638" cy="1905000"/>
            <a:chOff x="590550" y="1714500"/>
            <a:chExt cx="1520638" cy="19050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714500"/>
              <a:ext cx="1520638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6" name="chapter-heading"/>
          <p:cNvGrpSpPr/>
          <p:nvPr/>
        </p:nvGrpSpPr>
        <p:grpSpPr>
          <a:xfrm>
            <a:off x="3336036" y="1739900"/>
            <a:ext cx="6252972" cy="1204214"/>
            <a:chOff x="3336036" y="1739900"/>
            <a:chExt cx="6252972" cy="1204214"/>
          </a:xfrm>
        </p:grpSpPr>
        <p:sp>
          <p:nvSpPr>
            <p:cNvPr id="4" name="TextBox 4"/>
            <p:cNvSpPr txBox="1"/>
            <p:nvPr/>
          </p:nvSpPr>
          <p:spPr>
            <a:xfrm>
              <a:off x="3344418" y="17399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問題與需求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36036" y="2298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關鍵打席，換人要看哪些條件？</a:t>
              </a:r>
            </a:p>
          </p:txBody>
        </p:sp>
      </p:grpSp>
      <p:grpSp>
        <p:nvGrpSpPr>
          <p:cNvPr id="9" name="chapter-summary"/>
          <p:cNvGrpSpPr/>
          <p:nvPr/>
        </p:nvGrpSpPr>
        <p:grpSpPr>
          <a:xfrm>
            <a:off x="3340608" y="3784600"/>
            <a:ext cx="4547616" cy="1211707"/>
            <a:chOff x="3340608" y="3784600"/>
            <a:chExt cx="4547616" cy="1211707"/>
          </a:xfrm>
        </p:grpSpPr>
        <p:sp>
          <p:nvSpPr>
            <p:cNvPr id="7" name="TextBox 7"/>
            <p:cNvSpPr txBox="1"/>
            <p:nvPr/>
          </p:nvSpPr>
          <p:spPr>
            <a:xfrm>
              <a:off x="3340608" y="378460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優勢、守備與板凳資源一起看。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44418" y="46736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從一個關鍵打席，理解換人需求</a:t>
              </a:r>
            </a:p>
          </p:txBody>
        </p:sp>
      </p:grpSp>
      <p:grpSp>
        <p:nvGrpSpPr>
          <p:cNvPr id="11" name="baseball"/>
          <p:cNvGrpSpPr/>
          <p:nvPr/>
        </p:nvGrpSpPr>
        <p:grpSpPr>
          <a:xfrm>
            <a:off x="9048750" y="4000500"/>
            <a:ext cx="2190750" cy="2190750"/>
            <a:chOff x="9048750" y="4000500"/>
            <a:chExt cx="2190750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4000500"/>
              <a:ext cx="2190750" cy="219075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問題與需求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八局平手，現在該換代打嗎？</a:t>
              </a:r>
            </a:p>
          </p:txBody>
        </p:sp>
      </p:grpSp>
      <p:grpSp>
        <p:nvGrpSpPr>
          <p:cNvPr id="9" name="scenario"/>
          <p:cNvGrpSpPr/>
          <p:nvPr/>
        </p:nvGrpSpPr>
        <p:grpSpPr>
          <a:xfrm>
            <a:off x="590550" y="1587500"/>
            <a:ext cx="4837774" cy="1350518"/>
            <a:chOff x="590550" y="1587500"/>
            <a:chExt cx="4837774" cy="1350518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587500"/>
              <a:ext cx="483777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局上　0 :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7032" y="252730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兩出局　二三壘有人　樂天進攻</a:t>
              </a:r>
            </a:p>
          </p:txBody>
        </p:sp>
      </p:grpSp>
      <p:grpSp>
        <p:nvGrpSpPr>
          <p:cNvPr id="11" name="scenario-label"/>
          <p:cNvGrpSpPr/>
          <p:nvPr/>
        </p:nvGrpSpPr>
        <p:grpSpPr>
          <a:xfrm>
            <a:off x="10241280" y="2063750"/>
            <a:ext cx="1349502" cy="322707"/>
            <a:chOff x="10241280" y="2063750"/>
            <a:chExt cx="1349502" cy="322707"/>
          </a:xfrm>
        </p:grpSpPr>
        <p:sp>
          <p:nvSpPr>
            <p:cNvPr id="10" name="TextBox 10"/>
            <p:cNvSpPr txBox="1"/>
            <p:nvPr/>
          </p:nvSpPr>
          <p:spPr>
            <a:xfrm>
              <a:off x="10241280" y="20637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自訂示範情境</a:t>
              </a:r>
            </a:p>
          </p:txBody>
        </p:sp>
      </p:grpSp>
      <p:grpSp>
        <p:nvGrpSpPr>
          <p:cNvPr id="14" name="keep"/>
          <p:cNvGrpSpPr/>
          <p:nvPr/>
        </p:nvGrpSpPr>
        <p:grpSpPr>
          <a:xfrm>
            <a:off x="597408" y="3556000"/>
            <a:ext cx="3132582" cy="1001268"/>
            <a:chOff x="597408" y="3556000"/>
            <a:chExt cx="3132582" cy="1001268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35560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讓林智平續打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932" y="414655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面對鋼龍，保留板凳資源</a:t>
              </a:r>
            </a:p>
          </p:txBody>
        </p:sp>
      </p:grpSp>
      <p:grpSp>
        <p:nvGrpSpPr>
          <p:cNvPr id="17" name="replace"/>
          <p:cNvGrpSpPr/>
          <p:nvPr/>
        </p:nvGrpSpPr>
        <p:grpSpPr>
          <a:xfrm>
            <a:off x="6388608" y="3556000"/>
            <a:ext cx="3697986" cy="1001268"/>
            <a:chOff x="6388608" y="3556000"/>
            <a:chExt cx="3697986" cy="1001268"/>
          </a:xfrm>
        </p:grpSpPr>
        <p:sp>
          <p:nvSpPr>
            <p:cNvPr id="15" name="TextBox 15"/>
            <p:cNvSpPr txBox="1"/>
            <p:nvPr/>
          </p:nvSpPr>
          <p:spPr>
            <a:xfrm>
              <a:off x="6388608" y="35560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派代打上場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0132" y="4146550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優勢有多大？三壘由誰接守？</a:t>
              </a:r>
            </a:p>
          </p:txBody>
        </p:sp>
      </p:grpSp>
      <p:grpSp>
        <p:nvGrpSpPr>
          <p:cNvPr id="19" name="takeaway"/>
          <p:cNvGrpSpPr/>
          <p:nvPr/>
        </p:nvGrpSpPr>
        <p:grpSpPr>
          <a:xfrm>
            <a:off x="597408" y="5518150"/>
            <a:ext cx="6809232" cy="469392"/>
            <a:chOff x="597408" y="5518150"/>
            <a:chExt cx="6809232" cy="469392"/>
          </a:xfrm>
        </p:grpSpPr>
        <p:sp>
          <p:nvSpPr>
            <p:cNvPr id="18" name="TextBox 18"/>
            <p:cNvSpPr txBox="1"/>
            <p:nvPr/>
          </p:nvSpPr>
          <p:spPr>
            <a:xfrm>
              <a:off x="597408" y="551815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代打優勢，必須連同局勢與接守安排一起評估。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問題與需求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4475988" cy="645414"/>
            <a:chOff x="592836" y="546100"/>
            <a:chExt cx="447598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讓換人討論有共同依據</a:t>
              </a:r>
            </a:p>
          </p:txBody>
        </p:sp>
      </p:grpSp>
      <p:grpSp>
        <p:nvGrpSpPr>
          <p:cNvPr id="11" name="audience"/>
          <p:cNvGrpSpPr/>
          <p:nvPr/>
        </p:nvGrpSpPr>
        <p:grpSpPr>
          <a:xfrm>
            <a:off x="592836" y="1854200"/>
            <a:ext cx="2912745" cy="3599307"/>
            <a:chOff x="592836" y="1854200"/>
            <a:chExt cx="2912745" cy="3599307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8542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主要使用者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2836" y="2286000"/>
              <a:ext cx="2548128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球隊分析人員</a:t>
              </a:r>
              <a:b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與教練團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3695700"/>
              <a:ext cx="24216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使用情境：備戰模擬、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賽後檢討與調度討論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51308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延伸：進階球迷與棒球解說者</a:t>
              </a:r>
            </a:p>
          </p:txBody>
        </p:sp>
      </p:grpSp>
      <p:grpSp>
        <p:nvGrpSpPr>
          <p:cNvPr id="18" name="questions"/>
          <p:cNvGrpSpPr/>
          <p:nvPr/>
        </p:nvGrpSpPr>
        <p:grpSpPr>
          <a:xfrm>
            <a:off x="6079236" y="1765300"/>
            <a:ext cx="3356991" cy="4031107"/>
            <a:chOff x="6079236" y="1765300"/>
            <a:chExt cx="3356991" cy="4031107"/>
          </a:xfrm>
        </p:grpSpPr>
        <p:sp>
          <p:nvSpPr>
            <p:cNvPr id="12" name="TextBox 12"/>
            <p:cNvSpPr txBox="1"/>
            <p:nvPr/>
          </p:nvSpPr>
          <p:spPr>
            <a:xfrm>
              <a:off x="6079236" y="1765300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差多少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7618" y="246380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固定局勢，比較候選與現任的差距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79236" y="3270250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誰接守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7618" y="396875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確認守位安排與額外人力需求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79236" y="4775200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憑什麼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7618" y="547370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檢查樣本量、模型分歧與可用名單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ber"/>
          <p:cNvGrpSpPr/>
          <p:nvPr/>
        </p:nvGrpSpPr>
        <p:grpSpPr>
          <a:xfrm>
            <a:off x="590550" y="1714500"/>
            <a:ext cx="1520638" cy="1905000"/>
            <a:chOff x="590550" y="1714500"/>
            <a:chExt cx="1520638" cy="19050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714500"/>
              <a:ext cx="1520638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" name="chapter-heading"/>
          <p:cNvGrpSpPr/>
          <p:nvPr/>
        </p:nvGrpSpPr>
        <p:grpSpPr>
          <a:xfrm>
            <a:off x="3336036" y="1739900"/>
            <a:ext cx="5808726" cy="1204214"/>
            <a:chOff x="3336036" y="1739900"/>
            <a:chExt cx="5808726" cy="1204214"/>
          </a:xfrm>
        </p:grpSpPr>
        <p:sp>
          <p:nvSpPr>
            <p:cNvPr id="4" name="TextBox 4"/>
            <p:cNvSpPr txBox="1"/>
            <p:nvPr/>
          </p:nvSpPr>
          <p:spPr>
            <a:xfrm>
              <a:off x="3344418" y="17399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資料與解法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36036" y="22987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把公開資料轉為人選比較依據</a:t>
              </a:r>
            </a:p>
          </p:txBody>
        </p:sp>
      </p:grpSp>
      <p:grpSp>
        <p:nvGrpSpPr>
          <p:cNvPr id="9" name="chapter-summary"/>
          <p:cNvGrpSpPr/>
          <p:nvPr/>
        </p:nvGrpSpPr>
        <p:grpSpPr>
          <a:xfrm>
            <a:off x="3340608" y="3784600"/>
            <a:ext cx="4547616" cy="1211707"/>
            <a:chOff x="3340608" y="3784600"/>
            <a:chExt cx="4547616" cy="1211707"/>
          </a:xfrm>
        </p:grpSpPr>
        <p:sp>
          <p:nvSpPr>
            <p:cNvPr id="7" name="TextBox 7"/>
            <p:cNvSpPr txBox="1"/>
            <p:nvPr/>
          </p:nvSpPr>
          <p:spPr>
            <a:xfrm>
              <a:off x="3340608" y="378460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固定投手與局勢，比較換人差距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44418" y="467360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資料來源　／　估計方法　／　分數解讀　／　模型回測</a:t>
              </a:r>
            </a:p>
          </p:txBody>
        </p:sp>
      </p:grpSp>
      <p:grpSp>
        <p:nvGrpSpPr>
          <p:cNvPr id="11" name="baseball"/>
          <p:cNvGrpSpPr/>
          <p:nvPr/>
        </p:nvGrpSpPr>
        <p:grpSpPr>
          <a:xfrm>
            <a:off x="9048750" y="4000500"/>
            <a:ext cx="2190750" cy="2190750"/>
            <a:chOff x="9048750" y="4000500"/>
            <a:chExt cx="2190750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4000500"/>
              <a:ext cx="2190750" cy="219075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資料與解法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252972" cy="645414"/>
            <a:chOff x="592836" y="546100"/>
            <a:chExt cx="625297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公開資料，如何變成人選比較？</a:t>
              </a:r>
            </a:p>
          </p:txBody>
        </p:sp>
      </p:grpSp>
      <p:grpSp>
        <p:nvGrpSpPr>
          <p:cNvPr id="8" name="sources"/>
          <p:cNvGrpSpPr/>
          <p:nvPr/>
        </p:nvGrpSpPr>
        <p:grpSpPr>
          <a:xfrm>
            <a:off x="598932" y="1489075"/>
            <a:ext cx="4972155" cy="410718"/>
            <a:chOff x="598932" y="1489075"/>
            <a:chExt cx="4972155" cy="410718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1489075"/>
              <a:ext cx="49721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資料：2024–2025 中職逐球與守位紀錄</a:t>
              </a:r>
            </a:p>
          </p:txBody>
        </p:sp>
      </p:grpSp>
      <p:grpSp>
        <p:nvGrpSpPr>
          <p:cNvPr id="12" name="estimate-one"/>
          <p:cNvGrpSpPr/>
          <p:nvPr/>
        </p:nvGrpSpPr>
        <p:grpSpPr>
          <a:xfrm>
            <a:off x="597408" y="2393950"/>
            <a:ext cx="3756660" cy="1664843"/>
            <a:chOff x="597408" y="2393950"/>
            <a:chExt cx="3756660" cy="1664843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2393950"/>
              <a:ext cx="26591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估計投打能力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2901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階層式部分池化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3248025"/>
              <a:ext cx="37551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綜合能力、左右投打與球路適性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小樣本向整體基準收縮</a:t>
              </a:r>
            </a:p>
          </p:txBody>
        </p:sp>
      </p:grpSp>
      <p:grpSp>
        <p:nvGrpSpPr>
          <p:cNvPr id="16" name="estimate-two"/>
          <p:cNvGrpSpPr/>
          <p:nvPr/>
        </p:nvGrpSpPr>
        <p:grpSpPr>
          <a:xfrm>
            <a:off x="6388608" y="2393950"/>
            <a:ext cx="4023360" cy="1664843"/>
            <a:chOff x="6388608" y="2393950"/>
            <a:chExt cx="4023360" cy="1664843"/>
          </a:xfrm>
        </p:grpSpPr>
        <p:sp>
          <p:nvSpPr>
            <p:cNvPr id="13" name="TextBox 13"/>
            <p:cNvSpPr txBox="1"/>
            <p:nvPr/>
          </p:nvSpPr>
          <p:spPr>
            <a:xfrm>
              <a:off x="6388608" y="2393950"/>
              <a:ext cx="26591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模擬候選打者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29019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梯度提升樹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0132" y="3248025"/>
              <a:ext cx="40218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沿用投手歷史投球，替換候選打者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預測逐球結果，換算預期得分</a:t>
              </a:r>
            </a:p>
          </p:txBody>
        </p:sp>
      </p:grpSp>
      <p:grpSp>
        <p:nvGrpSpPr>
          <p:cNvPr id="19" name="output"/>
          <p:cNvGrpSpPr/>
          <p:nvPr/>
        </p:nvGrpSpPr>
        <p:grpSpPr>
          <a:xfrm>
            <a:off x="597408" y="4527550"/>
            <a:ext cx="5260833" cy="792607"/>
            <a:chOff x="597408" y="4527550"/>
            <a:chExt cx="5260833" cy="792607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4527550"/>
              <a:ext cx="52608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整合得分估計 → 依局勢換算勝率差距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218" y="4997450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逐球模型不可用時，改用階層式估計。</a:t>
              </a:r>
            </a:p>
          </p:txBody>
        </p:sp>
      </p:grpSp>
      <p:grpSp>
        <p:nvGrpSpPr>
          <p:cNvPr id="22" name="credits"/>
          <p:cNvGrpSpPr/>
          <p:nvPr/>
        </p:nvGrpSpPr>
        <p:grpSpPr>
          <a:xfrm>
            <a:off x="602742" y="1949450"/>
            <a:ext cx="5594261" cy="264033"/>
            <a:chOff x="602742" y="1949450"/>
            <a:chExt cx="5594261" cy="264033"/>
          </a:xfrm>
        </p:grpSpPr>
        <p:sp>
          <p:nvSpPr>
            <p:cNvPr id="20" name="TextBox 20">
              <a:hlinkClick r:id="rId2"/>
            </p:cNvPr>
            <p:cNvSpPr txBox="1"/>
            <p:nvPr/>
          </p:nvSpPr>
          <p:spPr>
            <a:xfrm>
              <a:off x="602742" y="1949450"/>
              <a:ext cx="2505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Rebas Open Data（ODC-By）</a:t>
              </a:r>
            </a:p>
          </p:txBody>
        </p:sp>
        <p:sp>
          <p:nvSpPr>
            <p:cNvPr id="21" name="TextBox 21">
              <a:hlinkClick r:id="rId3"/>
            </p:cNvPr>
            <p:cNvSpPr txBox="1"/>
            <p:nvPr/>
          </p:nvSpPr>
          <p:spPr>
            <a:xfrm>
              <a:off x="4222242" y="1949450"/>
              <a:ext cx="1974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ldkrsi 守位紀錄（MIT）</a:t>
              </a:r>
            </a:p>
          </p:txBody>
        </p:sp>
      </p:grpSp>
      <p:grpSp>
        <p:nvGrpSpPr>
          <p:cNvPr id="24" name="model-settings"/>
          <p:cNvGrpSpPr/>
          <p:nvPr/>
        </p:nvGrpSpPr>
        <p:grpSpPr>
          <a:xfrm>
            <a:off x="601218" y="5816600"/>
            <a:ext cx="3570732" cy="322707"/>
            <a:chOff x="601218" y="5816600"/>
            <a:chExt cx="3570732" cy="322707"/>
          </a:xfrm>
        </p:grpSpPr>
        <p:sp>
          <p:nvSpPr>
            <p:cNvPr id="23" name="TextBox 23"/>
            <p:cNvSpPr txBox="1"/>
            <p:nvPr/>
          </p:nvSpPr>
          <p:spPr>
            <a:xfrm>
              <a:off x="601218" y="581660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球路八格（4 類球種 × 高中／低）與兩模型權重由本專案設定。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資料與解法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排名、差距與不確定性，要分開看</a:t>
              </a:r>
            </a:p>
          </p:txBody>
        </p:sp>
      </p:grpSp>
      <p:grpSp>
        <p:nvGrpSpPr>
          <p:cNvPr id="12" name="rank"/>
          <p:cNvGrpSpPr/>
          <p:nvPr/>
        </p:nvGrpSpPr>
        <p:grpSpPr>
          <a:xfrm>
            <a:off x="590550" y="1758950"/>
            <a:ext cx="2753106" cy="3086481"/>
            <a:chOff x="590550" y="1758950"/>
            <a:chExt cx="2753106" cy="3086481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7589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誰的相對位置較高？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184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價值分數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1–100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651250"/>
              <a:ext cx="27439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同一比較池內的相對位置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不是成功機率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44640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不同對決不宜直接比較</a:t>
              </a:r>
            </a:p>
          </p:txBody>
        </p:sp>
      </p:grpSp>
      <p:grpSp>
        <p:nvGrpSpPr>
          <p:cNvPr id="18" name="difference"/>
          <p:cNvGrpSpPr/>
          <p:nvPr/>
        </p:nvGrpSpPr>
        <p:grpSpPr>
          <a:xfrm>
            <a:off x="4286250" y="1758950"/>
            <a:ext cx="2391537" cy="3086481"/>
            <a:chOff x="4286250" y="1758950"/>
            <a:chExt cx="2391537" cy="3086481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1758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與現任差多少？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1844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模型勝率差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862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+0.34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5394" y="3651250"/>
              <a:ext cx="17533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單位：百分點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依當下局勢換算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953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相對同一位現任球員</a:t>
              </a:r>
            </a:p>
          </p:txBody>
        </p:sp>
      </p:grpSp>
      <p:grpSp>
        <p:nvGrpSpPr>
          <p:cNvPr id="24" name="uncertainty"/>
          <p:cNvGrpSpPr/>
          <p:nvPr/>
        </p:nvGrpSpPr>
        <p:grpSpPr>
          <a:xfrm>
            <a:off x="7984236" y="1758950"/>
            <a:ext cx="2503170" cy="3086481"/>
            <a:chOff x="7984236" y="1758950"/>
            <a:chExt cx="2503170" cy="3086481"/>
          </a:xfrm>
        </p:grpSpPr>
        <p:sp>
          <p:nvSpPr>
            <p:cNvPr id="19" name="TextBox 19"/>
            <p:cNvSpPr txBox="1"/>
            <p:nvPr/>
          </p:nvSpPr>
          <p:spPr>
            <a:xfrm>
              <a:off x="7992618" y="17589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估計有多不確定？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88808" y="21844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誤差線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4236" y="292735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近似範圍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1094" y="3651250"/>
              <a:ext cx="249631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來自階層式估計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不是完整集成預測區間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10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也不是候選勝出機率</a:t>
              </a:r>
            </a:p>
          </p:txBody>
        </p:sp>
      </p:grpSp>
      <p:grpSp>
        <p:nvGrpSpPr>
          <p:cNvPr id="27" name="boundaries"/>
          <p:cNvGrpSpPr/>
          <p:nvPr/>
        </p:nvGrpSpPr>
        <p:grpSpPr>
          <a:xfrm>
            <a:off x="598932" y="5413375"/>
            <a:ext cx="6960394" cy="811657"/>
            <a:chOff x="598932" y="5413375"/>
            <a:chExt cx="6960394" cy="811657"/>
          </a:xfrm>
        </p:grpSpPr>
        <p:sp>
          <p:nvSpPr>
            <p:cNvPr id="25" name="TextBox 25"/>
            <p:cNvSpPr txBox="1"/>
            <p:nvPr/>
          </p:nvSpPr>
          <p:spPr>
            <a:xfrm>
              <a:off x="598932" y="541337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歷史回放僅使用決策日前的資料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902325"/>
              <a:ext cx="6958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2024–2025 資料原型；出賽名單、健康狀況與當場守位仍需人工確認。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資料與解法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回測：系統挑出的換投時機站得住</a:t>
              </a:r>
            </a:p>
          </p:txBody>
        </p:sp>
      </p:grpSp>
      <p:grpSp>
        <p:nvGrpSpPr>
          <p:cNvPr id="12" name="rank"/>
          <p:cNvGrpSpPr/>
          <p:nvPr/>
        </p:nvGrpSpPr>
        <p:grpSpPr>
          <a:xfrm>
            <a:off x="590550" y="1758950"/>
            <a:ext cx="2753106" cy="3086481"/>
            <a:chOff x="590550" y="1758950"/>
            <a:chExt cx="2753106" cy="3086481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7589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回測範圍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184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2025 決策點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11,962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651250"/>
              <a:ext cx="27439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例行賽 6 局以後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每個打席開始前模擬一次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44640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與 2,184 次實際換投對照</a:t>
              </a:r>
            </a:p>
          </p:txBody>
        </p:sp>
      </p:grpSp>
      <p:grpSp>
        <p:nvGrpSpPr>
          <p:cNvPr id="18" name="difference"/>
          <p:cNvGrpSpPr/>
          <p:nvPr/>
        </p:nvGrpSpPr>
        <p:grpSpPr>
          <a:xfrm>
            <a:off x="4286250" y="1758950"/>
            <a:ext cx="2391537" cy="3086481"/>
            <a:chOff x="4286250" y="1758950"/>
            <a:chExt cx="2391537" cy="3086481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1758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換投時機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1844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續投時失分差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862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+0.043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5394" y="3651250"/>
              <a:ext cx="17533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單位：得分期望（RE24）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95% 區間 +0.017 ~ +0.068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953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建議換卻續投時較易失分</a:t>
              </a:r>
            </a:p>
          </p:txBody>
        </p:sp>
      </p:grpSp>
      <p:grpSp>
        <p:nvGrpSpPr>
          <p:cNvPr id="24" name="uncertainty"/>
          <p:cNvGrpSpPr/>
          <p:nvPr/>
        </p:nvGrpSpPr>
        <p:grpSpPr>
          <a:xfrm>
            <a:off x="7984236" y="1758950"/>
            <a:ext cx="2503170" cy="3086481"/>
            <a:chOff x="7984236" y="1758950"/>
            <a:chExt cx="2503170" cy="3086481"/>
          </a:xfrm>
        </p:grpSpPr>
        <p:sp>
          <p:nvSpPr>
            <p:cNvPr id="19" name="TextBox 19"/>
            <p:cNvSpPr txBox="1"/>
            <p:nvPr/>
          </p:nvSpPr>
          <p:spPr>
            <a:xfrm>
              <a:off x="7992618" y="17589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代打時機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88808" y="21844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原打者得分差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4236" y="292735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不明顯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1094" y="3651250"/>
              <a:ext cx="249631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−0.025（95% 區間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−0.074 ~ +0.024）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10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網站標示「僅供參考」</a:t>
              </a:r>
            </a:p>
          </p:txBody>
        </p:sp>
      </p:grpSp>
      <p:grpSp>
        <p:nvGrpSpPr>
          <p:cNvPr id="27" name="boundaries"/>
          <p:cNvGrpSpPr/>
          <p:nvPr/>
        </p:nvGrpSpPr>
        <p:grpSpPr>
          <a:xfrm>
            <a:off x="598932" y="5413375"/>
            <a:ext cx="6960394" cy="811657"/>
            <a:chOff x="598932" y="5413375"/>
            <a:chExt cx="6960394" cy="811657"/>
          </a:xfrm>
        </p:grpSpPr>
        <p:sp>
          <p:nvSpPr>
            <p:cNvPr id="25" name="TextBox 25"/>
            <p:cNvSpPr txBox="1"/>
            <p:nvPr/>
          </p:nvSpPr>
          <p:spPr>
            <a:xfrm>
              <a:off x="598932" y="541337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只用比賽當天以前的資料，模擬「打席開始前會不會建議換人」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902325"/>
              <a:ext cx="6958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換人後的結果無法觀測，只比較模型估計；門檻 1 百分點，只看接下來 3 棒。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ber"/>
          <p:cNvGrpSpPr/>
          <p:nvPr/>
        </p:nvGrpSpPr>
        <p:grpSpPr>
          <a:xfrm>
            <a:off x="590550" y="1714500"/>
            <a:ext cx="1520638" cy="1905000"/>
            <a:chOff x="590550" y="1714500"/>
            <a:chExt cx="1520638" cy="19050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714500"/>
              <a:ext cx="1520638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6" name="chapter-heading"/>
          <p:cNvGrpSpPr/>
          <p:nvPr/>
        </p:nvGrpSpPr>
        <p:grpSpPr>
          <a:xfrm>
            <a:off x="3336036" y="1739900"/>
            <a:ext cx="5364480" cy="1204214"/>
            <a:chOff x="3336036" y="1739900"/>
            <a:chExt cx="5364480" cy="1204214"/>
          </a:xfrm>
        </p:grpSpPr>
        <p:sp>
          <p:nvSpPr>
            <p:cNvPr id="4" name="TextBox 4"/>
            <p:cNvSpPr txBox="1"/>
            <p:nvPr/>
          </p:nvSpPr>
          <p:spPr>
            <a:xfrm>
              <a:off x="3344418" y="17399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網站成果與決策體驗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36036" y="22987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用一個打席，回答三個問題</a:t>
              </a:r>
            </a:p>
          </p:txBody>
        </p:sp>
      </p:grpSp>
      <p:grpSp>
        <p:nvGrpSpPr>
          <p:cNvPr id="9" name="chapter-summary"/>
          <p:cNvGrpSpPr/>
          <p:nvPr/>
        </p:nvGrpSpPr>
        <p:grpSpPr>
          <a:xfrm>
            <a:off x="3340608" y="3784600"/>
            <a:ext cx="3901440" cy="1211707"/>
            <a:chOff x="3340608" y="3784600"/>
            <a:chExt cx="3901440" cy="1211707"/>
          </a:xfrm>
        </p:grpSpPr>
        <p:sp>
          <p:nvSpPr>
            <p:cNvPr id="7" name="TextBox 7"/>
            <p:cNvSpPr txBox="1"/>
            <p:nvPr/>
          </p:nvSpPr>
          <p:spPr>
            <a:xfrm>
              <a:off x="3340608" y="378460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差多少、誰接守、憑什麼。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44418" y="4673600"/>
              <a:ext cx="3525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操作 Demo　／　案例　／　UI／UX</a:t>
              </a:r>
            </a:p>
          </p:txBody>
        </p:sp>
      </p:grpSp>
      <p:grpSp>
        <p:nvGrpSpPr>
          <p:cNvPr id="11" name="baseball"/>
          <p:cNvGrpSpPr/>
          <p:nvPr/>
        </p:nvGrpSpPr>
        <p:grpSpPr>
          <a:xfrm>
            <a:off x="9048750" y="4000500"/>
            <a:ext cx="2190750" cy="2190750"/>
            <a:chOff x="9048750" y="4000500"/>
            <a:chExt cx="2190750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4000500"/>
              <a:ext cx="2190750" cy="219075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017522" cy="645414"/>
            <a:chOff x="592836" y="546100"/>
            <a:chExt cx="601752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01752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37 秒實錄：完成一次代打比較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pic>
        <p:nvPicPr>
          <p:cNvPr id="10" name="實際網站操作 Demo（點選播放，約37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0" y="144780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先確認可用人選，再進行比較</a:t>
              </a:r>
            </a:p>
          </p:txBody>
        </p:sp>
      </p:grpSp>
      <p:grpSp>
        <p:nvGrpSpPr>
          <p:cNvPr id="8" name="lineup-step-one"/>
          <p:cNvGrpSpPr/>
          <p:nvPr/>
        </p:nvGrpSpPr>
        <p:grpSpPr>
          <a:xfrm>
            <a:off x="597408" y="1536700"/>
            <a:ext cx="2659167" cy="469392"/>
            <a:chOff x="597408" y="1536700"/>
            <a:chExt cx="2659167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536700"/>
              <a:ext cx="26591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確認場上守位</a:t>
              </a:r>
            </a:p>
          </p:txBody>
        </p:sp>
      </p:grpSp>
      <p:grpSp>
        <p:nvGrpSpPr>
          <p:cNvPr id="10" name="field-focus"/>
          <p:cNvGrpSpPr/>
          <p:nvPr/>
        </p:nvGrpSpPr>
        <p:grpSpPr>
          <a:xfrm>
            <a:off x="609600" y="2095500"/>
            <a:ext cx="5200650" cy="3943350"/>
            <a:chOff x="609600" y="2095500"/>
            <a:chExt cx="5200650" cy="39433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095500"/>
              <a:ext cx="5200650" cy="3943350"/>
            </a:xfrm>
            <a:prstGeom prst="rect">
              <a:avLst/>
            </a:prstGeom>
          </p:spPr>
        </p:pic>
      </p:grpSp>
      <p:grpSp>
        <p:nvGrpSpPr>
          <p:cNvPr id="12" name="lineup-step-two"/>
          <p:cNvGrpSpPr/>
          <p:nvPr/>
        </p:nvGrpSpPr>
        <p:grpSpPr>
          <a:xfrm>
            <a:off x="6369558" y="1536700"/>
            <a:ext cx="2982255" cy="469392"/>
            <a:chOff x="6369558" y="1536700"/>
            <a:chExt cx="2982255" cy="469392"/>
          </a:xfrm>
        </p:grpSpPr>
        <p:sp>
          <p:nvSpPr>
            <p:cNvPr id="11" name="TextBox 11"/>
            <p:cNvSpPr txBox="1"/>
            <p:nvPr/>
          </p:nvSpPr>
          <p:spPr>
            <a:xfrm>
              <a:off x="6369558" y="1536700"/>
              <a:ext cx="29822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調整棒次並套用</a:t>
              </a:r>
            </a:p>
          </p:txBody>
        </p:sp>
      </p:grpSp>
      <p:grpSp>
        <p:nvGrpSpPr>
          <p:cNvPr id="14" name="order-focus"/>
          <p:cNvGrpSpPr/>
          <p:nvPr/>
        </p:nvGrpSpPr>
        <p:grpSpPr>
          <a:xfrm>
            <a:off x="6381750" y="2152650"/>
            <a:ext cx="5200650" cy="2514600"/>
            <a:chOff x="6381750" y="2152650"/>
            <a:chExt cx="5200650" cy="251460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1750" y="2152650"/>
              <a:ext cx="5200650" cy="2514600"/>
            </a:xfrm>
            <a:prstGeom prst="rect">
              <a:avLst/>
            </a:prstGeom>
          </p:spPr>
        </p:pic>
      </p:grpSp>
      <p:grpSp>
        <p:nvGrpSpPr>
          <p:cNvPr id="16" name="apply-focus"/>
          <p:cNvGrpSpPr/>
          <p:nvPr/>
        </p:nvGrpSpPr>
        <p:grpSpPr>
          <a:xfrm>
            <a:off x="6391133" y="4981575"/>
            <a:ext cx="5181884" cy="857250"/>
            <a:chOff x="6391133" y="4981575"/>
            <a:chExt cx="5181884" cy="8572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1133" y="4981575"/>
              <a:ext cx="5181884" cy="857250"/>
            </a:xfrm>
            <a:prstGeom prst="rect">
              <a:avLst/>
            </a:prstGeom>
          </p:spPr>
        </p:pic>
      </p:grpSp>
      <p:grpSp>
        <p:nvGrpSpPr>
          <p:cNvPr id="18" name="lineup-limit"/>
          <p:cNvGrpSpPr/>
          <p:nvPr/>
        </p:nvGrpSpPr>
        <p:grpSpPr>
          <a:xfrm>
            <a:off x="6373368" y="5988050"/>
            <a:ext cx="4237101" cy="322707"/>
            <a:chOff x="6373368" y="5988050"/>
            <a:chExt cx="4237101" cy="322707"/>
          </a:xfrm>
        </p:grpSpPr>
        <p:sp>
          <p:nvSpPr>
            <p:cNvPr id="17" name="TextBox 17"/>
            <p:cNvSpPr txBox="1"/>
            <p:nvPr/>
          </p:nvSpPr>
          <p:spPr>
            <a:xfrm>
              <a:off x="6373368" y="5988050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預設名單可調整；出賽名單由使用者確認。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只改候選人選，才看得出換人差距</a:t>
              </a:r>
            </a:p>
          </p:txBody>
        </p:sp>
      </p:grpSp>
      <p:grpSp>
        <p:nvGrpSpPr>
          <p:cNvPr id="8" name="fixed-title"/>
          <p:cNvGrpSpPr/>
          <p:nvPr/>
        </p:nvGrpSpPr>
        <p:grpSpPr>
          <a:xfrm>
            <a:off x="597408" y="1631950"/>
            <a:ext cx="2932176" cy="469392"/>
            <a:chOff x="597408" y="1631950"/>
            <a:chExt cx="2932176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6319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比較時固定三項條件</a:t>
              </a:r>
            </a:p>
          </p:txBody>
        </p:sp>
      </p:grpSp>
      <p:grpSp>
        <p:nvGrpSpPr>
          <p:cNvPr id="12" name="pitcher"/>
          <p:cNvGrpSpPr/>
          <p:nvPr/>
        </p:nvGrpSpPr>
        <p:grpSpPr>
          <a:xfrm>
            <a:off x="597408" y="2463800"/>
            <a:ext cx="1316736" cy="1369568"/>
            <a:chOff x="597408" y="2463800"/>
            <a:chExt cx="1316736" cy="1369568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4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對方投手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34226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鋼龍</a:t>
              </a:r>
            </a:p>
          </p:txBody>
        </p:sp>
      </p:grpSp>
      <p:grpSp>
        <p:nvGrpSpPr>
          <p:cNvPr id="16" name="situation"/>
          <p:cNvGrpSpPr/>
          <p:nvPr/>
        </p:nvGrpSpPr>
        <p:grpSpPr>
          <a:xfrm>
            <a:off x="4293108" y="2463800"/>
            <a:ext cx="2423160" cy="1718818"/>
            <a:chOff x="4293108" y="2463800"/>
            <a:chExt cx="2423160" cy="1718818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比賽局勢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4632" y="3371850"/>
              <a:ext cx="24216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局上，0 : 0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兩出局，二三壘有人</a:t>
              </a:r>
            </a:p>
          </p:txBody>
        </p:sp>
      </p:grpSp>
      <p:grpSp>
        <p:nvGrpSpPr>
          <p:cNvPr id="20" name="current"/>
          <p:cNvGrpSpPr/>
          <p:nvPr/>
        </p:nvGrpSpPr>
        <p:grpSpPr>
          <a:xfrm>
            <a:off x="7988808" y="2463800"/>
            <a:ext cx="1356360" cy="1718818"/>
            <a:chOff x="7988808" y="2463800"/>
            <a:chExt cx="1356360" cy="1718818"/>
          </a:xfrm>
        </p:grpSpPr>
        <p:sp>
          <p:nvSpPr>
            <p:cNvPr id="17" name="TextBox 17"/>
            <p:cNvSpPr txBox="1"/>
            <p:nvPr/>
          </p:nvSpPr>
          <p:spPr>
            <a:xfrm>
              <a:off x="79926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88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現任打者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0332" y="3371850"/>
              <a:ext cx="13548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林智平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目前守三壘</a:t>
              </a:r>
            </a:p>
          </p:txBody>
        </p:sp>
      </p:grpSp>
      <p:grpSp>
        <p:nvGrpSpPr>
          <p:cNvPr id="23" name="candidate-change"/>
          <p:cNvGrpSpPr/>
          <p:nvPr/>
        </p:nvGrpSpPr>
        <p:grpSpPr>
          <a:xfrm>
            <a:off x="597408" y="4699000"/>
            <a:ext cx="4870704" cy="867918"/>
            <a:chOff x="597408" y="4699000"/>
            <a:chExt cx="4870704" cy="867918"/>
          </a:xfrm>
        </p:grpSpPr>
        <p:sp>
          <p:nvSpPr>
            <p:cNvPr id="21" name="TextBox 21"/>
            <p:cNvSpPr txBox="1"/>
            <p:nvPr/>
          </p:nvSpPr>
          <p:spPr>
            <a:xfrm>
              <a:off x="597408" y="469900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改變候選人選，與林智平續打比較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8932" y="5156200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廖健富　／　梁家榮　／　何品室融</a:t>
              </a:r>
            </a:p>
          </p:txBody>
        </p:sp>
      </p:grpSp>
      <p:grpSp>
        <p:nvGrpSpPr>
          <p:cNvPr id="25" name="condition-conclusion"/>
          <p:cNvGrpSpPr/>
          <p:nvPr/>
        </p:nvGrpSpPr>
        <p:grpSpPr>
          <a:xfrm>
            <a:off x="601218" y="5911850"/>
            <a:ext cx="6236208" cy="322707"/>
            <a:chOff x="601218" y="5911850"/>
            <a:chExt cx="6236208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911850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自訂示範情境；每位候選都使用相同的投手、局勢與比較基準。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優勢有多大？還需要誰接守？</a:t>
              </a:r>
            </a:p>
          </p:txBody>
        </p:sp>
      </p:grpSp>
      <p:grpSp>
        <p:nvGrpSpPr>
          <p:cNvPr id="9" name="gain"/>
          <p:cNvGrpSpPr/>
          <p:nvPr/>
        </p:nvGrpSpPr>
        <p:grpSpPr>
          <a:xfrm>
            <a:off x="590550" y="1663700"/>
            <a:ext cx="3422142" cy="1445768"/>
            <a:chOff x="590550" y="1663700"/>
            <a:chExt cx="3422142" cy="1445768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663700"/>
              <a:ext cx="197976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+0.34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269875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相對林智平，單位為百分點</a:t>
              </a:r>
            </a:p>
          </p:txBody>
        </p:sp>
      </p:grpSp>
      <p:grpSp>
        <p:nvGrpSpPr>
          <p:cNvPr id="12" name="cost"/>
          <p:cNvGrpSpPr/>
          <p:nvPr/>
        </p:nvGrpSpPr>
        <p:grpSpPr>
          <a:xfrm>
            <a:off x="6686550" y="1663700"/>
            <a:ext cx="3987546" cy="1445768"/>
            <a:chOff x="6686550" y="1663700"/>
            <a:chExt cx="3987546" cy="1445768"/>
          </a:xfrm>
        </p:grpSpPr>
        <p:sp>
          <p:nvSpPr>
            <p:cNvPr id="10" name="TextBox 10"/>
            <p:cNvSpPr txBox="1"/>
            <p:nvPr/>
          </p:nvSpPr>
          <p:spPr>
            <a:xfrm>
              <a:off x="6686550" y="1663700"/>
              <a:ext cx="193341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+1 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94932" y="26987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廖健富代打後，需另安排三壘手</a:t>
              </a:r>
            </a:p>
          </p:txBody>
        </p:sp>
      </p:grpSp>
      <p:grpSp>
        <p:nvGrpSpPr>
          <p:cNvPr id="15" name="decision"/>
          <p:cNvGrpSpPr/>
          <p:nvPr/>
        </p:nvGrpSpPr>
        <p:grpSpPr>
          <a:xfrm>
            <a:off x="597408" y="3403600"/>
            <a:ext cx="6553185" cy="754507"/>
            <a:chOff x="597408" y="3403600"/>
            <a:chExt cx="6553185" cy="754507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3403600"/>
              <a:ext cx="65531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未達 1 百分點門檻，本例以林智平續打為主。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18" y="3835400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接守需求另列供人工判斷；模型差距不等於實際換人效益。</a:t>
              </a:r>
            </a:p>
          </p:txBody>
        </p:sp>
      </p:grpSp>
      <p:graphicFrame>
        <p:nvGraphicFramePr>
          <p:cNvPr id="16" name="candidate-grid"/>
          <p:cNvGraphicFramePr>
            <a:graphicFrameLocks noGrp="1"/>
          </p:cNvGraphicFramePr>
          <p:nvPr/>
        </p:nvGraphicFramePr>
        <p:xfrm>
          <a:off x="609600" y="4248150"/>
          <a:ext cx="10972800" cy="1714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90751"/>
                <a:gridCol w="2857500"/>
                <a:gridCol w="5924549"/>
              </a:tblGrid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1">
                          <a:solidFill>
                            <a:srgbClr val="F7F5E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候選人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1">
                          <a:solidFill>
                            <a:srgbClr val="F7F5E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相對林智平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1">
                          <a:solidFill>
                            <a:srgbClr val="F7F5E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守備與資料提醒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廖健富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rgbClr val="237A5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+0.34 百分點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另需 1 人接守三壘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梁家榮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rgbClr val="237A5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+0.13 百分點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推估可接守三壘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何品室融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rgbClr val="237A5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+0.09 百分點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資料有限，另需接守人選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換投比較，把後續三棒一起算進來</a:t>
              </a:r>
            </a:p>
          </p:txBody>
        </p:sp>
      </p:grpSp>
      <p:grpSp>
        <p:nvGrpSpPr>
          <p:cNvPr id="9" name="bullpen-context"/>
          <p:cNvGrpSpPr/>
          <p:nvPr/>
        </p:nvGrpSpPr>
        <p:grpSpPr>
          <a:xfrm>
            <a:off x="599694" y="1568450"/>
            <a:ext cx="6772856" cy="732282"/>
            <a:chOff x="599694" y="1568450"/>
            <a:chExt cx="6772856" cy="732282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568450"/>
              <a:ext cx="67728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另一示範情境：樂天主場防守　｜　魔神龍已投 95 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197802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局上 0 : 0，兩出局二三壘有人；後續三棒：郭天信、李凱威、吉力吉撈．鞏冠</a:t>
              </a:r>
            </a:p>
          </p:txBody>
        </p:sp>
      </p:grpSp>
      <p:grpSp>
        <p:nvGrpSpPr>
          <p:cNvPr id="11" name="bullpen-chart"/>
          <p:cNvGrpSpPr/>
          <p:nvPr/>
        </p:nvGrpSpPr>
        <p:grpSpPr>
          <a:xfrm>
            <a:off x="613299" y="2457450"/>
            <a:ext cx="10965403" cy="2190750"/>
            <a:chOff x="613299" y="2457450"/>
            <a:chExt cx="10965403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3299" y="2457450"/>
              <a:ext cx="10965403" cy="2190750"/>
            </a:xfrm>
            <a:prstGeom prst="rect">
              <a:avLst/>
            </a:prstGeom>
          </p:spPr>
        </p:pic>
      </p:grpSp>
      <p:grpSp>
        <p:nvGrpSpPr>
          <p:cNvPr id="14" name="bullpen-best"/>
          <p:cNvGrpSpPr/>
          <p:nvPr/>
        </p:nvGrpSpPr>
        <p:grpSpPr>
          <a:xfrm>
            <a:off x="597408" y="5013325"/>
            <a:ext cx="3320689" cy="908431"/>
            <a:chOff x="597408" y="5013325"/>
            <a:chExt cx="3320689" cy="908431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5013325"/>
              <a:ext cx="332068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朱承洋　+2.51 百分點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694" y="55403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相對魔神龍的模型勝率差</a:t>
              </a:r>
            </a:p>
          </p:txBody>
        </p:sp>
      </p:grpSp>
      <p:grpSp>
        <p:nvGrpSpPr>
          <p:cNvPr id="17" name="bullpen-reminders"/>
          <p:cNvGrpSpPr/>
          <p:nvPr/>
        </p:nvGrpSpPr>
        <p:grpSpPr>
          <a:xfrm>
            <a:off x="6390132" y="5051425"/>
            <a:ext cx="3413760" cy="1075182"/>
            <a:chOff x="6390132" y="5051425"/>
            <a:chExt cx="3413760" cy="1075182"/>
          </a:xfrm>
        </p:grpSpPr>
        <p:sp>
          <p:nvSpPr>
            <p:cNvPr id="15" name="TextBox 15"/>
            <p:cNvSpPr txBox="1"/>
            <p:nvPr/>
          </p:nvSpPr>
          <p:spPr>
            <a:xfrm>
              <a:off x="6390132" y="505142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候選差距與資料提醒一起看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5480050"/>
              <a:ext cx="16931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陳冠宇：模型分歧</a:t>
              </a:r>
              <a:b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盧冠宇：資料有限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252972" cy="645414"/>
            <a:chOff x="592836" y="546100"/>
            <a:chExt cx="625297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比例有變，為什麼仍暫不判定？</a:t>
              </a:r>
            </a:p>
          </p:txBody>
        </p:sp>
      </p:grpSp>
      <p:grpSp>
        <p:nvGrpSpPr>
          <p:cNvPr id="13" name="sample-reading"/>
          <p:cNvGrpSpPr/>
          <p:nvPr/>
        </p:nvGrpSpPr>
        <p:grpSpPr>
          <a:xfrm>
            <a:off x="5645658" y="1765300"/>
            <a:ext cx="4556760" cy="3731768"/>
            <a:chOff x="5645658" y="1765300"/>
            <a:chExt cx="4556760" cy="3731768"/>
          </a:xfrm>
        </p:grpSpPr>
        <p:sp>
          <p:nvSpPr>
            <p:cNvPr id="9" name="TextBox 9"/>
            <p:cNvSpPr txBox="1"/>
            <p:nvPr/>
          </p:nvSpPr>
          <p:spPr>
            <a:xfrm>
              <a:off x="5645658" y="17653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王凱程面對左打（9/20 賽前）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47182" y="2400300"/>
              <a:ext cx="263499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基準期　10 場、85 球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近期　　 5 場、33 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5658" y="365125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比例雖有差異，樣本仍不足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7182" y="4286250"/>
              <a:ext cx="4555236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保留樣本與比例，顯示「暫不判定」。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近期配球僅供同條件下的解讀，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目前不直接調整候選分數。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1581150"/>
            <a:ext cx="4572000" cy="35337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8200" y="180975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B334D"/>
                </a:solidFill>
              </a:rPr>
              <a:t>同條件近期配球變化</a:t>
            </a:r>
            <a:r>
              <a:rPr sz="1600" b="0">
                <a:solidFill>
                  <a:srgbClr val="5F6670"/>
                </a:solidFill>
              </a:rPr>
              <a:t>　王凱程・面對左打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" y="2312670"/>
            <a:ext cx="4114800" cy="411480"/>
          </a:xfrm>
          <a:prstGeom prst="roundRect">
            <a:avLst>
              <a:gd name="adj" fmla="val 20000"/>
            </a:avLst>
          </a:prstGeom>
          <a:solidFill>
            <a:srgbClr val="FBE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75360" y="231267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8A5A00"/>
                </a:solidFill>
              </a:rPr>
              <a:t>樣本不足，暫不判定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200" y="2907030"/>
            <a:ext cx="1965960" cy="11887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75360" y="2998470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1B334D"/>
                </a:solidFill>
              </a:rPr>
              <a:t>之前最多 10 場</a:t>
            </a:r>
            <a:r>
              <a:rPr sz="1600" b="0">
                <a:solidFill>
                  <a:srgbClr val="5F6670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5F6670"/>
                </a:solidFill>
              </a:rPr>
              <a:t>07-23 至 08-22</a:t>
            </a:r>
            <a:r>
              <a:rPr sz="1600" b="1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1B334D"/>
                </a:solidFill>
              </a:rPr>
              <a:t>10 場・85 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87040" y="2907030"/>
            <a:ext cx="1965960" cy="11887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124200" y="2998470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1B334D"/>
                </a:solidFill>
              </a:rPr>
              <a:t>最近 5 場</a:t>
            </a:r>
            <a:r>
              <a:rPr sz="1600" b="0">
                <a:solidFill>
                  <a:srgbClr val="5F6670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5F6670"/>
                </a:solidFill>
              </a:rPr>
              <a:t>08-27 至 09-18</a:t>
            </a:r>
            <a:r>
              <a:rPr sz="1600" b="1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1B334D"/>
                </a:solidFill>
              </a:rPr>
              <a:t>5 場・33 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27863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B334D"/>
                </a:solidFill>
              </a:rPr>
              <a:t>速球　67% → 92%</a:t>
            </a:r>
            <a:r>
              <a:rPr sz="1600" b="0">
                <a:solidFill>
                  <a:srgbClr val="237A53"/>
                </a:solidFill>
              </a:rPr>
              <a:t>（+25）</a:t>
            </a:r>
            <a:r>
              <a:rPr sz="1600" b="0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B334D"/>
                </a:solidFill>
              </a:rPr>
              <a:t>低落　33% → 8%</a:t>
            </a:r>
            <a:r>
              <a:rPr sz="1600" b="0">
                <a:solidFill>
                  <a:srgbClr val="B54736"/>
                </a:solidFill>
              </a:rPr>
              <a:t>（−25）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歷史回放，對照建議、調度與結果</a:t>
              </a:r>
            </a:p>
          </p:txBody>
        </p:sp>
      </p:grpSp>
      <p:grpSp>
        <p:nvGrpSpPr>
          <p:cNvPr id="8" name="replay-source"/>
          <p:cNvGrpSpPr/>
          <p:nvPr/>
        </p:nvGrpSpPr>
        <p:grpSpPr>
          <a:xfrm>
            <a:off x="599694" y="1511300"/>
            <a:ext cx="6757762" cy="381381"/>
            <a:chOff x="599694" y="1511300"/>
            <a:chExt cx="6757762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511300"/>
              <a:ext cx="67577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2025-09-20　樂天對統一，8 局上　｜　林政華對髙塩將樹</a:t>
              </a:r>
            </a:p>
          </p:txBody>
        </p:sp>
      </p:grpSp>
      <p:grpSp>
        <p:nvGrpSpPr>
          <p:cNvPr id="14" name="replay-message"/>
          <p:cNvGrpSpPr/>
          <p:nvPr/>
        </p:nvGrpSpPr>
        <p:grpSpPr>
          <a:xfrm>
            <a:off x="7722108" y="2136775"/>
            <a:ext cx="2384679" cy="1784731"/>
            <a:chOff x="7722108" y="2136775"/>
            <a:chExt cx="2384679" cy="1784731"/>
          </a:xfrm>
        </p:grpSpPr>
        <p:sp>
          <p:nvSpPr>
            <p:cNvPr id="11" name="TextBox 11"/>
            <p:cNvSpPr txBox="1"/>
            <p:nvPr/>
          </p:nvSpPr>
          <p:spPr>
            <a:xfrm>
              <a:off x="7722108" y="21367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回到當時的資訊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4394" y="2676525"/>
              <a:ext cx="224866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對照模型與實際調度</a:t>
              </a:r>
              <a:br>
                <a:rPr lang="zh-TW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單一打席結果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24394" y="354012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不足以判定調度優劣</a:t>
              </a:r>
            </a:p>
          </p:txBody>
        </p:sp>
      </p:grpSp>
      <p:grpSp>
        <p:nvGrpSpPr>
          <p:cNvPr id="17" name="model-choice"/>
          <p:cNvGrpSpPr/>
          <p:nvPr/>
        </p:nvGrpSpPr>
        <p:grpSpPr>
          <a:xfrm>
            <a:off x="598932" y="4702175"/>
            <a:ext cx="2282952" cy="836168"/>
            <a:chOff x="598932" y="4702175"/>
            <a:chExt cx="2282952" cy="836168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4702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模型建議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932" y="512762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以林政華續打為主</a:t>
              </a:r>
            </a:p>
          </p:txBody>
        </p:sp>
      </p:grpSp>
      <p:grpSp>
        <p:nvGrpSpPr>
          <p:cNvPr id="20" name="actual-choice"/>
          <p:cNvGrpSpPr/>
          <p:nvPr/>
        </p:nvGrpSpPr>
        <p:grpSpPr>
          <a:xfrm>
            <a:off x="4294632" y="4702175"/>
            <a:ext cx="1434846" cy="836168"/>
            <a:chOff x="4294632" y="4702175"/>
            <a:chExt cx="1434846" cy="836168"/>
          </a:xfrm>
        </p:grpSpPr>
        <p:sp>
          <p:nvSpPr>
            <p:cNvPr id="18" name="TextBox 18"/>
            <p:cNvSpPr txBox="1"/>
            <p:nvPr/>
          </p:nvSpPr>
          <p:spPr>
            <a:xfrm>
              <a:off x="4296918" y="4702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實際調度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94632" y="512762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廖健富代打</a:t>
              </a:r>
            </a:p>
          </p:txBody>
        </p:sp>
      </p:grpSp>
      <p:grpSp>
        <p:nvGrpSpPr>
          <p:cNvPr id="23" name="actual-result"/>
          <p:cNvGrpSpPr/>
          <p:nvPr/>
        </p:nvGrpSpPr>
        <p:grpSpPr>
          <a:xfrm>
            <a:off x="7990332" y="4702175"/>
            <a:ext cx="907542" cy="836168"/>
            <a:chOff x="7990332" y="4702175"/>
            <a:chExt cx="907542" cy="836168"/>
          </a:xfrm>
        </p:grpSpPr>
        <p:sp>
          <p:nvSpPr>
            <p:cNvPr id="21" name="TextBox 21"/>
            <p:cNvSpPr txBox="1"/>
            <p:nvPr/>
          </p:nvSpPr>
          <p:spPr>
            <a:xfrm>
              <a:off x="7992618" y="4702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打席結果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0332" y="512762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高飛出局</a:t>
              </a:r>
            </a:p>
          </p:txBody>
        </p:sp>
      </p:grpSp>
      <p:grpSp>
        <p:nvGrpSpPr>
          <p:cNvPr id="25" name="replay-limit"/>
          <p:cNvGrpSpPr/>
          <p:nvPr/>
        </p:nvGrpSpPr>
        <p:grpSpPr>
          <a:xfrm>
            <a:off x="601218" y="5921375"/>
            <a:ext cx="5569839" cy="322707"/>
            <a:chOff x="601218" y="5921375"/>
            <a:chExt cx="5569839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92137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網站「2025 單日分析」可點選此打席；最佳候選廖健富僅 +0.21 百分點，未達門檻。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2028825"/>
            <a:ext cx="6667500" cy="2181225"/>
          </a:xfrm>
          <a:prstGeom prst="roundRect">
            <a:avLst>
              <a:gd name="adj" fmla="val 5000"/>
            </a:avLst>
          </a:prstGeom>
          <a:solidFill>
            <a:srgbClr val="1B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83920" y="2257425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</a:t>
            </a:r>
            <a:r>
              <a:rPr sz="1600" b="0">
                <a:solidFill>
                  <a:srgbClr val="FFFFFF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</a:rPr>
              <a:t>局上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2640" y="2303145"/>
            <a:ext cx="49301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樂天桃猿　</a:t>
            </a:r>
            <a:r>
              <a:rPr sz="3600" b="1">
                <a:solidFill>
                  <a:srgbClr val="FFFFFF"/>
                </a:solidFill>
              </a:rPr>
              <a:t>1 : 2</a:t>
            </a:r>
            <a:r>
              <a:rPr sz="1800" b="0">
                <a:solidFill>
                  <a:srgbClr val="FFFFFF"/>
                </a:solidFill>
              </a:rPr>
              <a:t>　統一7-ELEVEn獅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920" y="3217545"/>
            <a:ext cx="611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</a:rPr>
              <a:t>1 出局・一壘有人</a:t>
            </a:r>
            <a:r>
              <a:rPr sz="1600" b="0">
                <a:solidFill>
                  <a:srgbClr val="FFFFFF"/>
                </a:solidFill>
              </a:rPr>
              <a:t>　｜　投手 髙塩將樹（右投，後援已投 10 球）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" y="3674745"/>
            <a:ext cx="611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FFFFFF"/>
                </a:solidFill>
              </a:rPr>
              <a:t>局勢張力：高張力</a:t>
            </a:r>
            <a:r>
              <a:rPr sz="1600" b="0">
                <a:solidFill>
                  <a:srgbClr val="FFFFFF"/>
                </a:solidFill>
              </a:rPr>
              <a:t>　1 分 ≈ 21.7 百分點（聯盟平均 8.6）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先設局勢，再讀摘要、查明細</a:t>
              </a:r>
            </a:p>
          </p:txBody>
        </p:sp>
      </p:grpSp>
      <p:grpSp>
        <p:nvGrpSpPr>
          <p:cNvPr id="10" name="ux-screen"/>
          <p:cNvGrpSpPr/>
          <p:nvPr/>
        </p:nvGrpSpPr>
        <p:grpSpPr>
          <a:xfrm>
            <a:off x="609600" y="1466850"/>
            <a:ext cx="10972800" cy="3921166"/>
            <a:chOff x="609600" y="1466850"/>
            <a:chExt cx="10972800" cy="3921166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1684" t="34343" r="71930" b="16566"/>
            <a:stretch>
              <a:fillRect/>
            </a:stretch>
          </p:blipFill>
          <p:spPr>
            <a:xfrm>
              <a:off x="609600" y="1466850"/>
              <a:ext cx="3033655" cy="392116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0475" y="1466850"/>
              <a:ext cx="7781925" cy="2019300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00475" y="3676650"/>
              <a:ext cx="7781925" cy="1647825"/>
            </a:xfrm>
            <a:prstGeom prst="rect">
              <a:avLst/>
            </a:prstGeom>
          </p:spPr>
        </p:pic>
      </p:grpSp>
      <p:grpSp>
        <p:nvGrpSpPr>
          <p:cNvPr id="13" name="layout-purpose"/>
          <p:cNvGrpSpPr/>
          <p:nvPr/>
        </p:nvGrpSpPr>
        <p:grpSpPr>
          <a:xfrm>
            <a:off x="597408" y="5556250"/>
            <a:ext cx="2463927" cy="792607"/>
            <a:chOff x="597408" y="5556250"/>
            <a:chExt cx="2463927" cy="792607"/>
          </a:xfrm>
        </p:grpSpPr>
        <p:sp>
          <p:nvSpPr>
            <p:cNvPr id="11" name="TextBox 11"/>
            <p:cNvSpPr txBox="1"/>
            <p:nvPr/>
          </p:nvSpPr>
          <p:spPr>
            <a:xfrm>
              <a:off x="597408" y="5556250"/>
              <a:ext cx="20129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設定局勢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218" y="60261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左側保留設定，方便對照</a:t>
              </a:r>
            </a:p>
          </p:txBody>
        </p:sp>
      </p:grpSp>
      <p:grpSp>
        <p:nvGrpSpPr>
          <p:cNvPr id="16" name="hierarchy-purpose"/>
          <p:cNvGrpSpPr/>
          <p:nvPr/>
        </p:nvGrpSpPr>
        <p:grpSpPr>
          <a:xfrm>
            <a:off x="4445508" y="5556250"/>
            <a:ext cx="2336079" cy="792607"/>
            <a:chOff x="4445508" y="5556250"/>
            <a:chExt cx="2336079" cy="792607"/>
          </a:xfrm>
        </p:grpSpPr>
        <p:sp>
          <p:nvSpPr>
            <p:cNvPr id="14" name="TextBox 14"/>
            <p:cNvSpPr txBox="1"/>
            <p:nvPr/>
          </p:nvSpPr>
          <p:spPr>
            <a:xfrm>
              <a:off x="4445508" y="5556250"/>
              <a:ext cx="2336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讀調度摘要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9318" y="602615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先看續打或換人的判讀</a:t>
              </a:r>
            </a:p>
          </p:txBody>
        </p:sp>
      </p:grpSp>
      <p:grpSp>
        <p:nvGrpSpPr>
          <p:cNvPr id="19" name="baseline-purpose"/>
          <p:cNvGrpSpPr/>
          <p:nvPr/>
        </p:nvGrpSpPr>
        <p:grpSpPr>
          <a:xfrm>
            <a:off x="8293608" y="5556250"/>
            <a:ext cx="2336079" cy="792607"/>
            <a:chOff x="8293608" y="5556250"/>
            <a:chExt cx="2336079" cy="792607"/>
          </a:xfrm>
        </p:grpSpPr>
        <p:sp>
          <p:nvSpPr>
            <p:cNvPr id="17" name="TextBox 17"/>
            <p:cNvSpPr txBox="1"/>
            <p:nvPr/>
          </p:nvSpPr>
          <p:spPr>
            <a:xfrm>
              <a:off x="8293608" y="5556250"/>
              <a:ext cx="2336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查候選明細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7418" y="602615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再比較人選差距與提醒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提醒放在人選旁，判斷時就看得見</a:t>
              </a:r>
            </a:p>
          </p:txBody>
        </p:sp>
      </p:grpSp>
      <p:grpSp>
        <p:nvGrpSpPr>
          <p:cNvPr id="8" name="cover-screen"/>
          <p:cNvGrpSpPr/>
          <p:nvPr/>
        </p:nvGrpSpPr>
        <p:grpSpPr>
          <a:xfrm>
            <a:off x="1226218" y="1733550"/>
            <a:ext cx="2767263" cy="1143000"/>
            <a:chOff x="1226218" y="1733550"/>
            <a:chExt cx="2767263" cy="1143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6218" y="1733550"/>
              <a:ext cx="2767263" cy="1143000"/>
            </a:xfrm>
            <a:prstGeom prst="rect">
              <a:avLst/>
            </a:prstGeom>
          </p:spPr>
        </p:pic>
      </p:grpSp>
      <p:grpSp>
        <p:nvGrpSpPr>
          <p:cNvPr id="12" name="cover-reading"/>
          <p:cNvGrpSpPr/>
          <p:nvPr/>
        </p:nvGrpSpPr>
        <p:grpSpPr>
          <a:xfrm>
            <a:off x="5247132" y="1727200"/>
            <a:ext cx="4261866" cy="1020318"/>
            <a:chOff x="5247132" y="1727200"/>
            <a:chExt cx="4261866" cy="1020318"/>
          </a:xfrm>
        </p:grpSpPr>
        <p:sp>
          <p:nvSpPr>
            <p:cNvPr id="9" name="TextBox 9"/>
            <p:cNvSpPr txBox="1"/>
            <p:nvPr/>
          </p:nvSpPr>
          <p:spPr>
            <a:xfrm>
              <a:off x="5249418" y="17780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17108" y="17272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接守需求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7132" y="233680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提醒代打後還需要安排哪個守位。</a:t>
              </a:r>
            </a:p>
          </p:txBody>
        </p:sp>
      </p:grpSp>
      <p:grpSp>
        <p:nvGrpSpPr>
          <p:cNvPr id="14" name="model-screen"/>
          <p:cNvGrpSpPr/>
          <p:nvPr/>
        </p:nvGrpSpPr>
        <p:grpSpPr>
          <a:xfrm>
            <a:off x="609600" y="3276600"/>
            <a:ext cx="4000500" cy="1181100"/>
            <a:chOff x="609600" y="3276600"/>
            <a:chExt cx="4000500" cy="118110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3276600"/>
              <a:ext cx="4000500" cy="1181100"/>
            </a:xfrm>
            <a:prstGeom prst="rect">
              <a:avLst/>
            </a:prstGeom>
          </p:spPr>
        </p:pic>
      </p:grpSp>
      <p:grpSp>
        <p:nvGrpSpPr>
          <p:cNvPr id="18" name="model-reading"/>
          <p:cNvGrpSpPr/>
          <p:nvPr/>
        </p:nvGrpSpPr>
        <p:grpSpPr>
          <a:xfrm>
            <a:off x="5247132" y="3270250"/>
            <a:ext cx="3979164" cy="1020318"/>
            <a:chOff x="5247132" y="3270250"/>
            <a:chExt cx="3979164" cy="1020318"/>
          </a:xfrm>
        </p:grpSpPr>
        <p:sp>
          <p:nvSpPr>
            <p:cNvPr id="15" name="TextBox 15"/>
            <p:cNvSpPr txBox="1"/>
            <p:nvPr/>
          </p:nvSpPr>
          <p:spPr>
            <a:xfrm>
              <a:off x="5249418" y="33210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17108" y="32702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模型分歧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7132" y="38798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標示估計結果存在分歧的人選。</a:t>
              </a:r>
            </a:p>
          </p:txBody>
        </p:sp>
      </p:grpSp>
      <p:grpSp>
        <p:nvGrpSpPr>
          <p:cNvPr id="20" name="sample-screen"/>
          <p:cNvGrpSpPr/>
          <p:nvPr/>
        </p:nvGrpSpPr>
        <p:grpSpPr>
          <a:xfrm>
            <a:off x="621030" y="4819650"/>
            <a:ext cx="3977640" cy="1200150"/>
            <a:chOff x="621030" y="4819650"/>
            <a:chExt cx="3977640" cy="120015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030" y="4819650"/>
              <a:ext cx="3977640" cy="1200150"/>
            </a:xfrm>
            <a:prstGeom prst="rect">
              <a:avLst/>
            </a:prstGeom>
          </p:spPr>
        </p:pic>
      </p:grpSp>
      <p:grpSp>
        <p:nvGrpSpPr>
          <p:cNvPr id="24" name="sample-reading"/>
          <p:cNvGrpSpPr/>
          <p:nvPr/>
        </p:nvGrpSpPr>
        <p:grpSpPr>
          <a:xfrm>
            <a:off x="5247132" y="4813300"/>
            <a:ext cx="4261866" cy="1020318"/>
            <a:chOff x="5247132" y="4813300"/>
            <a:chExt cx="4261866" cy="1020318"/>
          </a:xfrm>
        </p:grpSpPr>
        <p:sp>
          <p:nvSpPr>
            <p:cNvPr id="21" name="TextBox 21"/>
            <p:cNvSpPr txBox="1"/>
            <p:nvPr/>
          </p:nvSpPr>
          <p:spPr>
            <a:xfrm>
              <a:off x="5249418" y="48641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17108" y="4813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資料有限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7132" y="542290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比較差距時，同步看見樣本限制。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換人之前，</a:t>
              </a:r>
              <a:b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700"/>
            <a:ext cx="1723644" cy="1134618"/>
            <a:chOff x="592836" y="3822700"/>
            <a:chExt cx="1723644" cy="1134618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3822700"/>
              <a:ext cx="9220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隊名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45466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3524250"/>
            <a:ext cx="2762250" cy="2762250"/>
            <a:chOff x="8858250" y="3524250"/>
            <a:chExt cx="2762250" cy="27622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3524250"/>
              <a:ext cx="2762250" cy="2762250"/>
            </a:xfrm>
            <a:prstGeom prst="rect">
              <a:avLst/>
            </a:prstGeom>
          </p:spPr>
        </p:pic>
      </p:grpSp>
      <p:grpSp>
        <p:nvGrpSpPr>
          <p:cNvPr id="11" name="links"/>
          <p:cNvGrpSpPr/>
          <p:nvPr/>
        </p:nvGrpSpPr>
        <p:grpSpPr>
          <a:xfrm>
            <a:off x="597408" y="5384800"/>
            <a:ext cx="5732953" cy="469392"/>
            <a:chOff x="597408" y="5384800"/>
            <a:chExt cx="5732953" cy="469392"/>
          </a:xfrm>
        </p:grpSpPr>
        <p:sp>
          <p:nvSpPr>
            <p:cNvPr id="9" name="TextBox 9">
              <a:hlinkClick r:id="rId3"/>
            </p:cNvPr>
            <p:cNvSpPr txBox="1"/>
            <p:nvPr/>
          </p:nvSpPr>
          <p:spPr>
            <a:xfrm>
              <a:off x="597408" y="5384800"/>
              <a:ext cx="2245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開啟網站 Demo</a:t>
              </a:r>
            </a:p>
          </p:txBody>
        </p:sp>
        <p:sp>
          <p:nvSpPr>
            <p:cNvPr id="10" name="TextBox 10">
              <a:hlinkClick r:id="rId4"/>
            </p:cNvPr>
            <p:cNvSpPr txBox="1"/>
            <p:nvPr/>
          </p:nvSpPr>
          <p:spPr>
            <a:xfrm>
              <a:off x="4178808" y="5384800"/>
              <a:ext cx="21515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GitHub 原始碼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