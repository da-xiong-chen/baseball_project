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16x9"/>
  <p:notesSz cx="6858000" cy="9144000"/>
  <p:defaultTextStyle>
    <a:defPPr>
      <a:defRPr lang="zh-TW" altLang="en-US">
        <a:latin typeface="Times New Roman"/>
        <a:ea typeface="標楷體"/>
        <a:cs typeface="Times New Roman"/>
      </a:defRPr>
    </a:defPPr>
    <a:lvl1pPr marL="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1pPr>
    <a:lvl2pPr marL="4572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2pPr>
    <a:lvl3pPr marL="9144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3pPr>
    <a:lvl4pPr marL="13716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4pPr>
    <a:lvl5pPr marL="18288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5pPr>
    <a:lvl6pPr marL="22860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6pPr>
    <a:lvl7pPr marL="27432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7pPr>
    <a:lvl8pPr marL="32004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8pPr>
    <a:lvl9pPr marL="36576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interSettings" Target="printerSettings/printerSettings1.bin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Relationship Id="rId36" Type="http://schemas.openxmlformats.org/officeDocument/2006/relationships/slide" Target="slides/slide30.xml" /><Relationship Id="rId37" Type="http://schemas.openxmlformats.org/officeDocument/2006/relationships/slide" Target="slides/slide31.xml" /><Relationship Id="rId38" Type="http://schemas.openxmlformats.org/officeDocument/2006/relationships/slide" Target="slides/slide32.xml" 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aseball_competition_polished19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 altLang="en-US">
                <a:latin typeface="Times New Roman"/>
                <a:ea typeface="標楷體"/>
                <a:cs typeface="Times New Roman"/>
              </a:rPr>
              <a:t>1/27/13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 altLang="en-US">
                <a:latin typeface="Times New Roman"/>
                <a:ea typeface="標楷體"/>
                <a:cs typeface="Times New Roman"/>
              </a:rPr>
              <a:t>‹#›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baseball_competition_polished19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 altLang="en-US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fld id="{5BCAD085-E8A6-8845-BD4E-CB4CCA059FC4}" type="datetimeFigureOut">
              <a:rPr lang="zh-TW" smtClean="0" altLang="en-US">
                <a:latin typeface="Times New Roman"/>
                <a:ea typeface="標楷體"/>
                <a:cs typeface="Times New Roman"/>
              </a:rPr>
              <a:t>1/27/13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 altLang="en-US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 altLang="en-US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fld id="{C1FF6DA9-008F-8B48-92A6-B652298478BF}" type="slidenum">
              <a:rPr lang="zh-TW" smtClean="0" altLang="en-US">
                <a:latin typeface="Times New Roman"/>
                <a:ea typeface="標楷體"/>
                <a:cs typeface="Times New Roman"/>
              </a:rPr>
              <a:t>‹#›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1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9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7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9pPr>
    </p:bodyStyle>
    <p:otherStyle>
      <a:defPPr>
        <a:defRPr lang="zh-TW" altLang="en-US">
          <a:latin typeface="Times New Roman"/>
          <a:ea typeface="標楷體"/>
          <a:cs typeface="Times New Roman"/>
        </a:defRPr>
      </a:defPPr>
      <a:lvl1pPr marL="0" algn="l" defTabSz="457200" rtl="0" eaLnBrk="1" latinLnBrk="0" hangingPunct="1">
        <a:defRPr sz="21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1pPr>
      <a:lvl2pPr marL="457200" algn="l" defTabSz="457200" rtl="0" eaLnBrk="1" latinLnBrk="0" hangingPunct="1">
        <a:defRPr sz="19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2pPr>
      <a:lvl3pPr marL="914400" algn="l" defTabSz="457200" rtl="0" eaLnBrk="1" latinLnBrk="0" hangingPunct="1">
        <a:defRPr sz="18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3pPr>
      <a:lvl4pPr marL="1371600" algn="l" defTabSz="457200" rtl="0" eaLnBrk="1" latinLnBrk="0" hangingPunct="1">
        <a:defRPr sz="17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4pPr>
      <a:lvl5pPr marL="1828800" algn="l" defTabSz="457200" rtl="0" eaLnBrk="1" latinLnBrk="0" hangingPunct="1">
        <a:defRPr sz="16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5pPr>
      <a:lvl6pPr marL="2286000" algn="l" defTabSz="457200" rtl="0" eaLnBrk="1" latinLnBrk="0" hangingPunct="1">
        <a:defRPr sz="14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6pPr>
      <a:lvl7pPr marL="2743200" algn="l" defTabSz="457200" rtl="0" eaLnBrk="1" latinLnBrk="0" hangingPunct="1">
        <a:defRPr sz="13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7pPr>
      <a:lvl8pPr marL="3200400" algn="l" defTabSz="457200" rtl="0" eaLnBrk="1" latinLnBrk="0" hangingPunct="1">
        <a:defRPr sz="12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8pPr>
      <a:lvl9pPr marL="3657600" algn="l" defTabSz="457200" rtl="0" eaLnBrk="1" latinLnBrk="0" hangingPunct="1">
        <a:defRPr sz="10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Relationship Id="rId3" Type="http://schemas.openxmlformats.org/officeDocument/2006/relationships/hyperlink" Target="https://da-xiong-chen.github.io/baseball_project/" TargetMode="External" /><Relationship Id="rId4" Type="http://schemas.openxmlformats.org/officeDocument/2006/relationships/hyperlink" Target="https://github.com/Da-Xiong-Chen/baseball_project" TargetMode="Externa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a60d4a4917b83df9.pn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4" Type="http://schemas.openxmlformats.org/officeDocument/2006/relationships/image" Target="../media/image_eb8ea92e100165d0.jpg" /><Relationship Id="rId5" Type="http://schemas.openxmlformats.org/officeDocument/2006/relationships/image" Target="../media/image_10d8c7aad298808c.jp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3" Type="http://schemas.openxmlformats.org/officeDocument/2006/relationships/image" Target="../media/image_9285a77aedd54ee7.jpg" /><Relationship Id="rId4" Type="http://schemas.openxmlformats.org/officeDocument/2006/relationships/image" Target="../media/image_1bff69bf6bcad942.jpg" /><Relationship Id="rId5" Type="http://schemas.openxmlformats.org/officeDocument/2006/relationships/image" Target="../media/image_a8743e3c266c6900.jp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3" Type="http://schemas.openxmlformats.org/officeDocument/2006/relationships/image" Target="../media/image_609c70584eb1fc6f.pn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49c3e72bf26121f6.png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859524e4423ec765.png" /><Relationship Id="rId3" Type="http://schemas.openxmlformats.org/officeDocument/2006/relationships/image" Target="../media/image_da44db1cdb001b18.png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a4778e31ed2f0c87.png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166c5aa118d68387.png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92a47212353679d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13277a43e32a451e.png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8c715cd40059fad0.png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7f229dc6dcdb260c.png" /><Relationship Id="rId3" Type="http://schemas.microsoft.com/office/2007/relationships/media" Target="../media/media1.mp4" /><Relationship Id="rId4" Type="http://schemas.openxmlformats.org/officeDocument/2006/relationships/video" Target="../media/media1.mp4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hyperlink" Target="https://doi.org/10.1080/01621459.1975.10479864" TargetMode="External" /><Relationship Id="rId3" Type="http://schemas.openxmlformats.org/officeDocument/2006/relationships/hyperlink" Target="https://doi.org/10.1214/aos/1176344552" TargetMode="External" /><Relationship Id="rId4" Type="http://schemas.openxmlformats.org/officeDocument/2006/relationships/hyperlink" Target="https://doi.org/10.1198/016214506000001437" TargetMode="Externa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44de3d25c6c01d2f.png" /><Relationship Id="rId3" Type="http://schemas.openxmlformats.org/officeDocument/2006/relationships/hyperlink" Target="https://da-xiong-chen.github.io/baseball_project/" TargetMode="External" /><Relationship Id="rId4" Type="http://schemas.openxmlformats.org/officeDocument/2006/relationships/hyperlink" Target="https://github.com/Da-Xiong-Chen/baseball_project" TargetMode="External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eam"/>
          <p:cNvGrpSpPr/>
          <p:nvPr/>
        </p:nvGrpSpPr>
        <p:grpSpPr>
          <a:xfrm>
            <a:off x="592836" y="488918"/>
            <a:ext cx="4569428" cy="1021271"/>
            <a:chOff x="592836" y="488918"/>
            <a:chExt cx="4569428" cy="1021271"/>
          </a:xfrm>
        </p:grpSpPr>
        <p:sp>
          <p:nvSpPr>
            <p:cNvPr id="2" name="TextBox 2"/>
            <p:cNvSpPr/>
            <p:nvPr/>
          </p:nvSpPr>
          <p:spPr>
            <a:xfrm>
              <a:off x="592836" y="488918"/>
              <a:ext cx="17814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一球兩面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601218" y="1187482"/>
              <a:ext cx="45610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868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2026 野革盃 台灣棒球數據黑客松｜參賽提案</a:t>
              </a:r>
            </a:p>
          </p:txBody>
        </p:sp>
      </p:grpSp>
      <p:grpSp>
        <p:nvGrpSpPr>
          <p:cNvPr id="7" name="hero"/>
          <p:cNvGrpSpPr/>
          <p:nvPr/>
        </p:nvGrpSpPr>
        <p:grpSpPr>
          <a:xfrm>
            <a:off x="590550" y="1930432"/>
            <a:ext cx="5561838" cy="1542478"/>
            <a:chOff x="590550" y="1930432"/>
            <a:chExt cx="5561838" cy="1542478"/>
          </a:xfrm>
        </p:grpSpPr>
        <p:sp>
          <p:nvSpPr>
            <p:cNvPr id="5" name="TextBox 5"/>
            <p:cNvSpPr/>
            <p:nvPr/>
          </p:nvSpPr>
          <p:spPr>
            <a:xfrm>
              <a:off x="590550" y="1930432"/>
              <a:ext cx="4642104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臨場用人決策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35508" y="3003518"/>
              <a:ext cx="551688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01632" rIns="0" bIns="0" anchor="t" anchorCtr="0">
              <a:noAutofit/>
            </a:bodyPr>
            <a:lstStyle/>
            <a:p>
              <a:pPr algn="l"/>
              <a:r>
                <a:rPr lang="zh-TW" sz="200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以公開中職資料，比較代打與換投人選</a:t>
              </a:r>
            </a:p>
          </p:txBody>
        </p:sp>
      </p:grpSp>
      <p:grpSp>
        <p:nvGrpSpPr>
          <p:cNvPr id="9" name="baseball"/>
          <p:cNvGrpSpPr/>
          <p:nvPr/>
        </p:nvGrpSpPr>
        <p:grpSpPr>
          <a:xfrm>
            <a:off x="8001000" y="1333500"/>
            <a:ext cx="3905250" cy="3905250"/>
            <a:chOff x="8001000" y="1333500"/>
            <a:chExt cx="3905250" cy="3905250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333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12" name="promise"/>
          <p:cNvGrpSpPr/>
          <p:nvPr/>
        </p:nvGrpSpPr>
        <p:grpSpPr>
          <a:xfrm>
            <a:off x="592836" y="3860768"/>
            <a:ext cx="5364480" cy="1191768"/>
            <a:chOff x="592836" y="3860768"/>
            <a:chExt cx="5364480" cy="1191768"/>
          </a:xfrm>
        </p:grpSpPr>
        <p:sp>
          <p:nvSpPr>
            <p:cNvPr id="10" name="TextBox 10"/>
            <p:cNvSpPr/>
            <p:nvPr/>
          </p:nvSpPr>
          <p:spPr>
            <a:xfrm>
              <a:off x="592836" y="3860768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差多少？誰接守？憑什麼？</a:t>
              </a:r>
            </a:p>
          </p:txBody>
        </p:sp>
        <p:sp>
          <p:nvSpPr>
            <p:cNvPr id="11" name="TextBox 11"/>
            <p:cNvSpPr/>
            <p:nvPr/>
          </p:nvSpPr>
          <p:spPr>
            <a:xfrm>
              <a:off x="598932" y="4641818"/>
              <a:ext cx="52387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隊名：一球兩面｜蘇櫟、陳信安</a:t>
              </a:r>
            </a:p>
          </p:txBody>
        </p:sp>
      </p:grpSp>
      <p:sp>
        <p:nvSpPr>
          <p:cNvPr id="16" name="TextBox 16"/>
          <p:cNvSpPr/>
          <p:nvPr/>
        </p:nvSpPr>
        <p:spPr>
          <a:xfrm>
            <a:off x="11375612" y="6445282"/>
            <a:ext cx="21364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grpSp>
        <p:nvGrpSpPr>
          <p:cNvPr id="14" name="visible-project-urls"/>
          <p:cNvGrpSpPr/>
          <p:nvPr/>
        </p:nvGrpSpPr>
        <p:grpSpPr>
          <a:xfrm>
            <a:off x="2673477" y="5502307"/>
            <a:ext cx="6845046" cy="829056"/>
            <a:chOff x="2673477" y="5502307"/>
            <a:chExt cx="6845046" cy="829056"/>
          </a:xfrm>
        </p:grpSpPr>
        <p:sp>
          <p:nvSpPr>
            <p:cNvPr id="18" name="TextBox 11">
              <a:hlinkClick r:id="rId3"/>
            </p:cNvPr>
            <p:cNvSpPr/>
            <p:nvPr/>
          </p:nvSpPr>
          <p:spPr>
            <a:xfrm>
              <a:off x="2999708" y="5502307"/>
              <a:ext cx="61925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網站 https://da-xiong-chen.github.io/baseball_project/</a:t>
              </a:r>
            </a:p>
          </p:txBody>
        </p:sp>
        <p:sp>
          <p:nvSpPr>
            <p:cNvPr id="13" name="TextBox 13">
              <a:hlinkClick r:id="rId4"/>
            </p:cNvPr>
            <p:cNvSpPr/>
            <p:nvPr/>
          </p:nvSpPr>
          <p:spPr>
            <a:xfrm>
              <a:off x="2673477" y="5949982"/>
              <a:ext cx="68450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原始碼 https://github.com/Da-Xiong-Chen/baseball_project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029956" cy="1063657"/>
            <a:chOff x="592836" y="250793"/>
            <a:chExt cx="802995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提案內容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臨場用人決策：問題、方法與應用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grpSp>
        <p:nvGrpSpPr>
          <p:cNvPr id="11" name="chapter-0"/>
          <p:cNvGrpSpPr/>
          <p:nvPr/>
        </p:nvGrpSpPr>
        <p:grpSpPr>
          <a:xfrm>
            <a:off x="594741" y="1711357"/>
            <a:ext cx="4002976" cy="1848612"/>
            <a:chOff x="594741" y="1711357"/>
            <a:chExt cx="4002976" cy="1848612"/>
          </a:xfrm>
        </p:grpSpPr>
        <p:sp>
          <p:nvSpPr>
            <p:cNvPr id="7" name="TextBox 7"/>
            <p:cNvSpPr/>
            <p:nvPr/>
          </p:nvSpPr>
          <p:spPr>
            <a:xfrm>
              <a:off x="594741" y="17113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01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1396746" y="1762125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問題與定位</a:t>
              </a:r>
            </a:p>
          </p:txBody>
        </p:sp>
        <p:sp>
          <p:nvSpPr>
            <p:cNvPr id="9" name="TextBox 9"/>
            <p:cNvSpPr/>
            <p:nvPr/>
          </p:nvSpPr>
          <p:spPr>
            <a:xfrm>
              <a:off x="1361122" y="2311432"/>
              <a:ext cx="3236595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關鍵打席的人選比較，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與兩種模式的名單需求。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1400937" y="3222593"/>
              <a:ext cx="30276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棒球問題、使用者與產品概念</a:t>
              </a:r>
            </a:p>
          </p:txBody>
        </p:sp>
      </p:grpSp>
      <p:grpSp>
        <p:nvGrpSpPr>
          <p:cNvPr id="16" name="chapter-1"/>
          <p:cNvGrpSpPr/>
          <p:nvPr/>
        </p:nvGrpSpPr>
        <p:grpSpPr>
          <a:xfrm>
            <a:off x="6233541" y="1711357"/>
            <a:ext cx="4290631" cy="1848612"/>
            <a:chOff x="6233541" y="1711357"/>
            <a:chExt cx="4290631" cy="1848612"/>
          </a:xfrm>
        </p:grpSpPr>
        <p:sp>
          <p:nvSpPr>
            <p:cNvPr id="12" name="TextBox 12"/>
            <p:cNvSpPr/>
            <p:nvPr/>
          </p:nvSpPr>
          <p:spPr>
            <a:xfrm>
              <a:off x="6233541" y="17113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02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7035546" y="1762125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資料與方法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6999922" y="2311432"/>
              <a:ext cx="3524250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公開資料、對決能力估計，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與時間順序驗證的結果。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039737" y="3222593"/>
              <a:ext cx="210140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使用資料與分析方法</a:t>
              </a:r>
            </a:p>
          </p:txBody>
        </p:sp>
      </p:grpSp>
      <p:grpSp>
        <p:nvGrpSpPr>
          <p:cNvPr id="21" name="chapter-2"/>
          <p:cNvGrpSpPr/>
          <p:nvPr/>
        </p:nvGrpSpPr>
        <p:grpSpPr>
          <a:xfrm>
            <a:off x="594741" y="3892582"/>
            <a:ext cx="4338256" cy="1848612"/>
            <a:chOff x="594741" y="3892582"/>
            <a:chExt cx="4338256" cy="1848612"/>
          </a:xfrm>
        </p:grpSpPr>
        <p:sp>
          <p:nvSpPr>
            <p:cNvPr id="17" name="TextBox 17"/>
            <p:cNvSpPr/>
            <p:nvPr/>
          </p:nvSpPr>
          <p:spPr>
            <a:xfrm>
              <a:off x="594741" y="3892582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03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1396746" y="394335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網站實作</a:t>
              </a:r>
            </a:p>
          </p:txBody>
        </p:sp>
        <p:sp>
          <p:nvSpPr>
            <p:cNvPr id="19" name="TextBox 19"/>
            <p:cNvSpPr/>
            <p:nvPr/>
          </p:nvSpPr>
          <p:spPr>
            <a:xfrm>
              <a:off x="1399413" y="4492657"/>
              <a:ext cx="353358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代打、換投與名單配置，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以及單日決策回放與展示。</a:t>
              </a:r>
            </a:p>
          </p:txBody>
        </p:sp>
        <p:sp>
          <p:nvSpPr>
            <p:cNvPr id="20" name="TextBox 20"/>
            <p:cNvSpPr/>
            <p:nvPr/>
          </p:nvSpPr>
          <p:spPr>
            <a:xfrm>
              <a:off x="1363028" y="5403818"/>
              <a:ext cx="227742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91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功能流程與操作展示</a:t>
              </a:r>
            </a:p>
          </p:txBody>
        </p:sp>
      </p:grpSp>
      <p:grpSp>
        <p:nvGrpSpPr>
          <p:cNvPr id="26" name="chapter-3"/>
          <p:cNvGrpSpPr/>
          <p:nvPr/>
        </p:nvGrpSpPr>
        <p:grpSpPr>
          <a:xfrm>
            <a:off x="6233541" y="3892582"/>
            <a:ext cx="4002976" cy="1848612"/>
            <a:chOff x="6233541" y="3892582"/>
            <a:chExt cx="4002976" cy="1848612"/>
          </a:xfrm>
        </p:grpSpPr>
        <p:sp>
          <p:nvSpPr>
            <p:cNvPr id="22" name="TextBox 22"/>
            <p:cNvSpPr/>
            <p:nvPr/>
          </p:nvSpPr>
          <p:spPr>
            <a:xfrm>
              <a:off x="6233541" y="3892582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04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7035546" y="3943350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成果與開發規劃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6999922" y="4492657"/>
              <a:ext cx="3236595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跨年資料與近況權重，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以及多局牛棚接續問題。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7001828" y="5403818"/>
              <a:ext cx="227742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91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應用限制與擴充方向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5852922" cy="4496562"/>
            <a:chOff x="590550" y="673132"/>
            <a:chExt cx="5852922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01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關鍵打席的用人選擇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3565493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棒球問題、目標使用者與應用創新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5808726" cy="1063657"/>
            <a:chOff x="592836" y="250793"/>
            <a:chExt cx="580872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八局落後一分，要讓誰上場？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grpSp>
        <p:nvGrpSpPr>
          <p:cNvPr id="8" name="source-picture"/>
          <p:cNvGrpSpPr/>
          <p:nvPr/>
        </p:nvGrpSpPr>
        <p:grpSpPr>
          <a:xfrm>
            <a:off x="609600" y="1875663"/>
            <a:ext cx="6191250" cy="1811274"/>
            <a:chOff x="609600" y="1875663"/>
            <a:chExt cx="6191250" cy="1811274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875663"/>
              <a:ext cx="6191250" cy="1811274"/>
            </a:xfrm>
            <a:prstGeom prst="rect">
              <a:avLst/>
            </a:prstGeom>
          </p:spPr>
        </p:pic>
      </p:grpSp>
      <p:grpSp>
        <p:nvGrpSpPr>
          <p:cNvPr id="16" name="base-context"/>
          <p:cNvGrpSpPr/>
          <p:nvPr/>
        </p:nvGrpSpPr>
        <p:grpSpPr>
          <a:xfrm>
            <a:off x="2525649" y="3971925"/>
            <a:ext cx="2282952" cy="2109311"/>
            <a:chOff x="2525649" y="3971925"/>
            <a:chExt cx="2282952" cy="2109311"/>
          </a:xfrm>
        </p:grpSpPr>
        <p:sp>
          <p:nvSpPr>
            <p:cNvPr id="9" name="Polygon 9"/>
            <p:cNvSpPr/>
            <p:nvPr/>
          </p:nvSpPr>
          <p:spPr>
            <a:xfrm>
              <a:off x="3009900" y="4057650"/>
              <a:ext cx="1314450" cy="1314450"/>
            </a:xfrm>
            <a:custGeom>
              <a:avLst/>
              <a:gdLst/>
              <a:ahLst/>
              <a:cxnLst/>
              <a:rect l="l" t="t" r="r" b="b"/>
              <a:pathLst>
                <a:path w="1314450" h="1314450">
                  <a:moveTo>
                    <a:pt x="657225" y="0"/>
                  </a:moveTo>
                  <a:lnTo>
                    <a:pt x="1314450" y="657225"/>
                  </a:lnTo>
                  <a:lnTo>
                    <a:pt x="657225" y="1314450"/>
                  </a:lnTo>
                  <a:lnTo>
                    <a:pt x="0" y="657225"/>
                  </a:lnTo>
                  <a:close/>
                </a:path>
              </a:pathLst>
            </a:custGeom>
            <a:solidFill>
              <a:srgbClr val="ECE5D9"/>
            </a:solidFill>
            <a:ln w="19050">
              <a:solidFill>
                <a:srgbClr val="18344A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3581400" y="397192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B54836"/>
            </a:solidFill>
            <a:ln w="19050">
              <a:solidFill>
                <a:srgbClr val="18344A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4238625" y="462915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3581400" y="528637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2924175" y="462915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3619500" y="4667250"/>
              <a:ext cx="95250" cy="95250"/>
            </a:xfrm>
            <a:prstGeom prst="ellipse">
              <a:avLst/>
            </a:prstGeom>
            <a:solidFill>
              <a:srgbClr val="18344A"/>
            </a:solidFill>
            <a:ln w="28575">
              <a:solidFill>
                <a:srgbClr val="18344A"/>
              </a:solidFill>
            </a:ln>
          </p:spPr>
        </p:sp>
        <p:sp>
          <p:nvSpPr>
            <p:cNvPr id="15" name="TextBox 15"/>
            <p:cNvSpPr/>
            <p:nvPr/>
          </p:nvSpPr>
          <p:spPr>
            <a:xfrm>
              <a:off x="2525649" y="5670518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一出局，二壘有人</a:t>
              </a:r>
            </a:p>
          </p:txBody>
        </p:sp>
      </p:grpSp>
      <p:grpSp>
        <p:nvGrpSpPr>
          <p:cNvPr id="20" name="選擇 A"/>
          <p:cNvGrpSpPr/>
          <p:nvPr/>
        </p:nvGrpSpPr>
        <p:grpSpPr>
          <a:xfrm>
            <a:off x="7415022" y="2047875"/>
            <a:ext cx="2744057" cy="1421607"/>
            <a:chOff x="7415022" y="2047875"/>
            <a:chExt cx="2744057" cy="1421607"/>
          </a:xfrm>
        </p:grpSpPr>
        <p:sp>
          <p:nvSpPr>
            <p:cNvPr id="17" name="TextBox 17"/>
            <p:cNvSpPr/>
            <p:nvPr/>
          </p:nvSpPr>
          <p:spPr>
            <a:xfrm>
              <a:off x="7419975" y="2047875"/>
              <a:ext cx="84086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選擇 A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7415022" y="2457450"/>
              <a:ext cx="19472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8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林佳緯續打</a:t>
              </a:r>
            </a:p>
          </p:txBody>
        </p:sp>
        <p:sp>
          <p:nvSpPr>
            <p:cNvPr id="19" name="TextBox 19"/>
            <p:cNvSpPr/>
            <p:nvPr/>
          </p:nvSpPr>
          <p:spPr>
            <a:xfrm>
              <a:off x="7419213" y="3073432"/>
              <a:ext cx="273986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左打，面對左投魔力藍</a:t>
              </a:r>
            </a:p>
          </p:txBody>
        </p:sp>
      </p:grpSp>
      <p:grpSp>
        <p:nvGrpSpPr>
          <p:cNvPr id="24" name="選擇 B"/>
          <p:cNvGrpSpPr/>
          <p:nvPr/>
        </p:nvGrpSpPr>
        <p:grpSpPr>
          <a:xfrm>
            <a:off x="7415022" y="4200525"/>
            <a:ext cx="3015996" cy="1421607"/>
            <a:chOff x="7415022" y="4200525"/>
            <a:chExt cx="3015996" cy="1421607"/>
          </a:xfrm>
        </p:grpSpPr>
        <p:sp>
          <p:nvSpPr>
            <p:cNvPr id="21" name="TextBox 21"/>
            <p:cNvSpPr/>
            <p:nvPr/>
          </p:nvSpPr>
          <p:spPr>
            <a:xfrm>
              <a:off x="7419975" y="4200525"/>
              <a:ext cx="82296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選擇 B</a:t>
              </a:r>
            </a:p>
          </p:txBody>
        </p:sp>
        <p:sp>
          <p:nvSpPr>
            <p:cNvPr id="22" name="TextBox 22"/>
            <p:cNvSpPr/>
            <p:nvPr/>
          </p:nvSpPr>
          <p:spPr>
            <a:xfrm>
              <a:off x="7415022" y="4610100"/>
              <a:ext cx="19472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8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胡金龍代打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7419213" y="5226082"/>
              <a:ext cx="301180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右打，承接指定打擊棒次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585710" cy="1063657"/>
            <a:chOff x="592836" y="250793"/>
            <a:chExt cx="758571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651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問題與定位｜目標使用者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一般與球隊皆可評估，差別在人選限制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grpSp>
        <p:nvGrpSpPr>
          <p:cNvPr id="8" name="screenshot-一般使用者_4x.jpg"/>
          <p:cNvGrpSpPr/>
          <p:nvPr/>
        </p:nvGrpSpPr>
        <p:grpSpPr>
          <a:xfrm>
            <a:off x="609600" y="2049970"/>
            <a:ext cx="5334000" cy="1434179"/>
            <a:chOff x="609600" y="2049970"/>
            <a:chExt cx="5334000" cy="1434179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2049970"/>
              <a:ext cx="5334000" cy="1434179"/>
            </a:xfrm>
            <a:prstGeom prst="rect">
              <a:avLst/>
            </a:prstGeom>
          </p:spPr>
        </p:pic>
      </p:grpSp>
      <p:grpSp>
        <p:nvGrpSpPr>
          <p:cNvPr id="11" name="mode-0"/>
          <p:cNvGrpSpPr/>
          <p:nvPr/>
        </p:nvGrpSpPr>
        <p:grpSpPr>
          <a:xfrm>
            <a:off x="6960108" y="1889093"/>
            <a:ext cx="3241548" cy="1639348"/>
            <a:chOff x="6960108" y="1889093"/>
            <a:chExt cx="3241548" cy="1639348"/>
          </a:xfrm>
        </p:grpSpPr>
        <p:sp>
          <p:nvSpPr>
            <p:cNvPr id="9" name="TextBox 9"/>
            <p:cNvSpPr/>
            <p:nvPr/>
          </p:nvSpPr>
          <p:spPr>
            <a:xfrm>
              <a:off x="6960108" y="1889093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一般使用者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6962394" y="2428875"/>
              <a:ext cx="323926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自由選人評估。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亦可自訂九棒配置。</a:t>
              </a:r>
            </a:p>
          </p:txBody>
        </p:sp>
      </p:grpSp>
      <p:grpSp>
        <p:nvGrpSpPr>
          <p:cNvPr id="13" name="screenshot-球隊_4x.jpg"/>
          <p:cNvGrpSpPr/>
          <p:nvPr/>
        </p:nvGrpSpPr>
        <p:grpSpPr>
          <a:xfrm>
            <a:off x="609600" y="4259770"/>
            <a:ext cx="5334000" cy="1434179"/>
            <a:chOff x="609600" y="4259770"/>
            <a:chExt cx="5334000" cy="1434179"/>
          </a:xfrm>
        </p:grpSpPr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" y="4259770"/>
              <a:ext cx="5334000" cy="1434179"/>
            </a:xfrm>
            <a:prstGeom prst="rect">
              <a:avLst/>
            </a:prstGeom>
          </p:spPr>
        </p:pic>
      </p:grpSp>
      <p:grpSp>
        <p:nvGrpSpPr>
          <p:cNvPr id="16" name="mode-1"/>
          <p:cNvGrpSpPr/>
          <p:nvPr/>
        </p:nvGrpSpPr>
        <p:grpSpPr>
          <a:xfrm>
            <a:off x="6960108" y="4098893"/>
            <a:ext cx="3489198" cy="1639348"/>
            <a:chOff x="6960108" y="4098893"/>
            <a:chExt cx="3489198" cy="1639348"/>
          </a:xfrm>
        </p:grpSpPr>
        <p:sp>
          <p:nvSpPr>
            <p:cNvPr id="14" name="TextBox 14"/>
            <p:cNvSpPr/>
            <p:nvPr/>
          </p:nvSpPr>
          <p:spPr>
            <a:xfrm>
              <a:off x="6960108" y="4098893"/>
              <a:ext cx="67056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球隊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962394" y="4638675"/>
              <a:ext cx="34869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依場上配置評估。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候選排除場上球員。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當日可用名單人工確認。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問題與定位｜應用創新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應用創新：固定局勢下的人選比較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6</a:t>
            </a:r>
          </a:p>
        </p:txBody>
      </p:sp>
      <p:grpSp>
        <p:nvGrpSpPr>
          <p:cNvPr id="13" name="application-0"/>
          <p:cNvGrpSpPr/>
          <p:nvPr/>
        </p:nvGrpSpPr>
        <p:grpSpPr>
          <a:xfrm>
            <a:off x="597789" y="1787557"/>
            <a:ext cx="9992487" cy="1062800"/>
            <a:chOff x="597789" y="1787557"/>
            <a:chExt cx="9992487" cy="1062800"/>
          </a:xfrm>
        </p:grpSpPr>
        <p:sp>
          <p:nvSpPr>
            <p:cNvPr id="7" name="TextBox 7"/>
            <p:cNvSpPr/>
            <p:nvPr/>
          </p:nvSpPr>
          <p:spPr>
            <a:xfrm>
              <a:off x="597789" y="1787557"/>
              <a:ext cx="127292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情境比較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2590038" y="1825657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固定對手、局數與壘況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5629275" y="1943100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6019800" y="187642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1" name="TextBox 11"/>
            <p:cNvSpPr/>
            <p:nvPr/>
          </p:nvSpPr>
          <p:spPr>
            <a:xfrm>
              <a:off x="6589776" y="1800225"/>
              <a:ext cx="400050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同一局勢下比較候選差距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2590038" y="2454307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結合能力、球路與左右投打。</a:t>
              </a:r>
            </a:p>
          </p:txBody>
        </p:sp>
      </p:grpSp>
      <p:grpSp>
        <p:nvGrpSpPr>
          <p:cNvPr id="20" name="application-1"/>
          <p:cNvGrpSpPr/>
          <p:nvPr/>
        </p:nvGrpSpPr>
        <p:grpSpPr>
          <a:xfrm>
            <a:off x="597789" y="3206782"/>
            <a:ext cx="9992487" cy="1062800"/>
            <a:chOff x="597789" y="3206782"/>
            <a:chExt cx="9992487" cy="1062800"/>
          </a:xfrm>
        </p:grpSpPr>
        <p:sp>
          <p:nvSpPr>
            <p:cNvPr id="14" name="TextBox 14"/>
            <p:cNvSpPr/>
            <p:nvPr/>
          </p:nvSpPr>
          <p:spPr>
            <a:xfrm>
              <a:off x="597789" y="3206782"/>
              <a:ext cx="127292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名單連動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2590038" y="3244882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連動板凳、牛棚與守位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629275" y="3362325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6019800" y="32956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8" name="TextBox 18"/>
            <p:cNvSpPr/>
            <p:nvPr/>
          </p:nvSpPr>
          <p:spPr>
            <a:xfrm>
              <a:off x="6589776" y="3219450"/>
              <a:ext cx="400050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人選比較連動名單配置</a:t>
              </a:r>
            </a:p>
          </p:txBody>
        </p:sp>
        <p:sp>
          <p:nvSpPr>
            <p:cNvPr id="19" name="TextBox 19"/>
            <p:cNvSpPr/>
            <p:nvPr/>
          </p:nvSpPr>
          <p:spPr>
            <a:xfrm>
              <a:off x="2590038" y="3873532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檢查今日可用人選與接守安排。</a:t>
              </a:r>
            </a:p>
          </p:txBody>
        </p:sp>
      </p:grpSp>
      <p:grpSp>
        <p:nvGrpSpPr>
          <p:cNvPr id="27" name="application-2"/>
          <p:cNvGrpSpPr/>
          <p:nvPr/>
        </p:nvGrpSpPr>
        <p:grpSpPr>
          <a:xfrm>
            <a:off x="597789" y="4626007"/>
            <a:ext cx="10061638" cy="1062800"/>
            <a:chOff x="597789" y="4626007"/>
            <a:chExt cx="10061638" cy="1062800"/>
          </a:xfrm>
        </p:grpSpPr>
        <p:sp>
          <p:nvSpPr>
            <p:cNvPr id="21" name="TextBox 21"/>
            <p:cNvSpPr/>
            <p:nvPr/>
          </p:nvSpPr>
          <p:spPr>
            <a:xfrm>
              <a:off x="597789" y="4626007"/>
              <a:ext cx="127292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決策回放</a:t>
              </a:r>
            </a:p>
          </p:txBody>
        </p:sp>
        <p:sp>
          <p:nvSpPr>
            <p:cNvPr id="22" name="TextBox 22"/>
            <p:cNvSpPr/>
            <p:nvPr/>
          </p:nvSpPr>
          <p:spPr>
            <a:xfrm>
              <a:off x="2590038" y="4664107"/>
              <a:ext cx="165220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分階段揭示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629275" y="4781550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6019800" y="471487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5" name="TextBox 25"/>
            <p:cNvSpPr/>
            <p:nvPr/>
          </p:nvSpPr>
          <p:spPr>
            <a:xfrm>
              <a:off x="6551295" y="4638675"/>
              <a:ext cx="410813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481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決策資訊與賽後結果分開呈現</a:t>
              </a:r>
            </a:p>
          </p:txBody>
        </p:sp>
        <p:sp>
          <p:nvSpPr>
            <p:cNvPr id="26" name="TextBox 26"/>
            <p:cNvSpPr/>
            <p:nvPr/>
          </p:nvSpPr>
          <p:spPr>
            <a:xfrm>
              <a:off x="2551748" y="5292757"/>
              <a:ext cx="409860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1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區分模型事前判讀與實際結果。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5808726" cy="1063657"/>
            <a:chOff x="592836" y="250793"/>
            <a:chExt cx="580872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對決評估、配置與單日回放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7</a:t>
            </a:r>
          </a:p>
        </p:txBody>
      </p:sp>
      <p:grpSp>
        <p:nvGrpSpPr>
          <p:cNvPr id="8" name="screenshot-選單評估_4x.jpg"/>
          <p:cNvGrpSpPr/>
          <p:nvPr/>
        </p:nvGrpSpPr>
        <p:grpSpPr>
          <a:xfrm>
            <a:off x="1219200" y="1809750"/>
            <a:ext cx="3295650" cy="1000125"/>
            <a:chOff x="1219200" y="1809750"/>
            <a:chExt cx="3295650" cy="1000125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19200" y="1809750"/>
              <a:ext cx="3295650" cy="1000125"/>
            </a:xfrm>
            <a:prstGeom prst="rect">
              <a:avLst/>
            </a:prstGeom>
          </p:spPr>
        </p:pic>
      </p:grpSp>
      <p:grpSp>
        <p:nvGrpSpPr>
          <p:cNvPr id="10" name="screenshot-選單名單_4x.jpg"/>
          <p:cNvGrpSpPr/>
          <p:nvPr/>
        </p:nvGrpSpPr>
        <p:grpSpPr>
          <a:xfrm>
            <a:off x="4667250" y="1809750"/>
            <a:ext cx="3009900" cy="1000125"/>
            <a:chOff x="4667250" y="1809750"/>
            <a:chExt cx="3009900" cy="1000125"/>
          </a:xfrm>
        </p:grpSpPr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7250" y="1809750"/>
              <a:ext cx="3009900" cy="1000125"/>
            </a:xfrm>
            <a:prstGeom prst="rect">
              <a:avLst/>
            </a:prstGeom>
          </p:spPr>
        </p:pic>
      </p:grpSp>
      <p:grpSp>
        <p:nvGrpSpPr>
          <p:cNvPr id="12" name="screenshot-選單回放_4x.jpg"/>
          <p:cNvGrpSpPr/>
          <p:nvPr/>
        </p:nvGrpSpPr>
        <p:grpSpPr>
          <a:xfrm>
            <a:off x="7829550" y="1809750"/>
            <a:ext cx="3143250" cy="1000125"/>
            <a:chOff x="7829550" y="1809750"/>
            <a:chExt cx="3143250" cy="1000125"/>
          </a:xfrm>
        </p:grpSpPr>
        <p:pic>
          <p:nvPicPr>
            <p:cNvPr id="30" name="Image 3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29550" y="1809750"/>
              <a:ext cx="3143250" cy="1000125"/>
            </a:xfrm>
            <a:prstGeom prst="rect">
              <a:avLst/>
            </a:prstGeom>
          </p:spPr>
        </p:pic>
      </p:grpSp>
      <p:grpSp>
        <p:nvGrpSpPr>
          <p:cNvPr id="15" name="entry-0"/>
          <p:cNvGrpSpPr/>
          <p:nvPr/>
        </p:nvGrpSpPr>
        <p:grpSpPr>
          <a:xfrm>
            <a:off x="597789" y="3730657"/>
            <a:ext cx="3100578" cy="1330928"/>
            <a:chOff x="597789" y="3730657"/>
            <a:chExt cx="3100578" cy="1330928"/>
          </a:xfrm>
        </p:grpSpPr>
        <p:sp>
          <p:nvSpPr>
            <p:cNvPr id="13" name="TextBox 13"/>
            <p:cNvSpPr/>
            <p:nvPr/>
          </p:nvSpPr>
          <p:spPr>
            <a:xfrm>
              <a:off x="597789" y="3730657"/>
              <a:ext cx="2209895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代打／換投評估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599313" y="4292632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固定對手與局勢，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比較現任與最多四位候選。</a:t>
              </a:r>
            </a:p>
          </p:txBody>
        </p:sp>
      </p:grpSp>
      <p:grpSp>
        <p:nvGrpSpPr>
          <p:cNvPr id="18" name="entry-1"/>
          <p:cNvGrpSpPr/>
          <p:nvPr/>
        </p:nvGrpSpPr>
        <p:grpSpPr>
          <a:xfrm>
            <a:off x="4331589" y="3730657"/>
            <a:ext cx="2844070" cy="1330928"/>
            <a:chOff x="4331589" y="3730657"/>
            <a:chExt cx="2844070" cy="1330928"/>
          </a:xfrm>
        </p:grpSpPr>
        <p:sp>
          <p:nvSpPr>
            <p:cNvPr id="16" name="TextBox 16"/>
            <p:cNvSpPr/>
            <p:nvPr/>
          </p:nvSpPr>
          <p:spPr>
            <a:xfrm>
              <a:off x="4331589" y="3730657"/>
              <a:ext cx="1897570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我方場上名單</a:t>
              </a:r>
            </a:p>
          </p:txBody>
        </p:sp>
        <p:sp>
          <p:nvSpPr>
            <p:cNvPr id="17" name="TextBox 17"/>
            <p:cNvSpPr/>
            <p:nvPr/>
          </p:nvSpPr>
          <p:spPr>
            <a:xfrm>
              <a:off x="4333113" y="4292632"/>
              <a:ext cx="2842546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球場圖設定守位，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棒次表安排九棒與投手。</a:t>
              </a:r>
            </a:p>
          </p:txBody>
        </p:sp>
      </p:grpSp>
      <p:grpSp>
        <p:nvGrpSpPr>
          <p:cNvPr id="21" name="entry-2"/>
          <p:cNvGrpSpPr/>
          <p:nvPr/>
        </p:nvGrpSpPr>
        <p:grpSpPr>
          <a:xfrm>
            <a:off x="8028622" y="3730657"/>
            <a:ext cx="3524250" cy="1330928"/>
            <a:chOff x="8028622" y="3730657"/>
            <a:chExt cx="3524250" cy="1330928"/>
          </a:xfrm>
        </p:grpSpPr>
        <p:sp>
          <p:nvSpPr>
            <p:cNvPr id="19" name="TextBox 19"/>
            <p:cNvSpPr/>
            <p:nvPr/>
          </p:nvSpPr>
          <p:spPr>
            <a:xfrm>
              <a:off x="8065389" y="3730657"/>
              <a:ext cx="2015395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2025 單日分析</a:t>
              </a:r>
            </a:p>
          </p:txBody>
        </p:sp>
        <p:sp>
          <p:nvSpPr>
            <p:cNvPr id="20" name="TextBox 20"/>
            <p:cNvSpPr/>
            <p:nvPr/>
          </p:nvSpPr>
          <p:spPr>
            <a:xfrm>
              <a:off x="8028622" y="4292632"/>
              <a:ext cx="3524250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依指定比賽日，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呈現賽前負荷與打席回放。</a:t>
              </a:r>
            </a:p>
          </p:txBody>
        </p:sp>
      </p:grpSp>
      <p:grpSp>
        <p:nvGrpSpPr>
          <p:cNvPr id="24" name="takeaway"/>
          <p:cNvGrpSpPr/>
          <p:nvPr/>
        </p:nvGrpSpPr>
        <p:grpSpPr>
          <a:xfrm>
            <a:off x="609600" y="5572125"/>
            <a:ext cx="10972800" cy="704850"/>
            <a:chOff x="609600" y="5572125"/>
            <a:chExt cx="10972800" cy="704850"/>
          </a:xfrm>
        </p:grpSpPr>
        <p:sp>
          <p:nvSpPr>
            <p:cNvPr id="22" name="Rectangle 22"/>
            <p:cNvSpPr/>
            <p:nvPr/>
          </p:nvSpPr>
          <p:spPr>
            <a:xfrm>
              <a:off x="609600" y="5572125"/>
              <a:ext cx="10972800" cy="704850"/>
            </a:xfrm>
            <a:prstGeom prst="roundRect">
              <a:avLst>
                <a:gd name="adj" fmla="val 1621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3" name="TextBox 23"/>
            <p:cNvSpPr/>
            <p:nvPr/>
          </p:nvSpPr>
          <p:spPr>
            <a:xfrm>
              <a:off x="828294" y="5664232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單日分析獨立於一般使用者／球隊模式。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5852922" cy="4496562"/>
            <a:chOff x="590550" y="673132"/>
            <a:chExt cx="5852922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02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對決估計的資料與方法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3565493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資料來源、估計方法與驗證界線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029956" cy="1063657"/>
            <a:chOff x="592836" y="250793"/>
            <a:chExt cx="802995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資料與方法｜使用資料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三類資料，各自支援不同判斷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9</a:t>
            </a:r>
          </a:p>
        </p:txBody>
      </p:sp>
      <p:grpSp>
        <p:nvGrpSpPr>
          <p:cNvPr id="20" name="p09-source-0"/>
          <p:cNvGrpSpPr/>
          <p:nvPr/>
        </p:nvGrpSpPr>
        <p:grpSpPr>
          <a:xfrm>
            <a:off x="596646" y="1857375"/>
            <a:ext cx="3546729" cy="3190875"/>
            <a:chOff x="596646" y="1857375"/>
            <a:chExt cx="3546729" cy="3190875"/>
          </a:xfrm>
        </p:grpSpPr>
        <p:sp>
          <p:nvSpPr>
            <p:cNvPr id="11" name="Rectangle 11"/>
            <p:cNvSpPr/>
            <p:nvPr/>
          </p:nvSpPr>
          <p:spPr>
            <a:xfrm>
              <a:off x="647700" y="1952625"/>
              <a:ext cx="666750" cy="476250"/>
            </a:xfrm>
            <a:prstGeom prst="rect">
              <a:avLst/>
            </a:prstGeom>
            <a:noFill/>
            <a:ln w="9525">
              <a:solidFill>
                <a:srgbClr val="18344A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647700" y="1857375"/>
              <a:ext cx="666750" cy="190500"/>
            </a:xfrm>
            <a:prstGeom prst="ellipse">
              <a:avLst/>
            </a:prstGeom>
            <a:solidFill>
              <a:srgbClr val="F7F5EF"/>
            </a:solidFill>
            <a:ln w="28575">
              <a:solidFill>
                <a:srgbClr val="18344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647700" y="2190750"/>
              <a:ext cx="666750" cy="371475"/>
            </a:xfrm>
            <a:custGeom>
              <a:avLst/>
              <a:gdLst/>
              <a:ahLst/>
              <a:cxnLst/>
              <a:rect l="l" t="t" r="r" b="b"/>
              <a:pathLst>
                <a:path w="666750" h="371475">
                  <a:moveTo>
                    <a:pt x="0" y="0"/>
                  </a:moveTo>
                  <a:cubicBezTo>
                    <a:pt x="142875" y="133350"/>
                    <a:pt x="523875" y="133350"/>
                    <a:pt x="666750" y="0"/>
                  </a:cubicBezTo>
                  <a:moveTo>
                    <a:pt x="0" y="238125"/>
                  </a:moveTo>
                  <a:cubicBezTo>
                    <a:pt x="142875" y="371475"/>
                    <a:pt x="523875" y="371475"/>
                    <a:pt x="666750" y="238125"/>
                  </a:cubicBez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14" name="TextBox 14"/>
            <p:cNvSpPr/>
            <p:nvPr/>
          </p:nvSpPr>
          <p:spPr>
            <a:xfrm>
              <a:off x="596646" y="2635282"/>
              <a:ext cx="16581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2024–2025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597408" y="3136868"/>
              <a:ext cx="173126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逐球與出賽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600837" y="3613118"/>
              <a:ext cx="18832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72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Rebas · ODC-By</a:t>
              </a:r>
            </a:p>
          </p:txBody>
        </p:sp>
        <p:sp>
          <p:nvSpPr>
            <p:cNvPr id="17" name="TextBox 17"/>
            <p:cNvSpPr/>
            <p:nvPr/>
          </p:nvSpPr>
          <p:spPr>
            <a:xfrm>
              <a:off x="599694" y="4197382"/>
              <a:ext cx="25161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對決估計與投球負荷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601218" y="4673632"/>
              <a:ext cx="14249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背號僅供搜尋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133850" y="2047875"/>
              <a:ext cx="9525" cy="3000375"/>
            </a:xfrm>
            <a:custGeom>
              <a:avLst/>
              <a:gdLst/>
              <a:ahLst/>
              <a:cxnLst/>
              <a:rect l="l" t="t" r="r" b="b"/>
              <a:pathLst>
                <a:path w="9525" h="3000375">
                  <a:moveTo>
                    <a:pt x="0" y="0"/>
                  </a:moveTo>
                  <a:lnTo>
                    <a:pt x="0" y="3000375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</p:grpSp>
      <p:grpSp>
        <p:nvGrpSpPr>
          <p:cNvPr id="32" name="p09-source-1"/>
          <p:cNvGrpSpPr/>
          <p:nvPr/>
        </p:nvGrpSpPr>
        <p:grpSpPr>
          <a:xfrm>
            <a:off x="4330446" y="1857375"/>
            <a:ext cx="3546729" cy="3190875"/>
            <a:chOff x="4330446" y="1857375"/>
            <a:chExt cx="3546729" cy="3190875"/>
          </a:xfrm>
        </p:grpSpPr>
        <p:sp>
          <p:nvSpPr>
            <p:cNvPr id="21" name="Polygon 21"/>
            <p:cNvSpPr/>
            <p:nvPr/>
          </p:nvSpPr>
          <p:spPr>
            <a:xfrm>
              <a:off x="4381500" y="1857375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5" y="0"/>
                  </a:moveTo>
                  <a:lnTo>
                    <a:pt x="666750" y="333375"/>
                  </a:lnTo>
                  <a:lnTo>
                    <a:pt x="333375" y="666750"/>
                  </a:lnTo>
                  <a:lnTo>
                    <a:pt x="0" y="333375"/>
                  </a:lnTo>
                  <a:close/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4676775" y="185737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4972050" y="215265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676775" y="244792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4381500" y="215265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6" name="TextBox 26"/>
            <p:cNvSpPr/>
            <p:nvPr/>
          </p:nvSpPr>
          <p:spPr>
            <a:xfrm>
              <a:off x="4330446" y="2635282"/>
              <a:ext cx="16581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2022–2024</a:t>
              </a:r>
            </a:p>
          </p:txBody>
        </p:sp>
        <p:sp>
          <p:nvSpPr>
            <p:cNvPr id="27" name="TextBox 27"/>
            <p:cNvSpPr/>
            <p:nvPr/>
          </p:nvSpPr>
          <p:spPr>
            <a:xfrm>
              <a:off x="4331208" y="3136868"/>
              <a:ext cx="13898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歷年守位</a:t>
              </a:r>
            </a:p>
          </p:txBody>
        </p:sp>
        <p:sp>
          <p:nvSpPr>
            <p:cNvPr id="28" name="TextBox 28"/>
            <p:cNvSpPr/>
            <p:nvPr/>
          </p:nvSpPr>
          <p:spPr>
            <a:xfrm>
              <a:off x="4334637" y="3613118"/>
              <a:ext cx="131340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72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ldkrsi · MIT</a:t>
              </a:r>
            </a:p>
          </p:txBody>
        </p:sp>
        <p:sp>
          <p:nvSpPr>
            <p:cNvPr id="29" name="TextBox 29"/>
            <p:cNvSpPr/>
            <p:nvPr/>
          </p:nvSpPr>
          <p:spPr>
            <a:xfrm>
              <a:off x="4333494" y="4197382"/>
              <a:ext cx="25161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歷史人選的守位經驗</a:t>
              </a:r>
            </a:p>
          </p:txBody>
        </p:sp>
        <p:sp>
          <p:nvSpPr>
            <p:cNvPr id="30" name="TextBox 30"/>
            <p:cNvSpPr/>
            <p:nvPr/>
          </p:nvSpPr>
          <p:spPr>
            <a:xfrm>
              <a:off x="4335018" y="4673632"/>
              <a:ext cx="30678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歷史回放不使用2025整季守位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7867650" y="2047875"/>
              <a:ext cx="9525" cy="3000375"/>
            </a:xfrm>
            <a:custGeom>
              <a:avLst/>
              <a:gdLst/>
              <a:ahLst/>
              <a:cxnLst/>
              <a:rect l="l" t="t" r="r" b="b"/>
              <a:pathLst>
                <a:path w="9525" h="3000375">
                  <a:moveTo>
                    <a:pt x="0" y="0"/>
                  </a:moveTo>
                  <a:lnTo>
                    <a:pt x="0" y="3000375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</p:grpSp>
      <p:grpSp>
        <p:nvGrpSpPr>
          <p:cNvPr id="40" name="p09-source-2"/>
          <p:cNvGrpSpPr/>
          <p:nvPr/>
        </p:nvGrpSpPr>
        <p:grpSpPr>
          <a:xfrm>
            <a:off x="8064246" y="1885950"/>
            <a:ext cx="2602992" cy="3110389"/>
            <a:chOff x="8064246" y="1885950"/>
            <a:chExt cx="2602992" cy="3110389"/>
          </a:xfrm>
        </p:grpSpPr>
        <p:sp>
          <p:nvSpPr>
            <p:cNvPr id="33" name="Ellipse 33"/>
            <p:cNvSpPr/>
            <p:nvPr/>
          </p:nvSpPr>
          <p:spPr>
            <a:xfrm>
              <a:off x="8334375" y="1885950"/>
              <a:ext cx="228600" cy="228600"/>
            </a:xfrm>
            <a:prstGeom prst="ellipse">
              <a:avLst/>
            </a:prstGeom>
            <a:noFill/>
            <a:ln w="28575">
              <a:solidFill>
                <a:srgbClr val="18344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191500" y="2124075"/>
              <a:ext cx="514350" cy="381000"/>
            </a:xfrm>
            <a:custGeom>
              <a:avLst/>
              <a:gdLst/>
              <a:ahLst/>
              <a:cxnLst/>
              <a:rect l="l" t="t" r="r" b="b"/>
              <a:pathLst>
                <a:path w="514350" h="381000">
                  <a:moveTo>
                    <a:pt x="0" y="381000"/>
                  </a:moveTo>
                  <a:lnTo>
                    <a:pt x="0" y="228600"/>
                  </a:lnTo>
                  <a:cubicBezTo>
                    <a:pt x="0" y="0"/>
                    <a:pt x="514350" y="0"/>
                    <a:pt x="514350" y="228600"/>
                  </a:cubicBezTo>
                  <a:lnTo>
                    <a:pt x="514350" y="38100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5" name="TextBox 35"/>
            <p:cNvSpPr/>
            <p:nvPr/>
          </p:nvSpPr>
          <p:spPr>
            <a:xfrm>
              <a:off x="8064246" y="2635282"/>
              <a:ext cx="7513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2025</a:t>
              </a:r>
            </a:p>
          </p:txBody>
        </p:sp>
        <p:sp>
          <p:nvSpPr>
            <p:cNvPr id="36" name="TextBox 36"/>
            <p:cNvSpPr/>
            <p:nvPr/>
          </p:nvSpPr>
          <p:spPr>
            <a:xfrm>
              <a:off x="8065008" y="3136868"/>
              <a:ext cx="24140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球員與整季守位</a:t>
              </a:r>
            </a:p>
          </p:txBody>
        </p:sp>
        <p:sp>
          <p:nvSpPr>
            <p:cNvPr id="37" name="TextBox 37"/>
            <p:cNvSpPr/>
            <p:nvPr/>
          </p:nvSpPr>
          <p:spPr>
            <a:xfrm>
              <a:off x="8068437" y="3613118"/>
              <a:ext cx="18133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CPBL 官方資料</a:t>
              </a:r>
            </a:p>
          </p:txBody>
        </p:sp>
        <p:sp>
          <p:nvSpPr>
            <p:cNvPr id="38" name="TextBox 38"/>
            <p:cNvSpPr/>
            <p:nvPr/>
          </p:nvSpPr>
          <p:spPr>
            <a:xfrm>
              <a:off x="8067294" y="4197382"/>
              <a:ext cx="25161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球員辨識與季後情境</a:t>
              </a:r>
            </a:p>
          </p:txBody>
        </p:sp>
        <p:sp>
          <p:nvSpPr>
            <p:cNvPr id="39" name="TextBox 39"/>
            <p:cNvSpPr/>
            <p:nvPr/>
          </p:nvSpPr>
          <p:spPr>
            <a:xfrm>
              <a:off x="8068818" y="4673632"/>
              <a:ext cx="25984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整季紀錄不等於當日守位</a:t>
              </a:r>
            </a:p>
          </p:txBody>
        </p:sp>
      </p:grpSp>
      <p:grpSp>
        <p:nvGrpSpPr>
          <p:cNvPr id="43" name="p09-cutoff"/>
          <p:cNvGrpSpPr/>
          <p:nvPr/>
        </p:nvGrpSpPr>
        <p:grpSpPr>
          <a:xfrm>
            <a:off x="600075" y="5562600"/>
            <a:ext cx="10982325" cy="520065"/>
            <a:chOff x="600075" y="5562600"/>
            <a:chExt cx="10982325" cy="520065"/>
          </a:xfrm>
        </p:grpSpPr>
        <p:sp>
          <p:nvSpPr>
            <p:cNvPr id="41" name="Line 41"/>
            <p:cNvSpPr/>
            <p:nvPr/>
          </p:nvSpPr>
          <p:spPr>
            <a:xfrm>
              <a:off x="609600" y="5562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42" name="TextBox 42"/>
            <p:cNvSpPr/>
            <p:nvPr/>
          </p:nvSpPr>
          <p:spPr>
            <a:xfrm>
              <a:off x="600075" y="5715000"/>
              <a:ext cx="804138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歷史能力、名單與負荷只用當日前資料；逐球模型另列訓練截止日。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兩模型整合，換算人選差距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grpSp>
        <p:nvGrpSpPr>
          <p:cNvPr id="42" name="p10-pipeline"/>
          <p:cNvGrpSpPr/>
          <p:nvPr/>
        </p:nvGrpSpPr>
        <p:grpSpPr>
          <a:xfrm>
            <a:off x="598551" y="2038350"/>
            <a:ext cx="10589895" cy="3448050"/>
            <a:chOff x="598551" y="2038350"/>
            <a:chExt cx="10589895" cy="3448050"/>
          </a:xfrm>
        </p:grpSpPr>
        <p:sp>
          <p:nvSpPr>
            <p:cNvPr id="11" name="Rectangle 11"/>
            <p:cNvSpPr/>
            <p:nvPr/>
          </p:nvSpPr>
          <p:spPr>
            <a:xfrm>
              <a:off x="762000" y="3009900"/>
              <a:ext cx="666750" cy="476250"/>
            </a:xfrm>
            <a:prstGeom prst="rect">
              <a:avLst/>
            </a:prstGeom>
            <a:noFill/>
            <a:ln w="9525">
              <a:solidFill>
                <a:srgbClr val="18344A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762000" y="2914650"/>
              <a:ext cx="666750" cy="190500"/>
            </a:xfrm>
            <a:prstGeom prst="ellipse">
              <a:avLst/>
            </a:prstGeom>
            <a:solidFill>
              <a:srgbClr val="F7F5EF"/>
            </a:solidFill>
            <a:ln w="28575">
              <a:solidFill>
                <a:srgbClr val="18344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762000" y="3248025"/>
              <a:ext cx="666750" cy="371475"/>
            </a:xfrm>
            <a:custGeom>
              <a:avLst/>
              <a:gdLst/>
              <a:ahLst/>
              <a:cxnLst/>
              <a:rect l="l" t="t" r="r" b="b"/>
              <a:pathLst>
                <a:path w="666750" h="371475">
                  <a:moveTo>
                    <a:pt x="0" y="0"/>
                  </a:moveTo>
                  <a:cubicBezTo>
                    <a:pt x="142875" y="133350"/>
                    <a:pt x="523875" y="133350"/>
                    <a:pt x="666750" y="0"/>
                  </a:cubicBezTo>
                  <a:moveTo>
                    <a:pt x="0" y="238125"/>
                  </a:moveTo>
                  <a:cubicBezTo>
                    <a:pt x="142875" y="371475"/>
                    <a:pt x="523875" y="371475"/>
                    <a:pt x="666750" y="238125"/>
                  </a:cubicBez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14" name="TextBox 14"/>
            <p:cNvSpPr/>
            <p:nvPr/>
          </p:nvSpPr>
          <p:spPr>
            <a:xfrm>
              <a:off x="598551" y="3752850"/>
              <a:ext cx="157248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逐球與出賽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00837" y="4203668"/>
              <a:ext cx="17301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固定對手與候選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333750" y="2038350"/>
              <a:ext cx="3714750" cy="1457325"/>
            </a:xfrm>
            <a:prstGeom prst="roundRect">
              <a:avLst>
                <a:gd name="adj" fmla="val 6536"/>
              </a:avLst>
            </a:prstGeom>
            <a:solidFill>
              <a:srgbClr val="FFFFFF"/>
            </a:solidFill>
            <a:ln w="9525">
              <a:solidFill>
                <a:srgbClr val="D7D1C5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333750" y="4029075"/>
              <a:ext cx="3714750" cy="1457325"/>
            </a:xfrm>
            <a:prstGeom prst="roundRect">
              <a:avLst>
                <a:gd name="adj" fmla="val 6536"/>
              </a:avLst>
            </a:prstGeom>
            <a:solidFill>
              <a:srgbClr val="FFFFFF"/>
            </a:solidFill>
            <a:ln w="9525">
              <a:solidFill>
                <a:srgbClr val="D7D1C5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2190750" y="3648075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2857500" y="35909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0" name="Line 20"/>
            <p:cNvSpPr/>
            <p:nvPr/>
          </p:nvSpPr>
          <p:spPr>
            <a:xfrm>
              <a:off x="2952750" y="27622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0"/>
                  </a:moveTo>
                  <a:lnTo>
                    <a:pt x="0" y="20002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2952750" y="276225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2952750" y="476250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3" name="TextBox 23"/>
            <p:cNvSpPr/>
            <p:nvPr/>
          </p:nvSpPr>
          <p:spPr>
            <a:xfrm>
              <a:off x="3560445" y="2178082"/>
              <a:ext cx="17562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部分池化 [1]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3562350" y="2657475"/>
              <a:ext cx="269319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能力、左右投打與球路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3563112" y="3022568"/>
              <a:ext cx="246402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小樣本向整體基準收縮</a:t>
              </a:r>
            </a:p>
          </p:txBody>
        </p:sp>
        <p:sp>
          <p:nvSpPr>
            <p:cNvPr id="26" name="TextBox 26"/>
            <p:cNvSpPr/>
            <p:nvPr/>
          </p:nvSpPr>
          <p:spPr>
            <a:xfrm>
              <a:off x="3560445" y="4168807"/>
              <a:ext cx="162306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梯度提升樹</a:t>
              </a:r>
            </a:p>
          </p:txBody>
        </p:sp>
        <p:sp>
          <p:nvSpPr>
            <p:cNvPr id="27" name="TextBox 27"/>
            <p:cNvSpPr/>
            <p:nvPr/>
          </p:nvSpPr>
          <p:spPr>
            <a:xfrm>
              <a:off x="3562350" y="4638675"/>
              <a:ext cx="242573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依歷史球路模擬對決</a:t>
              </a:r>
            </a:p>
          </p:txBody>
        </p:sp>
        <p:sp>
          <p:nvSpPr>
            <p:cNvPr id="28" name="TextBox 28"/>
            <p:cNvSpPr/>
            <p:nvPr/>
          </p:nvSpPr>
          <p:spPr>
            <a:xfrm>
              <a:off x="3563112" y="5003768"/>
              <a:ext cx="27087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預測逐球結果並換算得分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048500" y="2762250"/>
              <a:ext cx="495300" cy="9525"/>
            </a:xfrm>
            <a:custGeom>
              <a:avLst/>
              <a:gdLst/>
              <a:ahLst/>
              <a:cxnLst/>
              <a:rect l="l" t="t" r="r" b="b"/>
              <a:pathLst>
                <a:path w="495300" h="9525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7048500" y="4762500"/>
              <a:ext cx="495300" cy="9525"/>
            </a:xfrm>
            <a:custGeom>
              <a:avLst/>
              <a:gdLst/>
              <a:ahLst/>
              <a:cxnLst/>
              <a:rect l="l" t="t" r="r" b="b"/>
              <a:pathLst>
                <a:path w="495300" h="9525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7543800" y="27622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0"/>
                  </a:moveTo>
                  <a:lnTo>
                    <a:pt x="0" y="20002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7543800" y="375285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3" name="Polygon 33"/>
            <p:cNvSpPr/>
            <p:nvPr/>
          </p:nvSpPr>
          <p:spPr>
            <a:xfrm>
              <a:off x="7886700" y="36957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020050" y="3228975"/>
              <a:ext cx="1047750" cy="1047750"/>
            </a:xfrm>
            <a:prstGeom prst="ellipse">
              <a:avLst/>
            </a:prstGeom>
            <a:solidFill>
              <a:srgbClr val="F7F5EF"/>
            </a:solidFill>
            <a:ln w="28575">
              <a:solidFill>
                <a:srgbClr val="18344A"/>
              </a:solidFill>
            </a:ln>
          </p:spPr>
        </p:sp>
        <p:sp>
          <p:nvSpPr>
            <p:cNvPr id="35" name="TextBox 35"/>
            <p:cNvSpPr/>
            <p:nvPr/>
          </p:nvSpPr>
          <p:spPr>
            <a:xfrm>
              <a:off x="8222837" y="3429000"/>
              <a:ext cx="6422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各半</a:t>
              </a:r>
            </a:p>
          </p:txBody>
        </p:sp>
        <p:sp>
          <p:nvSpPr>
            <p:cNvPr id="36" name="TextBox 36"/>
            <p:cNvSpPr/>
            <p:nvPr/>
          </p:nvSpPr>
          <p:spPr>
            <a:xfrm>
              <a:off x="8087868" y="3851243"/>
              <a:ext cx="9120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42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50% / 50%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9067800" y="3752850"/>
              <a:ext cx="485775" cy="9525"/>
            </a:xfrm>
            <a:custGeom>
              <a:avLst/>
              <a:gdLst/>
              <a:ahLst/>
              <a:cxnLst/>
              <a:rect l="l" t="t" r="r" b="b"/>
              <a:pathLst>
                <a:path w="485775" h="9525">
                  <a:moveTo>
                    <a:pt x="0" y="0"/>
                  </a:moveTo>
                  <a:lnTo>
                    <a:pt x="48577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9553575" y="36957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39" name="TextBox 39"/>
            <p:cNvSpPr/>
            <p:nvPr/>
          </p:nvSpPr>
          <p:spPr>
            <a:xfrm>
              <a:off x="9799320" y="2959132"/>
              <a:ext cx="13030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得分估計</a:t>
              </a:r>
            </a:p>
          </p:txBody>
        </p:sp>
        <p:sp>
          <p:nvSpPr>
            <p:cNvPr id="40" name="TextBox 40"/>
            <p:cNvSpPr/>
            <p:nvPr/>
          </p:nvSpPr>
          <p:spPr>
            <a:xfrm>
              <a:off x="9801225" y="3467100"/>
              <a:ext cx="135607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依局勢換算</a:t>
              </a:r>
            </a:p>
          </p:txBody>
        </p:sp>
        <p:sp>
          <p:nvSpPr>
            <p:cNvPr id="41" name="TextBox 41"/>
            <p:cNvSpPr/>
            <p:nvPr/>
          </p:nvSpPr>
          <p:spPr>
            <a:xfrm>
              <a:off x="9798558" y="3879818"/>
              <a:ext cx="13898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人選差距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474202" cy="1063657"/>
            <a:chOff x="592836" y="250793"/>
            <a:chExt cx="8474202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資料與方法｜判讀方式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47420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三項指標，分開判讀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11</a:t>
            </a:r>
          </a:p>
        </p:txBody>
      </p:sp>
      <p:grpSp>
        <p:nvGrpSpPr>
          <p:cNvPr id="12" name="score-0"/>
          <p:cNvGrpSpPr/>
          <p:nvPr/>
        </p:nvGrpSpPr>
        <p:grpSpPr>
          <a:xfrm>
            <a:off x="598170" y="2025682"/>
            <a:ext cx="3107055" cy="2953417"/>
            <a:chOff x="598170" y="2025682"/>
            <a:chExt cx="3107055" cy="2953417"/>
          </a:xfrm>
        </p:grpSpPr>
        <p:sp>
          <p:nvSpPr>
            <p:cNvPr id="7" name="TextBox 7"/>
            <p:cNvSpPr/>
            <p:nvPr/>
          </p:nvSpPr>
          <p:spPr>
            <a:xfrm>
              <a:off x="598170" y="2025682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比較基準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2167128" y="2686050"/>
              <a:ext cx="390144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49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0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906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2362200" y="3543300"/>
              <a:ext cx="9525" cy="371475"/>
            </a:xfrm>
            <a:custGeom>
              <a:avLst/>
              <a:gdLst/>
              <a:ahLst/>
              <a:cxnLst/>
              <a:rect l="l" t="t" r="r" b="b"/>
              <a:pathLst>
                <a:path w="9525" h="371475">
                  <a:moveTo>
                    <a:pt x="0" y="0"/>
                  </a:moveTo>
                  <a:lnTo>
                    <a:pt x="0" y="371475"/>
                  </a:lnTo>
                </a:path>
              </a:pathLst>
            </a:custGeom>
            <a:noFill/>
            <a:ln w="38100">
              <a:solidFill>
                <a:srgbClr val="18344A"/>
              </a:solidFill>
            </a:ln>
          </p:spPr>
        </p:sp>
        <p:sp>
          <p:nvSpPr>
            <p:cNvPr id="11" name="TextBox 11"/>
            <p:cNvSpPr/>
            <p:nvPr/>
          </p:nvSpPr>
          <p:spPr>
            <a:xfrm>
              <a:off x="599694" y="4238625"/>
              <a:ext cx="29916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現任固定為 0。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對手與局勢保持一致。</a:t>
              </a:r>
            </a:p>
          </p:txBody>
        </p:sp>
      </p:grpSp>
      <p:grpSp>
        <p:nvGrpSpPr>
          <p:cNvPr id="18" name="score-1"/>
          <p:cNvGrpSpPr/>
          <p:nvPr/>
        </p:nvGrpSpPr>
        <p:grpSpPr>
          <a:xfrm>
            <a:off x="4295775" y="2025682"/>
            <a:ext cx="3404235" cy="3355943"/>
            <a:chOff x="4295775" y="2025682"/>
            <a:chExt cx="3404235" cy="3355943"/>
          </a:xfrm>
        </p:grpSpPr>
        <p:sp>
          <p:nvSpPr>
            <p:cNvPr id="13" name="TextBox 13"/>
            <p:cNvSpPr/>
            <p:nvPr/>
          </p:nvSpPr>
          <p:spPr>
            <a:xfrm>
              <a:off x="4331970" y="2025682"/>
              <a:ext cx="32385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勝率換算差距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5260276" y="2686050"/>
              <a:ext cx="1671447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4950" b="1" dirty="0">
                  <a:solidFill>
                    <a:srgbClr val="237A53"/>
                  </a:solidFill>
                  <a:latin typeface="Times New Roman"/>
                  <a:ea typeface="Times New Roman"/>
                  <a:cs typeface="Times New Roman"/>
                </a:rPr>
                <a:t>+1.07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47244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096000" y="3629025"/>
              <a:ext cx="1047750" cy="190500"/>
            </a:xfrm>
            <a:prstGeom prst="roundRect">
              <a:avLst>
                <a:gd name="adj" fmla="val 15000"/>
              </a:avLst>
            </a:prstGeom>
            <a:solidFill>
              <a:srgbClr val="237A53"/>
            </a:solidFill>
            <a:ln>
              <a:noFill/>
            </a:ln>
          </p:spPr>
        </p:sp>
        <p:sp>
          <p:nvSpPr>
            <p:cNvPr id="17" name="TextBox 17"/>
            <p:cNvSpPr/>
            <p:nvPr/>
          </p:nvSpPr>
          <p:spPr>
            <a:xfrm>
              <a:off x="4295775" y="4238625"/>
              <a:ext cx="3404235" cy="1143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719" tIns="-127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正值表示估計較有利。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百分點，非實測勝率增幅。</a:t>
              </a:r>
            </a:p>
          </p:txBody>
        </p:sp>
      </p:grpSp>
      <p:grpSp>
        <p:nvGrpSpPr>
          <p:cNvPr id="25" name="score-2"/>
          <p:cNvGrpSpPr/>
          <p:nvPr/>
        </p:nvGrpSpPr>
        <p:grpSpPr>
          <a:xfrm>
            <a:off x="8065770" y="2025682"/>
            <a:ext cx="3240786" cy="2953417"/>
            <a:chOff x="8065770" y="2025682"/>
            <a:chExt cx="3240786" cy="2953417"/>
          </a:xfrm>
        </p:grpSpPr>
        <p:sp>
          <p:nvSpPr>
            <p:cNvPr id="19" name="TextBox 19"/>
            <p:cNvSpPr/>
            <p:nvPr/>
          </p:nvSpPr>
          <p:spPr>
            <a:xfrm>
              <a:off x="8065770" y="2025682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價值分數</a:t>
              </a:r>
            </a:p>
          </p:txBody>
        </p:sp>
        <p:sp>
          <p:nvSpPr>
            <p:cNvPr id="20" name="TextBox 20"/>
            <p:cNvSpPr/>
            <p:nvPr/>
          </p:nvSpPr>
          <p:spPr>
            <a:xfrm>
              <a:off x="8930640" y="2686050"/>
              <a:ext cx="1798320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49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1–100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4582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8743950" y="3619500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10934700" y="3619500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4" name="TextBox 24"/>
            <p:cNvSpPr/>
            <p:nvPr/>
          </p:nvSpPr>
          <p:spPr>
            <a:xfrm>
              <a:off x="8067294" y="423862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同角色的相對百分位。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分數不是成功率。</a:t>
              </a:r>
            </a:p>
          </p:txBody>
        </p:sp>
      </p:grpSp>
      <p:grpSp>
        <p:nvGrpSpPr>
          <p:cNvPr id="48" name="p11-error-limit"/>
          <p:cNvGrpSpPr/>
          <p:nvPr/>
        </p:nvGrpSpPr>
        <p:grpSpPr>
          <a:xfrm>
            <a:off x="600075" y="5857875"/>
            <a:ext cx="10982325" cy="510540"/>
            <a:chOff x="600075" y="5857875"/>
            <a:chExt cx="10982325" cy="510540"/>
          </a:xfrm>
        </p:grpSpPr>
        <p:sp>
          <p:nvSpPr>
            <p:cNvPr id="46" name="Line 46"/>
            <p:cNvSpPr/>
            <p:nvPr/>
          </p:nvSpPr>
          <p:spPr>
            <a:xfrm>
              <a:off x="609600" y="58578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47" name="TextBox 47"/>
            <p:cNvSpPr/>
            <p:nvPr/>
          </p:nvSpPr>
          <p:spPr>
            <a:xfrm>
              <a:off x="600075" y="6000750"/>
              <a:ext cx="643690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誤差細線僅涵蓋階層式近似誤差，不是完整集成區間。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資料與方法｜驗證範圍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預測改善仍不明確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12</a:t>
            </a:r>
          </a:p>
        </p:txBody>
      </p:sp>
      <p:grpSp>
        <p:nvGrpSpPr>
          <p:cNvPr id="26" name="p12-effect"/>
          <p:cNvGrpSpPr/>
          <p:nvPr/>
        </p:nvGrpSpPr>
        <p:grpSpPr>
          <a:xfrm>
            <a:off x="590550" y="1835182"/>
            <a:ext cx="6648450" cy="4129850"/>
            <a:chOff x="590550" y="1835182"/>
            <a:chExt cx="6648450" cy="4129850"/>
          </a:xfrm>
        </p:grpSpPr>
        <p:sp>
          <p:nvSpPr>
            <p:cNvPr id="11" name="TextBox 11"/>
            <p:cNvSpPr/>
            <p:nvPr/>
          </p:nvSpPr>
          <p:spPr>
            <a:xfrm>
              <a:off x="599313" y="1835182"/>
              <a:ext cx="21036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9–10 月時間檢查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590550" y="2286000"/>
              <a:ext cx="1974342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49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0.18%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2847594" y="2597182"/>
              <a:ext cx="196138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相對聯盟基準的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2847594" y="2978182"/>
              <a:ext cx="285750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得分預測誤差減少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000125" y="4191000"/>
              <a:ext cx="6238875" cy="9525"/>
            </a:xfrm>
            <a:custGeom>
              <a:avLst/>
              <a:gdLst/>
              <a:ahLst/>
              <a:cxnLst/>
              <a:rect l="l" t="t" r="r" b="b"/>
              <a:pathLst>
                <a:path w="6238875" h="9525">
                  <a:moveTo>
                    <a:pt x="0" y="0"/>
                  </a:moveTo>
                  <a:lnTo>
                    <a:pt x="623887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079718" y="3705225"/>
              <a:ext cx="9525" cy="885825"/>
            </a:xfrm>
            <a:custGeom>
              <a:avLst/>
              <a:gdLst/>
              <a:ahLst/>
              <a:cxnLst/>
              <a:rect l="l" t="t" r="r" b="b"/>
              <a:pathLst>
                <a:path w="9525" h="885825">
                  <a:moveTo>
                    <a:pt x="0" y="0"/>
                  </a:moveTo>
                  <a:lnTo>
                    <a:pt x="0" y="885825"/>
                  </a:lnTo>
                </a:path>
              </a:pathLst>
            </a:custGeom>
            <a:noFill/>
            <a:ln w="19050">
              <a:solidFill>
                <a:srgbClr val="58616B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1950815" y="4057650"/>
              <a:ext cx="4337495" cy="9525"/>
            </a:xfrm>
            <a:custGeom>
              <a:avLst/>
              <a:gdLst/>
              <a:ahLst/>
              <a:cxnLst/>
              <a:rect l="l" t="t" r="r" b="b"/>
              <a:pathLst>
                <a:path w="4337495" h="9525">
                  <a:moveTo>
                    <a:pt x="0" y="0"/>
                  </a:moveTo>
                  <a:lnTo>
                    <a:pt x="4337495" y="0"/>
                  </a:lnTo>
                </a:path>
              </a:pathLst>
            </a:custGeom>
            <a:noFill/>
            <a:ln w="57150">
              <a:solidFill>
                <a:srgbClr val="B5483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1950815" y="3914775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6288310" y="3914775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4073080" y="3981450"/>
              <a:ext cx="152400" cy="152400"/>
            </a:xfrm>
            <a:prstGeom prst="ellipse">
              <a:avLst/>
            </a:prstGeom>
            <a:solidFill>
              <a:srgbClr val="B54836"/>
            </a:solidFill>
            <a:ln w="9525">
              <a:solidFill>
                <a:srgbClr val="B54836"/>
              </a:solidFill>
            </a:ln>
          </p:spPr>
        </p:sp>
        <p:sp>
          <p:nvSpPr>
            <p:cNvPr id="21" name="TextBox 21"/>
            <p:cNvSpPr/>
            <p:nvPr/>
          </p:nvSpPr>
          <p:spPr>
            <a:xfrm>
              <a:off x="1520476" y="4638675"/>
              <a:ext cx="86058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−0.19%</a:t>
              </a:r>
            </a:p>
          </p:txBody>
        </p:sp>
        <p:sp>
          <p:nvSpPr>
            <p:cNvPr id="22" name="TextBox 22"/>
            <p:cNvSpPr/>
            <p:nvPr/>
          </p:nvSpPr>
          <p:spPr>
            <a:xfrm>
              <a:off x="3003328" y="4638675"/>
              <a:ext cx="15278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0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5858066" y="4638675"/>
              <a:ext cx="86058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+0.54%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597408" y="5089493"/>
              <a:ext cx="2840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95% 改善區間跨零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599313" y="5568982"/>
              <a:ext cx="519245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尚不足以確認優於基準，維持現行模型。</a:t>
              </a:r>
            </a:p>
          </p:txBody>
        </p:sp>
      </p:grpSp>
      <p:grpSp>
        <p:nvGrpSpPr>
          <p:cNvPr id="36" name="p12-evidence"/>
          <p:cNvGrpSpPr/>
          <p:nvPr/>
        </p:nvGrpSpPr>
        <p:grpSpPr>
          <a:xfrm>
            <a:off x="7991475" y="1809750"/>
            <a:ext cx="3590925" cy="4143375"/>
            <a:chOff x="7991475" y="1809750"/>
            <a:chExt cx="3590925" cy="4143375"/>
          </a:xfrm>
        </p:grpSpPr>
        <p:sp>
          <p:nvSpPr>
            <p:cNvPr id="27" name="Line 27"/>
            <p:cNvSpPr/>
            <p:nvPr/>
          </p:nvSpPr>
          <p:spPr>
            <a:xfrm>
              <a:off x="7991475" y="1809750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28" name="TextBox 28"/>
            <p:cNvSpPr/>
            <p:nvPr/>
          </p:nvSpPr>
          <p:spPr>
            <a:xfrm>
              <a:off x="8238363" y="1882807"/>
              <a:ext cx="145723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數值一致性</a:t>
              </a:r>
            </a:p>
          </p:txBody>
        </p:sp>
        <p:sp>
          <p:nvSpPr>
            <p:cNvPr id="29" name="TextBox 29"/>
            <p:cNvSpPr/>
            <p:nvPr/>
          </p:nvSpPr>
          <p:spPr>
            <a:xfrm>
              <a:off x="8229981" y="2336768"/>
              <a:ext cx="1476851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452 組</a:t>
              </a:r>
            </a:p>
          </p:txBody>
        </p:sp>
        <p:sp>
          <p:nvSpPr>
            <p:cNvPr id="30" name="TextBox 30"/>
            <p:cNvSpPr/>
            <p:nvPr/>
          </p:nvSpPr>
          <p:spPr>
            <a:xfrm>
              <a:off x="8239506" y="2993993"/>
              <a:ext cx="22749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226 打席 × 攻守雙向</a:t>
              </a:r>
            </a:p>
          </p:txBody>
        </p:sp>
        <p:sp>
          <p:nvSpPr>
            <p:cNvPr id="31" name="TextBox 31"/>
            <p:cNvSpPr/>
            <p:nvPr/>
          </p:nvSpPr>
          <p:spPr>
            <a:xfrm>
              <a:off x="8239506" y="3355943"/>
              <a:ext cx="2322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通過網站與重算對照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8248650" y="3952875"/>
              <a:ext cx="3333750" cy="9525"/>
            </a:xfrm>
            <a:custGeom>
              <a:avLst/>
              <a:gdLst/>
              <a:ahLst/>
              <a:cxnLst/>
              <a:rect l="l" t="t" r="r" b="b"/>
              <a:pathLst>
                <a:path w="3333750" h="9525">
                  <a:moveTo>
                    <a:pt x="0" y="0"/>
                  </a:moveTo>
                  <a:lnTo>
                    <a:pt x="333375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33" name="TextBox 33"/>
            <p:cNvSpPr/>
            <p:nvPr/>
          </p:nvSpPr>
          <p:spPr>
            <a:xfrm>
              <a:off x="8238363" y="4121182"/>
              <a:ext cx="116986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實務效益</a:t>
              </a:r>
            </a:p>
          </p:txBody>
        </p:sp>
        <p:sp>
          <p:nvSpPr>
            <p:cNvPr id="34" name="TextBox 34"/>
            <p:cNvSpPr/>
            <p:nvPr/>
          </p:nvSpPr>
          <p:spPr>
            <a:xfrm>
              <a:off x="8236839" y="4540282"/>
              <a:ext cx="200358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仍待現場試用</a:t>
              </a:r>
            </a:p>
          </p:txBody>
        </p:sp>
        <p:sp>
          <p:nvSpPr>
            <p:cNvPr id="35" name="TextBox 35"/>
            <p:cNvSpPr/>
            <p:nvPr/>
          </p:nvSpPr>
          <p:spPr>
            <a:xfrm>
              <a:off x="8239506" y="5022818"/>
              <a:ext cx="23350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數值一致 ≠ 調度有效</a:t>
              </a:r>
            </a:p>
          </p:txBody>
        </p:sp>
      </p:grpSp>
      <p:grpSp>
        <p:nvGrpSpPr>
          <p:cNvPr id="38" name="p12-detail"/>
          <p:cNvGrpSpPr/>
          <p:nvPr/>
        </p:nvGrpSpPr>
        <p:grpSpPr>
          <a:xfrm>
            <a:off x="601218" y="6169057"/>
            <a:ext cx="6176772" cy="322707"/>
            <a:chOff x="601218" y="6169057"/>
            <a:chExt cx="6176772" cy="322707"/>
          </a:xfrm>
        </p:grpSpPr>
        <p:sp>
          <p:nvSpPr>
            <p:cNvPr id="37" name="TextBox 37"/>
            <p:cNvSpPr/>
            <p:nvPr/>
          </p:nvSpPr>
          <p:spPr>
            <a:xfrm>
              <a:off x="601218" y="6169057"/>
              <a:ext cx="61767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5,396 打席／72 場；MSE：現行 0.225591、基準 0.225998。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資料與方法｜樣本分流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續投結果比較：只納入實際續投打席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13</a:t>
            </a:r>
          </a:p>
        </p:txBody>
      </p:sp>
      <p:grpSp>
        <p:nvGrpSpPr>
          <p:cNvPr id="42" name="sample-flow"/>
          <p:cNvGrpSpPr/>
          <p:nvPr/>
        </p:nvGrpSpPr>
        <p:grpSpPr>
          <a:xfrm>
            <a:off x="609600" y="1866900"/>
            <a:ext cx="10098739" cy="3750501"/>
            <a:chOff x="609600" y="1866900"/>
            <a:chExt cx="10098739" cy="3750501"/>
          </a:xfrm>
        </p:grpSpPr>
        <p:sp>
          <p:nvSpPr>
            <p:cNvPr id="11" name="Rectangle 11"/>
            <p:cNvSpPr/>
            <p:nvPr/>
          </p:nvSpPr>
          <p:spPr>
            <a:xfrm>
              <a:off x="609600" y="2238375"/>
              <a:ext cx="2590800" cy="1666875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89813" y="2378075"/>
              <a:ext cx="192410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可評估換投決策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1050" y="2705100"/>
              <a:ext cx="1856994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11,868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0956" y="3489325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依實際調度分流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3200400" y="3048000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638550" y="24765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3638550" y="247650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4000500" y="24193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3638550" y="476250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4000500" y="47053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095750" y="1866900"/>
              <a:ext cx="2857500" cy="14287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95750" y="1866900"/>
              <a:ext cx="47625" cy="1428750"/>
            </a:xfrm>
            <a:prstGeom prst="rect">
              <a:avLst/>
            </a:prstGeom>
            <a:solidFill>
              <a:srgbClr val="24764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294251" y="199072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實際續投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86250" y="2371725"/>
              <a:ext cx="1526286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rgbClr val="24764D"/>
                  </a:solidFill>
                  <a:latin typeface="Times New Roman"/>
                  <a:ea typeface="Times New Roman"/>
                  <a:cs typeface="Times New Roman"/>
                </a:rPr>
                <a:t>9,684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095750" y="4105275"/>
              <a:ext cx="2857500" cy="14097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295013" y="42259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實際換投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87012" y="4546600"/>
              <a:ext cx="118872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2,184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296537" y="5146675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不列入右側結果比較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953250" y="25717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7486650" y="2324100"/>
              <a:ext cx="9525" cy="1752600"/>
            </a:xfrm>
            <a:custGeom>
              <a:avLst/>
              <a:gdLst/>
              <a:ahLst/>
              <a:cxnLst/>
              <a:rect l="l" t="t" r="r" b="b"/>
              <a:pathLst>
                <a:path w="9525" h="1752600">
                  <a:moveTo>
                    <a:pt x="0" y="0"/>
                  </a:moveTo>
                  <a:lnTo>
                    <a:pt x="0" y="175260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7486650" y="23241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7810500" y="22669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4764D"/>
            </a:solidFill>
            <a:ln>
              <a:noFill/>
            </a:ln>
          </p:spPr>
        </p:sp>
        <p:sp>
          <p:nvSpPr>
            <p:cNvPr id="33" name="Line 33"/>
            <p:cNvSpPr/>
            <p:nvPr/>
          </p:nvSpPr>
          <p:spPr>
            <a:xfrm>
              <a:off x="7486650" y="40767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4" name="Polygon 34"/>
            <p:cNvSpPr/>
            <p:nvPr/>
          </p:nvSpPr>
          <p:spPr>
            <a:xfrm>
              <a:off x="7810500" y="40195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4764D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085201" y="1895475"/>
              <a:ext cx="1782928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系統建議換投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77200" y="2305050"/>
              <a:ext cx="1430274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3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1,949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87106" y="3022600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實際仍續投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85201" y="3657600"/>
              <a:ext cx="207639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系統未建議換投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77200" y="4067175"/>
              <a:ext cx="1430274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3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7,735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87106" y="4784725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實際仍續投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087487" y="5280025"/>
              <a:ext cx="262085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續投結果：單打席 RE24</a:t>
              </a:r>
            </a:p>
          </p:txBody>
        </p:sp>
      </p:grpSp>
      <p:grpSp>
        <p:nvGrpSpPr>
          <p:cNvPr id="45" name="sample-definition"/>
          <p:cNvGrpSpPr/>
          <p:nvPr/>
        </p:nvGrpSpPr>
        <p:grpSpPr>
          <a:xfrm>
            <a:off x="600456" y="5727700"/>
            <a:ext cx="7635927" cy="737426"/>
            <a:chOff x="600456" y="5727700"/>
            <a:chExt cx="7635927" cy="737426"/>
          </a:xfrm>
        </p:grpSpPr>
        <p:sp>
          <p:nvSpPr>
            <p:cNvPr id="43" name="TextBox 43"/>
            <p:cNvSpPr txBox="1"/>
            <p:nvPr/>
          </p:nvSpPr>
          <p:spPr>
            <a:xfrm>
              <a:off x="600456" y="5727700"/>
              <a:ext cx="67848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2025 第 6 局起：11,962 次評估；94 次因無可用候選而未納入。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0837" y="6127750"/>
              <a:ext cx="763554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提示門檻：候選相對現任差距 ≥ 1 百分點；屬觀察分組，非換投效益實驗。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續投結果：換投提示組的進攻方得分價值較高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14</a:t>
            </a:r>
          </a:p>
        </p:txBody>
      </p:sp>
      <p:grpSp>
        <p:nvGrpSpPr>
          <p:cNvPr id="9" name="result-context"/>
          <p:cNvGrpSpPr/>
          <p:nvPr/>
        </p:nvGrpSpPr>
        <p:grpSpPr>
          <a:xfrm>
            <a:off x="598551" y="1743075"/>
            <a:ext cx="10002393" cy="816388"/>
            <a:chOff x="598551" y="1743075"/>
            <a:chExt cx="10002393" cy="816388"/>
          </a:xfrm>
        </p:grpSpPr>
        <p:sp>
          <p:nvSpPr>
            <p:cNvPr id="7" name="TextBox 7"/>
            <p:cNvSpPr/>
            <p:nvPr/>
          </p:nvSpPr>
          <p:spPr>
            <a:xfrm>
              <a:off x="598551" y="1743075"/>
              <a:ext cx="7441978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實際續投：建議換投 1,949／未建議換投 7,735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599694" y="2178082"/>
              <a:ext cx="100012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進攻方 RE24 平均差；數值越高，防守方越不利。</a:t>
              </a:r>
            </a:p>
          </p:txBody>
        </p:sp>
      </p:grpSp>
      <p:grpSp>
        <p:nvGrpSpPr>
          <p:cNvPr id="19" name="interval"/>
          <p:cNvGrpSpPr/>
          <p:nvPr/>
        </p:nvGrpSpPr>
        <p:grpSpPr>
          <a:xfrm>
            <a:off x="990410" y="3181350"/>
            <a:ext cx="6291262" cy="1358265"/>
            <a:chOff x="990410" y="3181350"/>
            <a:chExt cx="6291262" cy="1358265"/>
          </a:xfrm>
        </p:grpSpPr>
        <p:sp>
          <p:nvSpPr>
            <p:cNvPr id="10" name="Line 10"/>
            <p:cNvSpPr/>
            <p:nvPr/>
          </p:nvSpPr>
          <p:spPr>
            <a:xfrm>
              <a:off x="1066800" y="3924300"/>
              <a:ext cx="5895975" cy="9525"/>
            </a:xfrm>
            <a:custGeom>
              <a:avLst/>
              <a:gdLst/>
              <a:ahLst/>
              <a:cxnLst/>
              <a:rect l="l" t="t" r="r" b="b"/>
              <a:pathLst>
                <a:path w="5895975" h="9525">
                  <a:moveTo>
                    <a:pt x="0" y="0"/>
                  </a:moveTo>
                  <a:lnTo>
                    <a:pt x="5895975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066800" y="3181350"/>
              <a:ext cx="9525" cy="1038225"/>
            </a:xfrm>
            <a:custGeom>
              <a:avLst/>
              <a:gdLst/>
              <a:ahLst/>
              <a:cxnLst/>
              <a:rect l="l" t="t" r="r" b="b"/>
              <a:pathLst>
                <a:path w="9525" h="1038225">
                  <a:moveTo>
                    <a:pt x="0" y="0"/>
                  </a:moveTo>
                  <a:lnTo>
                    <a:pt x="0" y="1038225"/>
                  </a:lnTo>
                </a:path>
              </a:pathLst>
            </a:custGeom>
            <a:noFill/>
            <a:ln w="19050">
              <a:solidFill>
                <a:srgbClr val="58616B"/>
              </a:solidFill>
              <a:custDash>
                <a:ds d="350000" sp="350000"/>
              </a:custDash>
            </a:ln>
          </p:spPr>
        </p:sp>
        <p:sp>
          <p:nvSpPr>
            <p:cNvPr id="12" name="Line 12"/>
            <p:cNvSpPr/>
            <p:nvPr/>
          </p:nvSpPr>
          <p:spPr>
            <a:xfrm>
              <a:off x="2172272" y="3600450"/>
              <a:ext cx="3979831" cy="9525"/>
            </a:xfrm>
            <a:custGeom>
              <a:avLst/>
              <a:gdLst/>
              <a:ahLst/>
              <a:cxnLst/>
              <a:rect l="l" t="t" r="r" b="b"/>
              <a:pathLst>
                <a:path w="3979831" h="9525">
                  <a:moveTo>
                    <a:pt x="0" y="0"/>
                  </a:moveTo>
                  <a:lnTo>
                    <a:pt x="3979831" y="0"/>
                  </a:lnTo>
                </a:path>
              </a:pathLst>
            </a:custGeom>
            <a:noFill/>
            <a:ln w="47625">
              <a:solidFill>
                <a:srgbClr val="B5483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2172272" y="34671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6152102" y="34671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4159663" y="3524250"/>
              <a:ext cx="152400" cy="152400"/>
            </a:xfrm>
            <a:prstGeom prst="ellipse">
              <a:avLst/>
            </a:prstGeom>
            <a:solidFill>
              <a:srgbClr val="B54836"/>
            </a:solidFill>
            <a:ln w="28575">
              <a:solidFill>
                <a:srgbClr val="B54836"/>
              </a:solidFill>
            </a:ln>
          </p:spPr>
        </p:sp>
        <p:sp>
          <p:nvSpPr>
            <p:cNvPr id="16" name="TextBox 16"/>
            <p:cNvSpPr/>
            <p:nvPr/>
          </p:nvSpPr>
          <p:spPr>
            <a:xfrm>
              <a:off x="990410" y="4171950"/>
              <a:ext cx="15278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0</a:t>
              </a:r>
            </a:p>
          </p:txBody>
        </p:sp>
        <p:sp>
          <p:nvSpPr>
            <p:cNvPr id="17" name="TextBox 17"/>
            <p:cNvSpPr/>
            <p:nvPr/>
          </p:nvSpPr>
          <p:spPr>
            <a:xfrm>
              <a:off x="3695890" y="4171950"/>
              <a:ext cx="63779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+0.04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6643878" y="4171950"/>
              <a:ext cx="63779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+0.08</a:t>
              </a:r>
            </a:p>
          </p:txBody>
        </p:sp>
      </p:grpSp>
      <p:grpSp>
        <p:nvGrpSpPr>
          <p:cNvPr id="22" name="result-number"/>
          <p:cNvGrpSpPr/>
          <p:nvPr/>
        </p:nvGrpSpPr>
        <p:grpSpPr>
          <a:xfrm>
            <a:off x="7924800" y="2841593"/>
            <a:ext cx="2690527" cy="1347121"/>
            <a:chOff x="7924800" y="2841593"/>
            <a:chExt cx="2690527" cy="1347121"/>
          </a:xfrm>
        </p:grpSpPr>
        <p:sp>
          <p:nvSpPr>
            <p:cNvPr id="20" name="TextBox 20"/>
            <p:cNvSpPr/>
            <p:nvPr/>
          </p:nvSpPr>
          <p:spPr>
            <a:xfrm>
              <a:off x="7924800" y="2841593"/>
              <a:ext cx="2115693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518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+0.043</a:t>
              </a:r>
            </a:p>
          </p:txBody>
        </p:sp>
        <p:sp>
          <p:nvSpPr>
            <p:cNvPr id="21" name="TextBox 21"/>
            <p:cNvSpPr/>
            <p:nvPr/>
          </p:nvSpPr>
          <p:spPr>
            <a:xfrm>
              <a:off x="7932801" y="3762375"/>
              <a:ext cx="268252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分／打席（RE24）</a:t>
              </a:r>
            </a:p>
          </p:txBody>
        </p:sp>
      </p:grpSp>
      <p:grpSp>
        <p:nvGrpSpPr>
          <p:cNvPr id="26" name="interval-interpretation"/>
          <p:cNvGrpSpPr/>
          <p:nvPr/>
        </p:nvGrpSpPr>
        <p:grpSpPr>
          <a:xfrm>
            <a:off x="599313" y="4768882"/>
            <a:ext cx="7632954" cy="1234630"/>
            <a:chOff x="599313" y="4768882"/>
            <a:chExt cx="7632954" cy="1234630"/>
          </a:xfrm>
        </p:grpSpPr>
        <p:sp>
          <p:nvSpPr>
            <p:cNvPr id="23" name="TextBox 23"/>
            <p:cNvSpPr/>
            <p:nvPr/>
          </p:nvSpPr>
          <p:spPr>
            <a:xfrm>
              <a:off x="599313" y="4768882"/>
              <a:ext cx="576614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95% 比賽重抽樣：+0.015 至 +0.069 分／打席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599694" y="5187982"/>
              <a:ext cx="76325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比賽重抽樣 2,000 次；觀察差異不證明換投效益。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600456" y="5651468"/>
              <a:ext cx="73467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代打差異未明；RE24＝本打席得分＋前後預期得分變化。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61022" y="673132"/>
            <a:ext cx="5397818" cy="4496562"/>
            <a:chOff x="561022" y="673132"/>
            <a:chExt cx="5397818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03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臨場用人決策平台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61022" y="3565493"/>
              <a:ext cx="4556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91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代打、換投、名單配置與單日回放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585710" cy="1063657"/>
            <a:chOff x="592836" y="250793"/>
            <a:chExt cx="758571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網站實作｜代打比較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代打比較：胡金龍估計較有利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grpSp>
        <p:nvGrpSpPr>
          <p:cNvPr id="8" name="context"/>
          <p:cNvGrpSpPr/>
          <p:nvPr/>
        </p:nvGrpSpPr>
        <p:grpSpPr>
          <a:xfrm>
            <a:off x="599694" y="1543050"/>
            <a:ext cx="10972800" cy="771525"/>
            <a:chOff x="599694" y="1543050"/>
            <a:chExt cx="10972800" cy="771525"/>
          </a:xfrm>
        </p:grpSpPr>
        <p:sp>
          <p:nvSpPr>
            <p:cNvPr id="7" name="TextBox 7"/>
            <p:cNvSpPr/>
            <p:nvPr/>
          </p:nvSpPr>
          <p:spPr>
            <a:xfrm>
              <a:off x="599694" y="1543050"/>
              <a:ext cx="10972800" cy="7715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70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基準：林佳緯（DH）對魔力藍｜統一對富邦</a:t>
              </a:r>
              <a:b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ja-JP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8 局上・1：2｜一出局，二壘有人</a:t>
              </a:r>
            </a:p>
          </p:txBody>
        </p:sp>
      </p:grpSp>
      <p:grpSp>
        <p:nvGrpSpPr>
          <p:cNvPr id="10" name="source-picture"/>
          <p:cNvGrpSpPr/>
          <p:nvPr/>
        </p:nvGrpSpPr>
        <p:grpSpPr>
          <a:xfrm>
            <a:off x="773525" y="2452306"/>
            <a:ext cx="10644950" cy="1762792"/>
            <a:chOff x="773525" y="2452306"/>
            <a:chExt cx="10644950" cy="1762792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3525" y="2452306"/>
              <a:ext cx="10644950" cy="1762792"/>
            </a:xfrm>
            <a:prstGeom prst="rect">
              <a:avLst/>
            </a:prstGeom>
          </p:spPr>
        </p:pic>
      </p:grpSp>
      <p:grpSp>
        <p:nvGrpSpPr>
          <p:cNvPr id="13" name="result"/>
          <p:cNvGrpSpPr/>
          <p:nvPr/>
        </p:nvGrpSpPr>
        <p:grpSpPr>
          <a:xfrm>
            <a:off x="590550" y="4752975"/>
            <a:ext cx="3704082" cy="1311688"/>
            <a:chOff x="590550" y="4752975"/>
            <a:chExt cx="3704082" cy="1311688"/>
          </a:xfrm>
        </p:grpSpPr>
        <p:sp>
          <p:nvSpPr>
            <p:cNvPr id="11" name="TextBox 11"/>
            <p:cNvSpPr/>
            <p:nvPr/>
          </p:nvSpPr>
          <p:spPr>
            <a:xfrm>
              <a:off x="590550" y="4752975"/>
              <a:ext cx="1671447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4950" b="1" dirty="0">
                  <a:solidFill>
                    <a:srgbClr val="237A53"/>
                  </a:solidFill>
                  <a:latin typeface="Times New Roman"/>
                  <a:ea typeface="Times New Roman"/>
                  <a:cs typeface="Times New Roman"/>
                </a:rPr>
                <a:t>+1.07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599694" y="5683282"/>
              <a:ext cx="369493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相對現任的模型差距（百分點）</a:t>
              </a:r>
            </a:p>
          </p:txBody>
        </p:sp>
      </p:grpSp>
      <p:grpSp>
        <p:nvGrpSpPr>
          <p:cNvPr id="16" name="note-655-536"/>
          <p:cNvGrpSpPr/>
          <p:nvPr/>
        </p:nvGrpSpPr>
        <p:grpSpPr>
          <a:xfrm>
            <a:off x="6227445" y="4826032"/>
            <a:ext cx="3736086" cy="1593818"/>
            <a:chOff x="6227445" y="4826032"/>
            <a:chExt cx="3736086" cy="1593818"/>
          </a:xfrm>
        </p:grpSpPr>
        <p:sp>
          <p:nvSpPr>
            <p:cNvPr id="14" name="TextBox 14"/>
            <p:cNvSpPr/>
            <p:nvPr/>
          </p:nvSpPr>
          <p:spPr>
            <a:xfrm>
              <a:off x="6227445" y="4826032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使用前確認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228969" y="5276850"/>
              <a:ext cx="3734562" cy="1143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127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出賽資格與接守人工確認。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低樣本與模型分歧保留提示。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6697218" cy="1063657"/>
            <a:chOff x="592836" y="250793"/>
            <a:chExt cx="6697218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網站實作｜換投比較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換投比較：朱承洋估計較有利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17</a:t>
            </a:r>
          </a:p>
        </p:txBody>
      </p:sp>
      <p:grpSp>
        <p:nvGrpSpPr>
          <p:cNvPr id="8" name="context"/>
          <p:cNvGrpSpPr/>
          <p:nvPr/>
        </p:nvGrpSpPr>
        <p:grpSpPr>
          <a:xfrm>
            <a:off x="599694" y="1644682"/>
            <a:ext cx="6696456" cy="381381"/>
            <a:chOff x="599694" y="1644682"/>
            <a:chExt cx="6696456" cy="381381"/>
          </a:xfrm>
        </p:grpSpPr>
        <p:sp>
          <p:nvSpPr>
            <p:cNvPr id="7" name="TextBox 7"/>
            <p:cNvSpPr/>
            <p:nvPr/>
          </p:nvSpPr>
          <p:spPr>
            <a:xfrm>
              <a:off x="599694" y="1644682"/>
              <a:ext cx="669645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ja-JP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基準：魔神龍 95 球｜8 局上・0：0｜兩出局，二三壘有人</a:t>
              </a:r>
            </a:p>
          </p:txBody>
        </p:sp>
      </p:grpSp>
      <p:grpSp>
        <p:nvGrpSpPr>
          <p:cNvPr id="10" name="source-picture"/>
          <p:cNvGrpSpPr/>
          <p:nvPr/>
        </p:nvGrpSpPr>
        <p:grpSpPr>
          <a:xfrm>
            <a:off x="457200" y="2400014"/>
            <a:ext cx="11277600" cy="1867567"/>
            <a:chOff x="457200" y="2400014"/>
            <a:chExt cx="11277600" cy="1867567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2400014"/>
              <a:ext cx="11277600" cy="1867567"/>
            </a:xfrm>
            <a:prstGeom prst="rect">
              <a:avLst/>
            </a:prstGeom>
          </p:spPr>
        </p:pic>
      </p:grpSp>
      <p:grpSp>
        <p:nvGrpSpPr>
          <p:cNvPr id="13" name="result"/>
          <p:cNvGrpSpPr/>
          <p:nvPr/>
        </p:nvGrpSpPr>
        <p:grpSpPr>
          <a:xfrm>
            <a:off x="590550" y="4752975"/>
            <a:ext cx="3704082" cy="1311688"/>
            <a:chOff x="590550" y="4752975"/>
            <a:chExt cx="3704082" cy="1311688"/>
          </a:xfrm>
        </p:grpSpPr>
        <p:sp>
          <p:nvSpPr>
            <p:cNvPr id="11" name="TextBox 11"/>
            <p:cNvSpPr/>
            <p:nvPr/>
          </p:nvSpPr>
          <p:spPr>
            <a:xfrm>
              <a:off x="590550" y="4752975"/>
              <a:ext cx="1671447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4950" b="1" dirty="0">
                  <a:solidFill>
                    <a:srgbClr val="237A53"/>
                  </a:solidFill>
                  <a:latin typeface="Times New Roman"/>
                  <a:ea typeface="Times New Roman"/>
                  <a:cs typeface="Times New Roman"/>
                </a:rPr>
                <a:t>+3.11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599694" y="5683282"/>
              <a:ext cx="369493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相對現任的模型差距（百分點）</a:t>
              </a:r>
            </a:p>
          </p:txBody>
        </p:sp>
      </p:grpSp>
      <p:grpSp>
        <p:nvGrpSpPr>
          <p:cNvPr id="16" name="note-655-536"/>
          <p:cNvGrpSpPr/>
          <p:nvPr/>
        </p:nvGrpSpPr>
        <p:grpSpPr>
          <a:xfrm>
            <a:off x="6191250" y="4826032"/>
            <a:ext cx="4236720" cy="1593818"/>
            <a:chOff x="6191250" y="4826032"/>
            <a:chExt cx="4236720" cy="1593818"/>
          </a:xfrm>
        </p:grpSpPr>
        <p:sp>
          <p:nvSpPr>
            <p:cNvPr id="14" name="TextBox 14"/>
            <p:cNvSpPr/>
            <p:nvPr/>
          </p:nvSpPr>
          <p:spPr>
            <a:xfrm>
              <a:off x="6227445" y="4826032"/>
              <a:ext cx="274891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比較範圍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191250" y="5276850"/>
              <a:ext cx="423672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719" tIns="-127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郭天信、李凱威、吉力吉撈．鞏冠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含球數調整；非整場換投效益。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守位與棒次，在同一份名單調整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18</a:t>
            </a:r>
          </a:p>
        </p:txBody>
      </p:sp>
      <p:grpSp>
        <p:nvGrpSpPr>
          <p:cNvPr id="12" name="field-edit"/>
          <p:cNvGrpSpPr/>
          <p:nvPr/>
        </p:nvGrpSpPr>
        <p:grpSpPr>
          <a:xfrm>
            <a:off x="597408" y="1622425"/>
            <a:ext cx="5155692" cy="4597400"/>
            <a:chOff x="597408" y="1622425"/>
            <a:chExt cx="5155692" cy="4597400"/>
          </a:xfrm>
        </p:grpSpPr>
        <p:sp>
          <p:nvSpPr>
            <p:cNvPr id="10" name="TextBox 10"/>
            <p:cNvSpPr txBox="1"/>
            <p:nvPr/>
          </p:nvSpPr>
          <p:spPr>
            <a:xfrm>
              <a:off x="597408" y="1622425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守位配置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105025"/>
              <a:ext cx="5143500" cy="4114800"/>
            </a:xfrm>
            <a:prstGeom prst="rect">
              <a:avLst/>
            </a:prstGeom>
          </p:spPr>
        </p:pic>
      </p:grpSp>
      <p:grpSp>
        <p:nvGrpSpPr>
          <p:cNvPr id="18" name="batting-edit"/>
          <p:cNvGrpSpPr/>
          <p:nvPr/>
        </p:nvGrpSpPr>
        <p:grpSpPr>
          <a:xfrm>
            <a:off x="6236208" y="1622425"/>
            <a:ext cx="5346192" cy="4622165"/>
            <a:chOff x="6236208" y="1622425"/>
            <a:chExt cx="5346192" cy="4622165"/>
          </a:xfrm>
        </p:grpSpPr>
        <p:sp>
          <p:nvSpPr>
            <p:cNvPr id="13" name="TextBox 13"/>
            <p:cNvSpPr txBox="1"/>
            <p:nvPr/>
          </p:nvSpPr>
          <p:spPr>
            <a:xfrm>
              <a:off x="6236208" y="1622425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棒次與人選</a:t>
              </a:r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48400" y="2152650"/>
              <a:ext cx="5334000" cy="2684145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6237732" y="5032375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選人、接守與排序一起編輯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38875" y="5486400"/>
              <a:ext cx="284701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九棒含 DH，另設投手。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38875" y="5876925"/>
              <a:ext cx="356224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確認配置後，套用至對決評估。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常用牛棚分組與當日可用人選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19</a:t>
            </a:r>
          </a:p>
        </p:txBody>
      </p:sp>
      <p:grpSp>
        <p:nvGrpSpPr>
          <p:cNvPr id="8" name="screenshot-投手群組選取_3x.jpg"/>
          <p:cNvGrpSpPr/>
          <p:nvPr/>
        </p:nvGrpSpPr>
        <p:grpSpPr>
          <a:xfrm>
            <a:off x="1845469" y="2021300"/>
            <a:ext cx="3262217" cy="3844100"/>
            <a:chOff x="1845469" y="2021300"/>
            <a:chExt cx="3262217" cy="3844100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45469" y="2021300"/>
              <a:ext cx="3262217" cy="3844100"/>
            </a:xfrm>
            <a:prstGeom prst="rect">
              <a:avLst/>
            </a:prstGeom>
          </p:spPr>
        </p:pic>
      </p:grpSp>
      <p:grpSp>
        <p:nvGrpSpPr>
          <p:cNvPr id="11" name="group-task-0"/>
          <p:cNvGrpSpPr/>
          <p:nvPr/>
        </p:nvGrpSpPr>
        <p:grpSpPr>
          <a:xfrm>
            <a:off x="7151370" y="1920907"/>
            <a:ext cx="3488436" cy="1248442"/>
            <a:chOff x="7151370" y="1920907"/>
            <a:chExt cx="3488436" cy="1248442"/>
          </a:xfrm>
        </p:grpSpPr>
        <p:sp>
          <p:nvSpPr>
            <p:cNvPr id="9" name="TextBox 9"/>
            <p:cNvSpPr/>
            <p:nvPr/>
          </p:nvSpPr>
          <p:spPr>
            <a:xfrm>
              <a:off x="7151370" y="1920907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1　選擇群組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7152894" y="2428875"/>
              <a:ext cx="34869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勝投組、敗投組或自訂。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範本可修改，非官方分組。</a:t>
              </a:r>
            </a:p>
          </p:txBody>
        </p:sp>
      </p:grpSp>
      <p:grpSp>
        <p:nvGrpSpPr>
          <p:cNvPr id="14" name="group-task-1"/>
          <p:cNvGrpSpPr/>
          <p:nvPr/>
        </p:nvGrpSpPr>
        <p:grpSpPr>
          <a:xfrm>
            <a:off x="7151370" y="3397282"/>
            <a:ext cx="2745486" cy="1248442"/>
            <a:chOff x="7151370" y="3397282"/>
            <a:chExt cx="2745486" cy="1248442"/>
          </a:xfrm>
        </p:grpSpPr>
        <p:sp>
          <p:nvSpPr>
            <p:cNvPr id="12" name="TextBox 12"/>
            <p:cNvSpPr/>
            <p:nvPr/>
          </p:nvSpPr>
          <p:spPr>
            <a:xfrm>
              <a:off x="7151370" y="3397282"/>
              <a:ext cx="20002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　編輯後儲存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7152894" y="3905250"/>
              <a:ext cx="27439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勾選成員後儲存。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保存在目前瀏覽器。</a:t>
              </a:r>
            </a:p>
          </p:txBody>
        </p:sp>
      </p:grpSp>
      <p:grpSp>
        <p:nvGrpSpPr>
          <p:cNvPr id="17" name="group-task-2"/>
          <p:cNvGrpSpPr/>
          <p:nvPr/>
        </p:nvGrpSpPr>
        <p:grpSpPr>
          <a:xfrm>
            <a:off x="7151370" y="4873657"/>
            <a:ext cx="3958971" cy="914781"/>
            <a:chOff x="7151370" y="4873657"/>
            <a:chExt cx="3958971" cy="914781"/>
          </a:xfrm>
        </p:grpSpPr>
        <p:sp>
          <p:nvSpPr>
            <p:cNvPr id="15" name="TextBox 15"/>
            <p:cNvSpPr/>
            <p:nvPr/>
          </p:nvSpPr>
          <p:spPr>
            <a:xfrm>
              <a:off x="7151370" y="4873657"/>
              <a:ext cx="20002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3　套用與微調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7152894" y="5407057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套用後，核對今日出賽資格。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魔力藍對右打：速球減少、低落球群增加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20</a:t>
            </a:r>
          </a:p>
        </p:txBody>
      </p:sp>
      <p:grpSp>
        <p:nvGrpSpPr>
          <p:cNvPr id="12" name="pitch-sample"/>
          <p:cNvGrpSpPr/>
          <p:nvPr/>
        </p:nvGrpSpPr>
        <p:grpSpPr>
          <a:xfrm>
            <a:off x="598932" y="1574800"/>
            <a:ext cx="6045708" cy="694944"/>
            <a:chOff x="598932" y="1574800"/>
            <a:chExt cx="6045708" cy="694944"/>
          </a:xfrm>
        </p:grpSpPr>
        <p:sp>
          <p:nvSpPr>
            <p:cNvPr id="10" name="TextBox 10"/>
            <p:cNvSpPr txBox="1"/>
            <p:nvPr/>
          </p:nvSpPr>
          <p:spPr>
            <a:xfrm>
              <a:off x="598932" y="1574800"/>
              <a:ext cx="44432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比較前 10 場與最近 5 場的配球占比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0456" y="1917700"/>
              <a:ext cx="6044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前 10 場 428 球；近 5 場 258 球。依球數與左右打調整。</a:t>
              </a:r>
            </a:p>
          </p:txBody>
        </p:sp>
      </p:grpSp>
      <p:grpSp>
        <p:nvGrpSpPr>
          <p:cNvPr id="17" name="pitch-legend"/>
          <p:cNvGrpSpPr/>
          <p:nvPr/>
        </p:nvGrpSpPr>
        <p:grpSpPr>
          <a:xfrm>
            <a:off x="8153400" y="2308225"/>
            <a:ext cx="3007233" cy="352044"/>
            <a:chOff x="8153400" y="2308225"/>
            <a:chExt cx="3007233" cy="352044"/>
          </a:xfrm>
        </p:grpSpPr>
        <p:sp>
          <p:nvSpPr>
            <p:cNvPr id="13" name="Rectangle 13"/>
            <p:cNvSpPr/>
            <p:nvPr/>
          </p:nvSpPr>
          <p:spPr>
            <a:xfrm>
              <a:off x="8153400" y="2381250"/>
              <a:ext cx="285750" cy="123825"/>
            </a:xfrm>
            <a:prstGeom prst="rect">
              <a:avLst/>
            </a:prstGeom>
            <a:solidFill>
              <a:srgbClr val="65778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553831" y="2308225"/>
              <a:ext cx="8869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前 10 場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0001250" y="2381250"/>
              <a:ext cx="285750" cy="123825"/>
            </a:xfrm>
            <a:prstGeom prst="rect">
              <a:avLst/>
            </a:prstGeom>
            <a:solidFill>
              <a:srgbClr val="2343A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401681" y="2308225"/>
              <a:ext cx="7589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近 5 場</a:t>
              </a:r>
            </a:p>
          </p:txBody>
        </p:sp>
      </p:grpSp>
      <p:grpSp>
        <p:nvGrpSpPr>
          <p:cNvPr id="27" name="fastball"/>
          <p:cNvGrpSpPr/>
          <p:nvPr/>
        </p:nvGrpSpPr>
        <p:grpSpPr>
          <a:xfrm>
            <a:off x="590550" y="2816225"/>
            <a:ext cx="10836453" cy="1153414"/>
            <a:chOff x="590550" y="2816225"/>
            <a:chExt cx="10836453" cy="1153414"/>
          </a:xfrm>
        </p:grpSpPr>
        <p:sp>
          <p:nvSpPr>
            <p:cNvPr id="18" name="TextBox 18"/>
            <p:cNvSpPr txBox="1"/>
            <p:nvPr/>
          </p:nvSpPr>
          <p:spPr>
            <a:xfrm>
              <a:off x="598170" y="2816225"/>
              <a:ext cx="628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速球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0550" y="3219450"/>
              <a:ext cx="1275481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7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−11.2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53056" y="34417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百分點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048125" y="2952750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48125" y="2952750"/>
              <a:ext cx="3310283" cy="228600"/>
            </a:xfrm>
            <a:prstGeom prst="rect">
              <a:avLst/>
            </a:prstGeom>
            <a:solidFill>
              <a:srgbClr val="65778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552176" y="2905125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52.7%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048125" y="3590925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48125" y="3590925"/>
              <a:ext cx="2603556" cy="228600"/>
            </a:xfrm>
            <a:prstGeom prst="rect">
              <a:avLst/>
            </a:prstGeom>
            <a:solidFill>
              <a:srgbClr val="2343A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552176" y="3543300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41.4%</a:t>
              </a:r>
            </a:p>
          </p:txBody>
        </p:sp>
      </p:grpSp>
      <p:grpSp>
        <p:nvGrpSpPr>
          <p:cNvPr id="37" name="low"/>
          <p:cNvGrpSpPr/>
          <p:nvPr/>
        </p:nvGrpSpPr>
        <p:grpSpPr>
          <a:xfrm>
            <a:off x="590550" y="4530757"/>
            <a:ext cx="10836453" cy="1153382"/>
            <a:chOff x="590550" y="4530757"/>
            <a:chExt cx="10836453" cy="1153382"/>
          </a:xfrm>
        </p:grpSpPr>
        <p:sp>
          <p:nvSpPr>
            <p:cNvPr id="28" name="TextBox 28"/>
            <p:cNvSpPr/>
            <p:nvPr/>
          </p:nvSpPr>
          <p:spPr>
            <a:xfrm>
              <a:off x="598170" y="4530757"/>
              <a:ext cx="33337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低落球群</a:t>
              </a:r>
              <a:r>
                <a:rPr lang="zh-TW" sz="16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（變速、指叉等）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0550" y="4933950"/>
              <a:ext cx="1275481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7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+15.8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53056" y="51562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百分點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048125" y="4667250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048125" y="4667250"/>
              <a:ext cx="1138859" cy="228600"/>
            </a:xfrm>
            <a:prstGeom prst="rect">
              <a:avLst/>
            </a:prstGeom>
            <a:solidFill>
              <a:srgbClr val="65778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552176" y="4619625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18.1%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048125" y="5305425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048125" y="5305425"/>
              <a:ext cx="2131471" cy="228600"/>
            </a:xfrm>
            <a:prstGeom prst="rect">
              <a:avLst/>
            </a:prstGeom>
            <a:solidFill>
              <a:srgbClr val="2343A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552176" y="5257800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33.9%</a:t>
              </a:r>
            </a:p>
          </p:txBody>
        </p:sp>
      </p:grpSp>
      <p:grpSp>
        <p:nvGrpSpPr>
          <p:cNvPr id="39" name="pitch-limit"/>
          <p:cNvGrpSpPr/>
          <p:nvPr/>
        </p:nvGrpSpPr>
        <p:grpSpPr>
          <a:xfrm>
            <a:off x="600075" y="5819775"/>
            <a:ext cx="10972800" cy="342900"/>
            <a:chOff x="600075" y="5819775"/>
            <a:chExt cx="10972800" cy="342900"/>
          </a:xfrm>
        </p:grpSpPr>
        <p:sp>
          <p:nvSpPr>
            <p:cNvPr id="38" name="TextBox 38"/>
            <p:cNvSpPr/>
            <p:nvPr/>
          </p:nvSpPr>
          <p:spPr>
            <a:xfrm>
              <a:off x="600075" y="5819775"/>
              <a:ext cx="10972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75" rIns="0" bIns="0" anchor="t" anchorCtr="0">
              <a:noAutofit/>
            </a:bodyPr>
            <a:lstStyle/>
            <a:p>
              <a:pPr algn="l"/>
              <a:r>
                <a:rPr lang="zh-CN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占比變化不等於效果提升；差值依未四捨五入資料計算。</a:t>
              </a:r>
            </a:p>
          </p:txBody>
        </p:sp>
      </p:grpSp>
      <p:sp>
        <p:nvSpPr>
          <p:cNvPr id="40" name="TextBox 11"/>
          <p:cNvSpPr txBox="1"/>
          <p:nvPr/>
        </p:nvSpPr>
        <p:spPr>
          <a:xfrm>
            <a:off x="591312" y="6165850"/>
            <a:ext cx="5574640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rgbClr val="58616B"/>
                </a:solidFill>
                <a:latin typeface="Times New Roman"/>
                <a:ea typeface="DFKai-SB"/>
                <a:cs typeface="Times New Roman"/>
              </a:rPr>
              <a:t>樣本不足時：改看觀察配球原始比例，不作趨勢判定。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9212770" cy="1063657"/>
            <a:chOff x="592836" y="250793"/>
            <a:chExt cx="921277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727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網站實作｜2025 單日分析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921277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2025/09/20：六隊三場，226 打席可比較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21</a:t>
            </a:r>
          </a:p>
        </p:txBody>
      </p:sp>
      <p:grpSp>
        <p:nvGrpSpPr>
          <p:cNvPr id="14" name="coverage-total"/>
          <p:cNvGrpSpPr/>
          <p:nvPr/>
        </p:nvGrpSpPr>
        <p:grpSpPr>
          <a:xfrm>
            <a:off x="590550" y="1724025"/>
            <a:ext cx="2935986" cy="1764919"/>
            <a:chOff x="590550" y="1724025"/>
            <a:chExt cx="2935986" cy="1764919"/>
          </a:xfrm>
        </p:grpSpPr>
        <p:sp>
          <p:nvSpPr>
            <p:cNvPr id="10" name="TextBox 10"/>
            <p:cNvSpPr txBox="1"/>
            <p:nvPr/>
          </p:nvSpPr>
          <p:spPr>
            <a:xfrm>
              <a:off x="598551" y="172402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六隊三場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0550" y="2070100"/>
              <a:ext cx="1414272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4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226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36876" y="2581275"/>
              <a:ext cx="60904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0456" y="3136900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每個打席皆可切換攻守比較</a:t>
              </a:r>
            </a:p>
          </p:txBody>
        </p:sp>
      </p:grpSp>
      <p:grpSp>
        <p:nvGrpSpPr>
          <p:cNvPr id="26" name="coverage-games"/>
          <p:cNvGrpSpPr/>
          <p:nvPr/>
        </p:nvGrpSpPr>
        <p:grpSpPr>
          <a:xfrm>
            <a:off x="4153662" y="1736725"/>
            <a:ext cx="7428738" cy="1866075"/>
            <a:chOff x="4153662" y="1736725"/>
            <a:chExt cx="7428738" cy="1866075"/>
          </a:xfrm>
        </p:grpSpPr>
        <p:sp>
          <p:nvSpPr>
            <p:cNvPr id="15" name="TextBox 15"/>
            <p:cNvSpPr txBox="1"/>
            <p:nvPr/>
          </p:nvSpPr>
          <p:spPr>
            <a:xfrm>
              <a:off x="4161282" y="1736725"/>
              <a:ext cx="156710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樂天 vs 統一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53662" y="2251075"/>
              <a:ext cx="5486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70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43475" y="24669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733032" y="1736725"/>
              <a:ext cx="156710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台鋼 vs 富邦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25412" y="2251075"/>
              <a:ext cx="5486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74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15225" y="24669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04782" y="1736725"/>
              <a:ext cx="156710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味全 vs 中信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297162" y="2251075"/>
              <a:ext cx="5486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82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086975" y="24669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4171950" y="3124200"/>
              <a:ext cx="7410450" cy="9525"/>
            </a:xfrm>
            <a:custGeom>
              <a:avLst/>
              <a:gdLst/>
              <a:ahLst/>
              <a:cxnLst/>
              <a:rect l="l" t="t" r="r" b="b"/>
              <a:pathLst>
                <a:path w="7410450" h="9525">
                  <a:moveTo>
                    <a:pt x="0" y="0"/>
                  </a:moveTo>
                  <a:lnTo>
                    <a:pt x="741045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161663" y="3206750"/>
              <a:ext cx="43714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先選比賽與打席，再進入人選評估。</a:t>
              </a:r>
            </a:p>
          </p:txBody>
        </p:sp>
      </p:grpSp>
      <p:grpSp>
        <p:nvGrpSpPr>
          <p:cNvPr id="30" name="first-event"/>
          <p:cNvGrpSpPr/>
          <p:nvPr/>
        </p:nvGrpSpPr>
        <p:grpSpPr>
          <a:xfrm>
            <a:off x="598551" y="3905250"/>
            <a:ext cx="10983849" cy="2092706"/>
            <a:chOff x="598551" y="3905250"/>
            <a:chExt cx="10983849" cy="2092706"/>
          </a:xfrm>
        </p:grpSpPr>
        <p:sp>
          <p:nvSpPr>
            <p:cNvPr id="27" name="TextBox 27"/>
            <p:cNvSpPr txBox="1"/>
            <p:nvPr/>
          </p:nvSpPr>
          <p:spPr>
            <a:xfrm>
              <a:off x="598551" y="3905250"/>
              <a:ext cx="5011115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台鋼對富邦｜六局下回顧（畫面局部）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4410075"/>
              <a:ext cx="10972800" cy="1014031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599694" y="5616575"/>
              <a:ext cx="63200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系統提示與實際調度分軌呈現，可回到同一時點比較。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回放案例一：代打與換投的基準不同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22</a:t>
            </a:r>
          </a:p>
        </p:txBody>
      </p:sp>
      <p:grpSp>
        <p:nvGrpSpPr>
          <p:cNvPr id="12" name="combined-24-3"/>
          <p:cNvGrpSpPr/>
          <p:nvPr/>
        </p:nvGrpSpPr>
        <p:grpSpPr>
          <a:xfrm>
            <a:off x="596646" y="1743075"/>
            <a:ext cx="1476756" cy="498729"/>
            <a:chOff x="596646" y="1743075"/>
            <a:chExt cx="1476756" cy="498729"/>
          </a:xfrm>
        </p:grpSpPr>
        <p:sp>
          <p:nvSpPr>
            <p:cNvPr id="11" name="TextBox 11"/>
            <p:cNvSpPr/>
            <p:nvPr/>
          </p:nvSpPr>
          <p:spPr>
            <a:xfrm>
              <a:off x="596646" y="174307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代打評估</a:t>
              </a:r>
            </a:p>
          </p:txBody>
        </p:sp>
      </p:grpSp>
      <p:grpSp>
        <p:nvGrpSpPr>
          <p:cNvPr id="14" name="combined-24-4"/>
          <p:cNvGrpSpPr/>
          <p:nvPr/>
        </p:nvGrpSpPr>
        <p:grpSpPr>
          <a:xfrm>
            <a:off x="598551" y="2428875"/>
            <a:ext cx="2502789" cy="426339"/>
            <a:chOff x="598551" y="2428875"/>
            <a:chExt cx="2502789" cy="426339"/>
          </a:xfrm>
        </p:grpSpPr>
        <p:sp>
          <p:nvSpPr>
            <p:cNvPr id="13" name="TextBox 13"/>
            <p:cNvSpPr/>
            <p:nvPr/>
          </p:nvSpPr>
          <p:spPr>
            <a:xfrm>
              <a:off x="598551" y="2428875"/>
              <a:ext cx="250278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固定投手：王志煊</a:t>
              </a:r>
            </a:p>
          </p:txBody>
        </p:sp>
      </p:grpSp>
      <p:grpSp>
        <p:nvGrpSpPr>
          <p:cNvPr id="16" name="combined-24-5"/>
          <p:cNvGrpSpPr/>
          <p:nvPr/>
        </p:nvGrpSpPr>
        <p:grpSpPr>
          <a:xfrm>
            <a:off x="598932" y="3022568"/>
            <a:ext cx="3124676" cy="410718"/>
            <a:chOff x="598932" y="3022568"/>
            <a:chExt cx="3124676" cy="410718"/>
          </a:xfrm>
        </p:grpSpPr>
        <p:sp>
          <p:nvSpPr>
            <p:cNvPr id="15" name="TextBox 15"/>
            <p:cNvSpPr/>
            <p:nvPr/>
          </p:nvSpPr>
          <p:spPr>
            <a:xfrm>
              <a:off x="598932" y="3022568"/>
              <a:ext cx="31246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陳傑憲 vs 其他可用打者</a:t>
              </a:r>
            </a:p>
          </p:txBody>
        </p:sp>
      </p:grpSp>
      <p:grpSp>
        <p:nvGrpSpPr>
          <p:cNvPr id="18" name="combined-24-6"/>
          <p:cNvGrpSpPr/>
          <p:nvPr/>
        </p:nvGrpSpPr>
        <p:grpSpPr>
          <a:xfrm>
            <a:off x="6235446" y="1743075"/>
            <a:ext cx="1476756" cy="498729"/>
            <a:chOff x="6235446" y="1743075"/>
            <a:chExt cx="1476756" cy="498729"/>
          </a:xfrm>
        </p:grpSpPr>
        <p:sp>
          <p:nvSpPr>
            <p:cNvPr id="17" name="TextBox 17"/>
            <p:cNvSpPr/>
            <p:nvPr/>
          </p:nvSpPr>
          <p:spPr>
            <a:xfrm>
              <a:off x="6235446" y="174307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換投評估</a:t>
              </a:r>
            </a:p>
          </p:txBody>
        </p:sp>
      </p:grpSp>
      <p:grpSp>
        <p:nvGrpSpPr>
          <p:cNvPr id="20" name="combined-24-7"/>
          <p:cNvGrpSpPr/>
          <p:nvPr/>
        </p:nvGrpSpPr>
        <p:grpSpPr>
          <a:xfrm>
            <a:off x="6237351" y="2428875"/>
            <a:ext cx="2502789" cy="426339"/>
            <a:chOff x="6237351" y="2428875"/>
            <a:chExt cx="2502789" cy="426339"/>
          </a:xfrm>
        </p:grpSpPr>
        <p:sp>
          <p:nvSpPr>
            <p:cNvPr id="19" name="TextBox 19"/>
            <p:cNvSpPr/>
            <p:nvPr/>
          </p:nvSpPr>
          <p:spPr>
            <a:xfrm>
              <a:off x="6237351" y="2428875"/>
              <a:ext cx="250278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固定接下來的打者</a:t>
              </a:r>
            </a:p>
          </p:txBody>
        </p:sp>
      </p:grpSp>
      <p:grpSp>
        <p:nvGrpSpPr>
          <p:cNvPr id="22" name="combined-24-8"/>
          <p:cNvGrpSpPr/>
          <p:nvPr/>
        </p:nvGrpSpPr>
        <p:grpSpPr>
          <a:xfrm>
            <a:off x="6237732" y="3022568"/>
            <a:ext cx="3722084" cy="410718"/>
            <a:chOff x="6237732" y="3022568"/>
            <a:chExt cx="3722084" cy="410718"/>
          </a:xfrm>
        </p:grpSpPr>
        <p:sp>
          <p:nvSpPr>
            <p:cNvPr id="21" name="TextBox 21"/>
            <p:cNvSpPr/>
            <p:nvPr/>
          </p:nvSpPr>
          <p:spPr>
            <a:xfrm>
              <a:off x="6237732" y="3022568"/>
              <a:ext cx="372208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林子崴〔樂天〕vs 牛棚</a:t>
              </a:r>
            </a:p>
          </p:txBody>
        </p:sp>
      </p:grpSp>
      <p:grpSp>
        <p:nvGrpSpPr>
          <p:cNvPr id="24" name="combined-24-9"/>
          <p:cNvGrpSpPr/>
          <p:nvPr/>
        </p:nvGrpSpPr>
        <p:grpSpPr>
          <a:xfrm>
            <a:off x="600075" y="3629025"/>
            <a:ext cx="6919722" cy="367665"/>
            <a:chOff x="600075" y="3629025"/>
            <a:chExt cx="6919722" cy="367665"/>
          </a:xfrm>
        </p:grpSpPr>
        <p:sp>
          <p:nvSpPr>
            <p:cNvPr id="23" name="TextBox 23"/>
            <p:cNvSpPr/>
            <p:nvPr/>
          </p:nvSpPr>
          <p:spPr>
            <a:xfrm>
              <a:off x="600075" y="3629025"/>
              <a:ext cx="691972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2025/09/20 四局下｜六局前案例不納入全季回測統計</a:t>
              </a:r>
            </a:p>
          </p:txBody>
        </p:sp>
      </p:grpSp>
      <p:grpSp>
        <p:nvGrpSpPr>
          <p:cNvPr id="26" name="combined-24-10"/>
          <p:cNvGrpSpPr/>
          <p:nvPr/>
        </p:nvGrpSpPr>
        <p:grpSpPr>
          <a:xfrm>
            <a:off x="609600" y="4854035"/>
            <a:ext cx="10972800" cy="826580"/>
            <a:chOff x="609600" y="4854035"/>
            <a:chExt cx="10972800" cy="826580"/>
          </a:xfrm>
        </p:grpSpPr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4854035"/>
              <a:ext cx="10972800" cy="8265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029956" cy="1063657"/>
            <a:chOff x="592836" y="250793"/>
            <a:chExt cx="802995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247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網站實作｜單日回放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先比較人選，再揭示實際調度與結果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23</a:t>
            </a:r>
          </a:p>
        </p:txBody>
      </p:sp>
      <p:grpSp>
        <p:nvGrpSpPr>
          <p:cNvPr id="33" name="p23-flow"/>
          <p:cNvGrpSpPr/>
          <p:nvPr/>
        </p:nvGrpSpPr>
        <p:grpSpPr>
          <a:xfrm>
            <a:off x="902018" y="2047875"/>
            <a:ext cx="9739883" cy="2425065"/>
            <a:chOff x="902018" y="2047875"/>
            <a:chExt cx="9739883" cy="2425065"/>
          </a:xfrm>
        </p:grpSpPr>
        <p:sp>
          <p:nvSpPr>
            <p:cNvPr id="11" name="Ellipse 11"/>
            <p:cNvSpPr/>
            <p:nvPr/>
          </p:nvSpPr>
          <p:spPr>
            <a:xfrm>
              <a:off x="1314450" y="2047875"/>
              <a:ext cx="1333500" cy="1333500"/>
            </a:xfrm>
            <a:prstGeom prst="ellipse">
              <a:avLst/>
            </a:prstGeom>
            <a:solidFill>
              <a:srgbClr val="ECE5D9"/>
            </a:solidFill>
            <a:ln w="9525">
              <a:solidFill>
                <a:srgbClr val="D7D1C5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1647825" y="2381250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5" y="0"/>
                  </a:moveTo>
                  <a:lnTo>
                    <a:pt x="666750" y="333375"/>
                  </a:lnTo>
                  <a:lnTo>
                    <a:pt x="333375" y="666750"/>
                  </a:lnTo>
                  <a:lnTo>
                    <a:pt x="0" y="333375"/>
                  </a:lnTo>
                  <a:close/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943100" y="238125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2238375" y="267652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943100" y="297180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1647825" y="267652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7" name="TextBox 17"/>
            <p:cNvSpPr/>
            <p:nvPr/>
          </p:nvSpPr>
          <p:spPr>
            <a:xfrm>
              <a:off x="1242822" y="355282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比較人選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902018" y="4105275"/>
              <a:ext cx="215836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以決策前資料評估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2943225" y="271462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3990975" y="265747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172075" y="2047875"/>
              <a:ext cx="1333500" cy="1333500"/>
            </a:xfrm>
            <a:prstGeom prst="ellipse">
              <a:avLst/>
            </a:prstGeom>
            <a:solidFill>
              <a:srgbClr val="ECE5D9"/>
            </a:solidFill>
            <a:ln w="9525">
              <a:solidFill>
                <a:srgbClr val="D7D1C5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5724525" y="2409825"/>
              <a:ext cx="228600" cy="228600"/>
            </a:xfrm>
            <a:prstGeom prst="ellipse">
              <a:avLst/>
            </a:prstGeom>
            <a:noFill/>
            <a:ln w="28575">
              <a:solidFill>
                <a:srgbClr val="18344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5581650" y="2647950"/>
              <a:ext cx="514350" cy="381000"/>
            </a:xfrm>
            <a:custGeom>
              <a:avLst/>
              <a:gdLst/>
              <a:ahLst/>
              <a:cxnLst/>
              <a:rect l="l" t="t" r="r" b="b"/>
              <a:pathLst>
                <a:path w="514350" h="381000">
                  <a:moveTo>
                    <a:pt x="0" y="381000"/>
                  </a:moveTo>
                  <a:lnTo>
                    <a:pt x="0" y="228600"/>
                  </a:lnTo>
                  <a:cubicBezTo>
                    <a:pt x="0" y="0"/>
                    <a:pt x="514350" y="0"/>
                    <a:pt x="514350" y="228600"/>
                  </a:cubicBezTo>
                  <a:lnTo>
                    <a:pt x="514350" y="38100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4" name="TextBox 24"/>
            <p:cNvSpPr/>
            <p:nvPr/>
          </p:nvSpPr>
          <p:spPr>
            <a:xfrm>
              <a:off x="5100447" y="355282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揭示調度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5027104" y="4105275"/>
              <a:ext cx="162353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實際換上了誰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6800850" y="271462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7848600" y="265747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029700" y="2047875"/>
              <a:ext cx="1333500" cy="1333500"/>
            </a:xfrm>
            <a:prstGeom prst="ellipse">
              <a:avLst/>
            </a:prstGeom>
            <a:solidFill>
              <a:srgbClr val="ECE5D9"/>
            </a:solidFill>
            <a:ln w="9525">
              <a:solidFill>
                <a:srgbClr val="D7D1C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363075" y="2460593"/>
              <a:ext cx="666750" cy="508064"/>
            </a:xfrm>
            <a:custGeom>
              <a:avLst/>
              <a:gdLst/>
              <a:ahLst/>
              <a:cxnLst/>
              <a:rect l="l" t="t" r="r" b="b"/>
              <a:pathLst>
                <a:path w="666750" h="508064">
                  <a:moveTo>
                    <a:pt x="0" y="254032"/>
                  </a:moveTo>
                  <a:cubicBezTo>
                    <a:pt x="222218" y="0"/>
                    <a:pt x="444532" y="0"/>
                    <a:pt x="666750" y="254032"/>
                  </a:cubicBezTo>
                  <a:cubicBezTo>
                    <a:pt x="444532" y="508064"/>
                    <a:pt x="222218" y="508064"/>
                    <a:pt x="0" y="254032"/>
                  </a:cubicBezTo>
                  <a:close/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9601200" y="2619375"/>
              <a:ext cx="190500" cy="190500"/>
            </a:xfrm>
            <a:prstGeom prst="ellipse">
              <a:avLst/>
            </a:prstGeom>
            <a:noFill/>
            <a:ln w="28575">
              <a:solidFill>
                <a:srgbClr val="18344A"/>
              </a:solidFill>
            </a:ln>
          </p:spPr>
        </p:sp>
        <p:sp>
          <p:nvSpPr>
            <p:cNvPr id="31" name="TextBox 31"/>
            <p:cNvSpPr/>
            <p:nvPr/>
          </p:nvSpPr>
          <p:spPr>
            <a:xfrm>
              <a:off x="8958072" y="355282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揭示結果</a:t>
              </a:r>
            </a:p>
          </p:txBody>
        </p:sp>
        <p:sp>
          <p:nvSpPr>
            <p:cNvPr id="32" name="TextBox 32"/>
            <p:cNvSpPr/>
            <p:nvPr/>
          </p:nvSpPr>
          <p:spPr>
            <a:xfrm>
              <a:off x="8750998" y="4105275"/>
              <a:ext cx="189090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該打席發生什麼</a:t>
              </a:r>
            </a:p>
          </p:txBody>
        </p:sp>
      </p:grpSp>
      <p:grpSp>
        <p:nvGrpSpPr>
          <p:cNvPr id="40" name="p23-cutoffs"/>
          <p:cNvGrpSpPr/>
          <p:nvPr/>
        </p:nvGrpSpPr>
        <p:grpSpPr>
          <a:xfrm>
            <a:off x="600456" y="5010150"/>
            <a:ext cx="10981944" cy="1355312"/>
            <a:chOff x="600456" y="5010150"/>
            <a:chExt cx="10981944" cy="1355312"/>
          </a:xfrm>
        </p:grpSpPr>
        <p:sp>
          <p:nvSpPr>
            <p:cNvPr id="34" name="Line 34"/>
            <p:cNvSpPr/>
            <p:nvPr/>
          </p:nvSpPr>
          <p:spPr>
            <a:xfrm>
              <a:off x="609600" y="50101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35" name="TextBox 35"/>
            <p:cNvSpPr/>
            <p:nvPr/>
          </p:nvSpPr>
          <p:spPr>
            <a:xfrm>
              <a:off x="600456" y="5194268"/>
              <a:ext cx="10424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資料截止</a:t>
              </a:r>
            </a:p>
          </p:txBody>
        </p:sp>
        <p:sp>
          <p:nvSpPr>
            <p:cNvPr id="36" name="TextBox 36"/>
            <p:cNvSpPr/>
            <p:nvPr/>
          </p:nvSpPr>
          <p:spPr>
            <a:xfrm>
              <a:off x="2276094" y="5168932"/>
              <a:ext cx="15530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逐球模型 9/1</a:t>
              </a:r>
            </a:p>
          </p:txBody>
        </p:sp>
        <p:sp>
          <p:nvSpPr>
            <p:cNvPr id="37" name="TextBox 37"/>
            <p:cNvSpPr/>
            <p:nvPr/>
          </p:nvSpPr>
          <p:spPr>
            <a:xfrm>
              <a:off x="5943219" y="5168932"/>
              <a:ext cx="28012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能力、負荷：9/20 賽前</a:t>
              </a:r>
            </a:p>
          </p:txBody>
        </p:sp>
        <p:sp>
          <p:nvSpPr>
            <p:cNvPr id="38" name="TextBox 38"/>
            <p:cNvSpPr/>
            <p:nvPr/>
          </p:nvSpPr>
          <p:spPr>
            <a:xfrm>
              <a:off x="600837" y="5632418"/>
              <a:ext cx="760180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同一打席延續揭示；切換打席即重設。歷史名單與守位仍需人工確認。</a:t>
              </a:r>
            </a:p>
          </p:txBody>
        </p:sp>
        <p:sp>
          <p:nvSpPr>
            <p:cNvPr id="39" name="TextBox 39"/>
            <p:cNvSpPr/>
            <p:nvPr/>
          </p:nvSpPr>
          <p:spPr>
            <a:xfrm>
              <a:off x="600456" y="6013418"/>
              <a:ext cx="76992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回放呈現模型提示與實際結果，不代表另一種換人選擇的因果收益。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網站實作｜單日回放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回放案例：模型、調度與結果分開對照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24</a:t>
            </a:r>
          </a:p>
        </p:txBody>
      </p:sp>
      <p:grpSp>
        <p:nvGrpSpPr>
          <p:cNvPr id="12" name="replay-context"/>
          <p:cNvGrpSpPr/>
          <p:nvPr/>
        </p:nvGrpSpPr>
        <p:grpSpPr>
          <a:xfrm>
            <a:off x="598932" y="1593850"/>
            <a:ext cx="7249668" cy="1414689"/>
            <a:chOff x="598932" y="1593850"/>
            <a:chExt cx="7249668" cy="1414689"/>
          </a:xfrm>
        </p:grpSpPr>
        <p:sp>
          <p:nvSpPr>
            <p:cNvPr id="10" name="TextBox 10"/>
            <p:cNvSpPr txBox="1"/>
            <p:nvPr/>
          </p:nvSpPr>
          <p:spPr>
            <a:xfrm>
              <a:off x="598932" y="1593850"/>
              <a:ext cx="55580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六局下｜江承諺已投 89 球，評估接下來三棒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181225"/>
              <a:ext cx="7239000" cy="827314"/>
            </a:xfrm>
            <a:prstGeom prst="rect">
              <a:avLst/>
            </a:prstGeom>
          </p:spPr>
        </p:pic>
      </p:grpSp>
      <p:grpSp>
        <p:nvGrpSpPr>
          <p:cNvPr id="16" name="model"/>
          <p:cNvGrpSpPr/>
          <p:nvPr/>
        </p:nvGrpSpPr>
        <p:grpSpPr>
          <a:xfrm>
            <a:off x="595503" y="3863975"/>
            <a:ext cx="2167094" cy="1599565"/>
            <a:chOff x="595503" y="3863975"/>
            <a:chExt cx="2167094" cy="1599565"/>
          </a:xfrm>
        </p:grpSpPr>
        <p:sp>
          <p:nvSpPr>
            <p:cNvPr id="13" name="TextBox 13"/>
            <p:cNvSpPr txBox="1"/>
            <p:nvPr/>
          </p:nvSpPr>
          <p:spPr>
            <a:xfrm>
              <a:off x="599313" y="386397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模型估計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95503" y="4419600"/>
              <a:ext cx="2167094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+1.11 百分點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0075" y="5095875"/>
              <a:ext cx="204373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林詩翔相對江承諺</a:t>
              </a:r>
            </a:p>
          </p:txBody>
        </p:sp>
      </p:grpSp>
      <p:grpSp>
        <p:nvGrpSpPr>
          <p:cNvPr id="20" name="signal"/>
          <p:cNvGrpSpPr/>
          <p:nvPr/>
        </p:nvGrpSpPr>
        <p:grpSpPr>
          <a:xfrm>
            <a:off x="4329303" y="3863975"/>
            <a:ext cx="2315718" cy="1599565"/>
            <a:chOff x="4329303" y="3863975"/>
            <a:chExt cx="2315718" cy="1599565"/>
          </a:xfrm>
        </p:grpSpPr>
        <p:sp>
          <p:nvSpPr>
            <p:cNvPr id="17" name="TextBox 17"/>
            <p:cNvSpPr txBox="1"/>
            <p:nvPr/>
          </p:nvSpPr>
          <p:spPr>
            <a:xfrm>
              <a:off x="4333113" y="386397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系統提示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29303" y="4419600"/>
              <a:ext cx="1525168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考慮換投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333875" y="5095875"/>
              <a:ext cx="231114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達 1 百分點提示門檻</a:t>
              </a:r>
            </a:p>
          </p:txBody>
        </p:sp>
      </p:grpSp>
      <p:grpSp>
        <p:nvGrpSpPr>
          <p:cNvPr id="24" name="actual"/>
          <p:cNvGrpSpPr/>
          <p:nvPr/>
        </p:nvGrpSpPr>
        <p:grpSpPr>
          <a:xfrm>
            <a:off x="8063103" y="3863975"/>
            <a:ext cx="2048307" cy="1599565"/>
            <a:chOff x="8063103" y="3863975"/>
            <a:chExt cx="2048307" cy="1599565"/>
          </a:xfrm>
        </p:grpSpPr>
        <p:sp>
          <p:nvSpPr>
            <p:cNvPr id="21" name="TextBox 21"/>
            <p:cNvSpPr txBox="1"/>
            <p:nvPr/>
          </p:nvSpPr>
          <p:spPr>
            <a:xfrm>
              <a:off x="8066913" y="3863975"/>
              <a:ext cx="192410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實際調度／結果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63103" y="4419600"/>
              <a:ext cx="1899412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換上王躍霖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067675" y="5095875"/>
              <a:ext cx="204373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陳真擊出二壘安打</a:t>
              </a:r>
            </a:p>
          </p:txBody>
        </p:sp>
      </p:grpSp>
      <p:grpSp>
        <p:nvGrpSpPr>
          <p:cNvPr id="27" name="replay-causality"/>
          <p:cNvGrpSpPr/>
          <p:nvPr/>
        </p:nvGrpSpPr>
        <p:grpSpPr>
          <a:xfrm>
            <a:off x="600075" y="5962650"/>
            <a:ext cx="10982325" cy="491490"/>
            <a:chOff x="600075" y="5962650"/>
            <a:chExt cx="10982325" cy="491490"/>
          </a:xfrm>
        </p:grpSpPr>
        <p:sp>
          <p:nvSpPr>
            <p:cNvPr id="25" name="Line 25"/>
            <p:cNvSpPr/>
            <p:nvPr/>
          </p:nvSpPr>
          <p:spPr>
            <a:xfrm>
              <a:off x="609600" y="59626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0075" y="6086475"/>
              <a:ext cx="508076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單一打席結果，不作為換投效益的因果證據。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網站實作｜接守安排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代打後誰接守？先看改位安排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25</a:t>
            </a:r>
          </a:p>
        </p:txBody>
      </p:sp>
      <p:grpSp>
        <p:nvGrpSpPr>
          <p:cNvPr id="8" name="shot-陳冠宇賽前負荷"/>
          <p:cNvGrpSpPr/>
          <p:nvPr/>
        </p:nvGrpSpPr>
        <p:grpSpPr>
          <a:xfrm>
            <a:off x="609600" y="2381250"/>
            <a:ext cx="6667500" cy="2867025"/>
            <a:chOff x="609600" y="2381250"/>
            <a:chExt cx="6667500" cy="2867025"/>
          </a:xfrm>
        </p:grpSpPr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381250"/>
              <a:ext cx="6667500" cy="2867025"/>
            </a:xfrm>
            <a:prstGeom prst="rect">
              <a:avLst/>
            </a:prstGeom>
          </p:spPr>
        </p:pic>
      </p:grpSp>
      <p:grpSp>
        <p:nvGrpSpPr>
          <p:cNvPr id="17" name="load-reading"/>
          <p:cNvGrpSpPr/>
          <p:nvPr/>
        </p:nvGrpSpPr>
        <p:grpSpPr>
          <a:xfrm>
            <a:off x="8082534" y="1812893"/>
            <a:ext cx="3337941" cy="3907822"/>
            <a:chOff x="8082534" y="1812893"/>
            <a:chExt cx="3337941" cy="3907822"/>
          </a:xfrm>
        </p:grpSpPr>
        <p:sp>
          <p:nvSpPr>
            <p:cNvPr id="9" name="TextBox 9"/>
            <p:cNvSpPr/>
            <p:nvPr/>
          </p:nvSpPr>
          <p:spPr>
            <a:xfrm>
              <a:off x="8082534" y="1812893"/>
              <a:ext cx="333375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2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林澤彬代打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8085582" y="2336768"/>
              <a:ext cx="33337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接守游擊</a:t>
              </a:r>
            </a:p>
          </p:txBody>
        </p:sp>
        <p:sp>
          <p:nvSpPr>
            <p:cNvPr id="11" name="TextBox 11"/>
            <p:cNvSpPr/>
            <p:nvPr/>
          </p:nvSpPr>
          <p:spPr>
            <a:xfrm>
              <a:off x="8085201" y="2990850"/>
              <a:ext cx="333375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張育成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8086725" y="3448050"/>
              <a:ext cx="333375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游擊 → 一壘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8085201" y="3943350"/>
              <a:ext cx="333375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林岳谷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8086725" y="4400550"/>
              <a:ext cx="333375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保留 DH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8085201" y="4895850"/>
              <a:ext cx="333375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人工確認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8086725" y="5353050"/>
              <a:ext cx="333375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登錄、退場與實際守位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598932" y="1679575"/>
            <a:ext cx="4827270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八局下，王念好的一壘位置需要補上。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00075" y="5524500"/>
            <a:ext cx="4827676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rgbClr val="58616B"/>
                </a:solidFill>
                <a:latin typeface="Times New Roman"/>
                <a:ea typeface="DFKai-SB"/>
                <a:cs typeface="Times New Roman"/>
              </a:rPr>
              <a:t>依當日前守位紀錄提出備案，未納入推薦。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00075" y="5962650"/>
            <a:ext cx="4321505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rgbClr val="B54836"/>
                </a:solidFill>
                <a:latin typeface="Times New Roman"/>
                <a:ea typeface="DFKai-SB"/>
                <a:cs typeface="Times New Roman"/>
              </a:rPr>
              <a:t>可配出守位，不代表換人資格已確認。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01980" y="266700"/>
            <a:ext cx="10980420" cy="1047750"/>
            <a:chOff x="601980" y="266700"/>
            <a:chExt cx="10980420" cy="1047750"/>
          </a:xfrm>
        </p:grpSpPr>
        <p:sp>
          <p:nvSpPr>
            <p:cNvPr id="2" name="TextBox 2"/>
            <p:cNvSpPr/>
            <p:nvPr/>
          </p:nvSpPr>
          <p:spPr>
            <a:xfrm>
              <a:off x="601980" y="266700"/>
              <a:ext cx="2458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700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網站實作｜影片 Demo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609600" y="571500"/>
              <a:ext cx="10972800" cy="666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2225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操作展示：代打比較與單日決策回放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26</a:t>
            </a:r>
          </a:p>
        </p:txBody>
      </p:sp>
      <p:pic>
        <p:nvPicPr>
          <p:cNvPr id="11" name="實際網站操作影片 Demo（點選播放，25秒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447800" y="1314450"/>
            <a:ext cx="9296400" cy="5229225"/>
          </a:xfrm>
          <a:prstGeom prst="rect">
            <a:avLst/>
          </a:prstGeom>
        </p:spPr>
      </p:pic>
      <p:grpSp>
        <p:nvGrpSpPr>
          <p:cNvPr id="10" name="movie-frame"/>
          <p:cNvGrpSpPr/>
          <p:nvPr/>
        </p:nvGrpSpPr>
        <p:grpSpPr>
          <a:xfrm>
            <a:off x="1447800" y="1314450"/>
            <a:ext cx="9296400" cy="5229225"/>
            <a:chOff x="1447800" y="1314450"/>
            <a:chExt cx="9296400" cy="5229225"/>
          </a:xfrm>
        </p:grpSpPr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7143750" cy="4496562"/>
            <a:chOff x="590550" y="673132"/>
            <a:chExt cx="7143750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04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應用成果與後續發展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0550" y="3562350"/>
              <a:ext cx="7143750" cy="476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382" tIns="3175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跨年資料、近況權重與牛棚接續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04　後續延伸｜跨年資料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換隊或跨季後，球員資料怎麼接續？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28</a:t>
            </a:r>
          </a:p>
        </p:txBody>
      </p:sp>
      <p:grpSp>
        <p:nvGrpSpPr>
          <p:cNvPr id="12" name="identity-problem"/>
          <p:cNvGrpSpPr/>
          <p:nvPr/>
        </p:nvGrpSpPr>
        <p:grpSpPr>
          <a:xfrm>
            <a:off x="598170" y="1644650"/>
            <a:ext cx="6989445" cy="440055"/>
            <a:chOff x="598170" y="1644650"/>
            <a:chExt cx="6989445" cy="440055"/>
          </a:xfrm>
        </p:grpSpPr>
        <p:sp>
          <p:nvSpPr>
            <p:cNvPr id="11" name="TextBox 11"/>
            <p:cNvSpPr txBox="1"/>
            <p:nvPr/>
          </p:nvSpPr>
          <p:spPr>
            <a:xfrm>
              <a:off x="598170" y="1644650"/>
              <a:ext cx="698944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轉隊、登錄姓名變動，可能讓同一球員的紀錄斷開。</a:t>
              </a:r>
            </a:p>
          </p:txBody>
        </p:sp>
      </p:grpSp>
      <p:grpSp>
        <p:nvGrpSpPr>
          <p:cNvPr id="25" name="identity-bridge"/>
          <p:cNvGrpSpPr/>
          <p:nvPr/>
        </p:nvGrpSpPr>
        <p:grpSpPr>
          <a:xfrm>
            <a:off x="988822" y="2524125"/>
            <a:ext cx="10042906" cy="2232724"/>
            <a:chOff x="988822" y="2524125"/>
            <a:chExt cx="10042906" cy="2232724"/>
          </a:xfrm>
        </p:grpSpPr>
        <p:sp>
          <p:nvSpPr>
            <p:cNvPr id="13" name="TextBox 13"/>
            <p:cNvSpPr txBox="1"/>
            <p:nvPr/>
          </p:nvSpPr>
          <p:spPr>
            <a:xfrm>
              <a:off x="1095756" y="2524125"/>
              <a:ext cx="1275588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43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2025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8822" y="3371850"/>
              <a:ext cx="148945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原球隊紀錄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3162300" y="3152775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4305300" y="30956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10100" y="2647950"/>
              <a:ext cx="2952750" cy="1285875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910803" y="2774950"/>
              <a:ext cx="235134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0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同一球員 ID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60391" y="3397250"/>
              <a:ext cx="165216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跨年身分對照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7772400" y="3152775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8915400" y="30956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9206" y="2524125"/>
              <a:ext cx="1275588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43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42272" y="3371850"/>
              <a:ext cx="148945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新球隊紀錄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39162" y="4302125"/>
              <a:ext cx="6894627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出賽、投球負荷與對決資料，沿同一條歷程累積。</a:t>
              </a:r>
            </a:p>
          </p:txBody>
        </p:sp>
      </p:grpSp>
      <p:grpSp>
        <p:nvGrpSpPr>
          <p:cNvPr id="28" name="identity-direction"/>
          <p:cNvGrpSpPr/>
          <p:nvPr/>
        </p:nvGrpSpPr>
        <p:grpSpPr>
          <a:xfrm>
            <a:off x="597789" y="5130800"/>
            <a:ext cx="7519264" cy="828040"/>
            <a:chOff x="597789" y="5130800"/>
            <a:chExt cx="7519264" cy="828040"/>
          </a:xfrm>
        </p:grpSpPr>
        <p:sp>
          <p:nvSpPr>
            <p:cNvPr id="26" name="TextBox 26"/>
            <p:cNvSpPr txBox="1"/>
            <p:nvPr/>
          </p:nvSpPr>
          <p:spPr>
            <a:xfrm>
              <a:off x="597789" y="5130800"/>
              <a:ext cx="751926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延伸方向：先建立跨年球員對照，再接入新賽季資料。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0075" y="5591175"/>
              <a:ext cx="508076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新年度名單仍需核對來源、登錄與可用資格。</a:t>
              </a:r>
            </a:p>
          </p:txBody>
        </p:sp>
      </p:grpSp>
      <p:grpSp>
        <p:nvGrpSpPr>
          <p:cNvPr id="30" name="identity-state"/>
          <p:cNvGrpSpPr/>
          <p:nvPr/>
        </p:nvGrpSpPr>
        <p:grpSpPr>
          <a:xfrm>
            <a:off x="600075" y="6143625"/>
            <a:ext cx="6260236" cy="367665"/>
            <a:chOff x="600075" y="6143625"/>
            <a:chExt cx="6260236" cy="367665"/>
          </a:xfrm>
        </p:grpSpPr>
        <p:sp>
          <p:nvSpPr>
            <p:cNvPr id="29" name="TextBox 29"/>
            <p:cNvSpPr txBox="1"/>
            <p:nvPr/>
          </p:nvSpPr>
          <p:spPr>
            <a:xfrm>
              <a:off x="600075" y="6143625"/>
              <a:ext cx="626023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現有估計以 2024–2025 資料為主；2026 資料尚未接入。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04　後續延伸｜近況更新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近況改變，長短期表現怎麼取捨？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29</a:t>
            </a:r>
          </a:p>
        </p:txBody>
      </p:sp>
      <p:grpSp>
        <p:nvGrpSpPr>
          <p:cNvPr id="12" name="recency-question"/>
          <p:cNvGrpSpPr/>
          <p:nvPr/>
        </p:nvGrpSpPr>
        <p:grpSpPr>
          <a:xfrm>
            <a:off x="598170" y="1654175"/>
            <a:ext cx="6686550" cy="440055"/>
            <a:chOff x="598170" y="1654175"/>
            <a:chExt cx="6686550" cy="440055"/>
          </a:xfrm>
        </p:grpSpPr>
        <p:sp>
          <p:nvSpPr>
            <p:cNvPr id="11" name="TextBox 11"/>
            <p:cNvSpPr txBox="1"/>
            <p:nvPr/>
          </p:nvSpPr>
          <p:spPr>
            <a:xfrm>
              <a:off x="598170" y="1654175"/>
              <a:ext cx="66865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近期幾場的好壞，何時足以改變原本的能力估計？</a:t>
              </a:r>
            </a:p>
          </p:txBody>
        </p:sp>
      </p:grpSp>
      <p:grpSp>
        <p:nvGrpSpPr>
          <p:cNvPr id="25" name="recency-illustration"/>
          <p:cNvGrpSpPr/>
          <p:nvPr/>
        </p:nvGrpSpPr>
        <p:grpSpPr>
          <a:xfrm>
            <a:off x="599694" y="2451100"/>
            <a:ext cx="10439781" cy="1613281"/>
            <a:chOff x="599694" y="2451100"/>
            <a:chExt cx="10439781" cy="1613281"/>
          </a:xfrm>
        </p:grpSpPr>
        <p:sp>
          <p:nvSpPr>
            <p:cNvPr id="13" name="TextBox 13"/>
            <p:cNvSpPr txBox="1"/>
            <p:nvPr/>
          </p:nvSpPr>
          <p:spPr>
            <a:xfrm>
              <a:off x="600456" y="2451100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權重概念示意，非現行計算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2886075"/>
              <a:ext cx="1285875" cy="638175"/>
            </a:xfrm>
            <a:prstGeom prst="rect">
              <a:avLst/>
            </a:prstGeom>
            <a:solidFill>
              <a:srgbClr val="E9E3D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133600" y="2886075"/>
              <a:ext cx="1285875" cy="638175"/>
            </a:xfrm>
            <a:prstGeom prst="rect">
              <a:avLst/>
            </a:prstGeom>
            <a:solidFill>
              <a:srgbClr val="D8DDE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3657600" y="2886075"/>
              <a:ext cx="1285875" cy="638175"/>
            </a:xfrm>
            <a:prstGeom prst="rect">
              <a:avLst/>
            </a:prstGeom>
            <a:solidFill>
              <a:srgbClr val="B6C3C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181600" y="2886075"/>
              <a:ext cx="1285875" cy="638175"/>
            </a:xfrm>
            <a:prstGeom prst="rect">
              <a:avLst/>
            </a:prstGeom>
            <a:solidFill>
              <a:srgbClr val="8C9FA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705600" y="2886075"/>
              <a:ext cx="1285875" cy="638175"/>
            </a:xfrm>
            <a:prstGeom prst="rect">
              <a:avLst/>
            </a:prstGeom>
            <a:solidFill>
              <a:srgbClr val="607E8F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229600" y="2886075"/>
              <a:ext cx="1285875" cy="638175"/>
            </a:xfrm>
            <a:prstGeom prst="rect">
              <a:avLst/>
            </a:prstGeom>
            <a:solidFill>
              <a:srgbClr val="36576D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9753600" y="2886075"/>
              <a:ext cx="1285875" cy="638175"/>
            </a:xfrm>
            <a:prstGeom prst="rect">
              <a:avLst/>
            </a:prstGeom>
            <a:solidFill>
              <a:srgbClr val="18344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9694" y="36830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較舊的比賽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2876550" y="3800475"/>
              <a:ext cx="6610350" cy="9525"/>
            </a:xfrm>
            <a:custGeom>
              <a:avLst/>
              <a:gdLst/>
              <a:ahLst/>
              <a:cxnLst/>
              <a:rect l="l" t="t" r="r" b="b"/>
              <a:pathLst>
                <a:path w="6610350" h="9525">
                  <a:moveTo>
                    <a:pt x="0" y="0"/>
                  </a:moveTo>
                  <a:lnTo>
                    <a:pt x="66103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9486900" y="37433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96094" y="368300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近期比賽</a:t>
              </a:r>
            </a:p>
          </p:txBody>
        </p:sp>
      </p:grpSp>
      <p:grpSp>
        <p:nvGrpSpPr>
          <p:cNvPr id="28" name="long-term-evidence"/>
          <p:cNvGrpSpPr/>
          <p:nvPr/>
        </p:nvGrpSpPr>
        <p:grpSpPr>
          <a:xfrm>
            <a:off x="597789" y="4397375"/>
            <a:ext cx="4373016" cy="948500"/>
            <a:chOff x="597789" y="4397375"/>
            <a:chExt cx="4373016" cy="948500"/>
          </a:xfrm>
        </p:grpSpPr>
        <p:sp>
          <p:nvSpPr>
            <p:cNvPr id="26" name="TextBox 26"/>
            <p:cNvSpPr txBox="1"/>
            <p:nvPr/>
          </p:nvSpPr>
          <p:spPr>
            <a:xfrm>
              <a:off x="597789" y="4397375"/>
              <a:ext cx="345912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長期能力：保留穩定基準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9313" y="4949825"/>
              <a:ext cx="43714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樣本少時，避免幾場表現主導估計。</a:t>
              </a:r>
            </a:p>
          </p:txBody>
        </p:sp>
      </p:grpSp>
      <p:grpSp>
        <p:nvGrpSpPr>
          <p:cNvPr id="31" name="short-term-evidence"/>
          <p:cNvGrpSpPr/>
          <p:nvPr/>
        </p:nvGrpSpPr>
        <p:grpSpPr>
          <a:xfrm>
            <a:off x="6236589" y="4397375"/>
            <a:ext cx="4373016" cy="948500"/>
            <a:chOff x="6236589" y="4397375"/>
            <a:chExt cx="4373016" cy="948500"/>
          </a:xfrm>
        </p:grpSpPr>
        <p:sp>
          <p:nvSpPr>
            <p:cNvPr id="29" name="TextBox 29"/>
            <p:cNvSpPr txBox="1"/>
            <p:nvPr/>
          </p:nvSpPr>
          <p:spPr>
            <a:xfrm>
              <a:off x="6236589" y="4397375"/>
              <a:ext cx="408376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短期狀態：檢查更新是否有用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38113" y="4949825"/>
              <a:ext cx="43714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比較更新規則，再用後續月份檢驗。</a:t>
              </a:r>
            </a:p>
          </p:txBody>
        </p:sp>
      </p:grpSp>
      <p:grpSp>
        <p:nvGrpSpPr>
          <p:cNvPr id="34" name="recency-state"/>
          <p:cNvGrpSpPr/>
          <p:nvPr/>
        </p:nvGrpSpPr>
        <p:grpSpPr>
          <a:xfrm>
            <a:off x="600075" y="6029325"/>
            <a:ext cx="10982325" cy="462915"/>
            <a:chOff x="600075" y="6029325"/>
            <a:chExt cx="10982325" cy="462915"/>
          </a:xfrm>
        </p:grpSpPr>
        <p:sp>
          <p:nvSpPr>
            <p:cNvPr id="32" name="Line 32"/>
            <p:cNvSpPr/>
            <p:nvPr/>
          </p:nvSpPr>
          <p:spPr>
            <a:xfrm>
              <a:off x="609600" y="602932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0075" y="6124575"/>
              <a:ext cx="584001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既有驗證尚不足支持時間衰減，現行仍採固定權重。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54355" y="250793"/>
            <a:ext cx="10972800" cy="1063657"/>
            <a:chOff x="554355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04　後續延伸｜牛棚接續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54355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481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現在換投，後面幾局還有人可用嗎？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grpSp>
        <p:nvGrpSpPr>
          <p:cNvPr id="12" name="bullpen-gap"/>
          <p:cNvGrpSpPr/>
          <p:nvPr/>
        </p:nvGrpSpPr>
        <p:grpSpPr>
          <a:xfrm>
            <a:off x="598170" y="1663700"/>
            <a:ext cx="6686550" cy="440055"/>
            <a:chOff x="598170" y="1663700"/>
            <a:chExt cx="6686550" cy="440055"/>
          </a:xfrm>
        </p:grpSpPr>
        <p:sp>
          <p:nvSpPr>
            <p:cNvPr id="11" name="TextBox 11"/>
            <p:cNvSpPr txBox="1"/>
            <p:nvPr/>
          </p:nvSpPr>
          <p:spPr>
            <a:xfrm>
              <a:off x="598170" y="1663700"/>
              <a:ext cx="66865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現行只估計接下來三棒，尚未比較多局牛棚接續。</a:t>
              </a:r>
            </a:p>
          </p:txBody>
        </p:sp>
      </p:grpSp>
      <p:grpSp>
        <p:nvGrpSpPr>
          <p:cNvPr id="39" name="bullpen-sequences"/>
          <p:cNvGrpSpPr/>
          <p:nvPr/>
        </p:nvGrpSpPr>
        <p:grpSpPr>
          <a:xfrm>
            <a:off x="596646" y="2403475"/>
            <a:ext cx="10357104" cy="2831084"/>
            <a:chOff x="596646" y="2403475"/>
            <a:chExt cx="10357104" cy="2831084"/>
          </a:xfrm>
        </p:grpSpPr>
        <p:sp>
          <p:nvSpPr>
            <p:cNvPr id="13" name="TextBox 13"/>
            <p:cNvSpPr txBox="1"/>
            <p:nvPr/>
          </p:nvSpPr>
          <p:spPr>
            <a:xfrm>
              <a:off x="600075" y="241935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出場順序示意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10278" y="2403475"/>
              <a:ext cx="8854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第 7 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77278" y="2403475"/>
              <a:ext cx="8854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第 8 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44278" y="2403475"/>
              <a:ext cx="8854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第 9 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96646" y="3244850"/>
              <a:ext cx="11406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先用 A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286250" y="3009900"/>
              <a:ext cx="1333500" cy="809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704812" y="3114675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A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953250" y="3009900"/>
              <a:ext cx="1333500" cy="809625"/>
            </a:xfrm>
            <a:prstGeom prst="rect">
              <a:avLst/>
            </a:prstGeom>
            <a:solidFill>
              <a:srgbClr val="18344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389355" y="3114675"/>
              <a:ext cx="461290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B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620250" y="3009900"/>
              <a:ext cx="1333500" cy="809625"/>
            </a:xfrm>
            <a:prstGeom prst="rect">
              <a:avLst/>
            </a:prstGeom>
            <a:solidFill>
              <a:srgbClr val="9A611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038812" y="3114675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C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5810250" y="3419475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6667500" y="33623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  <p:sp>
          <p:nvSpPr>
            <p:cNvPr id="26" name="Line 26"/>
            <p:cNvSpPr/>
            <p:nvPr/>
          </p:nvSpPr>
          <p:spPr>
            <a:xfrm>
              <a:off x="8477250" y="3419475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9334500" y="33623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96646" y="4645025"/>
              <a:ext cx="11406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保留 A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286250" y="4410075"/>
              <a:ext cx="1333500" cy="809625"/>
            </a:xfrm>
            <a:prstGeom prst="rect">
              <a:avLst/>
            </a:prstGeom>
            <a:solidFill>
              <a:srgbClr val="18344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722355" y="4514850"/>
              <a:ext cx="461290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953250" y="4410075"/>
              <a:ext cx="1333500" cy="809625"/>
            </a:xfrm>
            <a:prstGeom prst="rect">
              <a:avLst/>
            </a:prstGeom>
            <a:solidFill>
              <a:srgbClr val="9A611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371812" y="4514850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C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620250" y="4410075"/>
              <a:ext cx="1333500" cy="809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038812" y="4514850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A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5810250" y="4819650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6667500" y="4762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  <p:sp>
          <p:nvSpPr>
            <p:cNvPr id="37" name="Line 37"/>
            <p:cNvSpPr/>
            <p:nvPr/>
          </p:nvSpPr>
          <p:spPr>
            <a:xfrm>
              <a:off x="8477250" y="4819650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9334500" y="4762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</p:grpSp>
      <p:grpSp>
        <p:nvGrpSpPr>
          <p:cNvPr id="42" name="bullpen-direction"/>
          <p:cNvGrpSpPr/>
          <p:nvPr/>
        </p:nvGrpSpPr>
        <p:grpSpPr>
          <a:xfrm>
            <a:off x="596646" y="5657850"/>
            <a:ext cx="8110816" cy="862965"/>
            <a:chOff x="596646" y="5657850"/>
            <a:chExt cx="8110816" cy="862965"/>
          </a:xfrm>
        </p:grpSpPr>
        <p:sp>
          <p:nvSpPr>
            <p:cNvPr id="40" name="TextBox 40"/>
            <p:cNvSpPr txBox="1"/>
            <p:nvPr/>
          </p:nvSpPr>
          <p:spPr>
            <a:xfrm>
              <a:off x="596646" y="5657850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延伸方向：一次比較多局的牛棚接續方案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0075" y="6153150"/>
              <a:ext cx="810738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把可用名單與預計投球數納入限制；A、B、C 為不同後援投手的示意。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601980" y="266700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12700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B54836"/>
                </a:solidFill>
                <a:latin typeface="Times New Roman"/>
                <a:ea typeface="DFKai-SB"/>
                <a:cs typeface="Times New Roman"/>
              </a:rPr>
              <a:t>研究依據</a:t>
            </a:r>
          </a:p>
        </p:txBody>
      </p:sp>
      <p:sp>
        <p:nvSpPr>
          <p:cNvPr id="3" name="TextBox 3"/>
          <p:cNvSpPr/>
          <p:nvPr/>
        </p:nvSpPr>
        <p:spPr>
          <a:xfrm>
            <a:off x="609600" y="571500"/>
            <a:ext cx="10972800" cy="666750"/>
          </a:xfrm>
          <a:prstGeom prst="rect">
            <a:avLst/>
          </a:prstGeom>
          <a:noFill/>
          <a:ln>
            <a:noFill/>
          </a:ln>
        </p:spPr>
        <p:txBody>
          <a:bodyPr wrap="none" lIns="0" tIns="22225" rIns="0" bIns="0" anchor="t" anchorCtr="0">
            <a:noAutofit/>
          </a:bodyPr>
          <a:lstStyle/>
          <a:p>
            <a:pPr algn="l"/>
            <a:r>
              <a:rPr lang="zh-TW" sz="330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對決估計與預測評估的研究依據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1266825"/>
            <a:ext cx="3429000" cy="47625"/>
          </a:xfrm>
          <a:prstGeom prst="rect">
            <a:avLst/>
          </a:prstGeom>
          <a:solidFill>
            <a:srgbClr val="B54836"/>
          </a:solidFill>
          <a:ln>
            <a:noFill/>
          </a:ln>
        </p:spPr>
      </p:sp>
      <p:sp>
        <p:nvSpPr>
          <p:cNvPr id="5" name="TextBox 5"/>
          <p:cNvSpPr/>
          <p:nvPr/>
        </p:nvSpPr>
        <p:spPr>
          <a:xfrm>
            <a:off x="11373422" y="6445282"/>
            <a:ext cx="20897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-6858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31</a:t>
            </a:r>
          </a:p>
        </p:txBody>
      </p:sp>
      <p:sp>
        <p:nvSpPr>
          <p:cNvPr id="6" name="TextBox 6"/>
          <p:cNvSpPr/>
          <p:nvPr/>
        </p:nvSpPr>
        <p:spPr>
          <a:xfrm>
            <a:off x="600075" y="1571625"/>
            <a:ext cx="7219379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[1] Efron &amp; Morris（1975）｜JASA 70(350), 311–319</a:t>
            </a:r>
          </a:p>
        </p:txBody>
      </p:sp>
      <p:sp>
        <p:nvSpPr>
          <p:cNvPr id="7" name="TextBox 7"/>
          <p:cNvSpPr/>
          <p:nvPr/>
        </p:nvSpPr>
        <p:spPr>
          <a:xfrm>
            <a:off x="601599" y="1952625"/>
            <a:ext cx="700097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sz="158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Data Analysis Using Stein’s Estimator and its Generalizations</a:t>
            </a:r>
          </a:p>
        </p:txBody>
      </p:sp>
      <p:sp>
        <p:nvSpPr>
          <p:cNvPr id="8" name="TextBox 8"/>
          <p:cNvSpPr/>
          <p:nvPr/>
        </p:nvSpPr>
        <p:spPr>
          <a:xfrm>
            <a:off x="600456" y="2289143"/>
            <a:ext cx="670988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1D2934"/>
                </a:solidFill>
                <a:latin typeface="Times New Roman"/>
                <a:ea typeface="DFKai-SB"/>
                <a:cs typeface="Times New Roman"/>
              </a:rPr>
              <a:t>小樣本估計向整體收縮，作為部分池化的研究依據。</a:t>
            </a:r>
          </a:p>
        </p:txBody>
      </p:sp>
      <p:sp>
        <p:nvSpPr>
          <p:cNvPr id="9" name="TextBox 9">
            <a:hlinkClick r:id="rId2"/>
          </p:cNvPr>
          <p:cNvSpPr/>
          <p:nvPr/>
        </p:nvSpPr>
        <p:spPr>
          <a:xfrm>
            <a:off x="602361" y="2679668"/>
            <a:ext cx="435730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en-US" sz="1420" dirty="0">
                <a:solidFill>
                  <a:srgbClr val="B54836"/>
                </a:solidFill>
                <a:latin typeface="Times New Roman"/>
                <a:ea typeface="Times New Roman"/>
                <a:cs typeface="Times New Roman"/>
              </a:rPr>
              <a:t>DOI: 10.1080/01621459.1975.10479864</a:t>
            </a:r>
          </a:p>
        </p:txBody>
      </p:sp>
      <p:sp>
        <p:nvSpPr>
          <p:cNvPr id="10" name="Line 10"/>
          <p:cNvSpPr/>
          <p:nvPr/>
        </p:nvSpPr>
        <p:spPr>
          <a:xfrm>
            <a:off x="609600" y="30099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11" name="TextBox 11"/>
          <p:cNvSpPr/>
          <p:nvPr/>
        </p:nvSpPr>
        <p:spPr>
          <a:xfrm>
            <a:off x="600075" y="3038475"/>
            <a:ext cx="7362730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[2] Efron（1979）｜The Annals of Statistics 7(1), 1–26</a:t>
            </a:r>
          </a:p>
        </p:txBody>
      </p:sp>
      <p:sp>
        <p:nvSpPr>
          <p:cNvPr id="12" name="TextBox 12"/>
          <p:cNvSpPr/>
          <p:nvPr/>
        </p:nvSpPr>
        <p:spPr>
          <a:xfrm>
            <a:off x="601599" y="3419475"/>
            <a:ext cx="5705284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sz="158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Bootstrap Methods: Another Look at the Jackknife</a:t>
            </a:r>
          </a:p>
        </p:txBody>
      </p:sp>
      <p:sp>
        <p:nvSpPr>
          <p:cNvPr id="13" name="TextBox 13"/>
          <p:cNvSpPr/>
          <p:nvPr/>
        </p:nvSpPr>
        <p:spPr>
          <a:xfrm>
            <a:off x="600456" y="3755993"/>
            <a:ext cx="70006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1D2934"/>
                </a:solidFill>
                <a:latin typeface="Times New Roman"/>
                <a:ea typeface="DFKai-SB"/>
                <a:cs typeface="Times New Roman"/>
              </a:rPr>
              <a:t>以比賽重抽樣描述變動；觀察區間不代表換人收益。</a:t>
            </a:r>
          </a:p>
        </p:txBody>
      </p:sp>
      <p:sp>
        <p:nvSpPr>
          <p:cNvPr id="14" name="TextBox 14">
            <a:hlinkClick r:id="rId3"/>
          </p:cNvPr>
          <p:cNvSpPr/>
          <p:nvPr/>
        </p:nvSpPr>
        <p:spPr>
          <a:xfrm>
            <a:off x="602361" y="4146518"/>
            <a:ext cx="324392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en-US" sz="1420" dirty="0">
                <a:solidFill>
                  <a:srgbClr val="B54836"/>
                </a:solidFill>
                <a:latin typeface="Times New Roman"/>
                <a:ea typeface="Times New Roman"/>
                <a:cs typeface="Times New Roman"/>
              </a:rPr>
              <a:t>DOI: 10.1214/aos/1176344552</a:t>
            </a:r>
          </a:p>
        </p:txBody>
      </p:sp>
      <p:sp>
        <p:nvSpPr>
          <p:cNvPr id="15" name="Line 15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16" name="TextBox 16"/>
          <p:cNvSpPr/>
          <p:nvPr/>
        </p:nvSpPr>
        <p:spPr>
          <a:xfrm>
            <a:off x="600075" y="4505325"/>
            <a:ext cx="7953375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[3] Gneiting &amp; Raftery（2007）｜JASA 102(477), 359–378</a:t>
            </a:r>
          </a:p>
        </p:txBody>
      </p:sp>
      <p:sp>
        <p:nvSpPr>
          <p:cNvPr id="17" name="TextBox 17"/>
          <p:cNvSpPr/>
          <p:nvPr/>
        </p:nvSpPr>
        <p:spPr>
          <a:xfrm>
            <a:off x="601599" y="4886325"/>
            <a:ext cx="6432994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sz="158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Strictly Proper Scoring Rules, Prediction, and Estimation</a:t>
            </a:r>
          </a:p>
        </p:txBody>
      </p:sp>
      <p:sp>
        <p:nvSpPr>
          <p:cNvPr id="18" name="TextBox 18"/>
          <p:cNvSpPr/>
          <p:nvPr/>
        </p:nvSpPr>
        <p:spPr>
          <a:xfrm>
            <a:off x="600456" y="5222843"/>
            <a:ext cx="785745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1D2934"/>
                </a:solidFill>
                <a:latin typeface="Times New Roman"/>
                <a:ea typeface="DFKai-SB"/>
                <a:cs typeface="Times New Roman"/>
              </a:rPr>
              <a:t>RE24 以 MSE 比較；逐球機率另驗證，不混用指標。</a:t>
            </a:r>
          </a:p>
        </p:txBody>
      </p:sp>
      <p:sp>
        <p:nvSpPr>
          <p:cNvPr id="19" name="TextBox 19">
            <a:hlinkClick r:id="rId4"/>
          </p:cNvPr>
          <p:cNvSpPr/>
          <p:nvPr/>
        </p:nvSpPr>
        <p:spPr>
          <a:xfrm>
            <a:off x="602361" y="5613368"/>
            <a:ext cx="395306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en-US" sz="1420" dirty="0">
                <a:solidFill>
                  <a:srgbClr val="B54836"/>
                </a:solidFill>
                <a:latin typeface="Times New Roman"/>
                <a:ea typeface="Times New Roman"/>
                <a:cs typeface="Times New Roman"/>
              </a:rPr>
              <a:t>DOI: 10.1198/016214506000001437</a:t>
            </a:r>
          </a:p>
        </p:txBody>
      </p:sp>
      <p:sp>
        <p:nvSpPr>
          <p:cNvPr id="20" name="Line 20"/>
          <p:cNvSpPr/>
          <p:nvPr/>
        </p:nvSpPr>
        <p:spPr>
          <a:xfrm>
            <a:off x="609600" y="5943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21" name="TextBox 21"/>
          <p:cNvSpPr/>
          <p:nvPr/>
        </p:nvSpPr>
        <p:spPr>
          <a:xfrm>
            <a:off x="601980" y="5981700"/>
            <a:ext cx="7082790" cy="29337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losing"/>
          <p:cNvGrpSpPr/>
          <p:nvPr/>
        </p:nvGrpSpPr>
        <p:grpSpPr>
          <a:xfrm>
            <a:off x="590550" y="1390650"/>
            <a:ext cx="6553200" cy="2114550"/>
            <a:chOff x="590550" y="1390650"/>
            <a:chExt cx="6553200" cy="2114550"/>
          </a:xfrm>
        </p:grpSpPr>
        <p:sp>
          <p:nvSpPr>
            <p:cNvPr id="2" name="TextBox 2"/>
            <p:cNvSpPr/>
            <p:nvPr/>
          </p:nvSpPr>
          <p:spPr>
            <a:xfrm>
              <a:off x="590550" y="1390650"/>
              <a:ext cx="6553200" cy="2114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7950"/>
                </a:lnSpc>
              </a:pPr>
              <a: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換人之前，</a:t>
              </a:r>
              <a:b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先看清差距與代價。</a:t>
              </a:r>
            </a:p>
          </p:txBody>
        </p:sp>
      </p:grpSp>
      <p:grpSp>
        <p:nvGrpSpPr>
          <p:cNvPr id="6" name="team"/>
          <p:cNvGrpSpPr/>
          <p:nvPr/>
        </p:nvGrpSpPr>
        <p:grpSpPr>
          <a:xfrm>
            <a:off x="592836" y="3822668"/>
            <a:ext cx="6197346" cy="1134618"/>
            <a:chOff x="592836" y="3822668"/>
            <a:chExt cx="6197346" cy="1134618"/>
          </a:xfrm>
        </p:grpSpPr>
        <p:sp>
          <p:nvSpPr>
            <p:cNvPr id="4" name="TextBox 4"/>
            <p:cNvSpPr/>
            <p:nvPr/>
          </p:nvSpPr>
          <p:spPr>
            <a:xfrm>
              <a:off x="592836" y="3822668"/>
              <a:ext cx="17814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一球兩面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4546568"/>
              <a:ext cx="61912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蘇櫟、陳信安</a:t>
              </a:r>
            </a:p>
          </p:txBody>
        </p:sp>
      </p:grpSp>
      <p:grpSp>
        <p:nvGrpSpPr>
          <p:cNvPr id="8" name="baseball"/>
          <p:cNvGrpSpPr/>
          <p:nvPr/>
        </p:nvGrpSpPr>
        <p:grpSpPr>
          <a:xfrm>
            <a:off x="8858250" y="2095500"/>
            <a:ext cx="2762250" cy="2762250"/>
            <a:chOff x="8858250" y="2095500"/>
            <a:chExt cx="2762250" cy="2762250"/>
          </a:xfrm>
        </p:grpSpPr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8250" y="2095500"/>
              <a:ext cx="2762250" cy="2762250"/>
            </a:xfrm>
            <a:prstGeom prst="rect">
              <a:avLst/>
            </a:prstGeom>
          </p:spPr>
        </p:pic>
      </p:grpSp>
      <p:sp>
        <p:nvSpPr>
          <p:cNvPr id="12" name="TextBox 12"/>
          <p:cNvSpPr/>
          <p:nvPr/>
        </p:nvSpPr>
        <p:spPr>
          <a:xfrm>
            <a:off x="11375612" y="6445282"/>
            <a:ext cx="21364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32</a:t>
            </a:r>
          </a:p>
        </p:txBody>
      </p:sp>
      <p:grpSp>
        <p:nvGrpSpPr>
          <p:cNvPr id="13" name="visible-project-urls"/>
          <p:cNvGrpSpPr/>
          <p:nvPr/>
        </p:nvGrpSpPr>
        <p:grpSpPr>
          <a:xfrm>
            <a:off x="2673477" y="5502307"/>
            <a:ext cx="6845046" cy="829056"/>
            <a:chOff x="2673477" y="5502307"/>
            <a:chExt cx="6845046" cy="829056"/>
          </a:xfrm>
        </p:grpSpPr>
        <p:sp>
          <p:nvSpPr>
            <p:cNvPr id="10" name="TextBox 10">
              <a:hlinkClick r:id="rId3"/>
            </p:cNvPr>
            <p:cNvSpPr/>
            <p:nvPr/>
          </p:nvSpPr>
          <p:spPr>
            <a:xfrm>
              <a:off x="2999708" y="5502307"/>
              <a:ext cx="61925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網站 https://da-xiong-chen.github.io/baseball_project/</a:t>
              </a:r>
            </a:p>
          </p:txBody>
        </p:sp>
        <p:sp>
          <p:nvSpPr>
            <p:cNvPr id="11" name="TextBox 11">
              <a:hlinkClick r:id="rId4"/>
            </p:cNvPr>
            <p:cNvSpPr/>
            <p:nvPr/>
          </p:nvSpPr>
          <p:spPr>
            <a:xfrm>
              <a:off x="2673477" y="5949982"/>
              <a:ext cx="68450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原始碼 https://github.com/Da-Xiong-Chen/baseball_project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aseball_competition_polished19">
  <a:themeElements>
    <a:clrScheme name="baseball_competition_polished19">
      <a:dk1>
        <a:srgbClr val="1D2934"/>
      </a:dk1>
      <a:lt1>
        <a:srgbClr val="F7F5EF"/>
      </a:lt1>
      <a:dk2>
        <a:srgbClr val="1F497D"/>
      </a:dk2>
      <a:lt2>
        <a:srgbClr val="ECE5D9"/>
      </a:lt2>
      <a:accent1>
        <a:srgbClr val="18344A"/>
      </a:accent1>
      <a:accent2>
        <a:srgbClr val="B54836"/>
      </a:accent2>
      <a:accent3>
        <a:srgbClr val="9A6118"/>
      </a:accent3>
      <a:accent4>
        <a:srgbClr val="18344A"/>
      </a:accent4>
      <a:accent5>
        <a:srgbClr val="58616B"/>
      </a:accent5>
      <a:accent6>
        <a:srgbClr val="D7D1C5"/>
      </a:accent6>
      <a:hlink>
        <a:srgbClr val="B54836"/>
      </a:hlink>
      <a:folHlink>
        <a:srgbClr val="9A6118"/>
      </a:folHlink>
    </a:clrScheme>
    <a:fontScheme name="baseball_competition_polished19">
      <a:majorFont>
        <a:latin typeface="Times New Roman"/>
        <a:ea typeface="標楷體"/>
        <a:cs typeface="Times New Roman"/>
        <a:font script="Jpan" typeface="標楷體"/>
        <a:font script="Hang" typeface="標楷體"/>
        <a:font script="Hans" typeface="標楷體"/>
        <a:font script="Hant" typeface="標楷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標楷體"/>
        <a:cs typeface="Times New Roman"/>
        <a:font script="Jpan" typeface="標楷體"/>
        <a:font script="Hang" typeface="標楷體"/>
        <a:font script="Hans" typeface="標楷體"/>
        <a:font script="Hant" typeface="標楷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aseball_competition_polished1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Office PowerPoint</ns0:Application>
  <ns0:PresentationFormat>On-screen Show (16:9)</ns0:PresentationFormat>
  <ns0:Paragraphs>0</ns0:Paragraphs>
  <ns0:Slides>32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2026-10-15T13:31:12Z</dcterms:created>
  <dcterms:modified xsi:type="dcterms:W3CDTF">2026-10-15T13:31:12Z</dcterms:modified>
  <cp:category/>
  <cp:contentStatus/>
</cp:coreProperties>
</file>