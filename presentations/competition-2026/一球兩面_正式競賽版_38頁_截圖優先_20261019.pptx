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16x9"/>
  <p:notesSz cx="6858000" cy="9144000"/>
  <p:defaultTextStyle>
    <a:defPPr>
      <a:defRPr lang="zh-TW" altLang="en-US">
        <a:latin typeface="Times New Roman"/>
        <a:ea typeface="標楷體"/>
        <a:cs typeface="Times New Roman"/>
      </a:defRPr>
    </a:defPPr>
    <a:lvl1pPr marL="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1pPr>
    <a:lvl2pPr marL="4572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2pPr>
    <a:lvl3pPr marL="9144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3pPr>
    <a:lvl4pPr marL="13716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4pPr>
    <a:lvl5pPr marL="18288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5pPr>
    <a:lvl6pPr marL="22860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6pPr>
    <a:lvl7pPr marL="27432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7pPr>
    <a:lvl8pPr marL="32004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8pPr>
    <a:lvl9pPr marL="36576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Relationship Id="rId39" Type="http://schemas.openxmlformats.org/officeDocument/2006/relationships/slide" Target="slides/slide33.xml" /><Relationship Id="rId40" Type="http://schemas.openxmlformats.org/officeDocument/2006/relationships/slide" Target="slides/slide34.xml" /><Relationship Id="rId41" Type="http://schemas.openxmlformats.org/officeDocument/2006/relationships/slide" Target="slides/slide35.xml" /><Relationship Id="rId42" Type="http://schemas.openxmlformats.org/officeDocument/2006/relationships/slide" Target="slides/slide36.xml" /><Relationship Id="rId43" Type="http://schemas.openxmlformats.org/officeDocument/2006/relationships/slide" Target="slides/slide37.xml" /><Relationship Id="rId44" Type="http://schemas.openxmlformats.org/officeDocument/2006/relationships/slide" Target="slides/slide38.xml" 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aseball_competition_polished1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 altLang="en-US">
                <a:latin typeface="Times New Roman"/>
                <a:ea typeface="標楷體"/>
                <a:cs typeface="Times New Roman"/>
              </a:rPr>
              <a:t>1/27/13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 altLang="en-US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aseball_competition_polished1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5BCAD085-E8A6-8845-BD4E-CB4CCA059FC4}" type="datetimeFigureOut">
              <a:rPr lang="zh-TW" smtClean="0" altLang="en-US">
                <a:latin typeface="Times New Roman"/>
                <a:ea typeface="標楷體"/>
                <a:cs typeface="Times New Roman"/>
              </a:rPr>
              <a:t>1/27/13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C1FF6DA9-008F-8B48-92A6-B652298478BF}" type="slidenum">
              <a:rPr lang="zh-TW" smtClean="0" altLang="en-US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9pPr>
    </p:bodyStyle>
    <p:otherStyle>
      <a:defPPr>
        <a:defRPr lang="zh-TW" altLang="en-US">
          <a:latin typeface="Times New Roman"/>
          <a:ea typeface="標楷體"/>
          <a:cs typeface="Times New Roman"/>
        </a:defRPr>
      </a:defPPr>
      <a:lvl1pPr marL="0" algn="l" defTabSz="457200" rtl="0" eaLnBrk="1" latinLnBrk="0" hangingPunct="1">
        <a:defRPr sz="21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457200" algn="l" defTabSz="457200" rtl="0" eaLnBrk="1" latinLnBrk="0" hangingPunct="1">
        <a:defRPr sz="19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914400" algn="l" defTabSz="457200" rtl="0" eaLnBrk="1" latinLnBrk="0" hangingPunct="1">
        <a:defRPr sz="18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371600" algn="l" defTabSz="457200" rtl="0" eaLnBrk="1" latinLnBrk="0" hangingPunct="1">
        <a:defRPr sz="17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1828800" algn="l" defTabSz="457200" rtl="0" eaLnBrk="1" latinLnBrk="0" hangingPunct="1">
        <a:defRPr sz="16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286000" algn="l" defTabSz="457200" rtl="0" eaLnBrk="1" latinLnBrk="0" hangingPunct="1">
        <a:defRPr sz="14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743200" algn="l" defTabSz="457200" rtl="0" eaLnBrk="1" latinLnBrk="0" hangingPunct="1">
        <a:defRPr sz="1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200400" algn="l" defTabSz="457200" rtl="0" eaLnBrk="1" latinLnBrk="0" hangingPunct="1">
        <a:defRPr sz="12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657600" algn="l" defTabSz="457200" rtl="0" eaLnBrk="1" latinLnBrk="0" hangingPunct="1">
        <a:defRPr sz="10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9pPr>
    </p:otherStyle>
  </p:txStyles>
</p:sldMaster>
</file>

<file path=ppt/slides/_rels/slide1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Relationship Id="rId3" Type="http://schemas.openxmlformats.org/officeDocument/2006/relationships/hyperlink" Target="https://da-xiong-chen.github.io/baseball_project/" TargetMode="External" /><Relationship Id="rId4" Type="http://schemas.openxmlformats.org/officeDocument/2006/relationships/hyperlink" Target="https://github.com/Da-Xiong-Chen/baseball_project" TargetMode="Externa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a60d4a4917b83df9.png" /></Relationships>
</file>

<file path=ppt/slides/_rels/slide5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0a12378abd96a74d.jpg" /><Relationship Id="rId3" Type="http://schemas.openxmlformats.org/officeDocument/2006/relationships/image" Target="../media/image_f266a76a38381693.jp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c91a2656de9a11fe.jp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2311dc7b7b40ca75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_86e866df19cbbe22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_14c4e86453a820a9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_c9bd71b8c2bc12fc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a69731a2453d3d2.pn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9626dfeeeefaa87.png" /></Relationships>
</file>

<file path=ppt/slides/_rels/slide24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270f4c408850e89.jp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165523efa96f3990.pn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1676326fc1c0630.png" /></Relationships>
</file>

<file path=ppt/slides/_rels/slide28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1ac4e4a85b691c4.jpg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7f229dc6dcdb260c.png" /><Relationship Id="rId3" Type="http://schemas.microsoft.com/office/2007/relationships/media" Target="../media/media1.mp4" /><Relationship Id="rId4" Type="http://schemas.openxmlformats.org/officeDocument/2006/relationships/video" Target="../media/media1.mp4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hyperlink" Target="https://doi.org/10.1080/01621459.1975.10479864" TargetMode="External" /><Relationship Id="rId3" Type="http://schemas.openxmlformats.org/officeDocument/2006/relationships/hyperlink" Target="https://doi.org/10.1214/aos/1176344552" TargetMode="External" /><Relationship Id="rId4" Type="http://schemas.openxmlformats.org/officeDocument/2006/relationships/hyperlink" Target="https://doi.org/10.1198/016214506000001437" TargetMode="External" /></Relationships>
</file>

<file path=ppt/slides/_rels/slide38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44de3d25c6c01d2f.png" /><Relationship Id="rId3" Type="http://schemas.openxmlformats.org/officeDocument/2006/relationships/hyperlink" Target="https://da-xiong-chen.github.io/baseball_project/" TargetMode="External" /><Relationship Id="rId4" Type="http://schemas.openxmlformats.org/officeDocument/2006/relationships/hyperlink" Target="https://github.com/Da-Xiong-Chen/baseball_project" TargetMode="Externa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eam"/>
          <p:cNvGrpSpPr/>
          <p:nvPr/>
        </p:nvGrpSpPr>
        <p:grpSpPr>
          <a:xfrm>
            <a:off x="592836" y="488918"/>
            <a:ext cx="4569428" cy="1021271"/>
            <a:chOff x="592836" y="488918"/>
            <a:chExt cx="4569428" cy="1021271"/>
          </a:xfrm>
        </p:grpSpPr>
        <p:sp>
          <p:nvSpPr>
            <p:cNvPr id="2" name="TextBox 2"/>
            <p:cNvSpPr/>
            <p:nvPr/>
          </p:nvSpPr>
          <p:spPr>
            <a:xfrm>
              <a:off x="592836" y="488918"/>
              <a:ext cx="17814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一球兩面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1218" y="1187482"/>
              <a:ext cx="45610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868" rIns="0" bIns="0" anchor="t" anchorCtr="0">
              <a:noAutofit/>
            </a:bodyPr>
            <a:lstStyle/>
            <a:p>
              <a:pPr algn="l"/>
              <a:r>
                <a:rPr lang="zh-TW" sz="158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2026 野革盃 台灣棒球數據黑客松｜參賽提案</a:t>
              </a:r>
            </a:p>
          </p:txBody>
        </p:sp>
      </p:grpSp>
      <p:grpSp>
        <p:nvGrpSpPr>
          <p:cNvPr id="7" name="hero"/>
          <p:cNvGrpSpPr/>
          <p:nvPr/>
        </p:nvGrpSpPr>
        <p:grpSpPr>
          <a:xfrm>
            <a:off x="590550" y="1930432"/>
            <a:ext cx="5561838" cy="1542478"/>
            <a:chOff x="590550" y="1930432"/>
            <a:chExt cx="5561838" cy="1542478"/>
          </a:xfrm>
        </p:grpSpPr>
        <p:sp>
          <p:nvSpPr>
            <p:cNvPr id="5" name="TextBox 5"/>
            <p:cNvSpPr/>
            <p:nvPr/>
          </p:nvSpPr>
          <p:spPr>
            <a:xfrm>
              <a:off x="590550" y="1930432"/>
              <a:ext cx="464210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臨場用人決策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35508" y="3003518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01632" rIns="0" bIns="0" anchor="t" anchorCtr="0">
              <a:noAutofit/>
            </a:bodyPr>
            <a:lstStyle/>
            <a:p>
              <a:pPr algn="l"/>
              <a:r>
                <a:rPr lang="zh-TW" sz="20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以公開中職資料，比較代打與換投人選</a:t>
              </a:r>
            </a:p>
          </p:txBody>
        </p:sp>
      </p:grpSp>
      <p:grpSp>
        <p:nvGrpSpPr>
          <p:cNvPr id="9" name="baseball"/>
          <p:cNvGrpSpPr/>
          <p:nvPr/>
        </p:nvGrpSpPr>
        <p:grpSpPr>
          <a:xfrm>
            <a:off x="8001000" y="1333500"/>
            <a:ext cx="3905250" cy="3905250"/>
            <a:chOff x="8001000" y="1333500"/>
            <a:chExt cx="3905250" cy="3905250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333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12" name="promise"/>
          <p:cNvGrpSpPr/>
          <p:nvPr/>
        </p:nvGrpSpPr>
        <p:grpSpPr>
          <a:xfrm>
            <a:off x="592836" y="3860768"/>
            <a:ext cx="5364480" cy="1191768"/>
            <a:chOff x="592836" y="3860768"/>
            <a:chExt cx="5364480" cy="1191768"/>
          </a:xfrm>
        </p:grpSpPr>
        <p:sp>
          <p:nvSpPr>
            <p:cNvPr id="10" name="TextBox 10"/>
            <p:cNvSpPr/>
            <p:nvPr/>
          </p:nvSpPr>
          <p:spPr>
            <a:xfrm>
              <a:off x="592836" y="3860768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差多少？誰接守？憑什麼？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598932" y="4641818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TW" sz="18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參賽者　蘇櫟、陳信安</a:t>
              </a:r>
            </a:p>
          </p:txBody>
        </p:sp>
      </p:grpSp>
      <p:sp>
        <p:nvSpPr>
          <p:cNvPr id="16" name="TextBox 16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01</a:t>
            </a:r>
          </a:p>
        </p:txBody>
      </p:sp>
      <p:grpSp>
        <p:nvGrpSpPr>
          <p:cNvPr id="14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8" name="TextBox 11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3" name="TextBox 13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原始碼 https://github.com/Da-Xiong-Chen/baseball_project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4920234" cy="1063625"/>
            <a:chOff x="592836" y="250825"/>
            <a:chExt cx="492023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提案內容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49202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從換人情境，到網站實作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</a:t>
            </a:fld>
          </a:p>
        </p:txBody>
      </p:sp>
      <p:grpSp>
        <p:nvGrpSpPr>
          <p:cNvPr id="11" name="agenda-0"/>
          <p:cNvGrpSpPr/>
          <p:nvPr/>
        </p:nvGrpSpPr>
        <p:grpSpPr>
          <a:xfrm>
            <a:off x="609600" y="1889125"/>
            <a:ext cx="5181600" cy="1092200"/>
            <a:chOff x="609600" y="1889125"/>
            <a:chExt cx="5181600" cy="1092200"/>
          </a:xfrm>
        </p:grpSpPr>
        <p:sp>
          <p:nvSpPr>
            <p:cNvPr id="7" name="TextBox 7"/>
            <p:cNvSpPr txBox="1"/>
            <p:nvPr/>
          </p:nvSpPr>
          <p:spPr>
            <a:xfrm>
              <a:off x="641985" y="1889125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54658" y="19272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棒球問題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57325" y="2438400"/>
              <a:ext cx="381533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關鍵打席，如何比較續打與換人？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29718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D7D1C5"/>
              </a:solidFill>
            </a:ln>
          </p:spPr>
        </p:sp>
      </p:grpSp>
      <p:grpSp>
        <p:nvGrpSpPr>
          <p:cNvPr id="16" name="agenda-1"/>
          <p:cNvGrpSpPr/>
          <p:nvPr/>
        </p:nvGrpSpPr>
        <p:grpSpPr>
          <a:xfrm>
            <a:off x="609600" y="3327400"/>
            <a:ext cx="5181600" cy="1092200"/>
            <a:chOff x="609600" y="3327400"/>
            <a:chExt cx="5181600" cy="1092200"/>
          </a:xfrm>
        </p:grpSpPr>
        <p:sp>
          <p:nvSpPr>
            <p:cNvPr id="12" name="TextBox 12"/>
            <p:cNvSpPr txBox="1"/>
            <p:nvPr/>
          </p:nvSpPr>
          <p:spPr>
            <a:xfrm>
              <a:off x="641985" y="3327400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54658" y="336550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使用者與情境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57325" y="3876675"/>
              <a:ext cx="330916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球隊調度討論與球迷情境模擬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4410075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D7D1C5"/>
              </a:solidFill>
            </a:ln>
          </p:spPr>
        </p:sp>
      </p:grpSp>
      <p:grpSp>
        <p:nvGrpSpPr>
          <p:cNvPr id="21" name="agenda-2"/>
          <p:cNvGrpSpPr/>
          <p:nvPr/>
        </p:nvGrpSpPr>
        <p:grpSpPr>
          <a:xfrm>
            <a:off x="609600" y="4765675"/>
            <a:ext cx="5181600" cy="1092200"/>
            <a:chOff x="609600" y="4765675"/>
            <a:chExt cx="5181600" cy="1092200"/>
          </a:xfrm>
        </p:grpSpPr>
        <p:sp>
          <p:nvSpPr>
            <p:cNvPr id="17" name="TextBox 17"/>
            <p:cNvSpPr txBox="1"/>
            <p:nvPr/>
          </p:nvSpPr>
          <p:spPr>
            <a:xfrm>
              <a:off x="641985" y="4765675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54658" y="48037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使用資料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57325" y="531495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逐球、出賽紀錄與守位資訊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" y="58483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D7D1C5"/>
              </a:solidFill>
            </a:ln>
          </p:spPr>
        </p:sp>
      </p:grpSp>
      <p:grpSp>
        <p:nvGrpSpPr>
          <p:cNvPr id="26" name="agenda-3"/>
          <p:cNvGrpSpPr/>
          <p:nvPr/>
        </p:nvGrpSpPr>
        <p:grpSpPr>
          <a:xfrm>
            <a:off x="6248400" y="1889125"/>
            <a:ext cx="5181600" cy="1092200"/>
            <a:chOff x="6248400" y="1889125"/>
            <a:chExt cx="5181600" cy="1092200"/>
          </a:xfrm>
        </p:grpSpPr>
        <p:sp>
          <p:nvSpPr>
            <p:cNvPr id="22" name="TextBox 22"/>
            <p:cNvSpPr txBox="1"/>
            <p:nvPr/>
          </p:nvSpPr>
          <p:spPr>
            <a:xfrm>
              <a:off x="6280785" y="1889125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93458" y="19272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分析方法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96125" y="243840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能力估計、回測與研究依據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248400" y="29718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D7D1C5"/>
              </a:solidFill>
            </a:ln>
          </p:spPr>
        </p:sp>
      </p:grpSp>
      <p:grpSp>
        <p:nvGrpSpPr>
          <p:cNvPr id="31" name="agenda-4"/>
          <p:cNvGrpSpPr/>
          <p:nvPr/>
        </p:nvGrpSpPr>
        <p:grpSpPr>
          <a:xfrm>
            <a:off x="6248400" y="3327400"/>
            <a:ext cx="5181600" cy="1092200"/>
            <a:chOff x="6248400" y="3327400"/>
            <a:chExt cx="5181600" cy="1092200"/>
          </a:xfrm>
        </p:grpSpPr>
        <p:sp>
          <p:nvSpPr>
            <p:cNvPr id="27" name="TextBox 27"/>
            <p:cNvSpPr txBox="1"/>
            <p:nvPr/>
          </p:nvSpPr>
          <p:spPr>
            <a:xfrm>
              <a:off x="6280785" y="3327400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93458" y="33655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網站功能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96125" y="3876675"/>
              <a:ext cx="330916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代打、換投、名單與單日分析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248400" y="4410075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D7D1C5"/>
              </a:solidFill>
            </a:ln>
          </p:spPr>
        </p:sp>
      </p:grpSp>
      <p:grpSp>
        <p:nvGrpSpPr>
          <p:cNvPr id="36" name="agenda-5"/>
          <p:cNvGrpSpPr/>
          <p:nvPr/>
        </p:nvGrpSpPr>
        <p:grpSpPr>
          <a:xfrm>
            <a:off x="6248400" y="4765675"/>
            <a:ext cx="5181600" cy="1092200"/>
            <a:chOff x="6248400" y="4765675"/>
            <a:chExt cx="5181600" cy="1092200"/>
          </a:xfrm>
        </p:grpSpPr>
        <p:sp>
          <p:nvSpPr>
            <p:cNvPr id="32" name="TextBox 32"/>
            <p:cNvSpPr txBox="1"/>
            <p:nvPr/>
          </p:nvSpPr>
          <p:spPr>
            <a:xfrm>
              <a:off x="6280785" y="4765675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3458" y="480377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成果與開發規劃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6125" y="531495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網站現況、試用與資料更新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248400" y="58483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D7D1C5"/>
              </a:solidFill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換人之前，要先回答什麼？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棒球問題、目標使用者與應用創新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5808726" cy="1063625"/>
            <a:chOff x="592836" y="250825"/>
            <a:chExt cx="580872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八局落後一分，要讓誰上場？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4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609600" y="1875654"/>
            <a:ext cx="6191250" cy="1811291"/>
            <a:chOff x="609600" y="1875654"/>
            <a:chExt cx="6191250" cy="1811291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875654"/>
              <a:ext cx="6191250" cy="1811291"/>
            </a:xfrm>
            <a:prstGeom prst="rect">
              <a:avLst/>
            </a:prstGeom>
          </p:spPr>
        </p:pic>
      </p:grpSp>
      <p:grpSp>
        <p:nvGrpSpPr>
          <p:cNvPr id="16" name="base-context"/>
          <p:cNvGrpSpPr/>
          <p:nvPr/>
        </p:nvGrpSpPr>
        <p:grpSpPr>
          <a:xfrm>
            <a:off x="2525649" y="3971925"/>
            <a:ext cx="2282952" cy="2109343"/>
            <a:chOff x="2525649" y="3971925"/>
            <a:chExt cx="2282952" cy="2109343"/>
          </a:xfrm>
        </p:grpSpPr>
        <p:sp>
          <p:nvSpPr>
            <p:cNvPr id="9" name="Polygon 9"/>
            <p:cNvSpPr/>
            <p:nvPr/>
          </p:nvSpPr>
          <p:spPr>
            <a:xfrm>
              <a:off x="3009900" y="4057650"/>
              <a:ext cx="1314450" cy="1314450"/>
            </a:xfrm>
            <a:custGeom>
              <a:avLst/>
              <a:gdLst/>
              <a:ahLst/>
              <a:cxnLst/>
              <a:rect l="l" t="t" r="r" b="b"/>
              <a:pathLst>
                <a:path w="1314450" h="1314450">
                  <a:moveTo>
                    <a:pt x="657225" y="0"/>
                  </a:moveTo>
                  <a:lnTo>
                    <a:pt x="1314450" y="657225"/>
                  </a:lnTo>
                  <a:lnTo>
                    <a:pt x="657225" y="1314450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3581400" y="39719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B54836"/>
            </a:solidFill>
            <a:ln w="19050">
              <a:solidFill>
                <a:srgbClr val="18344A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4238625" y="4629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581400" y="52863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924175" y="4629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619500" y="466725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25649" y="567055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一出局，二壘有人</a:t>
              </a:r>
            </a:p>
          </p:txBody>
        </p:sp>
      </p:grpSp>
      <p:grpSp>
        <p:nvGrpSpPr>
          <p:cNvPr id="20" name="選擇 A"/>
          <p:cNvGrpSpPr/>
          <p:nvPr/>
        </p:nvGrpSpPr>
        <p:grpSpPr>
          <a:xfrm>
            <a:off x="7415022" y="2047875"/>
            <a:ext cx="2744089" cy="1421575"/>
            <a:chOff x="7415022" y="2047875"/>
            <a:chExt cx="2744089" cy="1421575"/>
          </a:xfrm>
        </p:grpSpPr>
        <p:sp>
          <p:nvSpPr>
            <p:cNvPr id="17" name="TextBox 17"/>
            <p:cNvSpPr txBox="1"/>
            <p:nvPr/>
          </p:nvSpPr>
          <p:spPr>
            <a:xfrm>
              <a:off x="7419975" y="2047875"/>
              <a:ext cx="84090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選擇 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15022" y="2457450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林佳緯續打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19213" y="3073400"/>
              <a:ext cx="27398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左打，面對左投魔力藍</a:t>
              </a:r>
            </a:p>
          </p:txBody>
        </p:sp>
      </p:grpSp>
      <p:grpSp>
        <p:nvGrpSpPr>
          <p:cNvPr id="24" name="選擇 B"/>
          <p:cNvGrpSpPr/>
          <p:nvPr/>
        </p:nvGrpSpPr>
        <p:grpSpPr>
          <a:xfrm>
            <a:off x="7415022" y="4200525"/>
            <a:ext cx="3016021" cy="1421575"/>
            <a:chOff x="7415022" y="4200525"/>
            <a:chExt cx="3016021" cy="1421575"/>
          </a:xfrm>
        </p:grpSpPr>
        <p:sp>
          <p:nvSpPr>
            <p:cNvPr id="21" name="TextBox 21"/>
            <p:cNvSpPr txBox="1"/>
            <p:nvPr/>
          </p:nvSpPr>
          <p:spPr>
            <a:xfrm>
              <a:off x="7419975" y="4200525"/>
              <a:ext cx="82298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選擇 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15022" y="4610100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胡金龍代打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19213" y="5226050"/>
              <a:ext cx="30118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右打，承接指定打擊棒次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651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問題與定位｜目標使用者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兩種使用方式，都能評估與安排場上名單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5</a:t>
            </a:fld>
          </a:p>
        </p:txBody>
      </p:sp>
      <p:grpSp>
        <p:nvGrpSpPr>
          <p:cNvPr id="8" name="shot-一般使用者入口"/>
          <p:cNvGrpSpPr/>
          <p:nvPr/>
        </p:nvGrpSpPr>
        <p:grpSpPr>
          <a:xfrm>
            <a:off x="609600" y="1932151"/>
            <a:ext cx="7010400" cy="1431597"/>
            <a:chOff x="609600" y="1932151"/>
            <a:chExt cx="7010400" cy="1431597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932151"/>
              <a:ext cx="7010400" cy="1431597"/>
            </a:xfrm>
            <a:prstGeom prst="rect">
              <a:avLst/>
            </a:prstGeom>
          </p:spPr>
        </p:pic>
      </p:grpSp>
      <p:grpSp>
        <p:nvGrpSpPr>
          <p:cNvPr id="11" name="mode-note-0"/>
          <p:cNvGrpSpPr/>
          <p:nvPr/>
        </p:nvGrpSpPr>
        <p:grpSpPr>
          <a:xfrm>
            <a:off x="8036433" y="1889125"/>
            <a:ext cx="3100959" cy="1324578"/>
            <a:chOff x="8036433" y="1889125"/>
            <a:chExt cx="3100959" cy="1324578"/>
          </a:xfrm>
        </p:grpSpPr>
        <p:sp>
          <p:nvSpPr>
            <p:cNvPr id="9" name="TextBox 9"/>
            <p:cNvSpPr txBox="1"/>
            <p:nvPr/>
          </p:nvSpPr>
          <p:spPr>
            <a:xfrm>
              <a:off x="8036433" y="188912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一般使用者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38338" y="244475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直接選投打、局勢與候選，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也可自行安排九棒。</a:t>
              </a:r>
            </a:p>
          </p:txBody>
        </p:sp>
      </p:grpSp>
      <p:grpSp>
        <p:nvGrpSpPr>
          <p:cNvPr id="13" name="shot-球隊入口"/>
          <p:cNvGrpSpPr/>
          <p:nvPr/>
        </p:nvGrpSpPr>
        <p:grpSpPr>
          <a:xfrm>
            <a:off x="609600" y="4151476"/>
            <a:ext cx="7010400" cy="1431597"/>
            <a:chOff x="609600" y="4151476"/>
            <a:chExt cx="7010400" cy="1431597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4151476"/>
              <a:ext cx="7010400" cy="1431597"/>
            </a:xfrm>
            <a:prstGeom prst="rect">
              <a:avLst/>
            </a:prstGeom>
          </p:spPr>
        </p:pic>
      </p:grpSp>
      <p:grpSp>
        <p:nvGrpSpPr>
          <p:cNvPr id="16" name="mode-note-1"/>
          <p:cNvGrpSpPr/>
          <p:nvPr/>
        </p:nvGrpSpPr>
        <p:grpSpPr>
          <a:xfrm>
            <a:off x="8036433" y="4108450"/>
            <a:ext cx="3100959" cy="1324578"/>
            <a:chOff x="8036433" y="4108450"/>
            <a:chExt cx="3100959" cy="1324578"/>
          </a:xfrm>
        </p:grpSpPr>
        <p:sp>
          <p:nvSpPr>
            <p:cNvPr id="14" name="TextBox 14"/>
            <p:cNvSpPr txBox="1"/>
            <p:nvPr/>
          </p:nvSpPr>
          <p:spPr>
            <a:xfrm>
              <a:off x="8036433" y="410845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8338" y="4664075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先設定九棒、守位與投手，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套用後比較可用替補。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697218" cy="1063625"/>
            <a:chOff x="592836" y="250825"/>
            <a:chExt cx="6697218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把投打數據，放進同一個換人情境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6</a:t>
            </a:fld>
          </a:p>
        </p:txBody>
      </p:sp>
      <p:grpSp>
        <p:nvGrpSpPr>
          <p:cNvPr id="10" name="input-0"/>
          <p:cNvGrpSpPr/>
          <p:nvPr/>
        </p:nvGrpSpPr>
        <p:grpSpPr>
          <a:xfrm>
            <a:off x="609600" y="1828800"/>
            <a:ext cx="3714750" cy="1162050"/>
            <a:chOff x="609600" y="1828800"/>
            <a:chExt cx="3714750" cy="1162050"/>
          </a:xfrm>
        </p:grpSpPr>
        <p:sp>
          <p:nvSpPr>
            <p:cNvPr id="7" name="Rectangle 7"/>
            <p:cNvSpPr/>
            <p:nvPr/>
          </p:nvSpPr>
          <p:spPr>
            <a:xfrm>
              <a:off x="609600" y="1828800"/>
              <a:ext cx="3714750" cy="1162050"/>
            </a:xfrm>
            <a:prstGeom prst="roundRect">
              <a:avLst>
                <a:gd name="adj" fmla="val 9836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6389" y="1958975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投打能力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8294" y="245427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球路適性、左右投打</a:t>
              </a:r>
            </a:p>
          </p:txBody>
        </p:sp>
      </p:grpSp>
      <p:grpSp>
        <p:nvGrpSpPr>
          <p:cNvPr id="14" name="input-1"/>
          <p:cNvGrpSpPr/>
          <p:nvPr/>
        </p:nvGrpSpPr>
        <p:grpSpPr>
          <a:xfrm>
            <a:off x="609600" y="3190875"/>
            <a:ext cx="3714750" cy="1162050"/>
            <a:chOff x="609600" y="3190875"/>
            <a:chExt cx="3714750" cy="1162050"/>
          </a:xfrm>
        </p:grpSpPr>
        <p:sp>
          <p:nvSpPr>
            <p:cNvPr id="11" name="Rectangle 11"/>
            <p:cNvSpPr/>
            <p:nvPr/>
          </p:nvSpPr>
          <p:spPr>
            <a:xfrm>
              <a:off x="609600" y="3190875"/>
              <a:ext cx="3714750" cy="1162050"/>
            </a:xfrm>
            <a:prstGeom prst="roundRect">
              <a:avLst>
                <a:gd name="adj" fmla="val 9836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6389" y="33210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當下局勢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8294" y="3816350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局數、比分、出局與壘況</a:t>
              </a:r>
            </a:p>
          </p:txBody>
        </p:sp>
      </p:grpSp>
      <p:grpSp>
        <p:nvGrpSpPr>
          <p:cNvPr id="18" name="input-2"/>
          <p:cNvGrpSpPr/>
          <p:nvPr/>
        </p:nvGrpSpPr>
        <p:grpSpPr>
          <a:xfrm>
            <a:off x="609600" y="4552950"/>
            <a:ext cx="3714750" cy="1162050"/>
            <a:chOff x="609600" y="4552950"/>
            <a:chExt cx="3714750" cy="1162050"/>
          </a:xfrm>
        </p:grpSpPr>
        <p:sp>
          <p:nvSpPr>
            <p:cNvPr id="15" name="Rectangle 15"/>
            <p:cNvSpPr/>
            <p:nvPr/>
          </p:nvSpPr>
          <p:spPr>
            <a:xfrm>
              <a:off x="609600" y="4552950"/>
              <a:ext cx="3714750" cy="1162050"/>
            </a:xfrm>
            <a:prstGeom prst="roundRect">
              <a:avLst>
                <a:gd name="adj" fmla="val 9836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6389" y="4683125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可用人選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8294" y="51784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板凳、牛棚與接守安排</a:t>
              </a:r>
            </a:p>
          </p:txBody>
        </p:sp>
      </p:grpSp>
      <p:grpSp>
        <p:nvGrpSpPr>
          <p:cNvPr id="23" name="fixed-comparison"/>
          <p:cNvGrpSpPr/>
          <p:nvPr/>
        </p:nvGrpSpPr>
        <p:grpSpPr>
          <a:xfrm>
            <a:off x="5095875" y="2524125"/>
            <a:ext cx="2781300" cy="2333625"/>
            <a:chOff x="5095875" y="2524125"/>
            <a:chExt cx="2781300" cy="2333625"/>
          </a:xfrm>
        </p:grpSpPr>
        <p:sp>
          <p:nvSpPr>
            <p:cNvPr id="19" name="Rectangle 19"/>
            <p:cNvSpPr/>
            <p:nvPr/>
          </p:nvSpPr>
          <p:spPr>
            <a:xfrm>
              <a:off x="5095875" y="2524125"/>
              <a:ext cx="2781300" cy="2333625"/>
            </a:xfrm>
            <a:prstGeom prst="roundRect">
              <a:avLst>
                <a:gd name="adj" fmla="val 4898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02377" y="2800350"/>
              <a:ext cx="2028292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固定比較條件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03520" y="3406775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現任與候選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04282" y="400367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只替換人選</a:t>
              </a:r>
            </a:p>
          </p:txBody>
        </p:sp>
      </p:grpSp>
      <p:grpSp>
        <p:nvGrpSpPr>
          <p:cNvPr id="29" name="convergence"/>
          <p:cNvGrpSpPr/>
          <p:nvPr/>
        </p:nvGrpSpPr>
        <p:grpSpPr>
          <a:xfrm>
            <a:off x="4524375" y="2409825"/>
            <a:ext cx="466725" cy="2733675"/>
            <a:chOff x="4524375" y="2409825"/>
            <a:chExt cx="466725" cy="2733675"/>
          </a:xfrm>
        </p:grpSpPr>
        <p:sp>
          <p:nvSpPr>
            <p:cNvPr id="24" name="Line 24"/>
            <p:cNvSpPr/>
            <p:nvPr/>
          </p:nvSpPr>
          <p:spPr>
            <a:xfrm>
              <a:off x="4524375" y="2409825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4524375" y="5133975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724400" y="2409825"/>
              <a:ext cx="9525" cy="2724150"/>
            </a:xfrm>
            <a:custGeom>
              <a:avLst/>
              <a:gdLst/>
              <a:ahLst/>
              <a:cxnLst/>
              <a:rect l="l" t="t" r="r" b="b"/>
              <a:pathLst>
                <a:path w="9525" h="2724150">
                  <a:moveTo>
                    <a:pt x="0" y="0"/>
                  </a:moveTo>
                  <a:lnTo>
                    <a:pt x="0" y="27241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724400" y="37623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4876800" y="3695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34" name="output"/>
          <p:cNvGrpSpPr/>
          <p:nvPr/>
        </p:nvGrpSpPr>
        <p:grpSpPr>
          <a:xfrm>
            <a:off x="8558403" y="2543175"/>
            <a:ext cx="2743708" cy="2459800"/>
            <a:chOff x="8558403" y="2543175"/>
            <a:chExt cx="2743708" cy="2459800"/>
          </a:xfrm>
        </p:grpSpPr>
        <p:sp>
          <p:nvSpPr>
            <p:cNvPr id="30" name="TextBox 30"/>
            <p:cNvSpPr txBox="1"/>
            <p:nvPr/>
          </p:nvSpPr>
          <p:spPr>
            <a:xfrm>
              <a:off x="8558403" y="2543175"/>
              <a:ext cx="1525168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差多少？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62213" y="3159125"/>
              <a:ext cx="24679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相對現任的估計差距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58403" y="3990975"/>
              <a:ext cx="1899412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換得成嗎？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2213" y="4606925"/>
              <a:ext cx="27398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守位、人選與資料提醒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918448" cy="1063625"/>
            <a:chOff x="592836" y="250825"/>
            <a:chExt cx="8918448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問題與定位｜應用創新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9184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應用創新：把個人成績，變成當下的換人比較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7</a:t>
            </a:fld>
          </a:p>
        </p:txBody>
      </p:sp>
      <p:grpSp>
        <p:nvGrpSpPr>
          <p:cNvPr id="13" name="innovation-0"/>
          <p:cNvGrpSpPr/>
          <p:nvPr/>
        </p:nvGrpSpPr>
        <p:grpSpPr>
          <a:xfrm>
            <a:off x="597789" y="1816100"/>
            <a:ext cx="8363001" cy="1081850"/>
            <a:chOff x="597789" y="1816100"/>
            <a:chExt cx="8363001" cy="1081850"/>
          </a:xfrm>
        </p:grpSpPr>
        <p:sp>
          <p:nvSpPr>
            <p:cNvPr id="7" name="TextBox 7"/>
            <p:cNvSpPr txBox="1"/>
            <p:nvPr/>
          </p:nvSpPr>
          <p:spPr>
            <a:xfrm>
              <a:off x="597789" y="181610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情境比較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179826" y="1828800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個人成績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467350" y="1981200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6067425" y="19145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0939" y="1816100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現任與候選差距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80588" y="2501900"/>
              <a:ext cx="382762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固定對手與局勢，只替換候選。</a:t>
              </a:r>
            </a:p>
          </p:txBody>
        </p:sp>
      </p:grpSp>
      <p:grpSp>
        <p:nvGrpSpPr>
          <p:cNvPr id="20" name="innovation-1"/>
          <p:cNvGrpSpPr/>
          <p:nvPr/>
        </p:nvGrpSpPr>
        <p:grpSpPr>
          <a:xfrm>
            <a:off x="597789" y="3263900"/>
            <a:ext cx="8363001" cy="1081850"/>
            <a:chOff x="597789" y="3263900"/>
            <a:chExt cx="8363001" cy="1081850"/>
          </a:xfrm>
        </p:grpSpPr>
        <p:sp>
          <p:nvSpPr>
            <p:cNvPr id="14" name="TextBox 14"/>
            <p:cNvSpPr txBox="1"/>
            <p:nvPr/>
          </p:nvSpPr>
          <p:spPr>
            <a:xfrm>
              <a:off x="597789" y="326390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名單連動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79826" y="3276600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能力排序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467350" y="3429000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067425" y="3362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50939" y="3263900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接守與可用人選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80588" y="3949700"/>
              <a:ext cx="437149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球隊套用九棒，再確認板凳與牛棚。</a:t>
              </a:r>
            </a:p>
          </p:txBody>
        </p:sp>
      </p:grpSp>
      <p:grpSp>
        <p:nvGrpSpPr>
          <p:cNvPr id="27" name="innovation-2"/>
          <p:cNvGrpSpPr/>
          <p:nvPr/>
        </p:nvGrpSpPr>
        <p:grpSpPr>
          <a:xfrm>
            <a:off x="597789" y="4711700"/>
            <a:ext cx="7738364" cy="1081850"/>
            <a:chOff x="597789" y="4711700"/>
            <a:chExt cx="7738364" cy="1081850"/>
          </a:xfrm>
        </p:grpSpPr>
        <p:sp>
          <p:nvSpPr>
            <p:cNvPr id="21" name="TextBox 21"/>
            <p:cNvSpPr txBox="1"/>
            <p:nvPr/>
          </p:nvSpPr>
          <p:spPr>
            <a:xfrm>
              <a:off x="597789" y="471170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決策回放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79826" y="4724400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賽後結果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467350" y="4876800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067425" y="48101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0939" y="4711700"/>
              <a:ext cx="158521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決策前資訊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80588" y="5397500"/>
              <a:ext cx="437149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分開看模型估計、建議與實際結果。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5808726" cy="1063625"/>
            <a:chOff x="592836" y="250825"/>
            <a:chExt cx="580872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三個入口，對應三種使用任務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8</a:t>
            </a:fld>
          </a:p>
        </p:txBody>
      </p:sp>
      <p:grpSp>
        <p:nvGrpSpPr>
          <p:cNvPr id="8" name="shot-功能選單"/>
          <p:cNvGrpSpPr/>
          <p:nvPr/>
        </p:nvGrpSpPr>
        <p:grpSpPr>
          <a:xfrm>
            <a:off x="609600" y="1892192"/>
            <a:ext cx="10972800" cy="1311490"/>
            <a:chOff x="609600" y="1892192"/>
            <a:chExt cx="10972800" cy="131149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892192"/>
              <a:ext cx="10972800" cy="1311490"/>
            </a:xfrm>
            <a:prstGeom prst="rect">
              <a:avLst/>
            </a:prstGeom>
          </p:spPr>
        </p:pic>
      </p:grpSp>
      <p:grpSp>
        <p:nvGrpSpPr>
          <p:cNvPr id="11" name="entry-0"/>
          <p:cNvGrpSpPr/>
          <p:nvPr/>
        </p:nvGrpSpPr>
        <p:grpSpPr>
          <a:xfrm>
            <a:off x="597789" y="3787775"/>
            <a:ext cx="3100578" cy="1302353"/>
            <a:chOff x="597789" y="3787775"/>
            <a:chExt cx="3100578" cy="1302353"/>
          </a:xfrm>
        </p:grpSpPr>
        <p:sp>
          <p:nvSpPr>
            <p:cNvPr id="9" name="TextBox 9"/>
            <p:cNvSpPr txBox="1"/>
            <p:nvPr/>
          </p:nvSpPr>
          <p:spPr>
            <a:xfrm>
              <a:off x="597789" y="3787775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代打／換投評估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313" y="4321175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固定對手與局勢，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比較現任與最多四位候選。</a:t>
              </a:r>
            </a:p>
          </p:txBody>
        </p:sp>
      </p:grpSp>
      <p:grpSp>
        <p:nvGrpSpPr>
          <p:cNvPr id="14" name="entry-1"/>
          <p:cNvGrpSpPr/>
          <p:nvPr/>
        </p:nvGrpSpPr>
        <p:grpSpPr>
          <a:xfrm>
            <a:off x="4331589" y="3787775"/>
            <a:ext cx="2844038" cy="1302353"/>
            <a:chOff x="4331589" y="3787775"/>
            <a:chExt cx="2844038" cy="1302353"/>
          </a:xfrm>
        </p:grpSpPr>
        <p:sp>
          <p:nvSpPr>
            <p:cNvPr id="12" name="TextBox 12"/>
            <p:cNvSpPr txBox="1"/>
            <p:nvPr/>
          </p:nvSpPr>
          <p:spPr>
            <a:xfrm>
              <a:off x="4331589" y="3787775"/>
              <a:ext cx="189753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我方場上名單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3113" y="4321175"/>
              <a:ext cx="284251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球場圖設定守位，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棒次表安排九棒與投手。</a:t>
              </a:r>
            </a:p>
          </p:txBody>
        </p:sp>
      </p:grpSp>
      <p:grpSp>
        <p:nvGrpSpPr>
          <p:cNvPr id="17" name="entry-2"/>
          <p:cNvGrpSpPr/>
          <p:nvPr/>
        </p:nvGrpSpPr>
        <p:grpSpPr>
          <a:xfrm>
            <a:off x="8065389" y="3787775"/>
            <a:ext cx="3100578" cy="1302353"/>
            <a:chOff x="8065389" y="3787775"/>
            <a:chExt cx="3100578" cy="1302353"/>
          </a:xfrm>
        </p:grpSpPr>
        <p:sp>
          <p:nvSpPr>
            <p:cNvPr id="15" name="TextBox 15"/>
            <p:cNvSpPr txBox="1"/>
            <p:nvPr/>
          </p:nvSpPr>
          <p:spPr>
            <a:xfrm>
              <a:off x="8065389" y="3787775"/>
              <a:ext cx="201538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 單日分析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6913" y="4321175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回到特定比賽日，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查看賽前負荷與打席回放。</a:t>
              </a:r>
            </a:p>
          </p:txBody>
        </p:sp>
      </p:grpSp>
      <p:grpSp>
        <p:nvGrpSpPr>
          <p:cNvPr id="20" name="takeaway"/>
          <p:cNvGrpSpPr/>
          <p:nvPr/>
        </p:nvGrpSpPr>
        <p:grpSpPr>
          <a:xfrm>
            <a:off x="609600" y="5591175"/>
            <a:ext cx="10972800" cy="704850"/>
            <a:chOff x="609600" y="5591175"/>
            <a:chExt cx="10972800" cy="704850"/>
          </a:xfrm>
        </p:grpSpPr>
        <p:sp>
          <p:nvSpPr>
            <p:cNvPr id="18" name="Rectangle 18"/>
            <p:cNvSpPr/>
            <p:nvPr/>
          </p:nvSpPr>
          <p:spPr>
            <a:xfrm>
              <a:off x="609600" y="559117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8294" y="5683250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單日分析是獨立入口，不受一般使用者／球隊模式限制。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拿什麼資料，做什麼比較？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資料來源、估計方法與驗證界線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資料與方法｜使用資料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逐球、守位與球員對照，各自有清楚用途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10</a:t>
            </a:fld>
          </a:p>
        </p:txBody>
      </p:sp>
      <p:grpSp>
        <p:nvGrpSpPr>
          <p:cNvPr id="11" name="data-source-0"/>
          <p:cNvGrpSpPr/>
          <p:nvPr/>
        </p:nvGrpSpPr>
        <p:grpSpPr>
          <a:xfrm>
            <a:off x="593598" y="2000250"/>
            <a:ext cx="2750058" cy="3042666"/>
            <a:chOff x="593598" y="2000250"/>
            <a:chExt cx="2750058" cy="3042666"/>
          </a:xfrm>
        </p:grpSpPr>
        <p:sp>
          <p:nvSpPr>
            <p:cNvPr id="7" name="TextBox 7"/>
            <p:cNvSpPr txBox="1"/>
            <p:nvPr/>
          </p:nvSpPr>
          <p:spPr>
            <a:xfrm>
              <a:off x="593598" y="2000250"/>
              <a:ext cx="20482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2024–2025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282257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逐球與出賽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3368675"/>
              <a:ext cx="21350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Rebas · ODC-By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943350"/>
              <a:ext cx="274396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球種、投打側、逐球結果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打席局勢與投球負荷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用於能力估計與情境比較</a:t>
              </a:r>
            </a:p>
          </p:txBody>
        </p:sp>
      </p:grpSp>
      <p:grpSp>
        <p:nvGrpSpPr>
          <p:cNvPr id="16" name="data-source-1"/>
          <p:cNvGrpSpPr/>
          <p:nvPr/>
        </p:nvGrpSpPr>
        <p:grpSpPr>
          <a:xfrm>
            <a:off x="4327398" y="2000250"/>
            <a:ext cx="2750058" cy="3042666"/>
            <a:chOff x="4327398" y="2000250"/>
            <a:chExt cx="2750058" cy="3042666"/>
          </a:xfrm>
        </p:grpSpPr>
        <p:sp>
          <p:nvSpPr>
            <p:cNvPr id="12" name="TextBox 12"/>
            <p:cNvSpPr txBox="1"/>
            <p:nvPr/>
          </p:nvSpPr>
          <p:spPr>
            <a:xfrm>
              <a:off x="4327398" y="2000250"/>
              <a:ext cx="20482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2022–2024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1208" y="28225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歷年守位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3494" y="3368675"/>
              <a:ext cx="17939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ldkrsi（MIT）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3494" y="3943350"/>
              <a:ext cx="274396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各守位出賽紀錄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歷史回放用既往守位經驗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不讀入 2025 整季守位</a:t>
              </a:r>
            </a:p>
          </p:txBody>
        </p:sp>
      </p:grpSp>
      <p:grpSp>
        <p:nvGrpSpPr>
          <p:cNvPr id="21" name="data-source-2"/>
          <p:cNvGrpSpPr/>
          <p:nvPr/>
        </p:nvGrpSpPr>
        <p:grpSpPr>
          <a:xfrm>
            <a:off x="8061198" y="2000250"/>
            <a:ext cx="3231440" cy="3042666"/>
            <a:chOff x="8061198" y="2000250"/>
            <a:chExt cx="3231440" cy="3042666"/>
          </a:xfrm>
        </p:grpSpPr>
        <p:sp>
          <p:nvSpPr>
            <p:cNvPr id="17" name="TextBox 17"/>
            <p:cNvSpPr txBox="1"/>
            <p:nvPr/>
          </p:nvSpPr>
          <p:spPr>
            <a:xfrm>
              <a:off x="8061198" y="2000250"/>
              <a:ext cx="9281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65008" y="282257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球員與守位對照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7294" y="3368675"/>
              <a:ext cx="19963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CPBL 官方資料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7294" y="3943350"/>
              <a:ext cx="3225344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整季守位用於季後情境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球員編號連至官方資料頁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2025 背號取自 Rebas，僅搜尋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609600" y="5581650"/>
            <a:ext cx="10972800" cy="704850"/>
            <a:chOff x="609600" y="5581650"/>
            <a:chExt cx="10972800" cy="704850"/>
          </a:xfrm>
        </p:grpSpPr>
        <p:sp>
          <p:nvSpPr>
            <p:cNvPr id="22" name="Rectangle 22"/>
            <p:cNvSpPr/>
            <p:nvPr/>
          </p:nvSpPr>
          <p:spPr>
            <a:xfrm>
              <a:off x="609600" y="558165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8294" y="5673725"/>
              <a:ext cx="84201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歷史回放：能力、名單與負荷只用當日前資訊；模型另列訓練截止日期。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先估計對決，再換算當下的勝率差距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11</a:t>
            </a:fld>
          </a:p>
        </p:txBody>
      </p:sp>
      <p:grpSp>
        <p:nvGrpSpPr>
          <p:cNvPr id="9" name="method-input"/>
          <p:cNvGrpSpPr/>
          <p:nvPr/>
        </p:nvGrpSpPr>
        <p:grpSpPr>
          <a:xfrm>
            <a:off x="598551" y="3219450"/>
            <a:ext cx="2076399" cy="935800"/>
            <a:chOff x="598551" y="3219450"/>
            <a:chExt cx="2076399" cy="935800"/>
          </a:xfrm>
        </p:grpSpPr>
        <p:sp>
          <p:nvSpPr>
            <p:cNvPr id="7" name="TextBox 7"/>
            <p:cNvSpPr txBox="1"/>
            <p:nvPr/>
          </p:nvSpPr>
          <p:spPr>
            <a:xfrm>
              <a:off x="598551" y="3219450"/>
              <a:ext cx="207639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逐球與出賽資料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9313" y="3759200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同一投手與候選</a:t>
              </a:r>
            </a:p>
          </p:txBody>
        </p:sp>
      </p:grpSp>
      <p:grpSp>
        <p:nvGrpSpPr>
          <p:cNvPr id="13" name="method-182"/>
          <p:cNvGrpSpPr/>
          <p:nvPr/>
        </p:nvGrpSpPr>
        <p:grpSpPr>
          <a:xfrm>
            <a:off x="3524250" y="1733550"/>
            <a:ext cx="4695825" cy="1724025"/>
            <a:chOff x="3524250" y="1733550"/>
            <a:chExt cx="4695825" cy="1724025"/>
          </a:xfrm>
        </p:grpSpPr>
        <p:sp>
          <p:nvSpPr>
            <p:cNvPr id="10" name="Rectangle 10"/>
            <p:cNvSpPr/>
            <p:nvPr/>
          </p:nvSpPr>
          <p:spPr>
            <a:xfrm>
              <a:off x="3524250" y="1733550"/>
              <a:ext cx="4695825" cy="1724025"/>
            </a:xfrm>
            <a:prstGeom prst="roundRect">
              <a:avLst>
                <a:gd name="adj" fmla="val 6630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750183" y="1870075"/>
              <a:ext cx="18001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部分池化 [1]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52850" y="2413000"/>
              <a:ext cx="3361690" cy="712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19"/>
                </a:lnSpc>
              </a:pP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綜合能力、左右投打與球路適性</a:t>
              </a:r>
              <a:b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小樣本向整體基準收縮</a:t>
              </a:r>
            </a:p>
          </p:txBody>
        </p:sp>
      </p:grpSp>
      <p:grpSp>
        <p:nvGrpSpPr>
          <p:cNvPr id="17" name="method-403"/>
          <p:cNvGrpSpPr/>
          <p:nvPr/>
        </p:nvGrpSpPr>
        <p:grpSpPr>
          <a:xfrm>
            <a:off x="3524250" y="3838575"/>
            <a:ext cx="4695825" cy="1724025"/>
            <a:chOff x="3524250" y="3838575"/>
            <a:chExt cx="4695825" cy="1724025"/>
          </a:xfrm>
        </p:grpSpPr>
        <p:sp>
          <p:nvSpPr>
            <p:cNvPr id="14" name="Rectangle 14"/>
            <p:cNvSpPr/>
            <p:nvPr/>
          </p:nvSpPr>
          <p:spPr>
            <a:xfrm>
              <a:off x="3524250" y="3838575"/>
              <a:ext cx="4695825" cy="1724025"/>
            </a:xfrm>
            <a:prstGeom prst="roundRect">
              <a:avLst>
                <a:gd name="adj" fmla="val 6630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50183" y="39751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梯度提升樹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52850" y="4518025"/>
              <a:ext cx="3122930" cy="712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19"/>
                </a:lnSpc>
              </a:pP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沿用投手歷史投球，替換打者</a:t>
              </a:r>
              <a:b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預測逐球結果，再換算得分</a:t>
              </a:r>
            </a:p>
          </p:txBody>
        </p:sp>
      </p:grpSp>
      <p:grpSp>
        <p:nvGrpSpPr>
          <p:cNvPr id="27" name="method-links"/>
          <p:cNvGrpSpPr/>
          <p:nvPr/>
        </p:nvGrpSpPr>
        <p:grpSpPr>
          <a:xfrm>
            <a:off x="3124200" y="2600325"/>
            <a:ext cx="5715000" cy="2105025"/>
            <a:chOff x="3124200" y="2600325"/>
            <a:chExt cx="5715000" cy="2105025"/>
          </a:xfrm>
        </p:grpSpPr>
        <p:sp>
          <p:nvSpPr>
            <p:cNvPr id="18" name="Line 18"/>
            <p:cNvSpPr/>
            <p:nvPr/>
          </p:nvSpPr>
          <p:spPr>
            <a:xfrm>
              <a:off x="3124200" y="37242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333750" y="2600325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333750" y="26003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333750" y="46958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286750" y="26003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0" y="2600325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286750" y="46958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572500" y="37242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8724900" y="36576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30" name="method-output"/>
          <p:cNvGrpSpPr/>
          <p:nvPr/>
        </p:nvGrpSpPr>
        <p:grpSpPr>
          <a:xfrm>
            <a:off x="9055989" y="3092450"/>
            <a:ext cx="1925625" cy="948500"/>
            <a:chOff x="9055989" y="3092450"/>
            <a:chExt cx="1925625" cy="948500"/>
          </a:xfrm>
        </p:grpSpPr>
        <p:sp>
          <p:nvSpPr>
            <p:cNvPr id="28" name="TextBox 28"/>
            <p:cNvSpPr txBox="1"/>
            <p:nvPr/>
          </p:nvSpPr>
          <p:spPr>
            <a:xfrm>
              <a:off x="9055989" y="3092450"/>
              <a:ext cx="189753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整合得分估計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57513" y="3644900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依局勢換算差距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609600" y="5734050"/>
            <a:ext cx="10972800" cy="704850"/>
            <a:chOff x="609600" y="5734050"/>
            <a:chExt cx="10972800" cy="704850"/>
          </a:xfrm>
        </p:grpSpPr>
        <p:sp>
          <p:nvSpPr>
            <p:cNvPr id="31" name="Rectangle 31"/>
            <p:cNvSpPr/>
            <p:nvPr/>
          </p:nvSpPr>
          <p:spPr>
            <a:xfrm>
              <a:off x="609600" y="573405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8294" y="5826125"/>
              <a:ext cx="739134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[1] 小樣本估計依據見第 37 頁；預測與實際結果仍需分開解讀。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474202" cy="1063625"/>
            <a:chOff x="592836" y="250825"/>
            <a:chExt cx="847420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資料與方法｜判讀方式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先分清楚：比較基準、模型差距、相對排名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12</a:t>
            </a:fld>
          </a:p>
        </p:txBody>
      </p:sp>
      <p:grpSp>
        <p:nvGrpSpPr>
          <p:cNvPr id="12" name="score-0"/>
          <p:cNvGrpSpPr/>
          <p:nvPr/>
        </p:nvGrpSpPr>
        <p:grpSpPr>
          <a:xfrm>
            <a:off x="598170" y="2025650"/>
            <a:ext cx="3107055" cy="2953449"/>
            <a:chOff x="598170" y="2025650"/>
            <a:chExt cx="3107055" cy="2953449"/>
          </a:xfrm>
        </p:grpSpPr>
        <p:sp>
          <p:nvSpPr>
            <p:cNvPr id="7" name="TextBox 7"/>
            <p:cNvSpPr txBox="1"/>
            <p:nvPr/>
          </p:nvSpPr>
          <p:spPr>
            <a:xfrm>
              <a:off x="598170" y="20256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比較基準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67128" y="2686050"/>
              <a:ext cx="390144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906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362200" y="3543300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38100">
              <a:solidFill>
                <a:srgbClr val="18344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9694" y="4238625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候選與同一位現任相比。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其餘局勢與對手保持一致。</a:t>
              </a:r>
            </a:p>
          </p:txBody>
        </p:sp>
      </p:grpSp>
      <p:grpSp>
        <p:nvGrpSpPr>
          <p:cNvPr id="18" name="score-1"/>
          <p:cNvGrpSpPr/>
          <p:nvPr/>
        </p:nvGrpSpPr>
        <p:grpSpPr>
          <a:xfrm>
            <a:off x="4331970" y="2025650"/>
            <a:ext cx="3240786" cy="2953449"/>
            <a:chOff x="4331970" y="2025650"/>
            <a:chExt cx="3240786" cy="2953449"/>
          </a:xfrm>
        </p:grpSpPr>
        <p:sp>
          <p:nvSpPr>
            <p:cNvPr id="13" name="TextBox 13"/>
            <p:cNvSpPr txBox="1"/>
            <p:nvPr/>
          </p:nvSpPr>
          <p:spPr>
            <a:xfrm>
              <a:off x="4331970" y="20256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模型差距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60278" y="2686050"/>
              <a:ext cx="1671443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+1.05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7244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0" y="3629025"/>
              <a:ext cx="1047750" cy="190500"/>
            </a:xfrm>
            <a:prstGeom prst="roundRect">
              <a:avLst>
                <a:gd name="adj" fmla="val 15000"/>
              </a:avLst>
            </a:prstGeom>
            <a:solidFill>
              <a:srgbClr val="237A5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33494" y="423862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依局勢換算的估計差距。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單位：百分點，非成效保證。</a:t>
              </a:r>
            </a:p>
          </p:txBody>
        </p:sp>
      </p:grpSp>
      <p:grpSp>
        <p:nvGrpSpPr>
          <p:cNvPr id="25" name="score-2"/>
          <p:cNvGrpSpPr/>
          <p:nvPr/>
        </p:nvGrpSpPr>
        <p:grpSpPr>
          <a:xfrm>
            <a:off x="8065770" y="2025650"/>
            <a:ext cx="3240786" cy="2953449"/>
            <a:chOff x="8065770" y="2025650"/>
            <a:chExt cx="3240786" cy="2953449"/>
          </a:xfrm>
        </p:grpSpPr>
        <p:sp>
          <p:nvSpPr>
            <p:cNvPr id="19" name="TextBox 19"/>
            <p:cNvSpPr txBox="1"/>
            <p:nvPr/>
          </p:nvSpPr>
          <p:spPr>
            <a:xfrm>
              <a:off x="8065770" y="20256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價值分數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30640" y="2686050"/>
              <a:ext cx="1798320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1–100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4582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74395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093470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67294" y="423862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同一比較池內的相對排名。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不是安打率或換人成功機率。</a:t>
              </a:r>
            </a:p>
          </p:txBody>
        </p:sp>
      </p:grpSp>
      <p:grpSp>
        <p:nvGrpSpPr>
          <p:cNvPr id="28" name="takeaway"/>
          <p:cNvGrpSpPr/>
          <p:nvPr/>
        </p:nvGrpSpPr>
        <p:grpSpPr>
          <a:xfrm>
            <a:off x="609600" y="5619750"/>
            <a:ext cx="10972800" cy="704850"/>
            <a:chOff x="609600" y="5619750"/>
            <a:chExt cx="10972800" cy="704850"/>
          </a:xfrm>
        </p:grpSpPr>
        <p:sp>
          <p:nvSpPr>
            <p:cNvPr id="26" name="Rectangle 26"/>
            <p:cNvSpPr/>
            <p:nvPr/>
          </p:nvSpPr>
          <p:spPr>
            <a:xfrm>
              <a:off x="609600" y="561975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8294" y="5711825"/>
              <a:ext cx="6022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逐球機率以 log loss 評估 [3]；方法依據見第 37 頁。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32"/>
            <a:ext cx="1304068" cy="264033"/>
            <a:chOff x="602742" y="177832"/>
            <a:chExt cx="1304068" cy="264033"/>
          </a:xfrm>
        </p:grpSpPr>
        <p:sp>
          <p:nvSpPr>
            <p:cNvPr id="2" name="TextBox 2"/>
            <p:cNvSpPr/>
            <p:nvPr/>
          </p:nvSpPr>
          <p:spPr>
            <a:xfrm>
              <a:off x="602742" y="177832"/>
              <a:ext cx="1304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01568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609600" y="571500"/>
            <a:ext cx="10972800" cy="666750"/>
            <a:chOff x="609600" y="571500"/>
            <a:chExt cx="10972800" cy="666750"/>
          </a:xfrm>
        </p:grpSpPr>
        <p:sp>
          <p:nvSpPr>
            <p:cNvPr id="4" name="TextBox 4"/>
            <p:cNvSpPr/>
            <p:nvPr/>
          </p:nvSpPr>
          <p:spPr>
            <a:xfrm>
              <a:off x="609600" y="571500"/>
              <a:ext cx="10972800" cy="666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2225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換投提示，能否辨識續投風險？</a:t>
              </a:r>
            </a:p>
          </p:txBody>
        </p:sp>
      </p:grpSp>
      <p:sp>
        <p:nvSpPr>
          <p:cNvPr id="28" name="TextBox 28"/>
          <p:cNvSpPr/>
          <p:nvPr/>
        </p:nvSpPr>
        <p:spPr>
          <a:xfrm>
            <a:off x="11365992" y="6445282"/>
            <a:ext cx="213646" cy="264033"/>
          </a:xfrm>
          <a:prstGeom prst="rect">
            <a:avLst/>
          </a:prstGeom>
          <a:noFill/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609600" y="1266825"/>
            <a:ext cx="3429000" cy="47625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grpSp>
        <p:nvGrpSpPr>
          <p:cNvPr id="11" name="backtest-scope"/>
          <p:cNvGrpSpPr/>
          <p:nvPr/>
        </p:nvGrpSpPr>
        <p:grpSpPr>
          <a:xfrm>
            <a:off x="609600" y="1524000"/>
            <a:ext cx="10972800" cy="784860"/>
            <a:chOff x="609600" y="1524000"/>
            <a:chExt cx="10972800" cy="784860"/>
          </a:xfrm>
        </p:grpSpPr>
        <p:sp>
          <p:nvSpPr>
            <p:cNvPr id="9" name="TextBox 9"/>
            <p:cNvSpPr/>
            <p:nvPr/>
          </p:nvSpPr>
          <p:spPr>
            <a:xfrm>
              <a:off x="609600" y="1524000"/>
              <a:ext cx="1097280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0005" rIns="0" bIns="0" anchor="t" anchorCtr="0">
              <a:no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 例行賽第 6 局起｜11,868 個換投決策點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609600" y="1943100"/>
              <a:ext cx="109728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4290" rIns="0" bIns="0" anchor="t" anchorCtr="0">
              <a:no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每個打席前評估一次；候選差距達 1 百分點視為系統建議。</a:t>
              </a:r>
            </a:p>
          </p:txBody>
        </p:sp>
      </p:grpSp>
      <p:grpSp>
        <p:nvGrpSpPr>
          <p:cNvPr id="24" name="backtest-comparison"/>
          <p:cNvGrpSpPr/>
          <p:nvPr/>
        </p:nvGrpSpPr>
        <p:grpSpPr>
          <a:xfrm>
            <a:off x="609600" y="2552700"/>
            <a:ext cx="10972800" cy="2268855"/>
            <a:chOff x="609600" y="2552700"/>
            <a:chExt cx="10972800" cy="2268855"/>
          </a:xfrm>
        </p:grpSpPr>
        <p:sp>
          <p:nvSpPr>
            <p:cNvPr id="12" name="TextBox 12"/>
            <p:cNvSpPr/>
            <p:nvPr/>
          </p:nvSpPr>
          <p:spPr>
            <a:xfrm>
              <a:off x="609600" y="2552700"/>
              <a:ext cx="1097280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7147" rIns="0" bIns="0" anchor="t" anchorCtr="0">
              <a:noAutofit/>
            </a:bodyPr>
            <a:lstStyle/>
            <a:p>
              <a:pPr algn="l"/>
              <a:r>
                <a:rPr lang="zh-TW" sz="1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實際未換投時，比較「建議換」與「不建議換」兩組</a:t>
              </a:r>
            </a:p>
          </p:txBody>
        </p:sp>
        <p:sp>
          <p:nvSpPr>
            <p:cNvPr id="13" name="TextBox 13"/>
            <p:cNvSpPr/>
            <p:nvPr/>
          </p:nvSpPr>
          <p:spPr>
            <a:xfrm>
              <a:off x="609600" y="2971800"/>
              <a:ext cx="109728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433" rIns="0" bIns="0" anchor="t" anchorCtr="0">
              <a:noAutofit/>
            </a:bodyPr>
            <a:lstStyle/>
            <a:p>
              <a:pPr algn="l"/>
              <a:r>
                <a:rPr lang="zh-TW" sz="16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續投打席的得分價值（RE24）差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90600" y="3771900"/>
              <a:ext cx="6172200" cy="9525"/>
            </a:xfrm>
            <a:custGeom>
              <a:avLst/>
              <a:gdLst/>
              <a:ahLst/>
              <a:cxnLst/>
              <a:rect l="l" t="t" r="r" b="b"/>
              <a:pathLst>
                <a:path w="6172200" h="9525">
                  <a:moveTo>
                    <a:pt x="0" y="0"/>
                  </a:moveTo>
                  <a:lnTo>
                    <a:pt x="61722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225040" y="3381375"/>
              <a:ext cx="9525" cy="638175"/>
            </a:xfrm>
            <a:custGeom>
              <a:avLst/>
              <a:gdLst/>
              <a:ahLst/>
              <a:cxnLst/>
              <a:rect l="l" t="t" r="r" b="b"/>
              <a:pathLst>
                <a:path w="9525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/>
            <a:ln w="19050">
              <a:solidFill>
                <a:srgbClr val="58616B"/>
              </a:solidFill>
              <a:prstDash val="dash"/>
            </a:ln>
          </p:spPr>
        </p:sp>
        <p:sp>
          <p:nvSpPr>
            <p:cNvPr id="16" name="Line 16"/>
            <p:cNvSpPr/>
            <p:nvPr/>
          </p:nvSpPr>
          <p:spPr>
            <a:xfrm>
              <a:off x="3274314" y="3648075"/>
              <a:ext cx="3147822" cy="9525"/>
            </a:xfrm>
            <a:custGeom>
              <a:avLst/>
              <a:gdLst/>
              <a:ahLst/>
              <a:cxnLst/>
              <a:rect l="l" t="t" r="r" b="b"/>
              <a:pathLst>
                <a:path w="3147822" h="9525">
                  <a:moveTo>
                    <a:pt x="0" y="0"/>
                  </a:moveTo>
                  <a:lnTo>
                    <a:pt x="3147822" y="0"/>
                  </a:lnTo>
                </a:path>
              </a:pathLst>
            </a:custGeom>
            <a:noFill/>
            <a:ln w="47625">
              <a:solidFill>
                <a:srgbClr val="B5483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274314" y="353377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422136" y="353377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793361" y="3562350"/>
              <a:ext cx="171450" cy="171450"/>
            </a:xfrm>
            <a:prstGeom prst="ellipse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20" name="TextBox 20"/>
            <p:cNvSpPr/>
            <p:nvPr/>
          </p:nvSpPr>
          <p:spPr>
            <a:xfrm>
              <a:off x="2072640" y="4086225"/>
              <a:ext cx="95097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1275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0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4541520" y="4086225"/>
              <a:ext cx="70408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1275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+0.04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7010400" y="4086225"/>
              <a:ext cx="4572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1275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+0.08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609600" y="4486275"/>
              <a:ext cx="109728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433" rIns="0" bIns="0" anchor="t" anchorCtr="0">
              <a:noAutofit/>
            </a:bodyPr>
            <a:lstStyle/>
            <a:p>
              <a:pPr algn="l"/>
              <a:r>
                <a:rPr lang="zh-TW" sz="16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95% 區間 [2]：+0.017 ～ +0.068；高於 0 表示「建議換投」組的續投風險較高。</a:t>
              </a:r>
            </a:p>
          </p:txBody>
        </p:sp>
      </p:grpSp>
      <p:grpSp>
        <p:nvGrpSpPr>
          <p:cNvPr id="27" name="backtest-result"/>
          <p:cNvGrpSpPr/>
          <p:nvPr/>
        </p:nvGrpSpPr>
        <p:grpSpPr>
          <a:xfrm>
            <a:off x="8001000" y="2667000"/>
            <a:ext cx="3581400" cy="1720215"/>
            <a:chOff x="8001000" y="2667000"/>
            <a:chExt cx="3581400" cy="1720215"/>
          </a:xfrm>
        </p:grpSpPr>
        <p:sp>
          <p:nvSpPr>
            <p:cNvPr id="25" name="TextBox 25"/>
            <p:cNvSpPr/>
            <p:nvPr/>
          </p:nvSpPr>
          <p:spPr>
            <a:xfrm>
              <a:off x="8001000" y="2667000"/>
              <a:ext cx="3581400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04140" rIns="0" bIns="0" anchor="t" anchorCtr="0">
              <a:noAutofit/>
            </a:bodyPr>
            <a:lstStyle/>
            <a:p>
              <a:pPr algn="l"/>
              <a:r>
                <a:rPr lang="zh-TW" sz="48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+0.043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8001000" y="3562350"/>
              <a:ext cx="3581400" cy="8248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7147" rIns="0" bIns="0" anchor="t" anchorCtr="0">
              <a:noAutofit/>
            </a:bodyPr>
            <a:lstStyle/>
            <a:p>
              <a:pPr algn="l">
                <a:lnSpc>
                  <a:spcPts val="3375"/>
                </a:lnSpc>
              </a:pP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打席得分價值差</a:t>
              </a:r>
              <a:b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防守方越高越不利</a:t>
              </a:r>
            </a:p>
          </p:txBody>
        </p:sp>
      </p:grpSp>
      <p:grpSp>
        <p:nvGrpSpPr>
          <p:cNvPr id="31" name="backtest-limits"/>
          <p:cNvGrpSpPr/>
          <p:nvPr/>
        </p:nvGrpSpPr>
        <p:grpSpPr>
          <a:xfrm>
            <a:off x="609600" y="5124450"/>
            <a:ext cx="10972800" cy="1173480"/>
            <a:chOff x="609600" y="5124450"/>
            <a:chExt cx="10972800" cy="1173480"/>
          </a:xfrm>
        </p:grpSpPr>
        <p:sp>
          <p:nvSpPr>
            <p:cNvPr id="29" name="TextBox 29"/>
            <p:cNvSpPr/>
            <p:nvPr/>
          </p:nvSpPr>
          <p:spPr>
            <a:xfrm>
              <a:off x="609600" y="5124450"/>
              <a:ext cx="1097280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2705" rIns="0" bIns="0" anchor="t" anchorCtr="0">
              <a:noAutofit/>
            </a:bodyPr>
            <a:lstStyle/>
            <a:p>
              <a:pPr algn="l"/>
              <a:r>
                <a:rPr lang="zh-TW" sz="1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換投有風險線索；代打差異仍不明顯。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609600" y="5638800"/>
              <a:ext cx="10972800" cy="659130"/>
            </a:xfrm>
            <a:prstGeom prst="rect">
              <a:avLst/>
            </a:prstGeom>
            <a:noFill/>
            <a:ln>
              <a:noFill/>
            </a:ln>
          </p:spPr>
        </p:sp>
      </p:grpSp>
      <p:grpSp>
        <p:nvGrpSpPr>
          <p:cNvPr id="32" name="observed-samples"/>
          <p:cNvGrpSpPr/>
          <p:nvPr/>
        </p:nvGrpSpPr>
        <p:grpSpPr>
          <a:xfrm>
            <a:off x="601218" y="4911757"/>
            <a:ext cx="7247877" cy="322707"/>
            <a:chOff x="601218" y="4911757"/>
            <a:chExt cx="7247877" cy="322707"/>
          </a:xfrm>
        </p:grpSpPr>
        <p:sp>
          <p:nvSpPr>
            <p:cNvPr id="33" name="TextBox 14"/>
            <p:cNvSpPr/>
            <p:nvPr/>
          </p:nvSpPr>
          <p:spPr>
            <a:xfrm>
              <a:off x="601218" y="4911757"/>
              <a:ext cx="72478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續投組樣本：建議換投 1,954 打席；未建議換投 7,730 打席。</a:t>
              </a:r>
            </a:p>
          </p:txBody>
        </p:sp>
      </p:grpSp>
      <p:grpSp>
        <p:nvGrpSpPr>
          <p:cNvPr id="34" name="correct-page-number"/>
          <p:cNvGrpSpPr/>
          <p:nvPr/>
        </p:nvGrpSpPr>
        <p:grpSpPr>
          <a:xfrm>
            <a:off x="11373422" y="6445282"/>
            <a:ext cx="208979" cy="264033"/>
            <a:chOff x="11373422" y="6445282"/>
            <a:chExt cx="208979" cy="264033"/>
          </a:xfrm>
        </p:grpSpPr>
        <p:sp>
          <p:nvSpPr>
            <p:cNvPr id="35" name="TextBox 16"/>
            <p:cNvSpPr/>
            <p:nvPr/>
          </p:nvSpPr>
          <p:spPr>
            <a:xfrm>
              <a:off x="11373422" y="6445282"/>
              <a:ext cx="2089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-6858" bIns="0" anchor="t" anchorCtr="0">
              <a:noAutofit/>
            </a:bodyPr>
            <a:lstStyle/>
            <a:p>
              <a:pPr algn="r"/>
              <a:r>
                <a:rPr lang="zh-TW" sz="13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13</a:t>
              </a:r>
            </a:p>
          </p:txBody>
        </p:sp>
      </p:grpSp>
      <p:grpSp>
        <p:nvGrpSpPr>
          <p:cNvPr id="36" name="observational-boundary"/>
          <p:cNvGrpSpPr/>
          <p:nvPr/>
        </p:nvGrpSpPr>
        <p:grpSpPr>
          <a:xfrm>
            <a:off x="600075" y="5581650"/>
            <a:ext cx="5489486" cy="367665"/>
            <a:chOff x="600075" y="5581650"/>
            <a:chExt cx="5489486" cy="367665"/>
          </a:xfrm>
        </p:grpSpPr>
        <p:sp>
          <p:nvSpPr>
            <p:cNvPr id="37" name="TextBox 16"/>
            <p:cNvSpPr/>
            <p:nvPr/>
          </p:nvSpPr>
          <p:spPr>
            <a:xfrm>
              <a:off x="600075" y="5581650"/>
              <a:ext cx="548948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觀察性比較，不能推論換人的因果效益。</a:t>
              </a:r>
            </a:p>
          </p:txBody>
        </p:sp>
      </p:grpSp>
      <p:grpSp>
        <p:nvGrpSpPr>
          <p:cNvPr id="48" name="re24-meaning"/>
          <p:cNvGrpSpPr/>
          <p:nvPr/>
        </p:nvGrpSpPr>
        <p:grpSpPr>
          <a:xfrm>
            <a:off x="2934919" y="6045232"/>
            <a:ext cx="6322162" cy="322707"/>
            <a:chOff x="2934919" y="6045232"/>
            <a:chExt cx="6322162" cy="322707"/>
          </a:xfrm>
        </p:grpSpPr>
        <p:sp>
          <p:nvSpPr>
            <p:cNvPr id="47" name="TextBox 47"/>
            <p:cNvSpPr/>
            <p:nvPr/>
          </p:nvSpPr>
          <p:spPr>
            <a:xfrm>
              <a:off x="2934919" y="6045232"/>
              <a:ext cx="6322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6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RE24：本打席得分，加上打席前後的預期得分變化。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368290" cy="4496562"/>
            <a:chOff x="590550" y="673132"/>
            <a:chExt cx="5368290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把比較變成可操作的網站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換打、換投、名單配置與單日回放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相同評估工具，名單限制依使用方式調整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15</a:t>
            </a:fld>
          </a:p>
        </p:txBody>
      </p:sp>
      <p:grpSp>
        <p:nvGrpSpPr>
          <p:cNvPr id="14" name="mode-rules-0"/>
          <p:cNvGrpSpPr/>
          <p:nvPr/>
        </p:nvGrpSpPr>
        <p:grpSpPr>
          <a:xfrm>
            <a:off x="595884" y="1898650"/>
            <a:ext cx="2743327" cy="3304350"/>
            <a:chOff x="595884" y="1898650"/>
            <a:chExt cx="2743327" cy="3304350"/>
          </a:xfrm>
        </p:grpSpPr>
        <p:sp>
          <p:nvSpPr>
            <p:cNvPr id="7" name="TextBox 7"/>
            <p:cNvSpPr txBox="1"/>
            <p:nvPr/>
          </p:nvSpPr>
          <p:spPr>
            <a:xfrm>
              <a:off x="595884" y="1898650"/>
              <a:ext cx="1844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一般使用者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075" y="269557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開始評估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313" y="3073400"/>
              <a:ext cx="219603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不需先設定名單。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075" y="3562350"/>
              <a:ext cx="128447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現任與候選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313" y="3940175"/>
              <a:ext cx="27398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可選場上或其他球員。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0075" y="442912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適合用途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313" y="4806950"/>
              <a:ext cx="24679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自由模擬投打組合。</a:t>
              </a:r>
            </a:p>
          </p:txBody>
        </p:sp>
      </p:grpSp>
      <p:grpSp>
        <p:nvGrpSpPr>
          <p:cNvPr id="22" name="mode-rules-1"/>
          <p:cNvGrpSpPr/>
          <p:nvPr/>
        </p:nvGrpSpPr>
        <p:grpSpPr>
          <a:xfrm>
            <a:off x="6234684" y="1898650"/>
            <a:ext cx="4102989" cy="3304350"/>
            <a:chOff x="6234684" y="1898650"/>
            <a:chExt cx="4102989" cy="3304350"/>
          </a:xfrm>
        </p:grpSpPr>
        <p:sp>
          <p:nvSpPr>
            <p:cNvPr id="15" name="TextBox 15"/>
            <p:cNvSpPr txBox="1"/>
            <p:nvPr/>
          </p:nvSpPr>
          <p:spPr>
            <a:xfrm>
              <a:off x="6234684" y="1898650"/>
              <a:ext cx="7543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球隊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38875" y="269557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開始評估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38113" y="3073400"/>
              <a:ext cx="328376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先套用九棒、守位與投手。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38875" y="3562350"/>
              <a:ext cx="128447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現任與候選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38113" y="3940175"/>
              <a:ext cx="409956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現任依配置；替補排除場上人員。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38875" y="442912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今日可用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38113" y="4806950"/>
              <a:ext cx="328376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板凳與牛棚仍需人工勾選。</a:t>
              </a:r>
            </a:p>
          </p:txBody>
        </p:sp>
      </p:grpSp>
      <p:grpSp>
        <p:nvGrpSpPr>
          <p:cNvPr id="25" name="takeaway"/>
          <p:cNvGrpSpPr/>
          <p:nvPr/>
        </p:nvGrpSpPr>
        <p:grpSpPr>
          <a:xfrm>
            <a:off x="609600" y="5638800"/>
            <a:ext cx="10972800" cy="704850"/>
            <a:chOff x="609600" y="5638800"/>
            <a:chExt cx="10972800" cy="704850"/>
          </a:xfrm>
        </p:grpSpPr>
        <p:sp>
          <p:nvSpPr>
            <p:cNvPr id="23" name="Rectangle 23"/>
            <p:cNvSpPr/>
            <p:nvPr/>
          </p:nvSpPr>
          <p:spPr>
            <a:xfrm>
              <a:off x="609600" y="563880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8294" y="5730875"/>
              <a:ext cx="80090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模式入口見第 5 頁；兩種使用者皆可使用獨立的「2025 單日分析」。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網站實作｜代打情境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只替換候選打者，其餘條件保持相同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16</a:t>
            </a:fld>
          </a:p>
        </p:txBody>
      </p:sp>
      <p:grpSp>
        <p:nvGrpSpPr>
          <p:cNvPr id="10" name="fixed-condition-0"/>
          <p:cNvGrpSpPr/>
          <p:nvPr/>
        </p:nvGrpSpPr>
        <p:grpSpPr>
          <a:xfrm>
            <a:off x="595122" y="2308225"/>
            <a:ext cx="1179957" cy="1868043"/>
            <a:chOff x="595122" y="2308225"/>
            <a:chExt cx="1179957" cy="1868043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23082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對方投手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5122" y="3067050"/>
              <a:ext cx="117995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魔力藍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8932" y="37655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左投</a:t>
              </a:r>
            </a:p>
          </p:txBody>
        </p:sp>
      </p:grpSp>
      <p:grpSp>
        <p:nvGrpSpPr>
          <p:cNvPr id="14" name="fixed-condition-1"/>
          <p:cNvGrpSpPr/>
          <p:nvPr/>
        </p:nvGrpSpPr>
        <p:grpSpPr>
          <a:xfrm>
            <a:off x="4328922" y="2308225"/>
            <a:ext cx="2286762" cy="1868043"/>
            <a:chOff x="4328922" y="2308225"/>
            <a:chExt cx="2286762" cy="1868043"/>
          </a:xfrm>
        </p:grpSpPr>
        <p:sp>
          <p:nvSpPr>
            <p:cNvPr id="11" name="TextBox 11"/>
            <p:cNvSpPr txBox="1"/>
            <p:nvPr/>
          </p:nvSpPr>
          <p:spPr>
            <a:xfrm>
              <a:off x="4332732" y="23082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比賽局勢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8922" y="3067050"/>
              <a:ext cx="2273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8 局上・1：2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2732" y="376555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一出局，二壘有人</a:t>
              </a:r>
            </a:p>
          </p:txBody>
        </p:sp>
      </p:grpSp>
      <p:grpSp>
        <p:nvGrpSpPr>
          <p:cNvPr id="18" name="fixed-condition-2"/>
          <p:cNvGrpSpPr/>
          <p:nvPr/>
        </p:nvGrpSpPr>
        <p:grpSpPr>
          <a:xfrm>
            <a:off x="8062722" y="2308225"/>
            <a:ext cx="2004060" cy="1868043"/>
            <a:chOff x="8062722" y="2308225"/>
            <a:chExt cx="2004060" cy="1868043"/>
          </a:xfrm>
        </p:grpSpPr>
        <p:sp>
          <p:nvSpPr>
            <p:cNvPr id="15" name="TextBox 15"/>
            <p:cNvSpPr txBox="1"/>
            <p:nvPr/>
          </p:nvSpPr>
          <p:spPr>
            <a:xfrm>
              <a:off x="8066532" y="23082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現任打者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2722" y="3067050"/>
              <a:ext cx="117995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林佳緯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66532" y="376555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左打，指定打擊</a:t>
              </a:r>
            </a:p>
          </p:txBody>
        </p:sp>
      </p:grpSp>
      <p:grpSp>
        <p:nvGrpSpPr>
          <p:cNvPr id="21" name="takeaway"/>
          <p:cNvGrpSpPr/>
          <p:nvPr/>
        </p:nvGrpSpPr>
        <p:grpSpPr>
          <a:xfrm>
            <a:off x="609600" y="5095875"/>
            <a:ext cx="10972800" cy="1028700"/>
            <a:chOff x="609600" y="5095875"/>
            <a:chExt cx="10972800" cy="1028700"/>
          </a:xfrm>
        </p:grpSpPr>
        <p:sp>
          <p:nvSpPr>
            <p:cNvPr id="19" name="Rectangle 19"/>
            <p:cNvSpPr/>
            <p:nvPr/>
          </p:nvSpPr>
          <p:spPr>
            <a:xfrm>
              <a:off x="609600" y="5095875"/>
              <a:ext cx="10972800" cy="1028700"/>
            </a:xfrm>
            <a:prstGeom prst="roundRect">
              <a:avLst>
                <a:gd name="adj" fmla="val 11111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8294" y="5162550"/>
              <a:ext cx="67063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只改候選：林佳緯續打，或由胡金龍／陳鏞基／楊竣翔代打。</a:t>
              </a:r>
              <a:b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同一條件下的實際比較畫面見下一頁。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585710" cy="1063625"/>
            <a:chOff x="592836" y="250825"/>
            <a:chExt cx="758571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網站實作｜代打比較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胡金龍的估計差距最大，仍要確認接守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17</a:t>
            </a:fld>
          </a:p>
        </p:txBody>
      </p:sp>
      <p:grpSp>
        <p:nvGrpSpPr>
          <p:cNvPr id="8" name="context"/>
          <p:cNvGrpSpPr/>
          <p:nvPr/>
        </p:nvGrpSpPr>
        <p:grpSpPr>
          <a:xfrm>
            <a:off x="599694" y="1644650"/>
            <a:ext cx="4967859" cy="381381"/>
            <a:chOff x="599694" y="1644650"/>
            <a:chExt cx="4967859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644650"/>
              <a:ext cx="496785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基準：林佳緯｜統一對富邦｜8 局上・1：2</a:t>
              </a:r>
            </a:p>
          </p:txBody>
        </p:sp>
      </p:grpSp>
      <p:grpSp>
        <p:nvGrpSpPr>
          <p:cNvPr id="10" name="source-picture"/>
          <p:cNvGrpSpPr/>
          <p:nvPr/>
        </p:nvGrpSpPr>
        <p:grpSpPr>
          <a:xfrm>
            <a:off x="457200" y="2452334"/>
            <a:ext cx="11277600" cy="1762831"/>
            <a:chOff x="457200" y="2452334"/>
            <a:chExt cx="11277600" cy="1762831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2452334"/>
              <a:ext cx="11277600" cy="1762831"/>
            </a:xfrm>
            <a:prstGeom prst="rect">
              <a:avLst/>
            </a:prstGeom>
          </p:spPr>
        </p:pic>
      </p:grpSp>
      <p:grpSp>
        <p:nvGrpSpPr>
          <p:cNvPr id="13" name="result"/>
          <p:cNvGrpSpPr/>
          <p:nvPr/>
        </p:nvGrpSpPr>
        <p:grpSpPr>
          <a:xfrm>
            <a:off x="590550" y="4752975"/>
            <a:ext cx="3704082" cy="1311656"/>
            <a:chOff x="590550" y="4752975"/>
            <a:chExt cx="3704082" cy="1311656"/>
          </a:xfrm>
        </p:grpSpPr>
        <p:sp>
          <p:nvSpPr>
            <p:cNvPr id="11" name="TextBox 11"/>
            <p:cNvSpPr txBox="1"/>
            <p:nvPr/>
          </p:nvSpPr>
          <p:spPr>
            <a:xfrm>
              <a:off x="590550" y="4752975"/>
              <a:ext cx="1671443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9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+1.05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5683250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相對現任的模型差距（百分點）</a:t>
              </a:r>
            </a:p>
          </p:txBody>
        </p:sp>
      </p:grpSp>
      <p:grpSp>
        <p:nvGrpSpPr>
          <p:cNvPr id="16" name="note-655-536"/>
          <p:cNvGrpSpPr/>
          <p:nvPr/>
        </p:nvGrpSpPr>
        <p:grpSpPr>
          <a:xfrm>
            <a:off x="6227445" y="4826000"/>
            <a:ext cx="3736086" cy="1191324"/>
            <a:chOff x="6227445" y="4826000"/>
            <a:chExt cx="3736086" cy="1191324"/>
          </a:xfrm>
        </p:grpSpPr>
        <p:sp>
          <p:nvSpPr>
            <p:cNvPr id="14" name="TextBox 14"/>
            <p:cNvSpPr txBox="1"/>
            <p:nvPr/>
          </p:nvSpPr>
          <p:spPr>
            <a:xfrm>
              <a:off x="6227445" y="482600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承接指定打擊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28969" y="5276850"/>
              <a:ext cx="37345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本例不需額外安排接守人選。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楊竣翔資料較少，保留樣本提醒。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697218" cy="1063625"/>
            <a:chOff x="592836" y="250825"/>
            <a:chExt cx="6697218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網站實作｜換投比較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朱承洋在已選後援中，估計較有利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18</a:t>
            </a:fld>
          </a:p>
        </p:txBody>
      </p:sp>
      <p:grpSp>
        <p:nvGrpSpPr>
          <p:cNvPr id="8" name="context"/>
          <p:cNvGrpSpPr/>
          <p:nvPr/>
        </p:nvGrpSpPr>
        <p:grpSpPr>
          <a:xfrm>
            <a:off x="599694" y="1644650"/>
            <a:ext cx="6696456" cy="381381"/>
            <a:chOff x="599694" y="1644650"/>
            <a:chExt cx="6696456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644650"/>
              <a:ext cx="66964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基準：魔神龍 95 球｜8 局上・0：0｜兩出局，二三壘有人</a:t>
              </a:r>
            </a:p>
          </p:txBody>
        </p:sp>
      </p:grpSp>
      <p:grpSp>
        <p:nvGrpSpPr>
          <p:cNvPr id="10" name="source-picture"/>
          <p:cNvGrpSpPr/>
          <p:nvPr/>
        </p:nvGrpSpPr>
        <p:grpSpPr>
          <a:xfrm>
            <a:off x="457200" y="2275298"/>
            <a:ext cx="11277600" cy="2116904"/>
            <a:chOff x="457200" y="2275298"/>
            <a:chExt cx="11277600" cy="2116904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275298"/>
              <a:ext cx="11277600" cy="2116904"/>
            </a:xfrm>
            <a:prstGeom prst="rect">
              <a:avLst/>
            </a:prstGeom>
          </p:spPr>
        </p:pic>
      </p:grpSp>
      <p:grpSp>
        <p:nvGrpSpPr>
          <p:cNvPr id="13" name="result"/>
          <p:cNvGrpSpPr/>
          <p:nvPr/>
        </p:nvGrpSpPr>
        <p:grpSpPr>
          <a:xfrm>
            <a:off x="590550" y="4752975"/>
            <a:ext cx="3704082" cy="1311656"/>
            <a:chOff x="590550" y="4752975"/>
            <a:chExt cx="3704082" cy="1311656"/>
          </a:xfrm>
        </p:grpSpPr>
        <p:sp>
          <p:nvSpPr>
            <p:cNvPr id="11" name="TextBox 11"/>
            <p:cNvSpPr txBox="1"/>
            <p:nvPr/>
          </p:nvSpPr>
          <p:spPr>
            <a:xfrm>
              <a:off x="590550" y="4752975"/>
              <a:ext cx="1671443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9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+2.51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5683250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相對現任的模型差距（百分點）</a:t>
              </a:r>
            </a:p>
          </p:txBody>
        </p:sp>
      </p:grpSp>
      <p:grpSp>
        <p:nvGrpSpPr>
          <p:cNvPr id="16" name="note-655-536"/>
          <p:cNvGrpSpPr/>
          <p:nvPr/>
        </p:nvGrpSpPr>
        <p:grpSpPr>
          <a:xfrm>
            <a:off x="6227445" y="4826000"/>
            <a:ext cx="3983736" cy="1191324"/>
            <a:chOff x="6227445" y="4826000"/>
            <a:chExt cx="3983736" cy="1191324"/>
          </a:xfrm>
        </p:grpSpPr>
        <p:sp>
          <p:nvSpPr>
            <p:cNvPr id="14" name="TextBox 14"/>
            <p:cNvSpPr txBox="1"/>
            <p:nvPr/>
          </p:nvSpPr>
          <p:spPr>
            <a:xfrm>
              <a:off x="6227445" y="482600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一起比較接下來三棒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28969" y="5276850"/>
              <a:ext cx="39822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郭天信、李凱威、吉力吉撈．鞏冠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含本場球數調整，未模擬後續換局。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252972" cy="1063625"/>
            <a:chOff x="592836" y="250825"/>
            <a:chExt cx="625297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在球場圖上選人，確認誰守哪裡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19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1190346" y="1524000"/>
            <a:ext cx="5791758" cy="4762500"/>
            <a:chOff x="1190346" y="1524000"/>
            <a:chExt cx="5791758" cy="4762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0346" y="1524000"/>
              <a:ext cx="5791758" cy="4762500"/>
            </a:xfrm>
            <a:prstGeom prst="rect">
              <a:avLst/>
            </a:prstGeom>
          </p:spPr>
        </p:pic>
      </p:grpSp>
      <p:grpSp>
        <p:nvGrpSpPr>
          <p:cNvPr id="11" name="note-826-236"/>
          <p:cNvGrpSpPr/>
          <p:nvPr/>
        </p:nvGrpSpPr>
        <p:grpSpPr>
          <a:xfrm>
            <a:off x="7856220" y="1968500"/>
            <a:ext cx="2669804" cy="1191324"/>
            <a:chOff x="7856220" y="1968500"/>
            <a:chExt cx="2669804" cy="1191324"/>
          </a:xfrm>
        </p:grpSpPr>
        <p:sp>
          <p:nvSpPr>
            <p:cNvPr id="9" name="TextBox 9"/>
            <p:cNvSpPr txBox="1"/>
            <p:nvPr/>
          </p:nvSpPr>
          <p:spPr>
            <a:xfrm>
              <a:off x="7856220" y="1968500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　守備配置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57744" y="2419350"/>
              <a:ext cx="2668280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九棒含八個守位與 DH，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另設場上投手。</a:t>
              </a:r>
            </a:p>
          </p:txBody>
        </p:sp>
      </p:grpSp>
      <p:grpSp>
        <p:nvGrpSpPr>
          <p:cNvPr id="14" name="note-826-444"/>
          <p:cNvGrpSpPr/>
          <p:nvPr/>
        </p:nvGrpSpPr>
        <p:grpSpPr>
          <a:xfrm>
            <a:off x="7856220" y="3949700"/>
            <a:ext cx="2993136" cy="1191324"/>
            <a:chOff x="7856220" y="3949700"/>
            <a:chExt cx="2993136" cy="1191324"/>
          </a:xfrm>
        </p:grpSpPr>
        <p:sp>
          <p:nvSpPr>
            <p:cNvPr id="12" name="TextBox 12"/>
            <p:cNvSpPr txBox="1"/>
            <p:nvPr/>
          </p:nvSpPr>
          <p:spPr>
            <a:xfrm>
              <a:off x="7856220" y="3949700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　互換守位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57744" y="4400550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依序點兩個位置，可復原；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套用後更新評估。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打序與人選分開調整，交換後再套用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20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767560" y="1524000"/>
            <a:ext cx="6637330" cy="4762500"/>
            <a:chOff x="767560" y="1524000"/>
            <a:chExt cx="6637330" cy="4762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60" y="1524000"/>
              <a:ext cx="6637330" cy="4762500"/>
            </a:xfrm>
            <a:prstGeom prst="rect">
              <a:avLst/>
            </a:prstGeom>
          </p:spPr>
        </p:pic>
      </p:grpSp>
      <p:grpSp>
        <p:nvGrpSpPr>
          <p:cNvPr id="11" name="note-826-219"/>
          <p:cNvGrpSpPr/>
          <p:nvPr/>
        </p:nvGrpSpPr>
        <p:grpSpPr>
          <a:xfrm>
            <a:off x="7856220" y="1806575"/>
            <a:ext cx="2646426" cy="857631"/>
            <a:chOff x="7856220" y="1806575"/>
            <a:chExt cx="2646426" cy="857631"/>
          </a:xfrm>
        </p:grpSpPr>
        <p:sp>
          <p:nvSpPr>
            <p:cNvPr id="9" name="TextBox 9"/>
            <p:cNvSpPr txBox="1"/>
            <p:nvPr/>
          </p:nvSpPr>
          <p:spPr>
            <a:xfrm>
              <a:off x="7856220" y="180657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　選擇球員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57744" y="22828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點姓名，搜尋或改選。</a:t>
              </a:r>
            </a:p>
          </p:txBody>
        </p:sp>
      </p:grpSp>
      <p:grpSp>
        <p:nvGrpSpPr>
          <p:cNvPr id="14" name="note-826-385"/>
          <p:cNvGrpSpPr/>
          <p:nvPr/>
        </p:nvGrpSpPr>
        <p:grpSpPr>
          <a:xfrm>
            <a:off x="7856220" y="3387725"/>
            <a:ext cx="2908935" cy="857631"/>
            <a:chOff x="7856220" y="3387725"/>
            <a:chExt cx="2908935" cy="857631"/>
          </a:xfrm>
        </p:grpSpPr>
        <p:sp>
          <p:nvSpPr>
            <p:cNvPr id="12" name="TextBox 12"/>
            <p:cNvSpPr txBox="1"/>
            <p:nvPr/>
          </p:nvSpPr>
          <p:spPr>
            <a:xfrm>
              <a:off x="7856220" y="338772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　調整棒次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57744" y="38639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用上下箭頭或互換棒次。</a:t>
              </a:r>
            </a:p>
          </p:txBody>
        </p:sp>
      </p:grpSp>
      <p:grpSp>
        <p:nvGrpSpPr>
          <p:cNvPr id="17" name="note-826-551"/>
          <p:cNvGrpSpPr/>
          <p:nvPr/>
        </p:nvGrpSpPr>
        <p:grpSpPr>
          <a:xfrm>
            <a:off x="7856220" y="4968875"/>
            <a:ext cx="2908935" cy="857631"/>
            <a:chOff x="7856220" y="4968875"/>
            <a:chExt cx="2908935" cy="857631"/>
          </a:xfrm>
        </p:grpSpPr>
        <p:sp>
          <p:nvSpPr>
            <p:cNvPr id="15" name="TextBox 15"/>
            <p:cNvSpPr txBox="1"/>
            <p:nvPr/>
          </p:nvSpPr>
          <p:spPr>
            <a:xfrm>
              <a:off x="7856220" y="496887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3　套用配置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57744" y="54451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確認九棒與守位後生效。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474202" cy="1063625"/>
            <a:chOff x="592836" y="250825"/>
            <a:chExt cx="847420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把常用牛棚存成群組，再確認今日可用人選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21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1137204" y="1524000"/>
            <a:ext cx="5898043" cy="4762500"/>
            <a:chOff x="1137204" y="1524000"/>
            <a:chExt cx="5898043" cy="4762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7204" y="1524000"/>
              <a:ext cx="5898043" cy="4762500"/>
            </a:xfrm>
            <a:prstGeom prst="rect">
              <a:avLst/>
            </a:prstGeom>
          </p:spPr>
        </p:pic>
      </p:grpSp>
      <p:grpSp>
        <p:nvGrpSpPr>
          <p:cNvPr id="11" name="note-826-219"/>
          <p:cNvGrpSpPr/>
          <p:nvPr/>
        </p:nvGrpSpPr>
        <p:grpSpPr>
          <a:xfrm>
            <a:off x="7856220" y="1806575"/>
            <a:ext cx="3240786" cy="1191324"/>
            <a:chOff x="7856220" y="1806575"/>
            <a:chExt cx="3240786" cy="1191324"/>
          </a:xfrm>
        </p:grpSpPr>
        <p:sp>
          <p:nvSpPr>
            <p:cNvPr id="9" name="TextBox 9"/>
            <p:cNvSpPr txBox="1"/>
            <p:nvPr/>
          </p:nvSpPr>
          <p:spPr>
            <a:xfrm>
              <a:off x="7856220" y="180657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　群組範本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57744" y="225742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勝投組／敗投組／自訂義群組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可修改，並非官方分組。</a:t>
              </a:r>
            </a:p>
          </p:txBody>
        </p:sp>
      </p:grpSp>
      <p:grpSp>
        <p:nvGrpSpPr>
          <p:cNvPr id="14" name="note-826-385"/>
          <p:cNvGrpSpPr/>
          <p:nvPr/>
        </p:nvGrpSpPr>
        <p:grpSpPr>
          <a:xfrm>
            <a:off x="7856220" y="3387725"/>
            <a:ext cx="2908935" cy="857631"/>
            <a:chOff x="7856220" y="3387725"/>
            <a:chExt cx="2908935" cy="857631"/>
          </a:xfrm>
        </p:grpSpPr>
        <p:sp>
          <p:nvSpPr>
            <p:cNvPr id="12" name="TextBox 12"/>
            <p:cNvSpPr txBox="1"/>
            <p:nvPr/>
          </p:nvSpPr>
          <p:spPr>
            <a:xfrm>
              <a:off x="7856220" y="3387725"/>
              <a:ext cx="20002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　編輯後儲存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57744" y="38639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保存在此網站與瀏覽器。</a:t>
              </a:r>
            </a:p>
          </p:txBody>
        </p:sp>
      </p:grpSp>
      <p:grpSp>
        <p:nvGrpSpPr>
          <p:cNvPr id="17" name="note-826-551"/>
          <p:cNvGrpSpPr/>
          <p:nvPr/>
        </p:nvGrpSpPr>
        <p:grpSpPr>
          <a:xfrm>
            <a:off x="7856220" y="4968875"/>
            <a:ext cx="2908935" cy="857631"/>
            <a:chOff x="7856220" y="4968875"/>
            <a:chExt cx="2908935" cy="857631"/>
          </a:xfrm>
        </p:grpSpPr>
        <p:sp>
          <p:nvSpPr>
            <p:cNvPr id="15" name="TextBox 15"/>
            <p:cNvSpPr txBox="1"/>
            <p:nvPr/>
          </p:nvSpPr>
          <p:spPr>
            <a:xfrm>
              <a:off x="7856220" y="4968875"/>
              <a:ext cx="20002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3　套用與微調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57744" y="54451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仍需核對今日可用資格。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魔力藍對右打：低落類增加，速球類減少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22</a:t>
            </a:fld>
          </a:p>
        </p:txBody>
      </p:sp>
      <p:grpSp>
        <p:nvGrpSpPr>
          <p:cNvPr id="16" name="mix-0"/>
          <p:cNvGrpSpPr/>
          <p:nvPr/>
        </p:nvGrpSpPr>
        <p:grpSpPr>
          <a:xfrm>
            <a:off x="597027" y="1952625"/>
            <a:ext cx="4989474" cy="2343912"/>
            <a:chOff x="597027" y="1952625"/>
            <a:chExt cx="4989474" cy="2343912"/>
          </a:xfrm>
        </p:grpSpPr>
        <p:sp>
          <p:nvSpPr>
            <p:cNvPr id="7" name="TextBox 7"/>
            <p:cNvSpPr txBox="1"/>
            <p:nvPr/>
          </p:nvSpPr>
          <p:spPr>
            <a:xfrm>
              <a:off x="597027" y="1952625"/>
              <a:ext cx="1694434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低落類球種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9694" y="2806700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基準期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590675" y="2781300"/>
              <a:ext cx="2952750" cy="295275"/>
            </a:xfrm>
            <a:prstGeom prst="roundRect">
              <a:avLst>
                <a:gd name="adj" fmla="val 12903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590675" y="2781300"/>
              <a:ext cx="531495" cy="295275"/>
            </a:xfrm>
            <a:prstGeom prst="roundRect">
              <a:avLst>
                <a:gd name="adj" fmla="val 12903"/>
              </a:avLst>
            </a:prstGeom>
            <a:solidFill>
              <a:srgbClr val="58616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67453" y="2705100"/>
              <a:ext cx="819048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18%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38544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近期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590675" y="3829050"/>
              <a:ext cx="2952750" cy="295275"/>
            </a:xfrm>
            <a:prstGeom prst="roundRect">
              <a:avLst>
                <a:gd name="adj" fmla="val 12903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90675" y="3829050"/>
              <a:ext cx="1003935" cy="295275"/>
            </a:xfrm>
            <a:prstGeom prst="roundRect">
              <a:avLst>
                <a:gd name="adj" fmla="val 12903"/>
              </a:avLst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67453" y="3752850"/>
              <a:ext cx="819048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34%</a:t>
              </a:r>
            </a:p>
          </p:txBody>
        </p:sp>
      </p:grpSp>
      <p:grpSp>
        <p:nvGrpSpPr>
          <p:cNvPr id="26" name="mix-1"/>
          <p:cNvGrpSpPr/>
          <p:nvPr/>
        </p:nvGrpSpPr>
        <p:grpSpPr>
          <a:xfrm>
            <a:off x="6235827" y="1952625"/>
            <a:ext cx="4989474" cy="2343912"/>
            <a:chOff x="6235827" y="1952625"/>
            <a:chExt cx="4989474" cy="2343912"/>
          </a:xfrm>
        </p:grpSpPr>
        <p:sp>
          <p:nvSpPr>
            <p:cNvPr id="17" name="TextBox 17"/>
            <p:cNvSpPr txBox="1"/>
            <p:nvPr/>
          </p:nvSpPr>
          <p:spPr>
            <a:xfrm>
              <a:off x="6235827" y="1952625"/>
              <a:ext cx="1694434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速球類球種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38494" y="2806700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229475" y="2781300"/>
              <a:ext cx="2952750" cy="295275"/>
            </a:xfrm>
            <a:prstGeom prst="roundRect">
              <a:avLst>
                <a:gd name="adj" fmla="val 12903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29475" y="2781300"/>
              <a:ext cx="1564958" cy="295275"/>
            </a:xfrm>
            <a:prstGeom prst="roundRect">
              <a:avLst>
                <a:gd name="adj" fmla="val 12903"/>
              </a:avLst>
            </a:prstGeom>
            <a:solidFill>
              <a:srgbClr val="58616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06253" y="2705100"/>
              <a:ext cx="819048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53%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38494" y="38544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近期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229475" y="3829050"/>
              <a:ext cx="2952750" cy="295275"/>
            </a:xfrm>
            <a:prstGeom prst="roundRect">
              <a:avLst>
                <a:gd name="adj" fmla="val 12903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229475" y="3829050"/>
              <a:ext cx="1210628" cy="295275"/>
            </a:xfrm>
            <a:prstGeom prst="roundRect">
              <a:avLst>
                <a:gd name="adj" fmla="val 12903"/>
              </a:avLst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406253" y="3752850"/>
              <a:ext cx="819048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41%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609600" y="5572125"/>
            <a:ext cx="10972800" cy="704850"/>
            <a:chOff x="609600" y="5572125"/>
            <a:chExt cx="10972800" cy="704850"/>
          </a:xfrm>
        </p:grpSpPr>
        <p:sp>
          <p:nvSpPr>
            <p:cNvPr id="27" name="Rectangle 27"/>
            <p:cNvSpPr/>
            <p:nvPr/>
          </p:nvSpPr>
          <p:spPr>
            <a:xfrm>
              <a:off x="609600" y="557212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8294" y="5664200"/>
              <a:ext cx="719670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魔力藍對右打：之前 10 場・428 球，對照最近 5 場・258 球。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585710" cy="1063625"/>
            <a:chOff x="592836" y="250825"/>
            <a:chExt cx="758571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網站依相同左右打條件，比較兩段配球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23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1030897" y="1562100"/>
            <a:ext cx="10130206" cy="4667250"/>
            <a:chOff x="1030897" y="1562100"/>
            <a:chExt cx="10130206" cy="466725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0897" y="1562100"/>
              <a:ext cx="10130206" cy="46672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9212770" cy="1063625"/>
            <a:chOff x="592836" y="250825"/>
            <a:chExt cx="921277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727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網站實作｜2025 單日分析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921277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2025/09/20：六隊三場，226 打席皆可攻守比較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24</a:t>
            </a:fld>
          </a:p>
        </p:txBody>
      </p:sp>
      <p:grpSp>
        <p:nvGrpSpPr>
          <p:cNvPr id="8" name="shot-單日比賽摘要"/>
          <p:cNvGrpSpPr/>
          <p:nvPr/>
        </p:nvGrpSpPr>
        <p:grpSpPr>
          <a:xfrm>
            <a:off x="790735" y="1524000"/>
            <a:ext cx="4952679" cy="4686300"/>
            <a:chOff x="790735" y="1524000"/>
            <a:chExt cx="4952679" cy="46863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0735" y="1524000"/>
              <a:ext cx="4952679" cy="4686300"/>
            </a:xfrm>
            <a:prstGeom prst="rect">
              <a:avLst/>
            </a:prstGeom>
          </p:spPr>
        </p:pic>
      </p:grpSp>
      <p:grpSp>
        <p:nvGrpSpPr>
          <p:cNvPr id="19" name="day-scope"/>
          <p:cNvGrpSpPr/>
          <p:nvPr/>
        </p:nvGrpSpPr>
        <p:grpSpPr>
          <a:xfrm>
            <a:off x="6553200" y="1797050"/>
            <a:ext cx="4077843" cy="4266565"/>
            <a:chOff x="6553200" y="1797050"/>
            <a:chExt cx="4077843" cy="4266565"/>
          </a:xfrm>
        </p:grpSpPr>
        <p:sp>
          <p:nvSpPr>
            <p:cNvPr id="9" name="TextBox 9"/>
            <p:cNvSpPr txBox="1"/>
            <p:nvPr/>
          </p:nvSpPr>
          <p:spPr>
            <a:xfrm>
              <a:off x="6560439" y="1797050"/>
              <a:ext cx="285872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2025/09/20 六隊三場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53200" y="2117725"/>
              <a:ext cx="1463345" cy="12915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6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226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27364" y="2663825"/>
              <a:ext cx="96057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個打席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61201" y="3438525"/>
              <a:ext cx="162675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樂天 vs 統一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70923" y="3451225"/>
              <a:ext cx="960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70 打席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61201" y="4143375"/>
              <a:ext cx="162675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台鋼 vs 富邦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70923" y="4156075"/>
              <a:ext cx="960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74 打席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1201" y="4848225"/>
              <a:ext cx="162675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味全 vs 中信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70923" y="4860925"/>
              <a:ext cx="960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82 打席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2725" y="5695950"/>
              <a:ext cx="356224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左圖為樂天對統一的當日摘要。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同一打席，代打與換投各有比較基準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25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609600" y="3942098"/>
            <a:ext cx="10972800" cy="2088479"/>
            <a:chOff x="609600" y="3942098"/>
            <a:chExt cx="10972800" cy="2088479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3942098"/>
              <a:ext cx="10972800" cy="2088479"/>
            </a:xfrm>
            <a:prstGeom prst="rect">
              <a:avLst/>
            </a:prstGeom>
          </p:spPr>
        </p:pic>
      </p:grpSp>
      <p:grpSp>
        <p:nvGrpSpPr>
          <p:cNvPr id="17" name="baseline-0"/>
          <p:cNvGrpSpPr/>
          <p:nvPr/>
        </p:nvGrpSpPr>
        <p:grpSpPr>
          <a:xfrm>
            <a:off x="597789" y="1797050"/>
            <a:ext cx="3718128" cy="1443800"/>
            <a:chOff x="597789" y="1797050"/>
            <a:chExt cx="3718128" cy="1443800"/>
          </a:xfrm>
        </p:grpSpPr>
        <p:sp>
          <p:nvSpPr>
            <p:cNvPr id="9" name="TextBox 9"/>
            <p:cNvSpPr txBox="1"/>
            <p:nvPr/>
          </p:nvSpPr>
          <p:spPr>
            <a:xfrm>
              <a:off x="597789" y="17970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代打評估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892969" y="2359819"/>
              <a:ext cx="157162" cy="157162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71550" y="2516981"/>
              <a:ext cx="9525" cy="261938"/>
            </a:xfrm>
            <a:custGeom>
              <a:avLst/>
              <a:gdLst/>
              <a:ahLst/>
              <a:cxnLst/>
              <a:rect l="l" t="t" r="r" b="b"/>
              <a:pathLst>
                <a:path w="9525" h="261938">
                  <a:moveTo>
                    <a:pt x="0" y="0"/>
                  </a:moveTo>
                  <a:lnTo>
                    <a:pt x="0" y="261938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40581" y="2632234"/>
              <a:ext cx="261938" cy="9525"/>
            </a:xfrm>
            <a:custGeom>
              <a:avLst/>
              <a:gdLst/>
              <a:ahLst/>
              <a:cxnLst/>
              <a:rect l="l" t="t" r="r" b="b"/>
              <a:pathLst>
                <a:path w="261938" h="9525">
                  <a:moveTo>
                    <a:pt x="0" y="0"/>
                  </a:moveTo>
                  <a:lnTo>
                    <a:pt x="261938" y="0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45820" y="2778919"/>
              <a:ext cx="125730" cy="157162"/>
            </a:xfrm>
            <a:custGeom>
              <a:avLst/>
              <a:gdLst/>
              <a:ahLst/>
              <a:cxnLst/>
              <a:rect l="l" t="t" r="r" b="b"/>
              <a:pathLst>
                <a:path w="125730" h="157162">
                  <a:moveTo>
                    <a:pt x="125730" y="0"/>
                  </a:moveTo>
                  <a:lnTo>
                    <a:pt x="0" y="157162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71550" y="2778919"/>
              <a:ext cx="125730" cy="157162"/>
            </a:xfrm>
            <a:custGeom>
              <a:avLst/>
              <a:gdLst/>
              <a:ahLst/>
              <a:cxnLst/>
              <a:rect l="l" t="t" r="r" b="b"/>
              <a:pathLst>
                <a:path w="125730" h="157162">
                  <a:moveTo>
                    <a:pt x="0" y="0"/>
                  </a:moveTo>
                  <a:lnTo>
                    <a:pt x="125730" y="157162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03807" y="233680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陳傑憲或候選打者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04188" y="2844800"/>
              <a:ext cx="281172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對照：實際投手 王志煊</a:t>
              </a:r>
            </a:p>
          </p:txBody>
        </p:sp>
      </p:grpSp>
      <p:grpSp>
        <p:nvGrpSpPr>
          <p:cNvPr id="26" name="baseline-1"/>
          <p:cNvGrpSpPr/>
          <p:nvPr/>
        </p:nvGrpSpPr>
        <p:grpSpPr>
          <a:xfrm>
            <a:off x="6236589" y="1797050"/>
            <a:ext cx="3918229" cy="1443800"/>
            <a:chOff x="6236589" y="1797050"/>
            <a:chExt cx="3918229" cy="1443800"/>
          </a:xfrm>
        </p:grpSpPr>
        <p:sp>
          <p:nvSpPr>
            <p:cNvPr id="18" name="TextBox 18"/>
            <p:cNvSpPr txBox="1"/>
            <p:nvPr/>
          </p:nvSpPr>
          <p:spPr>
            <a:xfrm>
              <a:off x="6236589" y="17970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換投評估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531769" y="2359819"/>
              <a:ext cx="157162" cy="157162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610350" y="2516981"/>
              <a:ext cx="9525" cy="261938"/>
            </a:xfrm>
            <a:custGeom>
              <a:avLst/>
              <a:gdLst/>
              <a:ahLst/>
              <a:cxnLst/>
              <a:rect l="l" t="t" r="r" b="b"/>
              <a:pathLst>
                <a:path w="9525" h="261938">
                  <a:moveTo>
                    <a:pt x="0" y="0"/>
                  </a:moveTo>
                  <a:lnTo>
                    <a:pt x="0" y="261938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479381" y="2632234"/>
              <a:ext cx="261938" cy="9525"/>
            </a:xfrm>
            <a:custGeom>
              <a:avLst/>
              <a:gdLst/>
              <a:ahLst/>
              <a:cxnLst/>
              <a:rect l="l" t="t" r="r" b="b"/>
              <a:pathLst>
                <a:path w="261938" h="9525">
                  <a:moveTo>
                    <a:pt x="0" y="0"/>
                  </a:moveTo>
                  <a:lnTo>
                    <a:pt x="261938" y="0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484620" y="2778919"/>
              <a:ext cx="125730" cy="157162"/>
            </a:xfrm>
            <a:custGeom>
              <a:avLst/>
              <a:gdLst/>
              <a:ahLst/>
              <a:cxnLst/>
              <a:rect l="l" t="t" r="r" b="b"/>
              <a:pathLst>
                <a:path w="125730" h="157162">
                  <a:moveTo>
                    <a:pt x="125730" y="0"/>
                  </a:moveTo>
                  <a:lnTo>
                    <a:pt x="0" y="157162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610350" y="2778919"/>
              <a:ext cx="125730" cy="157162"/>
            </a:xfrm>
            <a:custGeom>
              <a:avLst/>
              <a:gdLst/>
              <a:ahLst/>
              <a:cxnLst/>
              <a:rect l="l" t="t" r="r" b="b"/>
              <a:pathLst>
                <a:path w="125730" h="157162">
                  <a:moveTo>
                    <a:pt x="0" y="0"/>
                  </a:moveTo>
                  <a:lnTo>
                    <a:pt x="125730" y="157162"/>
                  </a:lnTo>
                </a:path>
              </a:pathLst>
            </a:custGeom>
            <a:noFill/>
            <a:ln w="20955">
              <a:solidFill>
                <a:srgbClr val="18344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42607" y="2336800"/>
              <a:ext cx="26403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原投手 林子崴若續投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42988" y="2844800"/>
              <a:ext cx="30118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對照：王志煊等牛棚候選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只拿當時已知資訊，結果留在打席結束後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26</a:t>
            </a:fld>
          </a:p>
        </p:txBody>
      </p:sp>
      <p:grpSp>
        <p:nvGrpSpPr>
          <p:cNvPr id="19" name="time-boundary"/>
          <p:cNvGrpSpPr/>
          <p:nvPr/>
        </p:nvGrpSpPr>
        <p:grpSpPr>
          <a:xfrm>
            <a:off x="609600" y="1857375"/>
            <a:ext cx="10972800" cy="2114550"/>
            <a:chOff x="609600" y="1857375"/>
            <a:chExt cx="10972800" cy="2114550"/>
          </a:xfrm>
        </p:grpSpPr>
        <p:sp>
          <p:nvSpPr>
            <p:cNvPr id="7" name="Rectangle 7"/>
            <p:cNvSpPr/>
            <p:nvPr/>
          </p:nvSpPr>
          <p:spPr>
            <a:xfrm>
              <a:off x="609600" y="1857375"/>
              <a:ext cx="7229475" cy="2114550"/>
            </a:xfrm>
            <a:prstGeom prst="roundRect">
              <a:avLst>
                <a:gd name="adj" fmla="val 5405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153400" y="1857375"/>
              <a:ext cx="3429000" cy="21145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28700" y="27622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724025" y="2676525"/>
              <a:ext cx="171450" cy="1714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87104" y="2073275"/>
              <a:ext cx="44529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9/1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7883" y="3181350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逐球模型訓練截止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153025" y="2676525"/>
              <a:ext cx="171450" cy="1714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80037" y="2073275"/>
              <a:ext cx="131742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9/20 賽前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63797" y="3181350"/>
              <a:ext cx="25499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能力、近期出賽與配球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9725025" y="2676525"/>
              <a:ext cx="171450" cy="1714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18143" y="2073275"/>
              <a:ext cx="158521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打席結束後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15425" y="3181350"/>
              <a:ext cx="17906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實際調度與結果</a:t>
              </a:r>
            </a:p>
          </p:txBody>
        </p:sp>
      </p:grpSp>
      <p:grpSp>
        <p:nvGrpSpPr>
          <p:cNvPr id="24" name="known-and-outcomes"/>
          <p:cNvGrpSpPr/>
          <p:nvPr/>
        </p:nvGrpSpPr>
        <p:grpSpPr>
          <a:xfrm>
            <a:off x="597789" y="4349750"/>
            <a:ext cx="10384028" cy="1273778"/>
            <a:chOff x="597789" y="4349750"/>
            <a:chExt cx="10384028" cy="1273778"/>
          </a:xfrm>
        </p:grpSpPr>
        <p:sp>
          <p:nvSpPr>
            <p:cNvPr id="20" name="TextBox 20"/>
            <p:cNvSpPr txBox="1"/>
            <p:nvPr/>
          </p:nvSpPr>
          <p:spPr>
            <a:xfrm>
              <a:off x="597789" y="4349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決策輸入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9313" y="4854575"/>
              <a:ext cx="463829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同日結果不進能力估計；負荷截於賽前。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歷史名單與守位仍為推估，需人工確認。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98539" y="4349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判讀界線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00063" y="4854575"/>
              <a:ext cx="43817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6 局起，差距達 1 百分點標示建議。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單日結果不是準確率，也非因果證據。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回到同一個打席，分開看建議與結果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27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1054073" y="1628775"/>
            <a:ext cx="10083854" cy="3048000"/>
            <a:chOff x="1054073" y="1628775"/>
            <a:chExt cx="10083854" cy="3048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4073" y="1628775"/>
              <a:ext cx="10083854" cy="3048000"/>
            </a:xfrm>
            <a:prstGeom prst="rect">
              <a:avLst/>
            </a:prstGeom>
          </p:spPr>
        </p:pic>
      </p:grpSp>
      <p:grpSp>
        <p:nvGrpSpPr>
          <p:cNvPr id="12" name="result-0"/>
          <p:cNvGrpSpPr/>
          <p:nvPr/>
        </p:nvGrpSpPr>
        <p:grpSpPr>
          <a:xfrm>
            <a:off x="597027" y="4959350"/>
            <a:ext cx="1960245" cy="1282319"/>
            <a:chOff x="597027" y="4959350"/>
            <a:chExt cx="1960245" cy="1282319"/>
          </a:xfrm>
        </p:grpSpPr>
        <p:sp>
          <p:nvSpPr>
            <p:cNvPr id="9" name="TextBox 9"/>
            <p:cNvSpPr txBox="1"/>
            <p:nvPr/>
          </p:nvSpPr>
          <p:spPr>
            <a:xfrm>
              <a:off x="599694" y="4959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模型差距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7027" y="5353050"/>
              <a:ext cx="1933229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+0.54 百分點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588962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郭永維相對林家鋐</a:t>
              </a:r>
            </a:p>
          </p:txBody>
        </p:sp>
      </p:grpSp>
      <p:grpSp>
        <p:nvGrpSpPr>
          <p:cNvPr id="16" name="result-1"/>
          <p:cNvGrpSpPr/>
          <p:nvPr/>
        </p:nvGrpSpPr>
        <p:grpSpPr>
          <a:xfrm>
            <a:off x="4330827" y="4959350"/>
            <a:ext cx="2458593" cy="1282319"/>
            <a:chOff x="4330827" y="4959350"/>
            <a:chExt cx="2458593" cy="1282319"/>
          </a:xfrm>
        </p:grpSpPr>
        <p:sp>
          <p:nvSpPr>
            <p:cNvPr id="13" name="TextBox 13"/>
            <p:cNvSpPr txBox="1"/>
            <p:nvPr/>
          </p:nvSpPr>
          <p:spPr>
            <a:xfrm>
              <a:off x="4333494" y="4959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系統判讀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0827" y="5353050"/>
              <a:ext cx="1360576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續打為主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4256" y="5889625"/>
              <a:ext cx="24551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未達 1 百分點建議門檻</a:t>
              </a:r>
            </a:p>
          </p:txBody>
        </p:sp>
      </p:grpSp>
      <p:grpSp>
        <p:nvGrpSpPr>
          <p:cNvPr id="20" name="result-2"/>
          <p:cNvGrpSpPr/>
          <p:nvPr/>
        </p:nvGrpSpPr>
        <p:grpSpPr>
          <a:xfrm>
            <a:off x="8064627" y="4959350"/>
            <a:ext cx="2202561" cy="1282319"/>
            <a:chOff x="8064627" y="4959350"/>
            <a:chExt cx="2202561" cy="1282319"/>
          </a:xfrm>
        </p:grpSpPr>
        <p:sp>
          <p:nvSpPr>
            <p:cNvPr id="17" name="TextBox 17"/>
            <p:cNvSpPr txBox="1"/>
            <p:nvPr/>
          </p:nvSpPr>
          <p:spPr>
            <a:xfrm>
              <a:off x="8067294" y="4959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實際發生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64627" y="5353050"/>
              <a:ext cx="1360576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一壘安打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8056" y="588962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郭永維對魔力藍代打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697218" cy="1063625"/>
            <a:chOff x="592836" y="250825"/>
            <a:chExt cx="6697218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網站實作｜賽前負荷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換投前，也要看前幾天投了多少球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28</a:t>
            </a:fld>
          </a:p>
        </p:txBody>
      </p:sp>
      <p:grpSp>
        <p:nvGrpSpPr>
          <p:cNvPr id="8" name="shot-陳冠宇賽前負荷"/>
          <p:cNvGrpSpPr/>
          <p:nvPr/>
        </p:nvGrpSpPr>
        <p:grpSpPr>
          <a:xfrm>
            <a:off x="1220947" y="1952625"/>
            <a:ext cx="5863907" cy="4076700"/>
            <a:chOff x="1220947" y="1952625"/>
            <a:chExt cx="5863907" cy="40767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0947" y="1952625"/>
              <a:ext cx="5863907" cy="4076700"/>
            </a:xfrm>
            <a:prstGeom prst="rect">
              <a:avLst/>
            </a:prstGeom>
          </p:spPr>
        </p:pic>
      </p:grpSp>
      <p:grpSp>
        <p:nvGrpSpPr>
          <p:cNvPr id="17" name="load-reading"/>
          <p:cNvGrpSpPr/>
          <p:nvPr/>
        </p:nvGrpSpPr>
        <p:grpSpPr>
          <a:xfrm>
            <a:off x="8082534" y="1812925"/>
            <a:ext cx="3022067" cy="3907790"/>
            <a:chOff x="8082534" y="1812925"/>
            <a:chExt cx="3022067" cy="3907790"/>
          </a:xfrm>
        </p:grpSpPr>
        <p:sp>
          <p:nvSpPr>
            <p:cNvPr id="9" name="TextBox 9"/>
            <p:cNvSpPr txBox="1"/>
            <p:nvPr/>
          </p:nvSpPr>
          <p:spPr>
            <a:xfrm>
              <a:off x="8082534" y="1812925"/>
              <a:ext cx="11178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陳冠宇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85582" y="2336800"/>
              <a:ext cx="20221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2025/09/20 賽前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85201" y="2990850"/>
              <a:ext cx="178292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最近一次登板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86725" y="3448050"/>
              <a:ext cx="251913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9/18，完整休息一天。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85201" y="394335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近三天球數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86725" y="4400550"/>
              <a:ext cx="143250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累計 17 球。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85201" y="4895850"/>
              <a:ext cx="166110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近 14 天出賽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86725" y="5353050"/>
              <a:ext cx="301787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4 場；賽前連續出賽 0 天。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先固定條件，再比較人選，最後檢查提醒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29</a:t>
            </a:fld>
          </a:p>
        </p:txBody>
      </p:sp>
      <p:grpSp>
        <p:nvGrpSpPr>
          <p:cNvPr id="10" name="operation-step-0"/>
          <p:cNvGrpSpPr/>
          <p:nvPr/>
        </p:nvGrpSpPr>
        <p:grpSpPr>
          <a:xfrm>
            <a:off x="590550" y="2349500"/>
            <a:ext cx="2963418" cy="2451608"/>
            <a:chOff x="590550" y="2349500"/>
            <a:chExt cx="2963418" cy="2451608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2349500"/>
              <a:ext cx="624129" cy="8048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1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6646" y="331470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設定局勢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8932" y="4003675"/>
              <a:ext cx="295503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球隊、投打人選、比分、</a:t>
              </a:r>
              <a:b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局數、出局與壘況。</a:t>
              </a:r>
            </a:p>
          </p:txBody>
        </p:sp>
      </p:grpSp>
      <p:grpSp>
        <p:nvGrpSpPr>
          <p:cNvPr id="14" name="operation-step-1"/>
          <p:cNvGrpSpPr/>
          <p:nvPr/>
        </p:nvGrpSpPr>
        <p:grpSpPr>
          <a:xfrm>
            <a:off x="4324350" y="2349500"/>
            <a:ext cx="2696718" cy="2451608"/>
            <a:chOff x="4324350" y="2349500"/>
            <a:chExt cx="2696718" cy="2451608"/>
          </a:xfrm>
        </p:grpSpPr>
        <p:sp>
          <p:nvSpPr>
            <p:cNvPr id="11" name="TextBox 11"/>
            <p:cNvSpPr txBox="1"/>
            <p:nvPr/>
          </p:nvSpPr>
          <p:spPr>
            <a:xfrm>
              <a:off x="4324350" y="2349500"/>
              <a:ext cx="624129" cy="8048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1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30446" y="331470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比較人選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2732" y="4003675"/>
              <a:ext cx="268833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先看相對現任的差距，</a:t>
              </a:r>
              <a:b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最多選四人檢視比較。</a:t>
              </a:r>
            </a:p>
          </p:txBody>
        </p:sp>
      </p:grpSp>
      <p:grpSp>
        <p:nvGrpSpPr>
          <p:cNvPr id="18" name="operation-step-2"/>
          <p:cNvGrpSpPr/>
          <p:nvPr/>
        </p:nvGrpSpPr>
        <p:grpSpPr>
          <a:xfrm>
            <a:off x="8058150" y="2349500"/>
            <a:ext cx="3230118" cy="2451608"/>
            <a:chOff x="8058150" y="2349500"/>
            <a:chExt cx="3230118" cy="2451608"/>
          </a:xfrm>
        </p:grpSpPr>
        <p:sp>
          <p:nvSpPr>
            <p:cNvPr id="15" name="TextBox 15"/>
            <p:cNvSpPr txBox="1"/>
            <p:nvPr/>
          </p:nvSpPr>
          <p:spPr>
            <a:xfrm>
              <a:off x="8058150" y="2349500"/>
              <a:ext cx="624129" cy="8048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1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4246" y="331470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核對限制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66532" y="4003675"/>
              <a:ext cx="322173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確認接守、今日可用名單，</a:t>
              </a:r>
              <a:b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留意模型分歧與資料量。</a:t>
              </a:r>
            </a:p>
          </p:txBody>
        </p:sp>
      </p:grpSp>
      <p:grpSp>
        <p:nvGrpSpPr>
          <p:cNvPr id="21" name="takeaway"/>
          <p:cNvGrpSpPr/>
          <p:nvPr/>
        </p:nvGrpSpPr>
        <p:grpSpPr>
          <a:xfrm>
            <a:off x="609600" y="5610225"/>
            <a:ext cx="10972800" cy="704850"/>
            <a:chOff x="609600" y="5610225"/>
            <a:chExt cx="10972800" cy="704850"/>
          </a:xfrm>
        </p:grpSpPr>
        <p:sp>
          <p:nvSpPr>
            <p:cNvPr id="19" name="Rectangle 19"/>
            <p:cNvSpPr/>
            <p:nvPr/>
          </p:nvSpPr>
          <p:spPr>
            <a:xfrm>
              <a:off x="609600" y="561022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8294" y="5702300"/>
              <a:ext cx="60575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操作畫面已於前頁展示；下一頁集中說明判讀限制。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252972" cy="1063625"/>
            <a:chOff x="592836" y="250825"/>
            <a:chExt cx="625297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差距之外，三種提醒都要一起看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30</a:t>
            </a:fld>
          </a:p>
        </p:txBody>
      </p:sp>
      <p:grpSp>
        <p:nvGrpSpPr>
          <p:cNvPr id="10" name="caution-0"/>
          <p:cNvGrpSpPr/>
          <p:nvPr/>
        </p:nvGrpSpPr>
        <p:grpSpPr>
          <a:xfrm>
            <a:off x="596646" y="2228850"/>
            <a:ext cx="3101721" cy="2442178"/>
            <a:chOff x="596646" y="2228850"/>
            <a:chExt cx="3101721" cy="2442178"/>
          </a:xfrm>
        </p:grpSpPr>
        <p:sp>
          <p:nvSpPr>
            <p:cNvPr id="7" name="TextBox 7"/>
            <p:cNvSpPr txBox="1"/>
            <p:nvPr/>
          </p:nvSpPr>
          <p:spPr>
            <a:xfrm>
              <a:off x="596646" y="22288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接守需求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932" y="319405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替補能守原位置嗎？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313" y="3902075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代打後可能還要調整守備，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不能只看打擊差距。</a:t>
              </a:r>
            </a:p>
          </p:txBody>
        </p:sp>
      </p:grpSp>
      <p:grpSp>
        <p:nvGrpSpPr>
          <p:cNvPr id="14" name="caution-1"/>
          <p:cNvGrpSpPr/>
          <p:nvPr/>
        </p:nvGrpSpPr>
        <p:grpSpPr>
          <a:xfrm>
            <a:off x="4330446" y="2228850"/>
            <a:ext cx="2850642" cy="2442178"/>
            <a:chOff x="4330446" y="2228850"/>
            <a:chExt cx="2850642" cy="2442178"/>
          </a:xfrm>
        </p:grpSpPr>
        <p:sp>
          <p:nvSpPr>
            <p:cNvPr id="11" name="TextBox 11"/>
            <p:cNvSpPr txBox="1"/>
            <p:nvPr/>
          </p:nvSpPr>
          <p:spPr>
            <a:xfrm>
              <a:off x="4330446" y="22288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模型分歧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32732" y="319405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兩種估計方向相同嗎？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3113" y="3902075"/>
              <a:ext cx="284251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方向不同時，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不宜只看單一分數決定。</a:t>
              </a:r>
            </a:p>
          </p:txBody>
        </p:sp>
      </p:grpSp>
      <p:grpSp>
        <p:nvGrpSpPr>
          <p:cNvPr id="18" name="caution-2"/>
          <p:cNvGrpSpPr/>
          <p:nvPr/>
        </p:nvGrpSpPr>
        <p:grpSpPr>
          <a:xfrm>
            <a:off x="8064246" y="2228850"/>
            <a:ext cx="3133344" cy="2442178"/>
            <a:chOff x="8064246" y="2228850"/>
            <a:chExt cx="3133344" cy="2442178"/>
          </a:xfrm>
        </p:grpSpPr>
        <p:sp>
          <p:nvSpPr>
            <p:cNvPr id="15" name="TextBox 15"/>
            <p:cNvSpPr txBox="1"/>
            <p:nvPr/>
          </p:nvSpPr>
          <p:spPr>
            <a:xfrm>
              <a:off x="8064246" y="22288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資料有限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6532" y="3194050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資料足以描述此對決嗎？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66913" y="3902075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樣本少時較倚賴整體基準，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仍須核對球員當日狀態。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01980" y="266700"/>
            <a:ext cx="10980420" cy="1047750"/>
            <a:chOff x="601980" y="266700"/>
            <a:chExt cx="10980420" cy="1047750"/>
          </a:xfrm>
        </p:grpSpPr>
        <p:sp>
          <p:nvSpPr>
            <p:cNvPr id="2" name="TextBox 2"/>
            <p:cNvSpPr/>
            <p:nvPr/>
          </p:nvSpPr>
          <p:spPr>
            <a:xfrm>
              <a:off x="601980" y="266700"/>
              <a:ext cx="2458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700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網站實作｜影片 Demo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9600" y="571500"/>
              <a:ext cx="10972800" cy="666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2225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代打操作示範：設定局勢、評估並比較候選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31</a:t>
            </a:r>
          </a:p>
        </p:txBody>
      </p:sp>
      <p:grpSp>
        <p:nvGrpSpPr>
          <p:cNvPr id="8" name="play-instruction"/>
          <p:cNvGrpSpPr/>
          <p:nvPr/>
        </p:nvGrpSpPr>
        <p:grpSpPr>
          <a:xfrm>
            <a:off x="10051256" y="263557"/>
            <a:ext cx="1539526" cy="322707"/>
            <a:chOff x="10051256" y="263557"/>
            <a:chExt cx="1539526" cy="322707"/>
          </a:xfrm>
        </p:grpSpPr>
        <p:sp>
          <p:nvSpPr>
            <p:cNvPr id="7" name="TextBox 7"/>
            <p:cNvSpPr/>
            <p:nvPr/>
          </p:nvSpPr>
          <p:spPr>
            <a:xfrm>
              <a:off x="10051256" y="263557"/>
              <a:ext cx="15395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r"/>
              <a:r>
                <a:rPr lang="zh-TW" sz="16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點選影片播放 ▶</a:t>
              </a:r>
            </a:p>
          </p:txBody>
        </p:sp>
      </p:grpSp>
      <p:grpSp>
        <p:nvGrpSpPr>
          <p:cNvPr id="10" name="movie-frame"/>
          <p:cNvGrpSpPr/>
          <p:nvPr/>
        </p:nvGrpSpPr>
        <p:grpSpPr>
          <a:xfrm>
            <a:off x="1447800" y="1314450"/>
            <a:ext cx="9296400" cy="5229225"/>
            <a:chOff x="1447800" y="1314450"/>
            <a:chExt cx="9296400" cy="5229225"/>
          </a:xfrm>
        </p:grpSpPr>
      </p:grpSp>
      <p:pic>
        <p:nvPicPr>
          <p:cNvPr id="11" name="實際網站操作影片 Demo（點選播放，25秒）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447800" y="1314450"/>
            <a:ext cx="9296400" cy="5229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7143750" cy="4496562"/>
            <a:chOff x="590550" y="673132"/>
            <a:chExt cx="7143750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已完成什麼，接著驗證什麼？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0550" y="3562350"/>
              <a:ext cx="7143750" cy="476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8382" tIns="3175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網站現況、跨年度資料與賽季更新規劃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844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已完成網站：評估、名單與單日回放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33</a:t>
            </a:fld>
          </a:p>
        </p:txBody>
      </p:sp>
      <p:grpSp>
        <p:nvGrpSpPr>
          <p:cNvPr id="10" name="status-0"/>
          <p:cNvGrpSpPr/>
          <p:nvPr/>
        </p:nvGrpSpPr>
        <p:grpSpPr>
          <a:xfrm>
            <a:off x="598170" y="2139950"/>
            <a:ext cx="3100197" cy="2292953"/>
            <a:chOff x="598170" y="2139950"/>
            <a:chExt cx="3100197" cy="2292953"/>
          </a:xfrm>
        </p:grpSpPr>
        <p:sp>
          <p:nvSpPr>
            <p:cNvPr id="7" name="TextBox 7"/>
            <p:cNvSpPr txBox="1"/>
            <p:nvPr/>
          </p:nvSpPr>
          <p:spPr>
            <a:xfrm>
              <a:off x="598170" y="2139950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已完成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170" y="3025775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網站功能與單日回放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313" y="366395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代打／換投、名單與群組；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226 打席皆可切換攻守。</a:t>
              </a:r>
            </a:p>
          </p:txBody>
        </p:sp>
      </p:grpSp>
      <p:grpSp>
        <p:nvGrpSpPr>
          <p:cNvPr id="14" name="status-1"/>
          <p:cNvGrpSpPr/>
          <p:nvPr/>
        </p:nvGrpSpPr>
        <p:grpSpPr>
          <a:xfrm>
            <a:off x="4331970" y="2139950"/>
            <a:ext cx="3100197" cy="2292953"/>
            <a:chOff x="4331970" y="2139950"/>
            <a:chExt cx="3100197" cy="2292953"/>
          </a:xfrm>
        </p:grpSpPr>
        <p:sp>
          <p:nvSpPr>
            <p:cNvPr id="11" name="TextBox 11"/>
            <p:cNvSpPr txBox="1"/>
            <p:nvPr/>
          </p:nvSpPr>
          <p:spPr>
            <a:xfrm>
              <a:off x="4331970" y="2139950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待驗證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31970" y="3025775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使用者與球隊情境試用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3113" y="366395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觀察能否讀懂差距與限制，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記錄卡住步驟及誤操作。</a:t>
              </a:r>
            </a:p>
          </p:txBody>
        </p:sp>
      </p:grpSp>
      <p:grpSp>
        <p:nvGrpSpPr>
          <p:cNvPr id="18" name="status-2"/>
          <p:cNvGrpSpPr/>
          <p:nvPr/>
        </p:nvGrpSpPr>
        <p:grpSpPr>
          <a:xfrm>
            <a:off x="8065770" y="2139950"/>
            <a:ext cx="3100197" cy="2292953"/>
            <a:chOff x="8065770" y="2139950"/>
            <a:chExt cx="3100197" cy="2292953"/>
          </a:xfrm>
        </p:grpSpPr>
        <p:sp>
          <p:nvSpPr>
            <p:cNvPr id="15" name="TextBox 15"/>
            <p:cNvSpPr txBox="1"/>
            <p:nvPr/>
          </p:nvSpPr>
          <p:spPr>
            <a:xfrm>
              <a:off x="8065770" y="21399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持續維護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5770" y="3025775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資料更新與重複核對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66913" y="366395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保留資料日期與模型版本，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依相同時間切分重新驗證。</a:t>
              </a:r>
            </a:p>
          </p:txBody>
        </p:sp>
      </p:grpSp>
      <p:grpSp>
        <p:nvGrpSpPr>
          <p:cNvPr id="21" name="takeaway"/>
          <p:cNvGrpSpPr/>
          <p:nvPr/>
        </p:nvGrpSpPr>
        <p:grpSpPr>
          <a:xfrm>
            <a:off x="609600" y="5600700"/>
            <a:ext cx="10972800" cy="704850"/>
            <a:chOff x="609600" y="5600700"/>
            <a:chExt cx="10972800" cy="704850"/>
          </a:xfrm>
        </p:grpSpPr>
        <p:sp>
          <p:nvSpPr>
            <p:cNvPr id="19" name="Rectangle 19"/>
            <p:cNvSpPr/>
            <p:nvPr/>
          </p:nvSpPr>
          <p:spPr>
            <a:xfrm>
              <a:off x="609600" y="560070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8294" y="5692775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成果是可操作的網站；後續成效以任務結果與誤解紀錄驗收。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197596" cy="1063625"/>
            <a:chOff x="592836" y="250825"/>
            <a:chExt cx="819759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3863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成果與開發規劃｜跨年度資料（規劃）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1975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第一項規劃：接入 2026，補齊球員與名單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34</a:t>
            </a:fld>
          </a:p>
        </p:txBody>
      </p:sp>
      <p:grpSp>
        <p:nvGrpSpPr>
          <p:cNvPr id="12" name="year-transition"/>
          <p:cNvGrpSpPr/>
          <p:nvPr/>
        </p:nvGrpSpPr>
        <p:grpSpPr>
          <a:xfrm>
            <a:off x="592074" y="1816100"/>
            <a:ext cx="7202424" cy="1302893"/>
            <a:chOff x="592074" y="1816100"/>
            <a:chExt cx="7202424" cy="1302893"/>
          </a:xfrm>
        </p:grpSpPr>
        <p:sp>
          <p:nvSpPr>
            <p:cNvPr id="7" name="TextBox 7"/>
            <p:cNvSpPr txBox="1"/>
            <p:nvPr/>
          </p:nvSpPr>
          <p:spPr>
            <a:xfrm>
              <a:off x="592074" y="1866900"/>
              <a:ext cx="224332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4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2024–2025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781425" y="213360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4714875" y="20669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467350" y="1816100"/>
              <a:ext cx="1124814" cy="747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8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2708275"/>
              <a:ext cx="71955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取得資料並確認授權後接入；2026 資料目前未納入本版。</a:t>
              </a:r>
            </a:p>
          </p:txBody>
        </p:sp>
      </p:grpSp>
      <p:grpSp>
        <p:nvGrpSpPr>
          <p:cNvPr id="15" name="future-data-0"/>
          <p:cNvGrpSpPr/>
          <p:nvPr/>
        </p:nvGrpSpPr>
        <p:grpSpPr>
          <a:xfrm>
            <a:off x="597789" y="3673475"/>
            <a:ext cx="2993517" cy="1683766"/>
            <a:chOff x="597789" y="3673475"/>
            <a:chExt cx="2993517" cy="1683766"/>
          </a:xfrm>
        </p:grpSpPr>
        <p:sp>
          <p:nvSpPr>
            <p:cNvPr id="13" name="TextBox 13"/>
            <p:cNvSpPr txBox="1"/>
            <p:nvPr/>
          </p:nvSpPr>
          <p:spPr>
            <a:xfrm>
              <a:off x="597789" y="3673475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人員與當日名單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9694" y="425767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新增球員、轉隊與背號，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補入正式登錄及逐場名單，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並串接逐場守位。</a:t>
              </a:r>
            </a:p>
          </p:txBody>
        </p:sp>
      </p:grpSp>
      <p:grpSp>
        <p:nvGrpSpPr>
          <p:cNvPr id="18" name="future-data-1"/>
          <p:cNvGrpSpPr/>
          <p:nvPr/>
        </p:nvGrpSpPr>
        <p:grpSpPr>
          <a:xfrm>
            <a:off x="4331589" y="3673475"/>
            <a:ext cx="3241167" cy="1324674"/>
            <a:chOff x="4331589" y="3673475"/>
            <a:chExt cx="3241167" cy="1324674"/>
          </a:xfrm>
        </p:grpSpPr>
        <p:sp>
          <p:nvSpPr>
            <p:cNvPr id="16" name="TextBox 16"/>
            <p:cNvSpPr txBox="1"/>
            <p:nvPr/>
          </p:nvSpPr>
          <p:spPr>
            <a:xfrm>
              <a:off x="4331589" y="3673475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逐球與投球負荷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3494" y="425767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持續累積逐球與出賽資料，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以球員編號串接跨年度紀錄。</a:t>
              </a:r>
            </a:p>
          </p:txBody>
        </p:sp>
      </p:grpSp>
      <p:grpSp>
        <p:nvGrpSpPr>
          <p:cNvPr id="21" name="future-data-2"/>
          <p:cNvGrpSpPr/>
          <p:nvPr/>
        </p:nvGrpSpPr>
        <p:grpSpPr>
          <a:xfrm>
            <a:off x="8065389" y="3673475"/>
            <a:ext cx="3241167" cy="1324674"/>
            <a:chOff x="8065389" y="3673475"/>
            <a:chExt cx="3241167" cy="1324674"/>
          </a:xfrm>
        </p:grpSpPr>
        <p:sp>
          <p:nvSpPr>
            <p:cNvPr id="19" name="TextBox 19"/>
            <p:cNvSpPr txBox="1"/>
            <p:nvPr/>
          </p:nvSpPr>
          <p:spPr>
            <a:xfrm>
              <a:off x="8065389" y="3673475"/>
              <a:ext cx="189753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新球員的估計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7294" y="425767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樣本少時保留整體基準，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累積個人紀錄並顯示資料量。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609600" y="5467350"/>
            <a:ext cx="10972800" cy="1028700"/>
            <a:chOff x="609600" y="5467350"/>
            <a:chExt cx="10972800" cy="1028700"/>
          </a:xfrm>
        </p:grpSpPr>
        <p:sp>
          <p:nvSpPr>
            <p:cNvPr id="22" name="Rectangle 22"/>
            <p:cNvSpPr/>
            <p:nvPr/>
          </p:nvSpPr>
          <p:spPr>
            <a:xfrm>
              <a:off x="609600" y="5467350"/>
              <a:ext cx="10972800" cy="1028700"/>
            </a:xfrm>
            <a:prstGeom prst="roundRect">
              <a:avLst>
                <a:gd name="adj" fmla="val 11111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8294" y="5534025"/>
              <a:ext cx="69540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完成條件：人員、轉隊、日期可核對；缺漏名單保留人工確認。</a:t>
              </a:r>
              <a:b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依日期順序驗證，避免使用評估日之後的資料。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474202" cy="1063625"/>
            <a:chOff x="592836" y="250825"/>
            <a:chExt cx="847420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4267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成果與開發規劃｜賽季中動態更新（規劃）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第二項規劃：逐場更新，驗證近期資料權重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35</a:t>
            </a:fld>
          </a:p>
        </p:txBody>
      </p:sp>
      <p:grpSp>
        <p:nvGrpSpPr>
          <p:cNvPr id="26" name="weighted-games"/>
          <p:cNvGrpSpPr/>
          <p:nvPr/>
        </p:nvGrpSpPr>
        <p:grpSpPr>
          <a:xfrm>
            <a:off x="598551" y="1809750"/>
            <a:ext cx="10269474" cy="1805940"/>
            <a:chOff x="598551" y="1809750"/>
            <a:chExt cx="10269474" cy="1805940"/>
          </a:xfrm>
        </p:grpSpPr>
        <p:sp>
          <p:nvSpPr>
            <p:cNvPr id="7" name="TextBox 7"/>
            <p:cNvSpPr txBox="1"/>
            <p:nvPr/>
          </p:nvSpPr>
          <p:spPr>
            <a:xfrm>
              <a:off x="598551" y="1809750"/>
              <a:ext cx="6478473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概念示意：較舊比賽逐步淡化，近期資訊持續加入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763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46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11455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DCE0D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0286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528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BCC8C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411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9105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91A5A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7936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8293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647F8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176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06755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3D5B7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5586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058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941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620250" y="27813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0744200" y="27146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6775" y="324802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較舊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42804" y="324802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88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近期</a:t>
              </a:r>
            </a:p>
          </p:txBody>
        </p:sp>
      </p:grpSp>
      <p:grpSp>
        <p:nvGrpSpPr>
          <p:cNvPr id="29" name="update-0"/>
          <p:cNvGrpSpPr/>
          <p:nvPr/>
        </p:nvGrpSpPr>
        <p:grpSpPr>
          <a:xfrm>
            <a:off x="598551" y="3962400"/>
            <a:ext cx="2745105" cy="1226249"/>
            <a:chOff x="598551" y="3962400"/>
            <a:chExt cx="2745105" cy="1226249"/>
          </a:xfrm>
        </p:grpSpPr>
        <p:sp>
          <p:nvSpPr>
            <p:cNvPr id="27" name="TextBox 27"/>
            <p:cNvSpPr txBox="1"/>
            <p:nvPr/>
          </p:nvSpPr>
          <p:spPr>
            <a:xfrm>
              <a:off x="598551" y="396240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每場後更新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9694" y="4448175"/>
              <a:ext cx="27439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補入逐球、出賽與負荷，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顯示資料更新日期。</a:t>
              </a:r>
            </a:p>
          </p:txBody>
        </p:sp>
      </p:grpSp>
      <p:grpSp>
        <p:nvGrpSpPr>
          <p:cNvPr id="32" name="update-1"/>
          <p:cNvGrpSpPr/>
          <p:nvPr/>
        </p:nvGrpSpPr>
        <p:grpSpPr>
          <a:xfrm>
            <a:off x="4332351" y="3962400"/>
            <a:ext cx="2745105" cy="1226249"/>
            <a:chOff x="4332351" y="3962400"/>
            <a:chExt cx="2745105" cy="1226249"/>
          </a:xfrm>
        </p:grpSpPr>
        <p:sp>
          <p:nvSpPr>
            <p:cNvPr id="30" name="TextBox 30"/>
            <p:cNvSpPr txBox="1"/>
            <p:nvPr/>
          </p:nvSpPr>
          <p:spPr>
            <a:xfrm>
              <a:off x="4332351" y="3962400"/>
              <a:ext cx="266334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樣本不足時保留基準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33494" y="4448175"/>
              <a:ext cx="27439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比較近幾場與時間衰減；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樣本少時降低近期影響。</a:t>
              </a:r>
            </a:p>
          </p:txBody>
        </p:sp>
      </p:grpSp>
      <p:grpSp>
        <p:nvGrpSpPr>
          <p:cNvPr id="35" name="update-2"/>
          <p:cNvGrpSpPr/>
          <p:nvPr/>
        </p:nvGrpSpPr>
        <p:grpSpPr>
          <a:xfrm>
            <a:off x="8066151" y="3962400"/>
            <a:ext cx="3240405" cy="1226249"/>
            <a:chOff x="8066151" y="3962400"/>
            <a:chExt cx="3240405" cy="1226249"/>
          </a:xfrm>
        </p:grpSpPr>
        <p:sp>
          <p:nvSpPr>
            <p:cNvPr id="33" name="TextBox 33"/>
            <p:cNvSpPr txBox="1"/>
            <p:nvPr/>
          </p:nvSpPr>
          <p:spPr>
            <a:xfrm>
              <a:off x="8066151" y="3962400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按時間驗證才採用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67294" y="444817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與固定權重比較預測誤差；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有改善才採用，否則留原版。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609600" y="5629275"/>
            <a:ext cx="10972800" cy="704850"/>
            <a:chOff x="609600" y="5629275"/>
            <a:chExt cx="10972800" cy="704850"/>
          </a:xfrm>
        </p:grpSpPr>
        <p:sp>
          <p:nvSpPr>
            <p:cNvPr id="36" name="Rectangle 36"/>
            <p:cNvSpPr/>
            <p:nvPr/>
          </p:nvSpPr>
          <p:spPr>
            <a:xfrm>
              <a:off x="609600" y="562927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8294" y="5721350"/>
              <a:ext cx="81575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不預設近期一定較準；權重與視窗由驗證決定，保留版本與回復方式。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3257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成果與開發規劃｜新增功能規劃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第三項規劃：補齊名單、負荷與歷史回放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36</a:t>
            </a:fld>
          </a:p>
        </p:txBody>
      </p:sp>
      <p:grpSp>
        <p:nvGrpSpPr>
          <p:cNvPr id="12" name="planned-task-0"/>
          <p:cNvGrpSpPr/>
          <p:nvPr/>
        </p:nvGrpSpPr>
        <p:grpSpPr>
          <a:xfrm>
            <a:off x="592074" y="1790700"/>
            <a:ext cx="10303078" cy="1254824"/>
            <a:chOff x="592074" y="1790700"/>
            <a:chExt cx="10303078" cy="1254824"/>
          </a:xfrm>
        </p:grpSpPr>
        <p:sp>
          <p:nvSpPr>
            <p:cNvPr id="7" name="TextBox 7"/>
            <p:cNvSpPr txBox="1"/>
            <p:nvPr/>
          </p:nvSpPr>
          <p:spPr>
            <a:xfrm>
              <a:off x="592074" y="1790700"/>
              <a:ext cx="52578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4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59458" y="182245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單場名單與退場管理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61744" y="2305050"/>
              <a:ext cx="37345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保存可用、已上場與已退場名單，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避免重複勾選已退場者。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39075" y="188595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完成條件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39075" y="234315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狀態可修正，重整可恢復。</a:t>
              </a:r>
            </a:p>
          </p:txBody>
        </p:sp>
      </p:grpSp>
      <p:grpSp>
        <p:nvGrpSpPr>
          <p:cNvPr id="18" name="planned-task-1"/>
          <p:cNvGrpSpPr/>
          <p:nvPr/>
        </p:nvGrpSpPr>
        <p:grpSpPr>
          <a:xfrm>
            <a:off x="592074" y="3228975"/>
            <a:ext cx="10556164" cy="1254824"/>
            <a:chOff x="592074" y="3228975"/>
            <a:chExt cx="10556164" cy="1254824"/>
          </a:xfrm>
        </p:grpSpPr>
        <p:sp>
          <p:nvSpPr>
            <p:cNvPr id="13" name="TextBox 13"/>
            <p:cNvSpPr txBox="1"/>
            <p:nvPr/>
          </p:nvSpPr>
          <p:spPr>
            <a:xfrm>
              <a:off x="592074" y="3228975"/>
              <a:ext cx="52578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4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59458" y="326072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換投候選負荷對照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61744" y="3743325"/>
              <a:ext cx="37345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休息日、近三天球數與連投並排，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直接看依據，暫不改評分公式。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39075" y="332422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完成條件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39075" y="3781425"/>
              <a:ext cx="330916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數值可追溯，缺資料有提醒。</a:t>
              </a:r>
            </a:p>
          </p:txBody>
        </p:sp>
      </p:grpSp>
      <p:grpSp>
        <p:nvGrpSpPr>
          <p:cNvPr id="24" name="planned-task-2"/>
          <p:cNvGrpSpPr/>
          <p:nvPr/>
        </p:nvGrpSpPr>
        <p:grpSpPr>
          <a:xfrm>
            <a:off x="592074" y="4667250"/>
            <a:ext cx="10303078" cy="1254824"/>
            <a:chOff x="592074" y="4667250"/>
            <a:chExt cx="10303078" cy="1254824"/>
          </a:xfrm>
        </p:grpSpPr>
        <p:sp>
          <p:nvSpPr>
            <p:cNvPr id="19" name="TextBox 19"/>
            <p:cNvSpPr txBox="1"/>
            <p:nvPr/>
          </p:nvSpPr>
          <p:spPr>
            <a:xfrm>
              <a:off x="592074" y="4667250"/>
              <a:ext cx="52578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4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59458" y="469900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逐場守位與名單回放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61744" y="5181600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取得逐場紀錄後減少推估，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只讀取決策前可得資料。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39075" y="476250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完成條件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39075" y="521970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後續出賽不改變當時資料。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601980" y="2667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TW" sz="150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研究依據</a:t>
            </a:r>
          </a:p>
        </p:txBody>
      </p:sp>
      <p:sp>
        <p:nvSpPr>
          <p:cNvPr id="3" name="TextBox 3"/>
          <p:cNvSpPr/>
          <p:nvPr/>
        </p:nvSpPr>
        <p:spPr>
          <a:xfrm>
            <a:off x="609600" y="57150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22225" rIns="0" bIns="0" anchor="t" anchorCtr="0">
            <a:noAutofit/>
          </a:bodyPr>
          <a:lstStyle/>
          <a:p>
            <a:pPr algn="l"/>
            <a:r>
              <a:rPr lang="zh-TW" sz="330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方法有研究基礎，應用範圍清楚界定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66825"/>
            <a:ext cx="3429000" cy="47625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0897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-6858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37</a:t>
            </a:r>
          </a:p>
        </p:txBody>
      </p:sp>
      <p:sp>
        <p:nvSpPr>
          <p:cNvPr id="6" name="TextBox 6"/>
          <p:cNvSpPr/>
          <p:nvPr/>
        </p:nvSpPr>
        <p:spPr>
          <a:xfrm>
            <a:off x="600075" y="1571625"/>
            <a:ext cx="721941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[1] Efron &amp; Morris（1975）｜JASA 70(350), 311–319</a:t>
            </a:r>
          </a:p>
        </p:txBody>
      </p:sp>
      <p:sp>
        <p:nvSpPr>
          <p:cNvPr id="7" name="TextBox 7"/>
          <p:cNvSpPr/>
          <p:nvPr/>
        </p:nvSpPr>
        <p:spPr>
          <a:xfrm>
            <a:off x="601599" y="1952625"/>
            <a:ext cx="7000989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58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Data Analysis Using Stein’s Estimator and its Generalizations</a:t>
            </a:r>
          </a:p>
        </p:txBody>
      </p:sp>
      <p:sp>
        <p:nvSpPr>
          <p:cNvPr id="8" name="TextBox 8"/>
          <p:cNvSpPr/>
          <p:nvPr/>
        </p:nvSpPr>
        <p:spPr>
          <a:xfrm>
            <a:off x="600456" y="2289143"/>
            <a:ext cx="670986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 altLang="en-US">
                <a:solidFill>
                  <a:srgbClr val="1D2934"/>
                </a:solidFill>
                <a:latin typeface="Times New Roman"/>
                <a:ea typeface="標楷體"/>
                <a:cs typeface="Times New Roman"/>
              </a:rPr>
              <a:t>小樣本估計向整體收縮，作為部分池化的研究依據。</a:t>
            </a:r>
          </a:p>
        </p:txBody>
      </p:sp>
      <p:sp>
        <p:nvSpPr>
          <p:cNvPr id="9" name="TextBox 9">
            <a:hlinkClick r:id="rId2"/>
          </p:cNvPr>
          <p:cNvSpPr/>
          <p:nvPr/>
        </p:nvSpPr>
        <p:spPr>
          <a:xfrm>
            <a:off x="602361" y="2679668"/>
            <a:ext cx="435734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42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DOI: 10.1080/01621459.1975.10479864</a:t>
            </a:r>
          </a:p>
        </p:txBody>
      </p:sp>
      <p:sp>
        <p:nvSpPr>
          <p:cNvPr id="10" name="Line 10"/>
          <p:cNvSpPr/>
          <p:nvPr/>
        </p:nvSpPr>
        <p:spPr>
          <a:xfrm>
            <a:off x="609600" y="3009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1" name="TextBox 11"/>
          <p:cNvSpPr/>
          <p:nvPr/>
        </p:nvSpPr>
        <p:spPr>
          <a:xfrm>
            <a:off x="600075" y="3038475"/>
            <a:ext cx="7362749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[2] Efron（1979）｜The Annals of Statistics 7(1), 1–26</a:t>
            </a:r>
          </a:p>
        </p:txBody>
      </p:sp>
      <p:sp>
        <p:nvSpPr>
          <p:cNvPr id="12" name="TextBox 12"/>
          <p:cNvSpPr/>
          <p:nvPr/>
        </p:nvSpPr>
        <p:spPr>
          <a:xfrm>
            <a:off x="601599" y="3419475"/>
            <a:ext cx="5705284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58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Bootstrap Methods: Another Look at the Jackknife</a:t>
            </a:r>
          </a:p>
        </p:txBody>
      </p:sp>
      <p:sp>
        <p:nvSpPr>
          <p:cNvPr id="13" name="TextBox 13"/>
          <p:cNvSpPr/>
          <p:nvPr/>
        </p:nvSpPr>
        <p:spPr>
          <a:xfrm>
            <a:off x="600456" y="3755993"/>
            <a:ext cx="700064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 altLang="en-US">
                <a:solidFill>
                  <a:srgbClr val="1D2934"/>
                </a:solidFill>
                <a:latin typeface="Times New Roman"/>
                <a:ea typeface="標楷體"/>
                <a:cs typeface="Times New Roman"/>
              </a:rPr>
              <a:t>以重抽樣描述比較的不確定性，不視為候選勝出機率。</a:t>
            </a:r>
          </a:p>
        </p:txBody>
      </p:sp>
      <p:sp>
        <p:nvSpPr>
          <p:cNvPr id="14" name="TextBox 14">
            <a:hlinkClick r:id="rId3"/>
          </p:cNvPr>
          <p:cNvSpPr/>
          <p:nvPr/>
        </p:nvSpPr>
        <p:spPr>
          <a:xfrm>
            <a:off x="602361" y="4146518"/>
            <a:ext cx="32439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42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DOI: 10.1214/aos/1176344552</a:t>
            </a:r>
          </a:p>
        </p:txBody>
      </p:sp>
      <p:sp>
        <p:nvSpPr>
          <p:cNvPr id="15" name="Line 15"/>
          <p:cNvSpPr/>
          <p:nvPr/>
        </p:nvSpPr>
        <p:spPr>
          <a:xfrm>
            <a:off x="609600" y="4476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6" name="TextBox 16"/>
          <p:cNvSpPr/>
          <p:nvPr/>
        </p:nvSpPr>
        <p:spPr>
          <a:xfrm>
            <a:off x="600075" y="4505325"/>
            <a:ext cx="795333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[3] Gneiting &amp; Raftery（2007）｜JASA 102(477), 359–378</a:t>
            </a:r>
          </a:p>
        </p:txBody>
      </p:sp>
      <p:sp>
        <p:nvSpPr>
          <p:cNvPr id="17" name="TextBox 17"/>
          <p:cNvSpPr/>
          <p:nvPr/>
        </p:nvSpPr>
        <p:spPr>
          <a:xfrm>
            <a:off x="601599" y="4886325"/>
            <a:ext cx="6433033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58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Strictly Proper Scoring Rules, Prediction, and Estimation</a:t>
            </a:r>
          </a:p>
        </p:txBody>
      </p:sp>
      <p:sp>
        <p:nvSpPr>
          <p:cNvPr id="18" name="TextBox 18"/>
          <p:cNvSpPr/>
          <p:nvPr/>
        </p:nvSpPr>
        <p:spPr>
          <a:xfrm>
            <a:off x="600456" y="5222843"/>
            <a:ext cx="785743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 altLang="en-US">
                <a:solidFill>
                  <a:srgbClr val="1D2934"/>
                </a:solidFill>
                <a:latin typeface="Times New Roman"/>
                <a:ea typeface="標楷體"/>
                <a:cs typeface="Times New Roman"/>
              </a:rPr>
              <a:t>以 log loss 評估逐球機率預測，並區分模型分數與真實結果。</a:t>
            </a:r>
          </a:p>
        </p:txBody>
      </p:sp>
      <p:sp>
        <p:nvSpPr>
          <p:cNvPr id="19" name="TextBox 19">
            <a:hlinkClick r:id="rId4"/>
          </p:cNvPr>
          <p:cNvSpPr/>
          <p:nvPr/>
        </p:nvSpPr>
        <p:spPr>
          <a:xfrm>
            <a:off x="602361" y="5613368"/>
            <a:ext cx="3953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42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DOI: 10.1198/016214506000001437</a:t>
            </a:r>
          </a:p>
        </p:txBody>
      </p:sp>
      <p:sp>
        <p:nvSpPr>
          <p:cNvPr id="20" name="Line 20"/>
          <p:cNvSpPr/>
          <p:nvPr/>
        </p:nvSpPr>
        <p:spPr>
          <a:xfrm>
            <a:off x="609600" y="5943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1" name="TextBox 21"/>
          <p:cNvSpPr/>
          <p:nvPr/>
        </p:nvSpPr>
        <p:spPr>
          <a:xfrm>
            <a:off x="601980" y="5981700"/>
            <a:ext cx="7082790" cy="29337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losing"/>
          <p:cNvGrpSpPr/>
          <p:nvPr/>
        </p:nvGrpSpPr>
        <p:grpSpPr>
          <a:xfrm>
            <a:off x="590550" y="1390650"/>
            <a:ext cx="6553200" cy="2114550"/>
            <a:chOff x="590550" y="1390650"/>
            <a:chExt cx="6553200" cy="2114550"/>
          </a:xfrm>
        </p:grpSpPr>
        <p:sp>
          <p:nvSpPr>
            <p:cNvPr id="2" name="TextBox 2"/>
            <p:cNvSpPr/>
            <p:nvPr/>
          </p:nvSpPr>
          <p:spPr>
            <a:xfrm>
              <a:off x="590550" y="1390650"/>
              <a:ext cx="6553200" cy="2114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7950"/>
                </a:lnSpc>
              </a:pPr>
              <a: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換人之前，</a:t>
              </a:r>
              <a:b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先看清差距與代價。</a:t>
              </a:r>
            </a:p>
          </p:txBody>
        </p:sp>
      </p:grpSp>
      <p:grpSp>
        <p:nvGrpSpPr>
          <p:cNvPr id="6" name="team"/>
          <p:cNvGrpSpPr/>
          <p:nvPr/>
        </p:nvGrpSpPr>
        <p:grpSpPr>
          <a:xfrm>
            <a:off x="592836" y="3822668"/>
            <a:ext cx="1781461" cy="1134618"/>
            <a:chOff x="592836" y="3822668"/>
            <a:chExt cx="1781461" cy="1134618"/>
          </a:xfrm>
        </p:grpSpPr>
        <p:sp>
          <p:nvSpPr>
            <p:cNvPr id="4" name="TextBox 4"/>
            <p:cNvSpPr/>
            <p:nvPr/>
          </p:nvSpPr>
          <p:spPr>
            <a:xfrm>
              <a:off x="592836" y="3822668"/>
              <a:ext cx="17814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一球兩面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4546568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TW" sz="18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蘇櫟、陳信安</a:t>
              </a:r>
            </a:p>
          </p:txBody>
        </p:sp>
      </p:grpSp>
      <p:grpSp>
        <p:nvGrpSpPr>
          <p:cNvPr id="8" name="baseball"/>
          <p:cNvGrpSpPr/>
          <p:nvPr/>
        </p:nvGrpSpPr>
        <p:grpSpPr>
          <a:xfrm>
            <a:off x="8858250" y="2095500"/>
            <a:ext cx="2762250" cy="2762250"/>
            <a:chOff x="8858250" y="2095500"/>
            <a:chExt cx="2762250" cy="276225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95500"/>
              <a:ext cx="2762250" cy="2762250"/>
            </a:xfrm>
            <a:prstGeom prst="rect">
              <a:avLst/>
            </a:prstGeom>
          </p:spPr>
        </p:pic>
      </p:grpSp>
      <p:sp>
        <p:nvSpPr>
          <p:cNvPr id="12" name="TextBox 12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38</a:t>
            </a:r>
          </a:p>
        </p:txBody>
      </p:sp>
      <p:grpSp>
        <p:nvGrpSpPr>
          <p:cNvPr id="13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0" name="TextBox 10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1" name="TextBox 11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原始碼 https://github.com/Da-Xiong-Chen/baseball_project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aseball_competition_polished19">
  <a:themeElements>
    <a:clrScheme name="baseball_competition_polished19">
      <a:dk1>
        <a:srgbClr val="1D2934"/>
      </a:dk1>
      <a:lt1>
        <a:srgbClr val="F7F5EF"/>
      </a:lt1>
      <a:dk2>
        <a:srgbClr val="1F497D"/>
      </a:dk2>
      <a:lt2>
        <a:srgbClr val="ECE5D9"/>
      </a:lt2>
      <a:accent1>
        <a:srgbClr val="18344A"/>
      </a:accent1>
      <a:accent2>
        <a:srgbClr val="B54836"/>
      </a:accent2>
      <a:accent3>
        <a:srgbClr val="9A6118"/>
      </a:accent3>
      <a:accent4>
        <a:srgbClr val="18344A"/>
      </a:accent4>
      <a:accent5>
        <a:srgbClr val="58616B"/>
      </a:accent5>
      <a:accent6>
        <a:srgbClr val="D7D1C5"/>
      </a:accent6>
      <a:hlink>
        <a:srgbClr val="B54836"/>
      </a:hlink>
      <a:folHlink>
        <a:srgbClr val="9A6118"/>
      </a:folHlink>
    </a:clrScheme>
    <a:fontScheme name="baseball_competition_polished19">
      <a:maj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seball_competition_polished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38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2026-10-15T13:31:12Z</dcterms:created>
  <dcterms:modified xsi:type="dcterms:W3CDTF">2026-10-15T13:31:12Z</dcterms:modified>
  <cp:category/>
  <cp:contentStatus/>
</cp:coreProperties>
</file>