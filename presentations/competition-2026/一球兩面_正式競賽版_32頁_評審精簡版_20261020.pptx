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2000" cy="6858000" type="screen16x9"/>
  <p:notesSz cx="6858000" cy="9144000"/>
  <p:defaultTextStyle>
    <a:defPPr>
      <a:defRPr lang="zh-TW" altLang="en-US">
        <a:latin typeface="Times New Roman"/>
        <a:ea typeface="標楷體"/>
        <a:cs typeface="Times New Roman"/>
      </a:defRPr>
    </a:defPPr>
    <a:lvl1pPr marL="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1pPr>
    <a:lvl2pPr marL="4572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2pPr>
    <a:lvl3pPr marL="9144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3pPr>
    <a:lvl4pPr marL="13716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4pPr>
    <a:lvl5pPr marL="18288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5pPr>
    <a:lvl6pPr marL="22860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6pPr>
    <a:lvl7pPr marL="27432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7pPr>
    <a:lvl8pPr marL="32004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8pPr>
    <a:lvl9pPr marL="36576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slide" Target="slides/slide2.xml" /><Relationship Id="rId9" Type="http://schemas.openxmlformats.org/officeDocument/2006/relationships/slide" Target="slides/slide3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2" Type="http://schemas.openxmlformats.org/officeDocument/2006/relationships/slide" Target="slides/slide6.xml" /><Relationship Id="rId13" Type="http://schemas.openxmlformats.org/officeDocument/2006/relationships/slide" Target="slides/slide7.xml" /><Relationship Id="rId14" Type="http://schemas.openxmlformats.org/officeDocument/2006/relationships/slide" Target="slides/slide8.xml" /><Relationship Id="rId15" Type="http://schemas.openxmlformats.org/officeDocument/2006/relationships/slide" Target="slides/slide9.xml" /><Relationship Id="rId16" Type="http://schemas.openxmlformats.org/officeDocument/2006/relationships/slide" Target="slides/slide10.xml" /><Relationship Id="rId17" Type="http://schemas.openxmlformats.org/officeDocument/2006/relationships/slide" Target="slides/slide11.xml" /><Relationship Id="rId18" Type="http://schemas.openxmlformats.org/officeDocument/2006/relationships/slide" Target="slides/slide12.xml" /><Relationship Id="rId19" Type="http://schemas.openxmlformats.org/officeDocument/2006/relationships/slide" Target="slides/slide13.xml" /><Relationship Id="rId20" Type="http://schemas.openxmlformats.org/officeDocument/2006/relationships/slide" Target="slides/slide14.xml" /><Relationship Id="rId21" Type="http://schemas.openxmlformats.org/officeDocument/2006/relationships/slide" Target="slides/slide15.xml" /><Relationship Id="rId22" Type="http://schemas.openxmlformats.org/officeDocument/2006/relationships/slide" Target="slides/slide16.xml" /><Relationship Id="rId23" Type="http://schemas.openxmlformats.org/officeDocument/2006/relationships/slide" Target="slides/slide17.xml" /><Relationship Id="rId24" Type="http://schemas.openxmlformats.org/officeDocument/2006/relationships/slide" Target="slides/slide18.xml" /><Relationship Id="rId25" Type="http://schemas.openxmlformats.org/officeDocument/2006/relationships/slide" Target="slides/slide19.xml" /><Relationship Id="rId26" Type="http://schemas.openxmlformats.org/officeDocument/2006/relationships/slide" Target="slides/slide20.xml" /><Relationship Id="rId27" Type="http://schemas.openxmlformats.org/officeDocument/2006/relationships/slide" Target="slides/slide21.xml" /><Relationship Id="rId28" Type="http://schemas.openxmlformats.org/officeDocument/2006/relationships/slide" Target="slides/slide22.xml" /><Relationship Id="rId29" Type="http://schemas.openxmlformats.org/officeDocument/2006/relationships/slide" Target="slides/slide23.xml" /><Relationship Id="rId30" Type="http://schemas.openxmlformats.org/officeDocument/2006/relationships/slide" Target="slides/slide24.xml" /><Relationship Id="rId31" Type="http://schemas.openxmlformats.org/officeDocument/2006/relationships/slide" Target="slides/slide25.xml" /><Relationship Id="rId32" Type="http://schemas.openxmlformats.org/officeDocument/2006/relationships/slide" Target="slides/slide26.xml" /><Relationship Id="rId33" Type="http://schemas.openxmlformats.org/officeDocument/2006/relationships/slide" Target="slides/slide27.xml" /><Relationship Id="rId34" Type="http://schemas.openxmlformats.org/officeDocument/2006/relationships/slide" Target="slides/slide28.xml" /><Relationship Id="rId35" Type="http://schemas.openxmlformats.org/officeDocument/2006/relationships/slide" Target="slides/slide29.xml" /><Relationship Id="rId36" Type="http://schemas.openxmlformats.org/officeDocument/2006/relationships/slide" Target="slides/slide30.xml" /><Relationship Id="rId37" Type="http://schemas.openxmlformats.org/officeDocument/2006/relationships/slide" Target="slides/slide31.xml" /><Relationship Id="rId38" Type="http://schemas.openxmlformats.org/officeDocument/2006/relationships/slide" Target="slides/slide32.xml" 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baseball_competition_polished19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TW" smtClean="0" altLang="en-US">
                <a:latin typeface="Times New Roman"/>
                <a:ea typeface="標楷體"/>
                <a:cs typeface="Times New Roman"/>
              </a:rPr>
              <a:t>1/27/13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TW" smtClean="0" altLang="en-US">
                <a:latin typeface="Times New Roman"/>
                <a:ea typeface="標楷體"/>
                <a:cs typeface="Times New Roman"/>
              </a:rPr>
              <a:t>‹#›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baseball_competition_polished19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TW" altLang="en-US">
                <a:solidFill>
                  <a:schemeClr val="tx1">
                    <a:tint val="75000"/>
                  </a:schemeClr>
                </a:solidFill>
                <a:latin typeface="Times New Roman"/>
                <a:ea typeface="標楷體"/>
                <a:cs typeface="Times New Roman"/>
              </a:defRPr>
            </a:lvl1pPr>
          </a:lstStyle>
          <a:p>
            <a:fld id="{5BCAD085-E8A6-8845-BD4E-CB4CCA059FC4}" type="datetimeFigureOut">
              <a:rPr lang="zh-TW" smtClean="0" altLang="en-US">
                <a:latin typeface="Times New Roman"/>
                <a:ea typeface="標楷體"/>
                <a:cs typeface="Times New Roman"/>
              </a:rPr>
              <a:t>1/27/13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TW" altLang="en-US">
                <a:solidFill>
                  <a:schemeClr val="tx1">
                    <a:tint val="75000"/>
                  </a:schemeClr>
                </a:solidFill>
                <a:latin typeface="Times New Roman"/>
                <a:ea typeface="標楷體"/>
                <a:cs typeface="Times New Roman"/>
              </a:defRPr>
            </a:lvl1pPr>
          </a:lstStyle>
          <a:p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TW" altLang="en-US">
                <a:solidFill>
                  <a:schemeClr val="tx1">
                    <a:tint val="75000"/>
                  </a:schemeClr>
                </a:solidFill>
                <a:latin typeface="Times New Roman"/>
                <a:ea typeface="標楷體"/>
                <a:cs typeface="Times New Roman"/>
              </a:defRPr>
            </a:lvl1pPr>
          </a:lstStyle>
          <a:p>
            <a:fld id="{C1FF6DA9-008F-8B48-92A6-B652298478BF}" type="slidenum">
              <a:rPr lang="zh-TW" smtClean="0" altLang="en-US">
                <a:latin typeface="Times New Roman"/>
                <a:ea typeface="標楷體"/>
                <a:cs typeface="Times New Roman"/>
              </a:rPr>
              <a:t>‹#›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9pPr>
    </p:bodyStyle>
    <p:otherStyle>
      <a:defPPr>
        <a:defRPr lang="zh-TW" altLang="en-US">
          <a:latin typeface="Times New Roman"/>
          <a:ea typeface="標楷體"/>
          <a:cs typeface="Times New Roman"/>
        </a:defRPr>
      </a:defPPr>
      <a:lvl1pPr marL="0" algn="l" defTabSz="457200" rtl="0" eaLnBrk="1" latinLnBrk="0" hangingPunct="1">
        <a:defRPr sz="21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1pPr>
      <a:lvl2pPr marL="457200" algn="l" defTabSz="457200" rtl="0" eaLnBrk="1" latinLnBrk="0" hangingPunct="1">
        <a:defRPr sz="19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2pPr>
      <a:lvl3pPr marL="914400" algn="l" defTabSz="457200" rtl="0" eaLnBrk="1" latinLnBrk="0" hangingPunct="1">
        <a:defRPr sz="18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3pPr>
      <a:lvl4pPr marL="1371600" algn="l" defTabSz="457200" rtl="0" eaLnBrk="1" latinLnBrk="0" hangingPunct="1">
        <a:defRPr sz="17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4pPr>
      <a:lvl5pPr marL="1828800" algn="l" defTabSz="457200" rtl="0" eaLnBrk="1" latinLnBrk="0" hangingPunct="1">
        <a:defRPr sz="16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5pPr>
      <a:lvl6pPr marL="2286000" algn="l" defTabSz="457200" rtl="0" eaLnBrk="1" latinLnBrk="0" hangingPunct="1">
        <a:defRPr sz="14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6pPr>
      <a:lvl7pPr marL="2743200" algn="l" defTabSz="457200" rtl="0" eaLnBrk="1" latinLnBrk="0" hangingPunct="1">
        <a:defRPr sz="13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7pPr>
      <a:lvl8pPr marL="3200400" algn="l" defTabSz="457200" rtl="0" eaLnBrk="1" latinLnBrk="0" hangingPunct="1">
        <a:defRPr sz="12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8pPr>
      <a:lvl9pPr marL="3657600" algn="l" defTabSz="457200" rtl="0" eaLnBrk="1" latinLnBrk="0" hangingPunct="1">
        <a:defRPr sz="10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Relationship Id="rId3" Type="http://schemas.openxmlformats.org/officeDocument/2006/relationships/hyperlink" Target="https://da-xiong-chen.github.io/baseball_project/" TargetMode="External" /><Relationship Id="rId4" Type="http://schemas.openxmlformats.org/officeDocument/2006/relationships/hyperlink" Target="https://github.com/Da-Xiong-Chen/baseball_project" TargetMode="Externa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a60d4a4917b83df9.png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_eb8ea92e100165d0.jpg" /><Relationship Id="rId5" Type="http://schemas.openxmlformats.org/officeDocument/2006/relationships/image" Target="../media/image_10d8c7aad298808c.jpg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3" Type="http://schemas.openxmlformats.org/officeDocument/2006/relationships/image" Target="../media/image_9285a77aedd54ee7.jpg" /><Relationship Id="rId4" Type="http://schemas.openxmlformats.org/officeDocument/2006/relationships/image" Target="../media/image_1bff69bf6bcad942.jpg" /><Relationship Id="rId5" Type="http://schemas.openxmlformats.org/officeDocument/2006/relationships/image" Target="../media/image_a8743e3c266c6900.jpg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2311dc7b7b40ca75.png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3" Type="http://schemas.openxmlformats.org/officeDocument/2006/relationships/image" Target="../media/image_86e866df19cbbe22.png" /></Relationships>
</file>

<file path=ppt/slides/_rels/slide18.xml.rels><?xml version='1.0' encoding='utf-8'?>
<Relationships xmlns="http://schemas.openxmlformats.org/package/2006/relationships"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_14c4e86453a820a9.png" /><Relationship Id="rId3" Type="http://schemas.openxmlformats.org/officeDocument/2006/relationships/image" Target="../media/image_c9bd71b8c2bc12fc.png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3" Type="http://schemas.openxmlformats.org/officeDocument/2006/relationships/image" Target="../media/image_1c7bf0c65fbfaba3.jpg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d9626dfeeeefaa87.png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d270f4c408850e89.jpg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3" Type="http://schemas.openxmlformats.org/officeDocument/2006/relationships/image" Target="../media/image_34e1c41994908c76.png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1676326fc1c0630.png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d1ac4e4a85b691c4.jpg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7f229dc6dcdb260c.png" /><Relationship Id="rId3" Type="http://schemas.microsoft.com/office/2007/relationships/media" Target="../media/media1.mp4" /><Relationship Id="rId4" Type="http://schemas.openxmlformats.org/officeDocument/2006/relationships/video" Target="../media/media1.mp4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hyperlink" Target="https://doi.org/10.1080/01621459.1975.10479864" TargetMode="External" /><Relationship Id="rId3" Type="http://schemas.openxmlformats.org/officeDocument/2006/relationships/hyperlink" Target="https://doi.org/10.1214/aos/1176344552" TargetMode="External" /><Relationship Id="rId4" Type="http://schemas.openxmlformats.org/officeDocument/2006/relationships/hyperlink" Target="https://doi.org/10.1198/016214506000001437" TargetMode="External" />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44de3d25c6c01d2f.png" /><Relationship Id="rId3" Type="http://schemas.openxmlformats.org/officeDocument/2006/relationships/hyperlink" Target="https://da-xiong-chen.github.io/baseball_project/" TargetMode="External" /><Relationship Id="rId4" Type="http://schemas.openxmlformats.org/officeDocument/2006/relationships/hyperlink" Target="https://github.com/Da-Xiong-Chen/baseball_project" TargetMode="Externa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eam"/>
          <p:cNvGrpSpPr/>
          <p:nvPr/>
        </p:nvGrpSpPr>
        <p:grpSpPr>
          <a:xfrm>
            <a:off x="592836" y="488918"/>
            <a:ext cx="4569428" cy="1021271"/>
            <a:chOff x="592836" y="488918"/>
            <a:chExt cx="4569428" cy="1021271"/>
          </a:xfrm>
        </p:grpSpPr>
        <p:sp>
          <p:nvSpPr>
            <p:cNvPr id="2" name="TextBox 2"/>
            <p:cNvSpPr/>
            <p:nvPr/>
          </p:nvSpPr>
          <p:spPr>
            <a:xfrm>
              <a:off x="592836" y="488918"/>
              <a:ext cx="17814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2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一球兩面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601218" y="1187482"/>
              <a:ext cx="45610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8868" rIns="0" bIns="0" anchor="t" anchorCtr="0">
              <a:noAutofit/>
            </a:bodyPr>
            <a:lstStyle/>
            <a:p>
              <a:pPr algn="l"/>
              <a:r>
                <a:rPr lang="zh-TW" sz="158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2026 野革盃 台灣棒球數據黑客松｜參賽提案</a:t>
              </a:r>
            </a:p>
          </p:txBody>
        </p:sp>
      </p:grpSp>
      <p:grpSp>
        <p:nvGrpSpPr>
          <p:cNvPr id="7" name="hero"/>
          <p:cNvGrpSpPr/>
          <p:nvPr/>
        </p:nvGrpSpPr>
        <p:grpSpPr>
          <a:xfrm>
            <a:off x="590550" y="1930432"/>
            <a:ext cx="5561838" cy="1542478"/>
            <a:chOff x="590550" y="1930432"/>
            <a:chExt cx="5561838" cy="1542478"/>
          </a:xfrm>
        </p:grpSpPr>
        <p:sp>
          <p:nvSpPr>
            <p:cNvPr id="5" name="TextBox 5"/>
            <p:cNvSpPr/>
            <p:nvPr/>
          </p:nvSpPr>
          <p:spPr>
            <a:xfrm>
              <a:off x="590550" y="1930432"/>
              <a:ext cx="4642104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57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臨場用人決策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35508" y="3003518"/>
              <a:ext cx="55168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01632" rIns="0" bIns="0" anchor="t" anchorCtr="0">
              <a:noAutofit/>
            </a:bodyPr>
            <a:lstStyle/>
            <a:p>
              <a:pPr algn="l"/>
              <a:r>
                <a:rPr lang="zh-TW" sz="200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以公開中職資料，比較代打與換投人選</a:t>
              </a:r>
            </a:p>
          </p:txBody>
        </p:sp>
      </p:grpSp>
      <p:grpSp>
        <p:nvGrpSpPr>
          <p:cNvPr id="9" name="baseball"/>
          <p:cNvGrpSpPr/>
          <p:nvPr/>
        </p:nvGrpSpPr>
        <p:grpSpPr>
          <a:xfrm>
            <a:off x="8001000" y="1333500"/>
            <a:ext cx="3905250" cy="3905250"/>
            <a:chOff x="8001000" y="1333500"/>
            <a:chExt cx="3905250" cy="3905250"/>
          </a:xfrm>
        </p:grpSpPr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333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12" name="promise"/>
          <p:cNvGrpSpPr/>
          <p:nvPr/>
        </p:nvGrpSpPr>
        <p:grpSpPr>
          <a:xfrm>
            <a:off x="592836" y="3860768"/>
            <a:ext cx="5364480" cy="1191768"/>
            <a:chOff x="592836" y="3860768"/>
            <a:chExt cx="5364480" cy="1191768"/>
          </a:xfrm>
        </p:grpSpPr>
        <p:sp>
          <p:nvSpPr>
            <p:cNvPr id="10" name="TextBox 10"/>
            <p:cNvSpPr/>
            <p:nvPr/>
          </p:nvSpPr>
          <p:spPr>
            <a:xfrm>
              <a:off x="592836" y="3860768"/>
              <a:ext cx="53644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2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差多少？誰接守？憑什麼？</a:t>
              </a:r>
            </a:p>
          </p:txBody>
        </p:sp>
        <p:sp>
          <p:nvSpPr>
            <p:cNvPr id="11" name="TextBox 11"/>
            <p:cNvSpPr/>
            <p:nvPr/>
          </p:nvSpPr>
          <p:spPr>
            <a:xfrm>
              <a:off x="598932" y="4641818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8932" rIns="0" bIns="0" anchor="t" anchorCtr="0">
              <a:noAutofit/>
            </a:bodyPr>
            <a:lstStyle/>
            <a:p>
              <a:pPr algn="l"/>
              <a:r>
                <a:rPr lang="zh-TW" sz="180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參賽者　蘇櫟、陳信安</a:t>
              </a:r>
            </a:p>
          </p:txBody>
        </p:sp>
      </p:grpSp>
      <p:sp>
        <p:nvSpPr>
          <p:cNvPr id="16" name="TextBox 16"/>
          <p:cNvSpPr/>
          <p:nvPr/>
        </p:nvSpPr>
        <p:spPr>
          <a:xfrm>
            <a:off x="11375612" y="6445282"/>
            <a:ext cx="2136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grpSp>
        <p:nvGrpSpPr>
          <p:cNvPr id="14" name="visible-project-urls"/>
          <p:cNvGrpSpPr/>
          <p:nvPr/>
        </p:nvGrpSpPr>
        <p:grpSpPr>
          <a:xfrm>
            <a:off x="2673477" y="5502307"/>
            <a:ext cx="6845046" cy="829056"/>
            <a:chOff x="2673477" y="5502307"/>
            <a:chExt cx="6845046" cy="829056"/>
          </a:xfrm>
        </p:grpSpPr>
        <p:sp>
          <p:nvSpPr>
            <p:cNvPr id="18" name="TextBox 11">
              <a:hlinkClick r:id="rId3"/>
            </p:cNvPr>
            <p:cNvSpPr/>
            <p:nvPr/>
          </p:nvSpPr>
          <p:spPr>
            <a:xfrm>
              <a:off x="2999708" y="5502307"/>
              <a:ext cx="61925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95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網站 https://da-xiong-chen.github.io/baseball_project/</a:t>
              </a:r>
            </a:p>
          </p:txBody>
        </p:sp>
        <p:sp>
          <p:nvSpPr>
            <p:cNvPr id="13" name="TextBox 13">
              <a:hlinkClick r:id="rId4"/>
            </p:cNvPr>
            <p:cNvSpPr/>
            <p:nvPr/>
          </p:nvSpPr>
          <p:spPr>
            <a:xfrm>
              <a:off x="2673477" y="5949982"/>
              <a:ext cx="6845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95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原始碼 https://github.com/Da-Xiong-Chen/baseball_project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029956" cy="1063625"/>
            <a:chOff x="592836" y="250825"/>
            <a:chExt cx="802995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提案內容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四個章節，說清楚問題、方法與網站成果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479530" y="6473825"/>
            <a:ext cx="1097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EF68A7C-1876-48FF-B6D0-0286EDF9DBB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</a:t>
            </a:fld>
          </a:p>
        </p:txBody>
      </p:sp>
      <p:grpSp>
        <p:nvGrpSpPr>
          <p:cNvPr id="11" name="chapter-0"/>
          <p:cNvGrpSpPr/>
          <p:nvPr/>
        </p:nvGrpSpPr>
        <p:grpSpPr>
          <a:xfrm>
            <a:off x="594741" y="1711325"/>
            <a:ext cx="3903726" cy="1848676"/>
            <a:chOff x="594741" y="1711325"/>
            <a:chExt cx="3903726" cy="1848676"/>
          </a:xfrm>
        </p:grpSpPr>
        <p:sp>
          <p:nvSpPr>
            <p:cNvPr id="7" name="TextBox 7"/>
            <p:cNvSpPr txBox="1"/>
            <p:nvPr/>
          </p:nvSpPr>
          <p:spPr>
            <a:xfrm>
              <a:off x="594741" y="1711325"/>
              <a:ext cx="445059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9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96746" y="1762125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問題與定位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99413" y="2311400"/>
              <a:ext cx="309905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關鍵打席的換人比較，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球隊與一般使用者的需求。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00937" y="3222625"/>
              <a:ext cx="302762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7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棒球問題、使用者與產品概念</a:t>
              </a:r>
            </a:p>
          </p:txBody>
        </p:sp>
      </p:grpSp>
      <p:grpSp>
        <p:nvGrpSpPr>
          <p:cNvPr id="16" name="chapter-1"/>
          <p:cNvGrpSpPr/>
          <p:nvPr/>
        </p:nvGrpSpPr>
        <p:grpSpPr>
          <a:xfrm>
            <a:off x="6233541" y="1711325"/>
            <a:ext cx="3903726" cy="1848676"/>
            <a:chOff x="6233541" y="1711325"/>
            <a:chExt cx="3903726" cy="1848676"/>
          </a:xfrm>
        </p:grpSpPr>
        <p:sp>
          <p:nvSpPr>
            <p:cNvPr id="12" name="TextBox 12"/>
            <p:cNvSpPr txBox="1"/>
            <p:nvPr/>
          </p:nvSpPr>
          <p:spPr>
            <a:xfrm>
              <a:off x="6233541" y="1711325"/>
              <a:ext cx="445059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9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35546" y="1762125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資料與方法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38213" y="2311400"/>
              <a:ext cx="309905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資料從哪裡來，如何估計，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驗證結果能解釋到哪裡。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39737" y="3222625"/>
              <a:ext cx="21014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7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使用資料與分析方法</a:t>
              </a:r>
            </a:p>
          </p:txBody>
        </p:sp>
      </p:grpSp>
      <p:grpSp>
        <p:nvGrpSpPr>
          <p:cNvPr id="21" name="chapter-2"/>
          <p:cNvGrpSpPr/>
          <p:nvPr/>
        </p:nvGrpSpPr>
        <p:grpSpPr>
          <a:xfrm>
            <a:off x="594741" y="3892550"/>
            <a:ext cx="4338253" cy="1848676"/>
            <a:chOff x="594741" y="3892550"/>
            <a:chExt cx="4338253" cy="1848676"/>
          </a:xfrm>
        </p:grpSpPr>
        <p:sp>
          <p:nvSpPr>
            <p:cNvPr id="17" name="TextBox 17"/>
            <p:cNvSpPr txBox="1"/>
            <p:nvPr/>
          </p:nvSpPr>
          <p:spPr>
            <a:xfrm>
              <a:off x="594741" y="3892550"/>
              <a:ext cx="445059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9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96746" y="3943350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網站實作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99413" y="4492625"/>
              <a:ext cx="3533581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代打、換投、場上名單，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以及獨立的單日回放與 Demo。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00937" y="5403850"/>
              <a:ext cx="21014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7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產品構想與操作成果</a:t>
              </a:r>
            </a:p>
          </p:txBody>
        </p:sp>
      </p:grpSp>
      <p:grpSp>
        <p:nvGrpSpPr>
          <p:cNvPr id="26" name="chapter-3"/>
          <p:cNvGrpSpPr/>
          <p:nvPr/>
        </p:nvGrpSpPr>
        <p:grpSpPr>
          <a:xfrm>
            <a:off x="6233541" y="3892550"/>
            <a:ext cx="3647186" cy="1848676"/>
            <a:chOff x="6233541" y="3892550"/>
            <a:chExt cx="3647186" cy="1848676"/>
          </a:xfrm>
        </p:grpSpPr>
        <p:sp>
          <p:nvSpPr>
            <p:cNvPr id="22" name="TextBox 22"/>
            <p:cNvSpPr txBox="1"/>
            <p:nvPr/>
          </p:nvSpPr>
          <p:spPr>
            <a:xfrm>
              <a:off x="6233541" y="3892550"/>
              <a:ext cx="445059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9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35546" y="3943350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成果與開發規劃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38213" y="4492625"/>
              <a:ext cx="284251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已完成範圍、驗證工作，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與跨年度及賽季更新。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39737" y="5403850"/>
              <a:ext cx="21014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7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預期成果與開發規劃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90550" y="673132"/>
            <a:ext cx="5852922" cy="4496562"/>
            <a:chOff x="590550" y="673132"/>
            <a:chExt cx="5852922" cy="4496562"/>
          </a:xfrm>
        </p:grpSpPr>
        <p:sp>
          <p:nvSpPr>
            <p:cNvPr id="3" name="TextBox 3"/>
            <p:cNvSpPr/>
            <p:nvPr/>
          </p:nvSpPr>
          <p:spPr>
            <a:xfrm>
              <a:off x="590550" y="673132"/>
              <a:ext cx="129597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668" rIns="0" bIns="0" anchor="t" anchorCtr="0">
              <a:noAutofit/>
            </a:bodyPr>
            <a:lstStyle/>
            <a:p>
              <a:pPr algn="l"/>
              <a:r>
                <a:rPr lang="zh-TW" sz="84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1312" y="2632043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換人之前，要先回答什麼？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8932" y="3565493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棒球問題、目標使用者與應用創新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00837" y="4832318"/>
              <a:ext cx="2564511" cy="33737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10" name="TextBox 8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5808726" cy="1063625"/>
            <a:chOff x="592836" y="250825"/>
            <a:chExt cx="580872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440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　問題與定位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八局落後一分，要讓誰上場？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D5A930A-1FBF-4F80-9D36-1331513C3CE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4</a:t>
            </a:fld>
          </a:p>
        </p:txBody>
      </p:sp>
      <p:grpSp>
        <p:nvGrpSpPr>
          <p:cNvPr id="8" name="source-picture"/>
          <p:cNvGrpSpPr/>
          <p:nvPr/>
        </p:nvGrpSpPr>
        <p:grpSpPr>
          <a:xfrm>
            <a:off x="609600" y="1875654"/>
            <a:ext cx="6191250" cy="1811291"/>
            <a:chOff x="609600" y="1875654"/>
            <a:chExt cx="6191250" cy="1811291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875654"/>
              <a:ext cx="6191250" cy="1811291"/>
            </a:xfrm>
            <a:prstGeom prst="rect">
              <a:avLst/>
            </a:prstGeom>
          </p:spPr>
        </p:pic>
      </p:grpSp>
      <p:grpSp>
        <p:nvGrpSpPr>
          <p:cNvPr id="16" name="base-context"/>
          <p:cNvGrpSpPr/>
          <p:nvPr/>
        </p:nvGrpSpPr>
        <p:grpSpPr>
          <a:xfrm>
            <a:off x="2525649" y="3971925"/>
            <a:ext cx="2282952" cy="2109343"/>
            <a:chOff x="2525649" y="3971925"/>
            <a:chExt cx="2282952" cy="2109343"/>
          </a:xfrm>
        </p:grpSpPr>
        <p:sp>
          <p:nvSpPr>
            <p:cNvPr id="9" name="Polygon 9"/>
            <p:cNvSpPr/>
            <p:nvPr/>
          </p:nvSpPr>
          <p:spPr>
            <a:xfrm>
              <a:off x="3009900" y="4057650"/>
              <a:ext cx="1314450" cy="1314450"/>
            </a:xfrm>
            <a:custGeom>
              <a:avLst/>
              <a:gdLst/>
              <a:ahLst/>
              <a:cxnLst/>
              <a:rect l="l" t="t" r="r" b="b"/>
              <a:pathLst>
                <a:path w="1314450" h="1314450">
                  <a:moveTo>
                    <a:pt x="657225" y="0"/>
                  </a:moveTo>
                  <a:lnTo>
                    <a:pt x="1314450" y="657225"/>
                  </a:lnTo>
                  <a:lnTo>
                    <a:pt x="657225" y="1314450"/>
                  </a:lnTo>
                  <a:lnTo>
                    <a:pt x="0" y="657225"/>
                  </a:lnTo>
                  <a:close/>
                </a:path>
              </a:pathLst>
            </a:custGeom>
            <a:solidFill>
              <a:srgbClr val="ECE5D9"/>
            </a:solidFill>
            <a:ln w="19050">
              <a:solidFill>
                <a:srgbClr val="18344A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3581400" y="39719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B54836"/>
            </a:solidFill>
            <a:ln w="19050">
              <a:solidFill>
                <a:srgbClr val="18344A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4238625" y="462915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3581400" y="52863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2924175" y="462915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3619500" y="4667250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525649" y="5670550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一出局，二壘有人</a:t>
              </a:r>
            </a:p>
          </p:txBody>
        </p:sp>
      </p:grpSp>
      <p:grpSp>
        <p:nvGrpSpPr>
          <p:cNvPr id="20" name="選擇 A"/>
          <p:cNvGrpSpPr/>
          <p:nvPr/>
        </p:nvGrpSpPr>
        <p:grpSpPr>
          <a:xfrm>
            <a:off x="7415022" y="2047875"/>
            <a:ext cx="2744089" cy="1421575"/>
            <a:chOff x="7415022" y="2047875"/>
            <a:chExt cx="2744089" cy="1421575"/>
          </a:xfrm>
        </p:grpSpPr>
        <p:sp>
          <p:nvSpPr>
            <p:cNvPr id="17" name="TextBox 17"/>
            <p:cNvSpPr txBox="1"/>
            <p:nvPr/>
          </p:nvSpPr>
          <p:spPr>
            <a:xfrm>
              <a:off x="7419975" y="2047875"/>
              <a:ext cx="84090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選擇 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15022" y="2457450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8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林佳緯續打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19213" y="3073400"/>
              <a:ext cx="273989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左打，面對左投魔力藍</a:t>
              </a:r>
            </a:p>
          </p:txBody>
        </p:sp>
      </p:grpSp>
      <p:grpSp>
        <p:nvGrpSpPr>
          <p:cNvPr id="24" name="選擇 B"/>
          <p:cNvGrpSpPr/>
          <p:nvPr/>
        </p:nvGrpSpPr>
        <p:grpSpPr>
          <a:xfrm>
            <a:off x="7415022" y="4200525"/>
            <a:ext cx="3016021" cy="1421575"/>
            <a:chOff x="7415022" y="4200525"/>
            <a:chExt cx="3016021" cy="1421575"/>
          </a:xfrm>
        </p:grpSpPr>
        <p:sp>
          <p:nvSpPr>
            <p:cNvPr id="21" name="TextBox 21"/>
            <p:cNvSpPr txBox="1"/>
            <p:nvPr/>
          </p:nvSpPr>
          <p:spPr>
            <a:xfrm>
              <a:off x="7419975" y="4200525"/>
              <a:ext cx="82298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選擇 B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15022" y="4610100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8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胡金龍代打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19213" y="5226050"/>
              <a:ext cx="301183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右打，承接指定打擊棒次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585710" cy="1063625"/>
            <a:chOff x="592836" y="250825"/>
            <a:chExt cx="7585710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651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　問題與定位｜目標使用者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58571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一般與球隊皆可評估，差別在人選限制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479530" y="6473825"/>
            <a:ext cx="1097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96BB5314-78C7-42B1-802B-7E8455716EA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5</a:t>
            </a:fld>
          </a:p>
        </p:txBody>
      </p:sp>
      <p:grpSp>
        <p:nvGrpSpPr>
          <p:cNvPr id="8" name="screenshot-一般使用者_4x.jpg"/>
          <p:cNvGrpSpPr/>
          <p:nvPr/>
        </p:nvGrpSpPr>
        <p:grpSpPr>
          <a:xfrm>
            <a:off x="609600" y="2049942"/>
            <a:ext cx="5334000" cy="1434142"/>
            <a:chOff x="609600" y="2049942"/>
            <a:chExt cx="5334000" cy="1434142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" y="2049942"/>
              <a:ext cx="5334000" cy="1434142"/>
            </a:xfrm>
            <a:prstGeom prst="rect">
              <a:avLst/>
            </a:prstGeom>
          </p:spPr>
        </p:pic>
      </p:grpSp>
      <p:grpSp>
        <p:nvGrpSpPr>
          <p:cNvPr id="11" name="mode-0"/>
          <p:cNvGrpSpPr/>
          <p:nvPr/>
        </p:nvGrpSpPr>
        <p:grpSpPr>
          <a:xfrm>
            <a:off x="6960108" y="1889125"/>
            <a:ext cx="3241548" cy="1639316"/>
            <a:chOff x="6960108" y="1889125"/>
            <a:chExt cx="3241548" cy="1639316"/>
          </a:xfrm>
        </p:grpSpPr>
        <p:sp>
          <p:nvSpPr>
            <p:cNvPr id="9" name="TextBox 9"/>
            <p:cNvSpPr txBox="1"/>
            <p:nvPr/>
          </p:nvSpPr>
          <p:spPr>
            <a:xfrm>
              <a:off x="6960108" y="1889125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一般使用者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962394" y="2428875"/>
              <a:ext cx="3239262" cy="10995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不需先設定名單。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可選場上或其他球員做評估，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也可自行安排九棒。</a:t>
              </a:r>
            </a:p>
          </p:txBody>
        </p:sp>
      </p:grpSp>
      <p:grpSp>
        <p:nvGrpSpPr>
          <p:cNvPr id="13" name="screenshot-球隊_4x.jpg"/>
          <p:cNvGrpSpPr/>
          <p:nvPr/>
        </p:nvGrpSpPr>
        <p:grpSpPr>
          <a:xfrm>
            <a:off x="609600" y="4259742"/>
            <a:ext cx="5334000" cy="1434142"/>
            <a:chOff x="609600" y="4259742"/>
            <a:chExt cx="5334000" cy="1434142"/>
          </a:xfrm>
        </p:grpSpPr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600" y="4259742"/>
              <a:ext cx="5334000" cy="1434142"/>
            </a:xfrm>
            <a:prstGeom prst="rect">
              <a:avLst/>
            </a:prstGeom>
          </p:spPr>
        </p:pic>
      </p:grpSp>
      <p:grpSp>
        <p:nvGrpSpPr>
          <p:cNvPr id="16" name="mode-1"/>
          <p:cNvGrpSpPr/>
          <p:nvPr/>
        </p:nvGrpSpPr>
        <p:grpSpPr>
          <a:xfrm>
            <a:off x="6960108" y="4098925"/>
            <a:ext cx="3489198" cy="1639316"/>
            <a:chOff x="6960108" y="4098925"/>
            <a:chExt cx="3489198" cy="1639316"/>
          </a:xfrm>
        </p:grpSpPr>
        <p:sp>
          <p:nvSpPr>
            <p:cNvPr id="14" name="TextBox 14"/>
            <p:cNvSpPr txBox="1"/>
            <p:nvPr/>
          </p:nvSpPr>
          <p:spPr>
            <a:xfrm>
              <a:off x="6960108" y="4098925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球隊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62394" y="4638675"/>
              <a:ext cx="3486912" cy="10995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先套用九棒、守位與投手。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現任依配置；替補排除場上者。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今日板凳、牛棚仍須人工勾選。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141464" cy="1063625"/>
            <a:chOff x="592836" y="250825"/>
            <a:chExt cx="7141464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　問題與定位｜應用創新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應用創新：把數據查詢接成換人比較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479530" y="6473857"/>
            <a:ext cx="1097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6</a:t>
            </a:r>
          </a:p>
        </p:txBody>
      </p:sp>
      <p:grpSp>
        <p:nvGrpSpPr>
          <p:cNvPr id="13" name="application-0"/>
          <p:cNvGrpSpPr/>
          <p:nvPr/>
        </p:nvGrpSpPr>
        <p:grpSpPr>
          <a:xfrm>
            <a:off x="597789" y="1787525"/>
            <a:ext cx="9992487" cy="1062832"/>
            <a:chOff x="597789" y="1787525"/>
            <a:chExt cx="9992487" cy="1062832"/>
          </a:xfrm>
        </p:grpSpPr>
        <p:sp>
          <p:nvSpPr>
            <p:cNvPr id="7" name="TextBox 7"/>
            <p:cNvSpPr txBox="1"/>
            <p:nvPr/>
          </p:nvSpPr>
          <p:spPr>
            <a:xfrm>
              <a:off x="597789" y="1787525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情境比較</a:t>
              </a:r>
            </a:p>
          </p:txBody>
        </p:sp>
        <p:sp>
          <p:nvSpPr>
            <p:cNvPr id="8" name="TextBox 8"/>
            <p:cNvSpPr/>
            <p:nvPr/>
          </p:nvSpPr>
          <p:spPr>
            <a:xfrm>
              <a:off x="2590038" y="1825657"/>
              <a:ext cx="400050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固定對手、局數與壘況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629275" y="1943100"/>
              <a:ext cx="504825" cy="9525"/>
            </a:xfrm>
            <a:custGeom>
              <a:avLst/>
              <a:gdLst/>
              <a:ahLst/>
              <a:cxnLst/>
              <a:rect l="l" t="t" r="r" b="b"/>
              <a:pathLst>
                <a:path w="504825" h="95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6019800" y="18764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11" name="TextBox 11"/>
            <p:cNvSpPr/>
            <p:nvPr/>
          </p:nvSpPr>
          <p:spPr>
            <a:xfrm>
              <a:off x="6589776" y="1800225"/>
              <a:ext cx="4000500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只換人選，直接比較差距</a:t>
              </a:r>
            </a:p>
          </p:txBody>
        </p:sp>
        <p:sp>
          <p:nvSpPr>
            <p:cNvPr id="12" name="TextBox 12"/>
            <p:cNvSpPr/>
            <p:nvPr/>
          </p:nvSpPr>
          <p:spPr>
            <a:xfrm>
              <a:off x="2590038" y="2454307"/>
              <a:ext cx="400050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結合能力、球路與左右投打。</a:t>
              </a:r>
            </a:p>
          </p:txBody>
        </p:sp>
      </p:grpSp>
      <p:grpSp>
        <p:nvGrpSpPr>
          <p:cNvPr id="20" name="application-1"/>
          <p:cNvGrpSpPr/>
          <p:nvPr/>
        </p:nvGrpSpPr>
        <p:grpSpPr>
          <a:xfrm>
            <a:off x="597789" y="3206750"/>
            <a:ext cx="9992487" cy="1062832"/>
            <a:chOff x="597789" y="3206750"/>
            <a:chExt cx="9992487" cy="1062832"/>
          </a:xfrm>
        </p:grpSpPr>
        <p:sp>
          <p:nvSpPr>
            <p:cNvPr id="14" name="TextBox 14"/>
            <p:cNvSpPr txBox="1"/>
            <p:nvPr/>
          </p:nvSpPr>
          <p:spPr>
            <a:xfrm>
              <a:off x="597789" y="3206750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名單連動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2590038" y="3244882"/>
              <a:ext cx="400050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連動板凳、牛棚與守位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5629275" y="3362325"/>
              <a:ext cx="504825" cy="9525"/>
            </a:xfrm>
            <a:custGeom>
              <a:avLst/>
              <a:gdLst/>
              <a:ahLst/>
              <a:cxnLst/>
              <a:rect l="l" t="t" r="r" b="b"/>
              <a:pathLst>
                <a:path w="504825" h="95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6019800" y="32956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18" name="TextBox 18"/>
            <p:cNvSpPr/>
            <p:nvPr/>
          </p:nvSpPr>
          <p:spPr>
            <a:xfrm>
              <a:off x="6589776" y="3219450"/>
              <a:ext cx="4000500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比較時一併確認能否換人</a:t>
              </a:r>
            </a:p>
          </p:txBody>
        </p:sp>
        <p:sp>
          <p:nvSpPr>
            <p:cNvPr id="19" name="TextBox 19"/>
            <p:cNvSpPr/>
            <p:nvPr/>
          </p:nvSpPr>
          <p:spPr>
            <a:xfrm>
              <a:off x="2590038" y="3873532"/>
              <a:ext cx="400050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檢查今日可用人選與接守安排。</a:t>
              </a:r>
            </a:p>
          </p:txBody>
        </p:sp>
      </p:grpSp>
      <p:grpSp>
        <p:nvGrpSpPr>
          <p:cNvPr id="27" name="application-2"/>
          <p:cNvGrpSpPr/>
          <p:nvPr/>
        </p:nvGrpSpPr>
        <p:grpSpPr>
          <a:xfrm>
            <a:off x="597789" y="4625975"/>
            <a:ext cx="9829216" cy="1062800"/>
            <a:chOff x="597789" y="4625975"/>
            <a:chExt cx="9829216" cy="1062800"/>
          </a:xfrm>
        </p:grpSpPr>
        <p:sp>
          <p:nvSpPr>
            <p:cNvPr id="21" name="TextBox 21"/>
            <p:cNvSpPr txBox="1"/>
            <p:nvPr/>
          </p:nvSpPr>
          <p:spPr>
            <a:xfrm>
              <a:off x="597789" y="4625975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決策回放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590038" y="4664075"/>
              <a:ext cx="165216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賽後才看結果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629275" y="4781550"/>
              <a:ext cx="504825" cy="9525"/>
            </a:xfrm>
            <a:custGeom>
              <a:avLst/>
              <a:gdLst/>
              <a:ahLst/>
              <a:cxnLst/>
              <a:rect l="l" t="t" r="r" b="b"/>
              <a:pathLst>
                <a:path w="504825" h="95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6019800" y="47148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89776" y="4638675"/>
              <a:ext cx="3837229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保留決策前資訊，再對照結果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90038" y="5292725"/>
              <a:ext cx="382762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區分事前判讀與事後發生的事。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5808726" cy="1063625"/>
            <a:chOff x="592836" y="250825"/>
            <a:chExt cx="580872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440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　問題與定位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三個入口，對應三種使用任務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479530" y="6473857"/>
            <a:ext cx="1097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7</a:t>
            </a:r>
          </a:p>
        </p:txBody>
      </p:sp>
      <p:grpSp>
        <p:nvGrpSpPr>
          <p:cNvPr id="8" name="screenshot-選單評估_4x.jpg"/>
          <p:cNvGrpSpPr/>
          <p:nvPr/>
        </p:nvGrpSpPr>
        <p:grpSpPr>
          <a:xfrm>
            <a:off x="1219200" y="1809750"/>
            <a:ext cx="3295650" cy="1000125"/>
            <a:chOff x="1219200" y="1809750"/>
            <a:chExt cx="3295650" cy="1000125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19200" y="1809750"/>
              <a:ext cx="3295650" cy="1000125"/>
            </a:xfrm>
            <a:prstGeom prst="rect">
              <a:avLst/>
            </a:prstGeom>
          </p:spPr>
        </p:pic>
      </p:grpSp>
      <p:grpSp>
        <p:nvGrpSpPr>
          <p:cNvPr id="10" name="screenshot-選單名單_4x.jpg"/>
          <p:cNvGrpSpPr/>
          <p:nvPr/>
        </p:nvGrpSpPr>
        <p:grpSpPr>
          <a:xfrm>
            <a:off x="4667250" y="1809750"/>
            <a:ext cx="3009900" cy="1000125"/>
            <a:chOff x="4667250" y="1809750"/>
            <a:chExt cx="3009900" cy="1000125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67250" y="1809750"/>
              <a:ext cx="3009900" cy="1000125"/>
            </a:xfrm>
            <a:prstGeom prst="rect">
              <a:avLst/>
            </a:prstGeom>
          </p:spPr>
        </p:pic>
      </p:grpSp>
      <p:grpSp>
        <p:nvGrpSpPr>
          <p:cNvPr id="12" name="screenshot-選單回放_4x.jpg"/>
          <p:cNvGrpSpPr/>
          <p:nvPr/>
        </p:nvGrpSpPr>
        <p:grpSpPr>
          <a:xfrm>
            <a:off x="7829550" y="1809750"/>
            <a:ext cx="3143250" cy="1000125"/>
            <a:chOff x="7829550" y="1809750"/>
            <a:chExt cx="3143250" cy="1000125"/>
          </a:xfrm>
        </p:grpSpPr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29550" y="1809750"/>
              <a:ext cx="3143250" cy="1000125"/>
            </a:xfrm>
            <a:prstGeom prst="rect">
              <a:avLst/>
            </a:prstGeom>
          </p:spPr>
        </p:pic>
      </p:grpSp>
      <p:grpSp>
        <p:nvGrpSpPr>
          <p:cNvPr id="15" name="entry-0"/>
          <p:cNvGrpSpPr/>
          <p:nvPr/>
        </p:nvGrpSpPr>
        <p:grpSpPr>
          <a:xfrm>
            <a:off x="597789" y="3730625"/>
            <a:ext cx="3100578" cy="1330928"/>
            <a:chOff x="597789" y="3730625"/>
            <a:chExt cx="3100578" cy="1330928"/>
          </a:xfrm>
        </p:grpSpPr>
        <p:sp>
          <p:nvSpPr>
            <p:cNvPr id="13" name="TextBox 13"/>
            <p:cNvSpPr txBox="1"/>
            <p:nvPr/>
          </p:nvSpPr>
          <p:spPr>
            <a:xfrm>
              <a:off x="597789" y="3730625"/>
              <a:ext cx="220985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代打／換投評估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9313" y="4292600"/>
              <a:ext cx="309905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固定對手與局勢，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比較現任與最多四位候選。</a:t>
              </a:r>
            </a:p>
          </p:txBody>
        </p:sp>
      </p:grpSp>
      <p:grpSp>
        <p:nvGrpSpPr>
          <p:cNvPr id="18" name="entry-1"/>
          <p:cNvGrpSpPr/>
          <p:nvPr/>
        </p:nvGrpSpPr>
        <p:grpSpPr>
          <a:xfrm>
            <a:off x="4331589" y="3730625"/>
            <a:ext cx="2844038" cy="1330928"/>
            <a:chOff x="4331589" y="3730625"/>
            <a:chExt cx="2844038" cy="1330928"/>
          </a:xfrm>
        </p:grpSpPr>
        <p:sp>
          <p:nvSpPr>
            <p:cNvPr id="16" name="TextBox 16"/>
            <p:cNvSpPr txBox="1"/>
            <p:nvPr/>
          </p:nvSpPr>
          <p:spPr>
            <a:xfrm>
              <a:off x="4331589" y="3730625"/>
              <a:ext cx="189753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我方場上名單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33113" y="4292600"/>
              <a:ext cx="284251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球場圖設定守位，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棒次表安排九棒與投手。</a:t>
              </a:r>
            </a:p>
          </p:txBody>
        </p:sp>
      </p:grpSp>
      <p:grpSp>
        <p:nvGrpSpPr>
          <p:cNvPr id="21" name="entry-2"/>
          <p:cNvGrpSpPr/>
          <p:nvPr/>
        </p:nvGrpSpPr>
        <p:grpSpPr>
          <a:xfrm>
            <a:off x="8065389" y="3730625"/>
            <a:ext cx="3100578" cy="1330928"/>
            <a:chOff x="8065389" y="3730625"/>
            <a:chExt cx="3100578" cy="1330928"/>
          </a:xfrm>
        </p:grpSpPr>
        <p:sp>
          <p:nvSpPr>
            <p:cNvPr id="19" name="TextBox 19"/>
            <p:cNvSpPr txBox="1"/>
            <p:nvPr/>
          </p:nvSpPr>
          <p:spPr>
            <a:xfrm>
              <a:off x="8065389" y="3730625"/>
              <a:ext cx="2015388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2025 單日分析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66913" y="4292600"/>
              <a:ext cx="309905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回到特定比賽日，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查看賽前負荷與打席回放。</a:t>
              </a:r>
            </a:p>
          </p:txBody>
        </p:sp>
      </p:grpSp>
      <p:grpSp>
        <p:nvGrpSpPr>
          <p:cNvPr id="24" name="takeaway"/>
          <p:cNvGrpSpPr/>
          <p:nvPr/>
        </p:nvGrpSpPr>
        <p:grpSpPr>
          <a:xfrm>
            <a:off x="609600" y="5572125"/>
            <a:ext cx="10972800" cy="704850"/>
            <a:chOff x="609600" y="5572125"/>
            <a:chExt cx="10972800" cy="704850"/>
          </a:xfrm>
        </p:grpSpPr>
        <p:sp>
          <p:nvSpPr>
            <p:cNvPr id="22" name="Rectangle 22"/>
            <p:cNvSpPr/>
            <p:nvPr/>
          </p:nvSpPr>
          <p:spPr>
            <a:xfrm>
              <a:off x="609600" y="5572125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8294" y="5664200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單日分析獨立於一般使用者／球隊模式。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90550" y="673132"/>
            <a:ext cx="5852922" cy="4496562"/>
            <a:chOff x="590550" y="673132"/>
            <a:chExt cx="5852922" cy="4496562"/>
          </a:xfrm>
        </p:grpSpPr>
        <p:sp>
          <p:nvSpPr>
            <p:cNvPr id="3" name="TextBox 3"/>
            <p:cNvSpPr/>
            <p:nvPr/>
          </p:nvSpPr>
          <p:spPr>
            <a:xfrm>
              <a:off x="590550" y="673132"/>
              <a:ext cx="129597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668" rIns="0" bIns="0" anchor="t" anchorCtr="0">
              <a:noAutofit/>
            </a:bodyPr>
            <a:lstStyle/>
            <a:p>
              <a:pPr algn="l"/>
              <a:r>
                <a:rPr lang="zh-TW" sz="84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1312" y="2632043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拿什麼資料，做什麼比較？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8932" y="3565493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資料來源、估計方法與驗證界線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00837" y="4832318"/>
              <a:ext cx="2564511" cy="33737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10" name="TextBox 8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029956" cy="1063625"/>
            <a:chOff x="592836" y="250825"/>
            <a:chExt cx="802995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　資料與方法｜使用資料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不同來源分工，歷史分析遵守資料截止日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9</a:t>
            </a:r>
          </a:p>
        </p:txBody>
      </p:sp>
      <p:grpSp>
        <p:nvGrpSpPr>
          <p:cNvPr id="11" name="data-0"/>
          <p:cNvGrpSpPr/>
          <p:nvPr/>
        </p:nvGrpSpPr>
        <p:grpSpPr>
          <a:xfrm>
            <a:off x="593598" y="1990725"/>
            <a:ext cx="2997708" cy="3042666"/>
            <a:chOff x="593598" y="1990725"/>
            <a:chExt cx="2997708" cy="3042666"/>
          </a:xfrm>
        </p:grpSpPr>
        <p:sp>
          <p:nvSpPr>
            <p:cNvPr id="7" name="TextBox 7"/>
            <p:cNvSpPr txBox="1"/>
            <p:nvPr/>
          </p:nvSpPr>
          <p:spPr>
            <a:xfrm>
              <a:off x="593598" y="1990725"/>
              <a:ext cx="204825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1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2024–2025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7789" y="2825750"/>
              <a:ext cx="1585214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逐球與出賽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9694" y="3349625"/>
              <a:ext cx="242511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Rebas（ODC-By）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9694" y="3933825"/>
              <a:ext cx="2991612" cy="10995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球種、投打側與逐球結果，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用於對決估計及登板負荷。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2025 背號只用於搜尋。</a:t>
              </a:r>
            </a:p>
          </p:txBody>
        </p:sp>
      </p:grpSp>
      <p:grpSp>
        <p:nvGrpSpPr>
          <p:cNvPr id="16" name="data-1"/>
          <p:cNvGrpSpPr/>
          <p:nvPr/>
        </p:nvGrpSpPr>
        <p:grpSpPr>
          <a:xfrm>
            <a:off x="4327398" y="1990725"/>
            <a:ext cx="2997708" cy="3042666"/>
            <a:chOff x="4327398" y="1990725"/>
            <a:chExt cx="2997708" cy="3042666"/>
          </a:xfrm>
        </p:grpSpPr>
        <p:sp>
          <p:nvSpPr>
            <p:cNvPr id="12" name="TextBox 12"/>
            <p:cNvSpPr txBox="1"/>
            <p:nvPr/>
          </p:nvSpPr>
          <p:spPr>
            <a:xfrm>
              <a:off x="4327398" y="1990725"/>
              <a:ext cx="204825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1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2022–2024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31589" y="2825750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歷年守位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33494" y="3349625"/>
              <a:ext cx="17939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ldkrsi（MIT）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33494" y="3933825"/>
              <a:ext cx="2991612" cy="10995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依過去各守位出賽紀錄，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檢查歷史人選的守位經驗。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不使用 2025 整季守位。</a:t>
              </a:r>
            </a:p>
          </p:txBody>
        </p:sp>
      </p:grpSp>
      <p:grpSp>
        <p:nvGrpSpPr>
          <p:cNvPr id="21" name="data-2"/>
          <p:cNvGrpSpPr/>
          <p:nvPr/>
        </p:nvGrpSpPr>
        <p:grpSpPr>
          <a:xfrm>
            <a:off x="8061198" y="1990725"/>
            <a:ext cx="2750058" cy="3042666"/>
            <a:chOff x="8061198" y="1990725"/>
            <a:chExt cx="2750058" cy="3042666"/>
          </a:xfrm>
        </p:grpSpPr>
        <p:sp>
          <p:nvSpPr>
            <p:cNvPr id="17" name="TextBox 17"/>
            <p:cNvSpPr txBox="1"/>
            <p:nvPr/>
          </p:nvSpPr>
          <p:spPr>
            <a:xfrm>
              <a:off x="8061198" y="1990725"/>
              <a:ext cx="9281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1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2025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65389" y="2825750"/>
              <a:ext cx="220985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球員與整季守位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67294" y="3349625"/>
              <a:ext cx="199639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CPBL 官方資料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67294" y="3933825"/>
              <a:ext cx="2743962" cy="10995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球員連至官方個人頁；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整季守位用於季後情境，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不冒充實際當日守位。</a:t>
              </a:r>
            </a:p>
          </p:txBody>
        </p:sp>
      </p:grpSp>
      <p:grpSp>
        <p:nvGrpSpPr>
          <p:cNvPr id="24" name="takeaway"/>
          <p:cNvGrpSpPr/>
          <p:nvPr/>
        </p:nvGrpSpPr>
        <p:grpSpPr>
          <a:xfrm>
            <a:off x="609600" y="5581650"/>
            <a:ext cx="10972800" cy="704850"/>
            <a:chOff x="609600" y="5581650"/>
            <a:chExt cx="10972800" cy="704850"/>
          </a:xfrm>
        </p:grpSpPr>
        <p:sp>
          <p:nvSpPr>
            <p:cNvPr id="22" name="Rectangle 22"/>
            <p:cNvSpPr/>
            <p:nvPr/>
          </p:nvSpPr>
          <p:spPr>
            <a:xfrm>
              <a:off x="609600" y="5581650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8294" y="5673725"/>
              <a:ext cx="789508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歷史能力、名單與負荷只用當日前資訊；逐球模型另列訓練截止日。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141464" cy="1063625"/>
            <a:chOff x="592836" y="250825"/>
            <a:chExt cx="7141464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440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　資料與方法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先估計對決，再依局勢換算候選差距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10</a:t>
            </a:r>
          </a:p>
        </p:txBody>
      </p:sp>
      <p:grpSp>
        <p:nvGrpSpPr>
          <p:cNvPr id="9" name="method-input"/>
          <p:cNvGrpSpPr/>
          <p:nvPr/>
        </p:nvGrpSpPr>
        <p:grpSpPr>
          <a:xfrm>
            <a:off x="598551" y="3219450"/>
            <a:ext cx="2076399" cy="935800"/>
            <a:chOff x="598551" y="3219450"/>
            <a:chExt cx="2076399" cy="935800"/>
          </a:xfrm>
        </p:grpSpPr>
        <p:sp>
          <p:nvSpPr>
            <p:cNvPr id="7" name="TextBox 7"/>
            <p:cNvSpPr txBox="1"/>
            <p:nvPr/>
          </p:nvSpPr>
          <p:spPr>
            <a:xfrm>
              <a:off x="598551" y="3219450"/>
              <a:ext cx="2076399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逐球與出賽資料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9313" y="3759200"/>
              <a:ext cx="192410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同一投手與候選</a:t>
              </a:r>
            </a:p>
          </p:txBody>
        </p:sp>
      </p:grpSp>
      <p:grpSp>
        <p:nvGrpSpPr>
          <p:cNvPr id="13" name="method-182"/>
          <p:cNvGrpSpPr/>
          <p:nvPr/>
        </p:nvGrpSpPr>
        <p:grpSpPr>
          <a:xfrm>
            <a:off x="3524250" y="1733550"/>
            <a:ext cx="4695825" cy="1724025"/>
            <a:chOff x="3524250" y="1733550"/>
            <a:chExt cx="4695825" cy="1724025"/>
          </a:xfrm>
        </p:grpSpPr>
        <p:sp>
          <p:nvSpPr>
            <p:cNvPr id="10" name="Rectangle 10"/>
            <p:cNvSpPr/>
            <p:nvPr/>
          </p:nvSpPr>
          <p:spPr>
            <a:xfrm>
              <a:off x="3524250" y="1733550"/>
              <a:ext cx="4695825" cy="1724025"/>
            </a:xfrm>
            <a:prstGeom prst="roundRect">
              <a:avLst>
                <a:gd name="adj" fmla="val 6630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750183" y="1870075"/>
              <a:ext cx="18001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部分池化 [1]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52850" y="2413000"/>
              <a:ext cx="3361690" cy="7129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19"/>
                </a:lnSpc>
              </a:pPr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綜合能力、左右投打與球路適性</a:t>
              </a:r>
              <a:b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小樣本向整體基準收縮</a:t>
              </a:r>
            </a:p>
          </p:txBody>
        </p:sp>
      </p:grpSp>
      <p:grpSp>
        <p:nvGrpSpPr>
          <p:cNvPr id="17" name="method-403"/>
          <p:cNvGrpSpPr/>
          <p:nvPr/>
        </p:nvGrpSpPr>
        <p:grpSpPr>
          <a:xfrm>
            <a:off x="3524250" y="3838575"/>
            <a:ext cx="4695825" cy="1724025"/>
            <a:chOff x="3524250" y="3838575"/>
            <a:chExt cx="4695825" cy="1724025"/>
          </a:xfrm>
        </p:grpSpPr>
        <p:sp>
          <p:nvSpPr>
            <p:cNvPr id="14" name="Rectangle 14"/>
            <p:cNvSpPr/>
            <p:nvPr/>
          </p:nvSpPr>
          <p:spPr>
            <a:xfrm>
              <a:off x="3524250" y="3838575"/>
              <a:ext cx="4695825" cy="1724025"/>
            </a:xfrm>
            <a:prstGeom prst="roundRect">
              <a:avLst>
                <a:gd name="adj" fmla="val 6630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750183" y="39751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梯度提升樹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52850" y="4518025"/>
              <a:ext cx="3122930" cy="7129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19"/>
                </a:lnSpc>
              </a:pPr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沿用投手歷史投球，替換打者</a:t>
              </a:r>
              <a:b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預測逐球結果，再換算得分</a:t>
              </a:r>
            </a:p>
          </p:txBody>
        </p:sp>
      </p:grpSp>
      <p:grpSp>
        <p:nvGrpSpPr>
          <p:cNvPr id="27" name="method-links"/>
          <p:cNvGrpSpPr/>
          <p:nvPr/>
        </p:nvGrpSpPr>
        <p:grpSpPr>
          <a:xfrm>
            <a:off x="3124200" y="2600325"/>
            <a:ext cx="5715000" cy="2105025"/>
            <a:chOff x="3124200" y="2600325"/>
            <a:chExt cx="5715000" cy="2105025"/>
          </a:xfrm>
        </p:grpSpPr>
        <p:sp>
          <p:nvSpPr>
            <p:cNvPr id="18" name="Line 18"/>
            <p:cNvSpPr/>
            <p:nvPr/>
          </p:nvSpPr>
          <p:spPr>
            <a:xfrm>
              <a:off x="3124200" y="3724275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3333750" y="2600325"/>
              <a:ext cx="9525" cy="2095500"/>
            </a:xfrm>
            <a:custGeom>
              <a:avLst/>
              <a:gdLst/>
              <a:ahLst/>
              <a:cxnLst/>
              <a:rect l="l" t="t" r="r" b="b"/>
              <a:pathLst>
                <a:path w="9525" h="2095500">
                  <a:moveTo>
                    <a:pt x="0" y="0"/>
                  </a:moveTo>
                  <a:lnTo>
                    <a:pt x="0" y="20955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3333750" y="2600325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3333750" y="4695825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286750" y="260032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8572500" y="2600325"/>
              <a:ext cx="9525" cy="2095500"/>
            </a:xfrm>
            <a:custGeom>
              <a:avLst/>
              <a:gdLst/>
              <a:ahLst/>
              <a:cxnLst/>
              <a:rect l="l" t="t" r="r" b="b"/>
              <a:pathLst>
                <a:path w="9525" h="2095500">
                  <a:moveTo>
                    <a:pt x="0" y="0"/>
                  </a:moveTo>
                  <a:lnTo>
                    <a:pt x="0" y="20955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286750" y="469582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8572500" y="3724275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8724900" y="36576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</p:grpSp>
      <p:grpSp>
        <p:nvGrpSpPr>
          <p:cNvPr id="30" name="method-output"/>
          <p:cNvGrpSpPr/>
          <p:nvPr/>
        </p:nvGrpSpPr>
        <p:grpSpPr>
          <a:xfrm>
            <a:off x="9055989" y="3092450"/>
            <a:ext cx="1925669" cy="948532"/>
            <a:chOff x="9055989" y="3092450"/>
            <a:chExt cx="1925669" cy="948532"/>
          </a:xfrm>
        </p:grpSpPr>
        <p:sp>
          <p:nvSpPr>
            <p:cNvPr id="28" name="TextBox 28"/>
            <p:cNvSpPr txBox="1"/>
            <p:nvPr/>
          </p:nvSpPr>
          <p:spPr>
            <a:xfrm>
              <a:off x="9055989" y="3092450"/>
              <a:ext cx="189753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整合得分估計</a:t>
              </a:r>
            </a:p>
          </p:txBody>
        </p:sp>
        <p:sp>
          <p:nvSpPr>
            <p:cNvPr id="29" name="TextBox 29"/>
            <p:cNvSpPr/>
            <p:nvPr/>
          </p:nvSpPr>
          <p:spPr>
            <a:xfrm>
              <a:off x="9057513" y="3644932"/>
              <a:ext cx="1924145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依局勢近似換算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474202" cy="1063625"/>
            <a:chOff x="592836" y="250825"/>
            <a:chExt cx="8474202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　資料與方法｜判讀方式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4742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先分清楚：比較基準、模型差距、相對排名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11</a:t>
            </a:r>
          </a:p>
        </p:txBody>
      </p:sp>
      <p:grpSp>
        <p:nvGrpSpPr>
          <p:cNvPr id="12" name="score-0"/>
          <p:cNvGrpSpPr/>
          <p:nvPr/>
        </p:nvGrpSpPr>
        <p:grpSpPr>
          <a:xfrm>
            <a:off x="598170" y="2025650"/>
            <a:ext cx="3107055" cy="2953449"/>
            <a:chOff x="598170" y="2025650"/>
            <a:chExt cx="3107055" cy="2953449"/>
          </a:xfrm>
        </p:grpSpPr>
        <p:sp>
          <p:nvSpPr>
            <p:cNvPr id="7" name="TextBox 7"/>
            <p:cNvSpPr txBox="1"/>
            <p:nvPr/>
          </p:nvSpPr>
          <p:spPr>
            <a:xfrm>
              <a:off x="598170" y="20256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比較基準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67128" y="2686050"/>
              <a:ext cx="390144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9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0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990600" y="3733800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2362200" y="3543300"/>
              <a:ext cx="9525" cy="371475"/>
            </a:xfrm>
            <a:custGeom>
              <a:avLst/>
              <a:gdLst/>
              <a:ahLst/>
              <a:cxnLst/>
              <a:rect l="l" t="t" r="r" b="b"/>
              <a:pathLst>
                <a:path w="9525" h="371475">
                  <a:moveTo>
                    <a:pt x="0" y="0"/>
                  </a:moveTo>
                  <a:lnTo>
                    <a:pt x="0" y="371475"/>
                  </a:lnTo>
                </a:path>
              </a:pathLst>
            </a:custGeom>
            <a:noFill/>
            <a:ln w="38100">
              <a:solidFill>
                <a:srgbClr val="18344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9694" y="4238625"/>
              <a:ext cx="299161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候選與同一位現任相比。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其餘局勢與對手保持一致。</a:t>
              </a:r>
            </a:p>
          </p:txBody>
        </p:sp>
      </p:grpSp>
      <p:grpSp>
        <p:nvGrpSpPr>
          <p:cNvPr id="18" name="score-1"/>
          <p:cNvGrpSpPr/>
          <p:nvPr/>
        </p:nvGrpSpPr>
        <p:grpSpPr>
          <a:xfrm>
            <a:off x="4331970" y="2025682"/>
            <a:ext cx="3240786" cy="3355943"/>
            <a:chOff x="4331970" y="2025682"/>
            <a:chExt cx="3240786" cy="3355943"/>
          </a:xfrm>
        </p:grpSpPr>
        <p:sp>
          <p:nvSpPr>
            <p:cNvPr id="13" name="TextBox 13"/>
            <p:cNvSpPr/>
            <p:nvPr/>
          </p:nvSpPr>
          <p:spPr>
            <a:xfrm>
              <a:off x="4331970" y="2025682"/>
              <a:ext cx="32385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勝率換算差距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60278" y="2686050"/>
              <a:ext cx="1671443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950" b="1" dirty="0" altLang="en-US">
                  <a:solidFill>
                    <a:srgbClr val="237A53"/>
                  </a:solidFill>
                  <a:latin typeface="Times New Roman"/>
                  <a:ea typeface="標楷體"/>
                  <a:cs typeface="Times New Roman"/>
                </a:rPr>
                <a:t>+1.05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4724400" y="3733800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096000" y="3629025"/>
              <a:ext cx="1047750" cy="190500"/>
            </a:xfrm>
            <a:prstGeom prst="roundRect">
              <a:avLst>
                <a:gd name="adj" fmla="val 15000"/>
              </a:avLst>
            </a:prstGeom>
            <a:solidFill>
              <a:srgbClr val="237A53"/>
            </a:solidFill>
            <a:ln>
              <a:noFill/>
            </a:ln>
          </p:spPr>
        </p:sp>
        <p:sp>
          <p:nvSpPr>
            <p:cNvPr id="17" name="TextBox 17"/>
            <p:cNvSpPr/>
            <p:nvPr/>
          </p:nvSpPr>
          <p:spPr>
            <a:xfrm>
              <a:off x="4333494" y="4238625"/>
              <a:ext cx="3239262" cy="1143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12700" rIns="0" bIns="0" anchor="t" anchorCtr="0">
              <a:noAutofit/>
            </a:bodyPr>
            <a:lstStyle/>
            <a:p>
              <a:pPr algn="l">
                <a:lnSpc>
                  <a:spcPts val="2850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得失分差依局勢換算。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正值表示對我方較有利。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百分點，非實測勝率增幅。</a:t>
              </a:r>
            </a:p>
          </p:txBody>
        </p:sp>
      </p:grpSp>
      <p:grpSp>
        <p:nvGrpSpPr>
          <p:cNvPr id="25" name="score-2"/>
          <p:cNvGrpSpPr/>
          <p:nvPr/>
        </p:nvGrpSpPr>
        <p:grpSpPr>
          <a:xfrm>
            <a:off x="8065770" y="2025650"/>
            <a:ext cx="3240786" cy="2953449"/>
            <a:chOff x="8065770" y="2025650"/>
            <a:chExt cx="3240786" cy="2953449"/>
          </a:xfrm>
        </p:grpSpPr>
        <p:sp>
          <p:nvSpPr>
            <p:cNvPr id="19" name="TextBox 19"/>
            <p:cNvSpPr txBox="1"/>
            <p:nvPr/>
          </p:nvSpPr>
          <p:spPr>
            <a:xfrm>
              <a:off x="8065770" y="20256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價值分數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930640" y="2686050"/>
              <a:ext cx="1798320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9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1–100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458200" y="3733800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743950" y="3619500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0934700" y="3619500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24" name="TextBox 24"/>
            <p:cNvSpPr/>
            <p:nvPr/>
          </p:nvSpPr>
          <p:spPr>
            <a:xfrm>
              <a:off x="8067294" y="4238625"/>
              <a:ext cx="32392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截止日前同角色的百分位。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非四位候選排名或成功率。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141464" cy="1063625"/>
            <a:chOff x="592836" y="250825"/>
            <a:chExt cx="7141464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　資料與方法｜驗證範圍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功能已核對，用人效益仍待實際驗證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12</a:t>
            </a:r>
          </a:p>
        </p:txBody>
      </p:sp>
      <p:grpSp>
        <p:nvGrpSpPr>
          <p:cNvPr id="11" name="validation-0"/>
          <p:cNvGrpSpPr/>
          <p:nvPr/>
        </p:nvGrpSpPr>
        <p:grpSpPr>
          <a:xfrm>
            <a:off x="591693" y="2012950"/>
            <a:ext cx="2999613" cy="3229991"/>
            <a:chOff x="591693" y="2012950"/>
            <a:chExt cx="2999613" cy="3229991"/>
          </a:xfrm>
        </p:grpSpPr>
        <p:sp>
          <p:nvSpPr>
            <p:cNvPr id="7" name="TextBox 7"/>
            <p:cNvSpPr txBox="1"/>
            <p:nvPr/>
          </p:nvSpPr>
          <p:spPr>
            <a:xfrm>
              <a:off x="598932" y="201295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工程一致性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1693" y="2673350"/>
              <a:ext cx="1385875" cy="6894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5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452 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8551" y="3552825"/>
              <a:ext cx="2369871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單日雙向重算對照</a:t>
              </a:r>
            </a:p>
          </p:txBody>
        </p:sp>
        <p:sp>
          <p:nvSpPr>
            <p:cNvPr id="10" name="TextBox 10"/>
            <p:cNvSpPr/>
            <p:nvPr/>
          </p:nvSpPr>
          <p:spPr>
            <a:xfrm>
              <a:off x="599694" y="4143375"/>
              <a:ext cx="2991612" cy="10995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226 打席 × 代打／換投。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網站與重算通過數值對照。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不代表預測命中率。</a:t>
              </a:r>
            </a:p>
          </p:txBody>
        </p:sp>
      </p:grpSp>
      <p:grpSp>
        <p:nvGrpSpPr>
          <p:cNvPr id="16" name="validation-1"/>
          <p:cNvGrpSpPr/>
          <p:nvPr/>
        </p:nvGrpSpPr>
        <p:grpSpPr>
          <a:xfrm>
            <a:off x="4325493" y="2012950"/>
            <a:ext cx="2999613" cy="3229991"/>
            <a:chOff x="4325493" y="2012950"/>
            <a:chExt cx="2999613" cy="3229991"/>
          </a:xfrm>
        </p:grpSpPr>
        <p:sp>
          <p:nvSpPr>
            <p:cNvPr id="12" name="TextBox 12"/>
            <p:cNvSpPr txBox="1"/>
            <p:nvPr/>
          </p:nvSpPr>
          <p:spPr>
            <a:xfrm>
              <a:off x="4332732" y="20129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預測效能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25493" y="2673350"/>
              <a:ext cx="1457401" cy="6894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5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待驗證</a:t>
              </a:r>
            </a:p>
          </p:txBody>
        </p:sp>
        <p:sp>
          <p:nvSpPr>
            <p:cNvPr id="14" name="TextBox 14"/>
            <p:cNvSpPr/>
            <p:nvPr/>
          </p:nvSpPr>
          <p:spPr>
            <a:xfrm>
              <a:off x="4332351" y="3552825"/>
              <a:ext cx="1877092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現行模型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33494" y="4143375"/>
              <a:ext cx="2991612" cy="10995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逐球機率用 log loss，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得分估計用預測誤差。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舊版成效不代替新版結果。</a:t>
              </a:r>
            </a:p>
          </p:txBody>
        </p:sp>
      </p:grpSp>
      <p:grpSp>
        <p:nvGrpSpPr>
          <p:cNvPr id="21" name="validation-2"/>
          <p:cNvGrpSpPr/>
          <p:nvPr/>
        </p:nvGrpSpPr>
        <p:grpSpPr>
          <a:xfrm>
            <a:off x="8059293" y="2012950"/>
            <a:ext cx="2999613" cy="3229991"/>
            <a:chOff x="8059293" y="2012950"/>
            <a:chExt cx="2999613" cy="3229991"/>
          </a:xfrm>
        </p:grpSpPr>
        <p:sp>
          <p:nvSpPr>
            <p:cNvPr id="17" name="TextBox 17"/>
            <p:cNvSpPr txBox="1"/>
            <p:nvPr/>
          </p:nvSpPr>
          <p:spPr>
            <a:xfrm>
              <a:off x="8066532" y="20129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實務成效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59293" y="2673350"/>
              <a:ext cx="1457401" cy="6894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5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待試用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66151" y="3552825"/>
              <a:ext cx="2076399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理解與調度價值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67294" y="4143375"/>
              <a:ext cx="2991612" cy="10995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真人任務與球隊現場，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需另記錄誤解及可用性。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不能由操作測試推論效益。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585710" cy="1063625"/>
            <a:chOff x="592836" y="250825"/>
            <a:chExt cx="7585710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440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　資料與方法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58571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先分清樣本：只在實際續投時比較風險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13</a:t>
            </a:r>
          </a:p>
        </p:txBody>
      </p:sp>
      <p:grpSp>
        <p:nvGrpSpPr>
          <p:cNvPr id="11" name="sample-population"/>
          <p:cNvGrpSpPr/>
          <p:nvPr/>
        </p:nvGrpSpPr>
        <p:grpSpPr>
          <a:xfrm>
            <a:off x="609600" y="1714500"/>
            <a:ext cx="3429000" cy="1771650"/>
            <a:chOff x="609600" y="1714500"/>
            <a:chExt cx="3429000" cy="1771650"/>
          </a:xfrm>
        </p:grpSpPr>
        <p:sp>
          <p:nvSpPr>
            <p:cNvPr id="7" name="Rectangle 7"/>
            <p:cNvSpPr/>
            <p:nvPr/>
          </p:nvSpPr>
          <p:spPr>
            <a:xfrm>
              <a:off x="609600" y="1714500"/>
              <a:ext cx="3429000" cy="1771650"/>
            </a:xfrm>
            <a:prstGeom prst="roundRect">
              <a:avLst>
                <a:gd name="adj" fmla="val 6452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7532" y="1860550"/>
              <a:ext cx="18402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2025 第 6 局起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9150" y="2263775"/>
              <a:ext cx="1767027" cy="8620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4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11,868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8675" y="3019425"/>
              <a:ext cx="204373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個有效換投決策點</a:t>
              </a:r>
            </a:p>
          </p:txBody>
        </p:sp>
      </p:grpSp>
      <p:grpSp>
        <p:nvGrpSpPr>
          <p:cNvPr id="18" name="split-connectors"/>
          <p:cNvGrpSpPr/>
          <p:nvPr/>
        </p:nvGrpSpPr>
        <p:grpSpPr>
          <a:xfrm>
            <a:off x="4124325" y="2324100"/>
            <a:ext cx="942975" cy="2305050"/>
            <a:chOff x="4124325" y="2324100"/>
            <a:chExt cx="942975" cy="2305050"/>
          </a:xfrm>
        </p:grpSpPr>
        <p:sp>
          <p:nvSpPr>
            <p:cNvPr id="12" name="Line 12"/>
            <p:cNvSpPr/>
            <p:nvPr/>
          </p:nvSpPr>
          <p:spPr>
            <a:xfrm>
              <a:off x="4124325" y="2628900"/>
              <a:ext cx="447675" cy="9525"/>
            </a:xfrm>
            <a:custGeom>
              <a:avLst/>
              <a:gdLst/>
              <a:ahLst/>
              <a:cxnLst/>
              <a:rect l="l" t="t" r="r" b="b"/>
              <a:pathLst>
                <a:path w="447675" h="9525">
                  <a:moveTo>
                    <a:pt x="0" y="0"/>
                  </a:moveTo>
                  <a:lnTo>
                    <a:pt x="44767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4572000" y="2390775"/>
              <a:ext cx="9525" cy="2171700"/>
            </a:xfrm>
            <a:custGeom>
              <a:avLst/>
              <a:gdLst/>
              <a:ahLst/>
              <a:cxnLst/>
              <a:rect l="l" t="t" r="r" b="b"/>
              <a:pathLst>
                <a:path w="9525" h="2171700">
                  <a:moveTo>
                    <a:pt x="0" y="0"/>
                  </a:moveTo>
                  <a:lnTo>
                    <a:pt x="0" y="21717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4572000" y="2390775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4953000" y="23241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4572000" y="4562475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4953000" y="44958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</p:grpSp>
      <p:grpSp>
        <p:nvGrpSpPr>
          <p:cNvPr id="22" name="changed-excluded"/>
          <p:cNvGrpSpPr/>
          <p:nvPr/>
        </p:nvGrpSpPr>
        <p:grpSpPr>
          <a:xfrm>
            <a:off x="5248275" y="1714500"/>
            <a:ext cx="6334125" cy="1590675"/>
            <a:chOff x="5248275" y="1714500"/>
            <a:chExt cx="6334125" cy="1590675"/>
          </a:xfrm>
        </p:grpSpPr>
        <p:sp>
          <p:nvSpPr>
            <p:cNvPr id="19" name="Rectangle 19"/>
            <p:cNvSpPr/>
            <p:nvPr/>
          </p:nvSpPr>
          <p:spPr>
            <a:xfrm>
              <a:off x="5248275" y="1714500"/>
              <a:ext cx="6334125" cy="1590675"/>
            </a:xfrm>
            <a:prstGeom prst="roundRect">
              <a:avLst>
                <a:gd name="adj" fmla="val 7186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482971" y="1825625"/>
              <a:ext cx="23058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實際換投 2,184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85638" y="2473325"/>
              <a:ext cx="3555695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未納入續投結果的兩組比較。</a:t>
              </a:r>
            </a:p>
          </p:txBody>
        </p:sp>
      </p:grpSp>
      <p:grpSp>
        <p:nvGrpSpPr>
          <p:cNvPr id="27" name="stayed-included"/>
          <p:cNvGrpSpPr/>
          <p:nvPr/>
        </p:nvGrpSpPr>
        <p:grpSpPr>
          <a:xfrm>
            <a:off x="5248275" y="3781425"/>
            <a:ext cx="6334125" cy="1762125"/>
            <a:chOff x="5248275" y="3781425"/>
            <a:chExt cx="6334125" cy="1762125"/>
          </a:xfrm>
        </p:grpSpPr>
        <p:sp>
          <p:nvSpPr>
            <p:cNvPr id="23" name="Rectangle 23"/>
            <p:cNvSpPr/>
            <p:nvPr/>
          </p:nvSpPr>
          <p:spPr>
            <a:xfrm>
              <a:off x="5248275" y="3781425"/>
              <a:ext cx="6334125" cy="1762125"/>
            </a:xfrm>
            <a:prstGeom prst="roundRect">
              <a:avLst>
                <a:gd name="adj" fmla="val 648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482590" y="3854450"/>
              <a:ext cx="2369160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6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實際續投 9,684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85257" y="4527550"/>
              <a:ext cx="2464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系統建議換投 1,954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85257" y="4994275"/>
              <a:ext cx="2747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系統未建議換投 7,730</a:t>
              </a:r>
            </a:p>
          </p:txBody>
        </p:sp>
      </p:grpSp>
      <p:grpSp>
        <p:nvGrpSpPr>
          <p:cNvPr id="30" name="takeaway"/>
          <p:cNvGrpSpPr/>
          <p:nvPr/>
        </p:nvGrpSpPr>
        <p:grpSpPr>
          <a:xfrm>
            <a:off x="609600" y="5743575"/>
            <a:ext cx="10972800" cy="704850"/>
            <a:chOff x="609600" y="5743575"/>
            <a:chExt cx="10972800" cy="704850"/>
          </a:xfrm>
        </p:grpSpPr>
        <p:sp>
          <p:nvSpPr>
            <p:cNvPr id="28" name="Rectangle 28"/>
            <p:cNvSpPr/>
            <p:nvPr/>
          </p:nvSpPr>
          <p:spPr>
            <a:xfrm>
              <a:off x="609600" y="5743575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28294" y="5835650"/>
              <a:ext cx="813150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門檻為候選相對現任差距 ≥ 1 百分點；這是提示設定，尚非最佳門檻。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585710" cy="1063625"/>
            <a:chOff x="592836" y="250825"/>
            <a:chExt cx="7585710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440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　資料與方法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58571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建議換投組的續投打席，得分價值較高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14</a:t>
            </a:r>
          </a:p>
        </p:txBody>
      </p:sp>
      <p:grpSp>
        <p:nvGrpSpPr>
          <p:cNvPr id="9" name="result-context"/>
          <p:cNvGrpSpPr/>
          <p:nvPr/>
        </p:nvGrpSpPr>
        <p:grpSpPr>
          <a:xfrm>
            <a:off x="598551" y="1743075"/>
            <a:ext cx="7441946" cy="816356"/>
            <a:chOff x="598551" y="1743075"/>
            <a:chExt cx="7441946" cy="816356"/>
          </a:xfrm>
        </p:grpSpPr>
        <p:sp>
          <p:nvSpPr>
            <p:cNvPr id="7" name="TextBox 7"/>
            <p:cNvSpPr txBox="1"/>
            <p:nvPr/>
          </p:nvSpPr>
          <p:spPr>
            <a:xfrm>
              <a:off x="598551" y="1743075"/>
              <a:ext cx="7441946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比較實際續投的兩組：建議換投 1,954／未建議換投 7,730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9694" y="2178050"/>
              <a:ext cx="59430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觀察到的 RE24 組間平均差；防守方越高越不利。</a:t>
              </a:r>
            </a:p>
          </p:txBody>
        </p:sp>
      </p:grpSp>
      <p:grpSp>
        <p:nvGrpSpPr>
          <p:cNvPr id="19" name="interval"/>
          <p:cNvGrpSpPr/>
          <p:nvPr/>
        </p:nvGrpSpPr>
        <p:grpSpPr>
          <a:xfrm>
            <a:off x="990422" y="3181350"/>
            <a:ext cx="6291273" cy="1358265"/>
            <a:chOff x="990422" y="3181350"/>
            <a:chExt cx="6291273" cy="1358265"/>
          </a:xfrm>
        </p:grpSpPr>
        <p:sp>
          <p:nvSpPr>
            <p:cNvPr id="10" name="Line 10"/>
            <p:cNvSpPr/>
            <p:nvPr/>
          </p:nvSpPr>
          <p:spPr>
            <a:xfrm>
              <a:off x="1066800" y="3924300"/>
              <a:ext cx="5895975" cy="9525"/>
            </a:xfrm>
            <a:custGeom>
              <a:avLst/>
              <a:gdLst/>
              <a:ahLst/>
              <a:cxnLst/>
              <a:rect l="l" t="t" r="r" b="b"/>
              <a:pathLst>
                <a:path w="5895975" h="9525">
                  <a:moveTo>
                    <a:pt x="0" y="0"/>
                  </a:moveTo>
                  <a:lnTo>
                    <a:pt x="5895975" y="0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66800" y="3181350"/>
              <a:ext cx="9525" cy="1038225"/>
            </a:xfrm>
            <a:custGeom>
              <a:avLst/>
              <a:gdLst/>
              <a:ahLst/>
              <a:cxnLst/>
              <a:rect l="l" t="t" r="r" b="b"/>
              <a:pathLst>
                <a:path w="9525" h="1038225">
                  <a:moveTo>
                    <a:pt x="0" y="0"/>
                  </a:moveTo>
                  <a:lnTo>
                    <a:pt x="0" y="1038225"/>
                  </a:lnTo>
                </a:path>
              </a:pathLst>
            </a:custGeom>
            <a:noFill/>
            <a:ln w="19050">
              <a:solidFill>
                <a:srgbClr val="58616B"/>
              </a:solidFill>
              <a:custDash>
                <a:ds d="350000" sp="350000"/>
              </a:custDash>
            </a:ln>
          </p:spPr>
        </p:sp>
        <p:sp>
          <p:nvSpPr>
            <p:cNvPr id="12" name="Line 12"/>
            <p:cNvSpPr/>
            <p:nvPr/>
          </p:nvSpPr>
          <p:spPr>
            <a:xfrm>
              <a:off x="2319695" y="3600450"/>
              <a:ext cx="3758684" cy="9525"/>
            </a:xfrm>
            <a:custGeom>
              <a:avLst/>
              <a:gdLst/>
              <a:ahLst/>
              <a:cxnLst/>
              <a:rect l="l" t="t" r="r" b="b"/>
              <a:pathLst>
                <a:path w="3758684" h="9525">
                  <a:moveTo>
                    <a:pt x="0" y="0"/>
                  </a:moveTo>
                  <a:lnTo>
                    <a:pt x="3758684" y="0"/>
                  </a:lnTo>
                </a:path>
              </a:pathLst>
            </a:custGeom>
            <a:noFill/>
            <a:ln w="47625">
              <a:solidFill>
                <a:srgbClr val="B54836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2319695" y="346710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078379" y="346710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4159687" y="3524250"/>
              <a:ext cx="152400" cy="152400"/>
            </a:xfrm>
            <a:prstGeom prst="ellipse">
              <a:avLst/>
            </a:prstGeom>
            <a:solidFill>
              <a:srgbClr val="B54836"/>
            </a:solidFill>
            <a:ln w="28575">
              <a:solidFill>
                <a:srgbClr val="B5483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90422" y="4171950"/>
              <a:ext cx="15275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95868" y="4171950"/>
              <a:ext cx="63784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+0.04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43855" y="4171950"/>
              <a:ext cx="63784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+0.08</a:t>
              </a:r>
            </a:p>
          </p:txBody>
        </p:sp>
      </p:grpSp>
      <p:grpSp>
        <p:nvGrpSpPr>
          <p:cNvPr id="22" name="result-number"/>
          <p:cNvGrpSpPr/>
          <p:nvPr/>
        </p:nvGrpSpPr>
        <p:grpSpPr>
          <a:xfrm>
            <a:off x="7924800" y="2841625"/>
            <a:ext cx="2690533" cy="1347089"/>
            <a:chOff x="7924800" y="2841625"/>
            <a:chExt cx="2690533" cy="1347089"/>
          </a:xfrm>
        </p:grpSpPr>
        <p:sp>
          <p:nvSpPr>
            <p:cNvPr id="20" name="TextBox 20"/>
            <p:cNvSpPr txBox="1"/>
            <p:nvPr/>
          </p:nvSpPr>
          <p:spPr>
            <a:xfrm>
              <a:off x="7924800" y="2841625"/>
              <a:ext cx="2115738" cy="1005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1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+0.043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32801" y="3762375"/>
              <a:ext cx="2682532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分／打席（RE24）</a:t>
              </a:r>
            </a:p>
          </p:txBody>
        </p:sp>
      </p:grpSp>
      <p:grpSp>
        <p:nvGrpSpPr>
          <p:cNvPr id="26" name="interval-interpretation"/>
          <p:cNvGrpSpPr/>
          <p:nvPr/>
        </p:nvGrpSpPr>
        <p:grpSpPr>
          <a:xfrm>
            <a:off x="599313" y="4768850"/>
            <a:ext cx="7632954" cy="1234694"/>
            <a:chOff x="599313" y="4768850"/>
            <a:chExt cx="7632954" cy="1234694"/>
          </a:xfrm>
        </p:grpSpPr>
        <p:sp>
          <p:nvSpPr>
            <p:cNvPr id="23" name="TextBox 23"/>
            <p:cNvSpPr txBox="1"/>
            <p:nvPr/>
          </p:nvSpPr>
          <p:spPr>
            <a:xfrm>
              <a:off x="599313" y="4768850"/>
              <a:ext cx="576613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95% 常態近似區間：+0.017 至 +0.068 分／打席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99694" y="5187950"/>
              <a:ext cx="763257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目前未依比賽群聚校正；觀察性差異，不能證明換投能改善結果。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0456" y="5651500"/>
              <a:ext cx="73467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代打組差異仍不明顯；RE24 為本打席得分加上前後預期得分變化。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90550" y="673132"/>
            <a:ext cx="5368290" cy="4496562"/>
            <a:chOff x="590550" y="673132"/>
            <a:chExt cx="5368290" cy="4496562"/>
          </a:xfrm>
        </p:grpSpPr>
        <p:sp>
          <p:nvSpPr>
            <p:cNvPr id="3" name="TextBox 3"/>
            <p:cNvSpPr/>
            <p:nvPr/>
          </p:nvSpPr>
          <p:spPr>
            <a:xfrm>
              <a:off x="590550" y="673132"/>
              <a:ext cx="129597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668" rIns="0" bIns="0" anchor="t" anchorCtr="0">
              <a:noAutofit/>
            </a:bodyPr>
            <a:lstStyle/>
            <a:p>
              <a:pPr algn="l"/>
              <a:r>
                <a:rPr lang="zh-TW" sz="84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1312" y="2632043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把比較變成可操作的網站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8932" y="3565493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換打、換投、名單配置與單日回放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00837" y="4832318"/>
              <a:ext cx="2564511" cy="33737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10" name="TextBox 8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7585710" cy="1063657"/>
            <a:chOff x="592836" y="250793"/>
            <a:chExt cx="758571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3810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網站實作｜自訂代打示例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758571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胡金龍估計較有利，本例承接指定打擊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16</a:t>
            </a:r>
          </a:p>
        </p:txBody>
      </p:sp>
      <p:grpSp>
        <p:nvGrpSpPr>
          <p:cNvPr id="8" name="context"/>
          <p:cNvGrpSpPr/>
          <p:nvPr/>
        </p:nvGrpSpPr>
        <p:grpSpPr>
          <a:xfrm>
            <a:off x="599694" y="1543050"/>
            <a:ext cx="10972800" cy="771525"/>
            <a:chOff x="599694" y="1543050"/>
            <a:chExt cx="10972800" cy="771525"/>
          </a:xfrm>
        </p:grpSpPr>
        <p:sp>
          <p:nvSpPr>
            <p:cNvPr id="7" name="TextBox 7"/>
            <p:cNvSpPr/>
            <p:nvPr/>
          </p:nvSpPr>
          <p:spPr>
            <a:xfrm>
              <a:off x="599694" y="1543050"/>
              <a:ext cx="10972800" cy="7715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700" rIns="0" bIns="0" anchor="t" anchorCtr="0">
              <a:noAutofit/>
            </a:bodyPr>
            <a:lstStyle/>
            <a:p>
              <a:pPr algn="l">
                <a:lnSpc>
                  <a:spcPts val="2700"/>
                </a:lnSpc>
              </a:pPr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基準：林佳緯（DH）對魔力藍｜統一對富邦</a:t>
              </a:r>
              <a:b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8 局上・1：2｜一出局，二壘有人</a:t>
              </a:r>
            </a:p>
          </p:txBody>
        </p:sp>
      </p:grpSp>
      <p:grpSp>
        <p:nvGrpSpPr>
          <p:cNvPr id="10" name="source-picture"/>
          <p:cNvGrpSpPr/>
          <p:nvPr/>
        </p:nvGrpSpPr>
        <p:grpSpPr>
          <a:xfrm>
            <a:off x="457200" y="2452334"/>
            <a:ext cx="11277600" cy="1762831"/>
            <a:chOff x="457200" y="2452334"/>
            <a:chExt cx="11277600" cy="1762831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2452334"/>
              <a:ext cx="11277600" cy="1762831"/>
            </a:xfrm>
            <a:prstGeom prst="rect">
              <a:avLst/>
            </a:prstGeom>
          </p:spPr>
        </p:pic>
      </p:grpSp>
      <p:grpSp>
        <p:nvGrpSpPr>
          <p:cNvPr id="13" name="result"/>
          <p:cNvGrpSpPr/>
          <p:nvPr/>
        </p:nvGrpSpPr>
        <p:grpSpPr>
          <a:xfrm>
            <a:off x="590550" y="4752975"/>
            <a:ext cx="3704082" cy="1311656"/>
            <a:chOff x="590550" y="4752975"/>
            <a:chExt cx="3704082" cy="1311656"/>
          </a:xfrm>
        </p:grpSpPr>
        <p:sp>
          <p:nvSpPr>
            <p:cNvPr id="11" name="TextBox 11"/>
            <p:cNvSpPr txBox="1"/>
            <p:nvPr/>
          </p:nvSpPr>
          <p:spPr>
            <a:xfrm>
              <a:off x="590550" y="4752975"/>
              <a:ext cx="1671443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950" b="1" dirty="0" altLang="en-US">
                  <a:solidFill>
                    <a:srgbClr val="237A53"/>
                  </a:solidFill>
                  <a:latin typeface="Times New Roman"/>
                  <a:ea typeface="標楷體"/>
                  <a:cs typeface="Times New Roman"/>
                </a:rPr>
                <a:t>+1.05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9694" y="5683250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相對現任的模型差距（百分點）</a:t>
              </a:r>
            </a:p>
          </p:txBody>
        </p:sp>
      </p:grpSp>
      <p:grpSp>
        <p:nvGrpSpPr>
          <p:cNvPr id="16" name="note-655-536"/>
          <p:cNvGrpSpPr/>
          <p:nvPr/>
        </p:nvGrpSpPr>
        <p:grpSpPr>
          <a:xfrm>
            <a:off x="6227445" y="4826000"/>
            <a:ext cx="3736086" cy="1593850"/>
            <a:chOff x="6227445" y="4826000"/>
            <a:chExt cx="3736086" cy="1593850"/>
          </a:xfrm>
        </p:grpSpPr>
        <p:sp>
          <p:nvSpPr>
            <p:cNvPr id="14" name="TextBox 14"/>
            <p:cNvSpPr txBox="1"/>
            <p:nvPr/>
          </p:nvSpPr>
          <p:spPr>
            <a:xfrm>
              <a:off x="6227445" y="4826000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承接指定打擊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6228969" y="5276850"/>
              <a:ext cx="3734562" cy="1143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12700" rIns="0" bIns="0" anchor="t" anchorCtr="0">
              <a:noAutofit/>
            </a:bodyPr>
            <a:lstStyle/>
            <a:p>
              <a:pPr algn="l">
                <a:lnSpc>
                  <a:spcPts val="2850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先核對今日可用資格與接守。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楊竣翔資料較少，保留樣本提醒。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模型看法不同時，查看差距拆解。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6697218" cy="1063657"/>
            <a:chOff x="592836" y="250793"/>
            <a:chExt cx="6697218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3810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網站實作｜自訂換投示例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朱承洋在已選後援中，估計較有利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17</a:t>
            </a:r>
          </a:p>
        </p:txBody>
      </p:sp>
      <p:grpSp>
        <p:nvGrpSpPr>
          <p:cNvPr id="8" name="context"/>
          <p:cNvGrpSpPr/>
          <p:nvPr/>
        </p:nvGrpSpPr>
        <p:grpSpPr>
          <a:xfrm>
            <a:off x="599694" y="1644650"/>
            <a:ext cx="6696456" cy="381381"/>
            <a:chOff x="599694" y="1644650"/>
            <a:chExt cx="6696456" cy="381381"/>
          </a:xfrm>
        </p:grpSpPr>
        <p:sp>
          <p:nvSpPr>
            <p:cNvPr id="7" name="TextBox 7"/>
            <p:cNvSpPr txBox="1"/>
            <p:nvPr/>
          </p:nvSpPr>
          <p:spPr>
            <a:xfrm>
              <a:off x="599694" y="1644650"/>
              <a:ext cx="66964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基準：魔神龍 95 球｜8 局上・0：0｜兩出局，二三壘有人</a:t>
              </a:r>
            </a:p>
          </p:txBody>
        </p:sp>
      </p:grpSp>
      <p:grpSp>
        <p:nvGrpSpPr>
          <p:cNvPr id="10" name="source-picture"/>
          <p:cNvGrpSpPr/>
          <p:nvPr/>
        </p:nvGrpSpPr>
        <p:grpSpPr>
          <a:xfrm>
            <a:off x="457200" y="2275298"/>
            <a:ext cx="11277600" cy="2116904"/>
            <a:chOff x="457200" y="2275298"/>
            <a:chExt cx="11277600" cy="2116904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2275298"/>
              <a:ext cx="11277600" cy="2116904"/>
            </a:xfrm>
            <a:prstGeom prst="rect">
              <a:avLst/>
            </a:prstGeom>
          </p:spPr>
        </p:pic>
      </p:grpSp>
      <p:grpSp>
        <p:nvGrpSpPr>
          <p:cNvPr id="13" name="result"/>
          <p:cNvGrpSpPr/>
          <p:nvPr/>
        </p:nvGrpSpPr>
        <p:grpSpPr>
          <a:xfrm>
            <a:off x="590550" y="4752975"/>
            <a:ext cx="3704082" cy="1311656"/>
            <a:chOff x="590550" y="4752975"/>
            <a:chExt cx="3704082" cy="1311656"/>
          </a:xfrm>
        </p:grpSpPr>
        <p:sp>
          <p:nvSpPr>
            <p:cNvPr id="11" name="TextBox 11"/>
            <p:cNvSpPr txBox="1"/>
            <p:nvPr/>
          </p:nvSpPr>
          <p:spPr>
            <a:xfrm>
              <a:off x="590550" y="4752975"/>
              <a:ext cx="1671443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950" b="1" dirty="0" altLang="en-US">
                  <a:solidFill>
                    <a:srgbClr val="237A53"/>
                  </a:solidFill>
                  <a:latin typeface="Times New Roman"/>
                  <a:ea typeface="標楷體"/>
                  <a:cs typeface="Times New Roman"/>
                </a:rPr>
                <a:t>+2.51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9694" y="5683250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相對現任的模型差距（百分點）</a:t>
              </a:r>
            </a:p>
          </p:txBody>
        </p:sp>
      </p:grpSp>
      <p:grpSp>
        <p:nvGrpSpPr>
          <p:cNvPr id="16" name="note-655-536"/>
          <p:cNvGrpSpPr/>
          <p:nvPr/>
        </p:nvGrpSpPr>
        <p:grpSpPr>
          <a:xfrm>
            <a:off x="6227445" y="4826000"/>
            <a:ext cx="3983736" cy="1593850"/>
            <a:chOff x="6227445" y="4826000"/>
            <a:chExt cx="3983736" cy="1593850"/>
          </a:xfrm>
        </p:grpSpPr>
        <p:sp>
          <p:nvSpPr>
            <p:cNvPr id="14" name="TextBox 14"/>
            <p:cNvSpPr txBox="1"/>
            <p:nvPr/>
          </p:nvSpPr>
          <p:spPr>
            <a:xfrm>
              <a:off x="6227445" y="4826000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一起比較接下來三棒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6228969" y="5276850"/>
              <a:ext cx="3982212" cy="1143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12700" rIns="0" bIns="0" anchor="t" anchorCtr="0">
              <a:noAutofit/>
            </a:bodyPr>
            <a:lstStyle/>
            <a:p>
              <a:pPr algn="l">
                <a:lnSpc>
                  <a:spcPts val="2850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郭天信、李凱威、吉力吉撈．鞏冠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含本場球數調整；非整場換投效益。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模型分歧時，保留差距未定的判斷。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10972800" cy="1063625"/>
            <a:chOff x="592836" y="250825"/>
            <a:chExt cx="10972800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球場與棒次並排設定，交換後再套用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18</a:t>
            </a:r>
          </a:p>
        </p:txBody>
      </p:sp>
      <p:grpSp>
        <p:nvGrpSpPr>
          <p:cNvPr id="8" name="source-picture"/>
          <p:cNvGrpSpPr/>
          <p:nvPr/>
        </p:nvGrpSpPr>
        <p:grpSpPr>
          <a:xfrm>
            <a:off x="762000" y="2085975"/>
            <a:ext cx="4476750" cy="3681183"/>
            <a:chOff x="762000" y="2085975"/>
            <a:chExt cx="4476750" cy="3681183"/>
          </a:xfrm>
        </p:grpSpPr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2000" y="2085975"/>
              <a:ext cx="4476750" cy="3681183"/>
            </a:xfrm>
            <a:prstGeom prst="rect">
              <a:avLst/>
            </a:prstGeom>
          </p:spPr>
        </p:pic>
      </p:grpSp>
      <p:grpSp>
        <p:nvGrpSpPr>
          <p:cNvPr id="15" name="shape-8-adopted"/>
          <p:cNvGrpSpPr/>
          <p:nvPr/>
        </p:nvGrpSpPr>
        <p:grpSpPr>
          <a:xfrm>
            <a:off x="6172200" y="2085975"/>
            <a:ext cx="5410200" cy="3881994"/>
            <a:chOff x="6172200" y="2085975"/>
            <a:chExt cx="5410200" cy="3881994"/>
          </a:xfrm>
        </p:grpSpPr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72200" y="2085975"/>
              <a:ext cx="5410200" cy="3881994"/>
            </a:xfrm>
            <a:prstGeom prst="rect">
              <a:avLst/>
            </a:prstGeom>
          </p:spPr>
        </p:pic>
      </p:grpSp>
      <p:grpSp>
        <p:nvGrpSpPr>
          <p:cNvPr id="17" name="combined-19-5"/>
          <p:cNvGrpSpPr/>
          <p:nvPr/>
        </p:nvGrpSpPr>
        <p:grpSpPr>
          <a:xfrm>
            <a:off x="598170" y="1568450"/>
            <a:ext cx="3223260" cy="440055"/>
            <a:chOff x="598170" y="1568450"/>
            <a:chExt cx="3223260" cy="440055"/>
          </a:xfrm>
        </p:grpSpPr>
        <p:sp>
          <p:nvSpPr>
            <p:cNvPr id="16" name="TextBox 16"/>
            <p:cNvSpPr txBox="1"/>
            <p:nvPr/>
          </p:nvSpPr>
          <p:spPr>
            <a:xfrm>
              <a:off x="598170" y="1568450"/>
              <a:ext cx="322326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守位：點兩個位置交換</a:t>
              </a:r>
            </a:p>
          </p:txBody>
        </p:sp>
      </p:grpSp>
      <p:grpSp>
        <p:nvGrpSpPr>
          <p:cNvPr id="19" name="combined-19-6"/>
          <p:cNvGrpSpPr/>
          <p:nvPr/>
        </p:nvGrpSpPr>
        <p:grpSpPr>
          <a:xfrm>
            <a:off x="6160770" y="1568450"/>
            <a:ext cx="3543300" cy="440055"/>
            <a:chOff x="6160770" y="1568450"/>
            <a:chExt cx="3543300" cy="440055"/>
          </a:xfrm>
        </p:grpSpPr>
        <p:sp>
          <p:nvSpPr>
            <p:cNvPr id="18" name="TextBox 18"/>
            <p:cNvSpPr txBox="1"/>
            <p:nvPr/>
          </p:nvSpPr>
          <p:spPr>
            <a:xfrm>
              <a:off x="6160770" y="1568450"/>
              <a:ext cx="35433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棒次：選人、排序與互換</a:t>
              </a:r>
            </a:p>
          </p:txBody>
        </p:sp>
      </p:grpSp>
      <p:grpSp>
        <p:nvGrpSpPr>
          <p:cNvPr id="21" name="combined-19-7"/>
          <p:cNvGrpSpPr/>
          <p:nvPr/>
        </p:nvGrpSpPr>
        <p:grpSpPr>
          <a:xfrm>
            <a:off x="600075" y="5962650"/>
            <a:ext cx="4313002" cy="367665"/>
            <a:chOff x="600075" y="5962650"/>
            <a:chExt cx="4313002" cy="367665"/>
          </a:xfrm>
        </p:grpSpPr>
        <p:sp>
          <p:nvSpPr>
            <p:cNvPr id="20" name="TextBox 20"/>
            <p:cNvSpPr txBox="1"/>
            <p:nvPr/>
          </p:nvSpPr>
          <p:spPr>
            <a:xfrm>
              <a:off x="600075" y="5962650"/>
              <a:ext cx="431300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九棒含八個守位與 DH，另設投手。</a:t>
              </a:r>
            </a:p>
          </p:txBody>
        </p:sp>
      </p:grpSp>
      <p:grpSp>
        <p:nvGrpSpPr>
          <p:cNvPr id="23" name="combined-19-8"/>
          <p:cNvGrpSpPr/>
          <p:nvPr/>
        </p:nvGrpSpPr>
        <p:grpSpPr>
          <a:xfrm>
            <a:off x="6162675" y="5962650"/>
            <a:ext cx="4565040" cy="367665"/>
            <a:chOff x="6162675" y="5962650"/>
            <a:chExt cx="4565040" cy="367665"/>
          </a:xfrm>
        </p:grpSpPr>
        <p:sp>
          <p:nvSpPr>
            <p:cNvPr id="22" name="TextBox 22"/>
            <p:cNvSpPr txBox="1"/>
            <p:nvPr/>
          </p:nvSpPr>
          <p:spPr>
            <a:xfrm>
              <a:off x="6162675" y="5962650"/>
              <a:ext cx="456504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點姓名搜尋；確認配置後按「套用」。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141464" cy="1063625"/>
            <a:chOff x="592836" y="250825"/>
            <a:chExt cx="7141464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常用牛棚存成群組，再核對今日可用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19</a:t>
            </a:r>
          </a:p>
        </p:txBody>
      </p:sp>
      <p:grpSp>
        <p:nvGrpSpPr>
          <p:cNvPr id="8" name="screenshot-投手群組選取_3x.jpg"/>
          <p:cNvGrpSpPr/>
          <p:nvPr/>
        </p:nvGrpSpPr>
        <p:grpSpPr>
          <a:xfrm>
            <a:off x="609600" y="2021277"/>
            <a:ext cx="5905500" cy="3844146"/>
            <a:chOff x="609600" y="2021277"/>
            <a:chExt cx="5905500" cy="3844146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2021277"/>
              <a:ext cx="5905500" cy="3844146"/>
            </a:xfrm>
            <a:prstGeom prst="rect">
              <a:avLst/>
            </a:prstGeom>
          </p:spPr>
        </p:pic>
      </p:grpSp>
      <p:grpSp>
        <p:nvGrpSpPr>
          <p:cNvPr id="11" name="group-task-0"/>
          <p:cNvGrpSpPr/>
          <p:nvPr/>
        </p:nvGrpSpPr>
        <p:grpSpPr>
          <a:xfrm>
            <a:off x="7151370" y="1920875"/>
            <a:ext cx="3488436" cy="1248474"/>
            <a:chOff x="7151370" y="1920875"/>
            <a:chExt cx="3488436" cy="1248474"/>
          </a:xfrm>
        </p:grpSpPr>
        <p:sp>
          <p:nvSpPr>
            <p:cNvPr id="9" name="TextBox 9"/>
            <p:cNvSpPr txBox="1"/>
            <p:nvPr/>
          </p:nvSpPr>
          <p:spPr>
            <a:xfrm>
              <a:off x="7151370" y="1920875"/>
              <a:ext cx="16973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1　選擇群組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52894" y="2428875"/>
              <a:ext cx="348691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勝投組、敗投組或自訂義群組；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範本可修改，並非官方分組。</a:t>
              </a:r>
            </a:p>
          </p:txBody>
        </p:sp>
      </p:grpSp>
      <p:grpSp>
        <p:nvGrpSpPr>
          <p:cNvPr id="14" name="group-task-1"/>
          <p:cNvGrpSpPr/>
          <p:nvPr/>
        </p:nvGrpSpPr>
        <p:grpSpPr>
          <a:xfrm>
            <a:off x="7151370" y="3397250"/>
            <a:ext cx="2745486" cy="1248474"/>
            <a:chOff x="7151370" y="3397250"/>
            <a:chExt cx="2745486" cy="1248474"/>
          </a:xfrm>
        </p:grpSpPr>
        <p:sp>
          <p:nvSpPr>
            <p:cNvPr id="12" name="TextBox 12"/>
            <p:cNvSpPr txBox="1"/>
            <p:nvPr/>
          </p:nvSpPr>
          <p:spPr>
            <a:xfrm>
              <a:off x="7151370" y="3397250"/>
              <a:ext cx="20002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　編輯後儲存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52894" y="3905250"/>
              <a:ext cx="27439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勾選成員，修改後儲存；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保存在此網站與瀏覽器。</a:t>
              </a:r>
            </a:p>
          </p:txBody>
        </p:sp>
      </p:grpSp>
      <p:grpSp>
        <p:nvGrpSpPr>
          <p:cNvPr id="17" name="group-task-2"/>
          <p:cNvGrpSpPr/>
          <p:nvPr/>
        </p:nvGrpSpPr>
        <p:grpSpPr>
          <a:xfrm>
            <a:off x="7151370" y="4873625"/>
            <a:ext cx="3958971" cy="914781"/>
            <a:chOff x="7151370" y="4873625"/>
            <a:chExt cx="3958971" cy="914781"/>
          </a:xfrm>
        </p:grpSpPr>
        <p:sp>
          <p:nvSpPr>
            <p:cNvPr id="15" name="TextBox 15"/>
            <p:cNvSpPr txBox="1"/>
            <p:nvPr/>
          </p:nvSpPr>
          <p:spPr>
            <a:xfrm>
              <a:off x="7151370" y="4873625"/>
              <a:ext cx="20002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3　套用與微調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52894" y="5407025"/>
              <a:ext cx="395744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套用群組，再確認今日可用資格。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141464" cy="1063625"/>
            <a:chOff x="592836" y="250825"/>
            <a:chExt cx="7141464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魔力藍對右打：近期配球分布有變化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20</a:t>
            </a:r>
          </a:p>
        </p:txBody>
      </p:sp>
      <p:grpSp>
        <p:nvGrpSpPr>
          <p:cNvPr id="8" name="period-samples"/>
          <p:cNvGrpSpPr/>
          <p:nvPr/>
        </p:nvGrpSpPr>
        <p:grpSpPr>
          <a:xfrm>
            <a:off x="600075" y="1562100"/>
            <a:ext cx="7831277" cy="367665"/>
            <a:chOff x="600075" y="1562100"/>
            <a:chExt cx="7831277" cy="367665"/>
          </a:xfrm>
        </p:grpSpPr>
        <p:sp>
          <p:nvSpPr>
            <p:cNvPr id="7" name="TextBox 7"/>
            <p:cNvSpPr txBox="1"/>
            <p:nvPr/>
          </p:nvSpPr>
          <p:spPr>
            <a:xfrm>
              <a:off x="600075" y="1562100"/>
              <a:ext cx="783127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之前 10 場 428 球，最近 5 場 258 球；比例改變不代表球種效果提升。</a:t>
              </a:r>
            </a:p>
          </p:txBody>
        </p:sp>
      </p:grpSp>
      <p:grpSp>
        <p:nvGrpSpPr>
          <p:cNvPr id="10" name="source-picture"/>
          <p:cNvGrpSpPr/>
          <p:nvPr/>
        </p:nvGrpSpPr>
        <p:grpSpPr>
          <a:xfrm>
            <a:off x="1496060" y="1981200"/>
            <a:ext cx="9199881" cy="4238625"/>
            <a:chOff x="1496060" y="1981200"/>
            <a:chExt cx="9199881" cy="4238625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96060" y="1981200"/>
              <a:ext cx="9199881" cy="42386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9212770" cy="1063625"/>
            <a:chOff x="592836" y="250825"/>
            <a:chExt cx="9212770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727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網站實作｜2025 單日分析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921277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2025/09/20：六隊三場，226 打席皆可攻守比較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21</a:t>
            </a:r>
          </a:p>
        </p:txBody>
      </p:sp>
      <p:grpSp>
        <p:nvGrpSpPr>
          <p:cNvPr id="8" name="shot-單日比賽摘要"/>
          <p:cNvGrpSpPr/>
          <p:nvPr/>
        </p:nvGrpSpPr>
        <p:grpSpPr>
          <a:xfrm>
            <a:off x="790735" y="1524000"/>
            <a:ext cx="4952679" cy="4686300"/>
            <a:chOff x="790735" y="1524000"/>
            <a:chExt cx="4952679" cy="46863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0735" y="1524000"/>
              <a:ext cx="4952679" cy="4686300"/>
            </a:xfrm>
            <a:prstGeom prst="rect">
              <a:avLst/>
            </a:prstGeom>
          </p:spPr>
        </p:pic>
      </p:grpSp>
      <p:grpSp>
        <p:nvGrpSpPr>
          <p:cNvPr id="19" name="day-scope"/>
          <p:cNvGrpSpPr/>
          <p:nvPr/>
        </p:nvGrpSpPr>
        <p:grpSpPr>
          <a:xfrm>
            <a:off x="6553200" y="1797050"/>
            <a:ext cx="4077843" cy="4266565"/>
            <a:chOff x="6553200" y="1797050"/>
            <a:chExt cx="4077843" cy="4266565"/>
          </a:xfrm>
        </p:grpSpPr>
        <p:sp>
          <p:nvSpPr>
            <p:cNvPr id="9" name="TextBox 9"/>
            <p:cNvSpPr txBox="1"/>
            <p:nvPr/>
          </p:nvSpPr>
          <p:spPr>
            <a:xfrm>
              <a:off x="6560439" y="1797050"/>
              <a:ext cx="2858728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2025/09/20 六隊三場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553200" y="2117725"/>
              <a:ext cx="1463345" cy="12915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66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226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27364" y="2663825"/>
              <a:ext cx="960577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個打席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61201" y="3438525"/>
              <a:ext cx="1626752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樂天 vs 統一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70923" y="3451225"/>
              <a:ext cx="9601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70 打席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61201" y="4143375"/>
              <a:ext cx="1626752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台鋼 vs 富邦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70923" y="4156075"/>
              <a:ext cx="9601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74 打席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61201" y="4848225"/>
              <a:ext cx="1626752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味全 vs 中信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670923" y="4860925"/>
              <a:ext cx="9601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82 打席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62725" y="5695950"/>
              <a:ext cx="356224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左圖為樂天對統一的當日摘要。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10972800" cy="1063625"/>
            <a:chOff x="592836" y="250825"/>
            <a:chExt cx="10972800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回放案例一：代打與換投的基準不同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22</a:t>
            </a:r>
          </a:p>
        </p:txBody>
      </p:sp>
      <p:grpSp>
        <p:nvGrpSpPr>
          <p:cNvPr id="12" name="combined-24-3"/>
          <p:cNvGrpSpPr/>
          <p:nvPr/>
        </p:nvGrpSpPr>
        <p:grpSpPr>
          <a:xfrm>
            <a:off x="596646" y="1743075"/>
            <a:ext cx="1476756" cy="498729"/>
            <a:chOff x="596646" y="1743075"/>
            <a:chExt cx="1476756" cy="498729"/>
          </a:xfrm>
        </p:grpSpPr>
        <p:sp>
          <p:nvSpPr>
            <p:cNvPr id="11" name="TextBox 11"/>
            <p:cNvSpPr txBox="1"/>
            <p:nvPr/>
          </p:nvSpPr>
          <p:spPr>
            <a:xfrm>
              <a:off x="596646" y="1743075"/>
              <a:ext cx="14767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代打評估</a:t>
              </a:r>
            </a:p>
          </p:txBody>
        </p:sp>
      </p:grpSp>
      <p:grpSp>
        <p:nvGrpSpPr>
          <p:cNvPr id="14" name="combined-24-4"/>
          <p:cNvGrpSpPr/>
          <p:nvPr/>
        </p:nvGrpSpPr>
        <p:grpSpPr>
          <a:xfrm>
            <a:off x="598551" y="2428875"/>
            <a:ext cx="2502764" cy="426339"/>
            <a:chOff x="598551" y="2428875"/>
            <a:chExt cx="2502764" cy="426339"/>
          </a:xfrm>
        </p:grpSpPr>
        <p:sp>
          <p:nvSpPr>
            <p:cNvPr id="13" name="TextBox 13"/>
            <p:cNvSpPr txBox="1"/>
            <p:nvPr/>
          </p:nvSpPr>
          <p:spPr>
            <a:xfrm>
              <a:off x="598551" y="2428875"/>
              <a:ext cx="2502764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固定投手：王志煊</a:t>
              </a:r>
            </a:p>
          </p:txBody>
        </p:sp>
      </p:grpSp>
      <p:grpSp>
        <p:nvGrpSpPr>
          <p:cNvPr id="16" name="combined-24-5"/>
          <p:cNvGrpSpPr/>
          <p:nvPr/>
        </p:nvGrpSpPr>
        <p:grpSpPr>
          <a:xfrm>
            <a:off x="598932" y="3022600"/>
            <a:ext cx="3124632" cy="410718"/>
            <a:chOff x="598932" y="3022600"/>
            <a:chExt cx="3124632" cy="410718"/>
          </a:xfrm>
        </p:grpSpPr>
        <p:sp>
          <p:nvSpPr>
            <p:cNvPr id="15" name="TextBox 15"/>
            <p:cNvSpPr txBox="1"/>
            <p:nvPr/>
          </p:nvSpPr>
          <p:spPr>
            <a:xfrm>
              <a:off x="598932" y="3022600"/>
              <a:ext cx="31246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陳傑憲 vs 其他可用打者</a:t>
              </a:r>
            </a:p>
          </p:txBody>
        </p:sp>
      </p:grpSp>
      <p:grpSp>
        <p:nvGrpSpPr>
          <p:cNvPr id="18" name="combined-24-6"/>
          <p:cNvGrpSpPr/>
          <p:nvPr/>
        </p:nvGrpSpPr>
        <p:grpSpPr>
          <a:xfrm>
            <a:off x="6235446" y="1743075"/>
            <a:ext cx="1476756" cy="498729"/>
            <a:chOff x="6235446" y="1743075"/>
            <a:chExt cx="1476756" cy="498729"/>
          </a:xfrm>
        </p:grpSpPr>
        <p:sp>
          <p:nvSpPr>
            <p:cNvPr id="17" name="TextBox 17"/>
            <p:cNvSpPr txBox="1"/>
            <p:nvPr/>
          </p:nvSpPr>
          <p:spPr>
            <a:xfrm>
              <a:off x="6235446" y="1743075"/>
              <a:ext cx="14767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換投評估</a:t>
              </a:r>
            </a:p>
          </p:txBody>
        </p:sp>
      </p:grpSp>
      <p:grpSp>
        <p:nvGrpSpPr>
          <p:cNvPr id="20" name="combined-24-7"/>
          <p:cNvGrpSpPr/>
          <p:nvPr/>
        </p:nvGrpSpPr>
        <p:grpSpPr>
          <a:xfrm>
            <a:off x="6237351" y="2428875"/>
            <a:ext cx="2502764" cy="426339"/>
            <a:chOff x="6237351" y="2428875"/>
            <a:chExt cx="2502764" cy="426339"/>
          </a:xfrm>
        </p:grpSpPr>
        <p:sp>
          <p:nvSpPr>
            <p:cNvPr id="19" name="TextBox 19"/>
            <p:cNvSpPr txBox="1"/>
            <p:nvPr/>
          </p:nvSpPr>
          <p:spPr>
            <a:xfrm>
              <a:off x="6237351" y="2428875"/>
              <a:ext cx="2502764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固定接下來的打者</a:t>
              </a:r>
            </a:p>
          </p:txBody>
        </p:sp>
      </p:grpSp>
      <p:grpSp>
        <p:nvGrpSpPr>
          <p:cNvPr id="22" name="combined-24-8"/>
          <p:cNvGrpSpPr/>
          <p:nvPr/>
        </p:nvGrpSpPr>
        <p:grpSpPr>
          <a:xfrm>
            <a:off x="6237732" y="3022600"/>
            <a:ext cx="3722040" cy="410718"/>
            <a:chOff x="6237732" y="3022600"/>
            <a:chExt cx="3722040" cy="410718"/>
          </a:xfrm>
        </p:grpSpPr>
        <p:sp>
          <p:nvSpPr>
            <p:cNvPr id="21" name="TextBox 21"/>
            <p:cNvSpPr txBox="1"/>
            <p:nvPr/>
          </p:nvSpPr>
          <p:spPr>
            <a:xfrm>
              <a:off x="6237732" y="3022600"/>
              <a:ext cx="37220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林子崴續投 vs 王志煊等候選</a:t>
              </a:r>
            </a:p>
          </p:txBody>
        </p:sp>
      </p:grpSp>
      <p:grpSp>
        <p:nvGrpSpPr>
          <p:cNvPr id="24" name="combined-24-9"/>
          <p:cNvGrpSpPr/>
          <p:nvPr/>
        </p:nvGrpSpPr>
        <p:grpSpPr>
          <a:xfrm>
            <a:off x="600075" y="3629025"/>
            <a:ext cx="6919756" cy="367665"/>
            <a:chOff x="600075" y="3629025"/>
            <a:chExt cx="6919756" cy="367665"/>
          </a:xfrm>
        </p:grpSpPr>
        <p:sp>
          <p:nvSpPr>
            <p:cNvPr id="23" name="TextBox 23"/>
            <p:cNvSpPr txBox="1"/>
            <p:nvPr/>
          </p:nvSpPr>
          <p:spPr>
            <a:xfrm>
              <a:off x="600075" y="3629025"/>
              <a:ext cx="691975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2025/09/20 四局下・功能示例（不計入六局起的回測統計）</a:t>
              </a:r>
            </a:p>
          </p:txBody>
        </p:sp>
      </p:grpSp>
      <p:grpSp>
        <p:nvGrpSpPr>
          <p:cNvPr id="26" name="combined-24-10"/>
          <p:cNvGrpSpPr/>
          <p:nvPr/>
        </p:nvGrpSpPr>
        <p:grpSpPr>
          <a:xfrm>
            <a:off x="609600" y="4835271"/>
            <a:ext cx="10972800" cy="864108"/>
            <a:chOff x="609600" y="4835271"/>
            <a:chExt cx="10972800" cy="864108"/>
          </a:xfrm>
        </p:grpSpPr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4835271"/>
              <a:ext cx="10972800" cy="8641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029956" cy="1063625"/>
            <a:chOff x="592836" y="250825"/>
            <a:chExt cx="802995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247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網站實作｜單日回放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只拿當時已知資訊，結果留在打席結束後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23</a:t>
            </a:r>
          </a:p>
        </p:txBody>
      </p:sp>
      <p:grpSp>
        <p:nvGrpSpPr>
          <p:cNvPr id="19" name="time-boundary"/>
          <p:cNvGrpSpPr/>
          <p:nvPr/>
        </p:nvGrpSpPr>
        <p:grpSpPr>
          <a:xfrm>
            <a:off x="609600" y="1857375"/>
            <a:ext cx="10972800" cy="2114550"/>
            <a:chOff x="609600" y="1857375"/>
            <a:chExt cx="10972800" cy="2114550"/>
          </a:xfrm>
        </p:grpSpPr>
        <p:sp>
          <p:nvSpPr>
            <p:cNvPr id="7" name="Rectangle 7"/>
            <p:cNvSpPr/>
            <p:nvPr/>
          </p:nvSpPr>
          <p:spPr>
            <a:xfrm>
              <a:off x="609600" y="1857375"/>
              <a:ext cx="7229475" cy="2114550"/>
            </a:xfrm>
            <a:prstGeom prst="roundRect">
              <a:avLst>
                <a:gd name="adj" fmla="val 5405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8153400" y="1857375"/>
              <a:ext cx="3429000" cy="211455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028700" y="276225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724025" y="2676525"/>
              <a:ext cx="171450" cy="171450"/>
            </a:xfrm>
            <a:prstGeom prst="ellipse">
              <a:avLst/>
            </a:prstGeom>
            <a:solidFill>
              <a:srgbClr val="B54836"/>
            </a:solidFill>
            <a:ln w="28575">
              <a:solidFill>
                <a:srgbClr val="B5483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87104" y="2073275"/>
              <a:ext cx="44529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9/1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7883" y="3181350"/>
              <a:ext cx="204373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逐球模型訓練截止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153025" y="2676525"/>
              <a:ext cx="171450" cy="171450"/>
            </a:xfrm>
            <a:prstGeom prst="ellipse">
              <a:avLst/>
            </a:prstGeom>
            <a:solidFill>
              <a:srgbClr val="B54836"/>
            </a:solidFill>
            <a:ln w="28575">
              <a:solidFill>
                <a:srgbClr val="B5483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80037" y="2073275"/>
              <a:ext cx="131742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9/20 賽前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63797" y="3181350"/>
              <a:ext cx="254990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能力、近期出賽與配球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9725025" y="2676525"/>
              <a:ext cx="171450" cy="171450"/>
            </a:xfrm>
            <a:prstGeom prst="ellipse">
              <a:avLst/>
            </a:prstGeom>
            <a:solidFill>
              <a:srgbClr val="B54836"/>
            </a:solidFill>
            <a:ln w="28575">
              <a:solidFill>
                <a:srgbClr val="B5483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18143" y="2073275"/>
              <a:ext cx="1585214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打席結束後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15425" y="3181350"/>
              <a:ext cx="1790649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實際調度與結果</a:t>
              </a:r>
            </a:p>
          </p:txBody>
        </p:sp>
      </p:grpSp>
      <p:grpSp>
        <p:nvGrpSpPr>
          <p:cNvPr id="24" name="known-and-outcomes"/>
          <p:cNvGrpSpPr/>
          <p:nvPr/>
        </p:nvGrpSpPr>
        <p:grpSpPr>
          <a:xfrm>
            <a:off x="597789" y="4349750"/>
            <a:ext cx="10384060" cy="1273810"/>
            <a:chOff x="597789" y="4349750"/>
            <a:chExt cx="10384060" cy="1273810"/>
          </a:xfrm>
        </p:grpSpPr>
        <p:sp>
          <p:nvSpPr>
            <p:cNvPr id="20" name="TextBox 20"/>
            <p:cNvSpPr txBox="1"/>
            <p:nvPr/>
          </p:nvSpPr>
          <p:spPr>
            <a:xfrm>
              <a:off x="597789" y="4349750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決策輸入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99313" y="4854575"/>
              <a:ext cx="463829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同日結果不進能力估計；負荷截於賽前。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歷史名單與守位仍為推估，需人工確認。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98539" y="4349750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判讀界線</a:t>
              </a:r>
            </a:p>
          </p:txBody>
        </p:sp>
        <p:sp>
          <p:nvSpPr>
            <p:cNvPr id="23" name="TextBox 23"/>
            <p:cNvSpPr/>
            <p:nvPr/>
          </p:nvSpPr>
          <p:spPr>
            <a:xfrm>
              <a:off x="6600063" y="4854607"/>
              <a:ext cx="4381786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6 局起；1 百分點為目前提示設定。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單日結果不是準確率，也非因果證據。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3810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網站實作｜回放案例二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回放案例二：估計、判讀與結果分開看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24</a:t>
            </a:r>
          </a:p>
        </p:txBody>
      </p:sp>
      <p:grpSp>
        <p:nvGrpSpPr>
          <p:cNvPr id="8" name="source-picture"/>
          <p:cNvGrpSpPr/>
          <p:nvPr/>
        </p:nvGrpSpPr>
        <p:grpSpPr>
          <a:xfrm>
            <a:off x="1054073" y="1628775"/>
            <a:ext cx="10083854" cy="3048000"/>
            <a:chOff x="1054073" y="1628775"/>
            <a:chExt cx="10083854" cy="30480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4073" y="1628775"/>
              <a:ext cx="10083854" cy="3048000"/>
            </a:xfrm>
            <a:prstGeom prst="rect">
              <a:avLst/>
            </a:prstGeom>
          </p:spPr>
        </p:pic>
      </p:grpSp>
      <p:grpSp>
        <p:nvGrpSpPr>
          <p:cNvPr id="12" name="result-0"/>
          <p:cNvGrpSpPr/>
          <p:nvPr/>
        </p:nvGrpSpPr>
        <p:grpSpPr>
          <a:xfrm>
            <a:off x="597027" y="4959350"/>
            <a:ext cx="1960245" cy="1282319"/>
            <a:chOff x="597027" y="4959350"/>
            <a:chExt cx="1960245" cy="1282319"/>
          </a:xfrm>
        </p:grpSpPr>
        <p:sp>
          <p:nvSpPr>
            <p:cNvPr id="9" name="TextBox 9"/>
            <p:cNvSpPr txBox="1"/>
            <p:nvPr/>
          </p:nvSpPr>
          <p:spPr>
            <a:xfrm>
              <a:off x="599694" y="495935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模型差距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7027" y="5353050"/>
              <a:ext cx="1933229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+0.54 百分點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0456" y="588962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郭永維相對林家鋐</a:t>
              </a:r>
            </a:p>
          </p:txBody>
        </p:sp>
      </p:grpSp>
      <p:grpSp>
        <p:nvGrpSpPr>
          <p:cNvPr id="16" name="result-1"/>
          <p:cNvGrpSpPr/>
          <p:nvPr/>
        </p:nvGrpSpPr>
        <p:grpSpPr>
          <a:xfrm>
            <a:off x="4330827" y="4959350"/>
            <a:ext cx="2458593" cy="1282319"/>
            <a:chOff x="4330827" y="4959350"/>
            <a:chExt cx="2458593" cy="1282319"/>
          </a:xfrm>
        </p:grpSpPr>
        <p:sp>
          <p:nvSpPr>
            <p:cNvPr id="13" name="TextBox 13"/>
            <p:cNvSpPr txBox="1"/>
            <p:nvPr/>
          </p:nvSpPr>
          <p:spPr>
            <a:xfrm>
              <a:off x="4333494" y="495935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系統判讀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30827" y="5353050"/>
              <a:ext cx="1360576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續打為主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34256" y="5889625"/>
              <a:ext cx="24551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未達 1 百分點建議門檻</a:t>
              </a:r>
            </a:p>
          </p:txBody>
        </p:sp>
      </p:grpSp>
      <p:grpSp>
        <p:nvGrpSpPr>
          <p:cNvPr id="20" name="result-2"/>
          <p:cNvGrpSpPr/>
          <p:nvPr/>
        </p:nvGrpSpPr>
        <p:grpSpPr>
          <a:xfrm>
            <a:off x="8064627" y="4959350"/>
            <a:ext cx="2202561" cy="1282319"/>
            <a:chOff x="8064627" y="4959350"/>
            <a:chExt cx="2202561" cy="1282319"/>
          </a:xfrm>
        </p:grpSpPr>
        <p:sp>
          <p:nvSpPr>
            <p:cNvPr id="17" name="TextBox 17"/>
            <p:cNvSpPr txBox="1"/>
            <p:nvPr/>
          </p:nvSpPr>
          <p:spPr>
            <a:xfrm>
              <a:off x="8067294" y="495935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實際發生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64627" y="5353050"/>
              <a:ext cx="1360576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一壘安打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68056" y="588962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郭永維對魔力藍代打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6697218" cy="1063625"/>
            <a:chOff x="592836" y="250825"/>
            <a:chExt cx="6697218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247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網站實作｜賽前負荷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換投前，也要看前幾天投了多少球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25</a:t>
            </a:r>
          </a:p>
        </p:txBody>
      </p:sp>
      <p:grpSp>
        <p:nvGrpSpPr>
          <p:cNvPr id="8" name="shot-陳冠宇賽前負荷"/>
          <p:cNvGrpSpPr/>
          <p:nvPr/>
        </p:nvGrpSpPr>
        <p:grpSpPr>
          <a:xfrm>
            <a:off x="1220947" y="1952625"/>
            <a:ext cx="5863907" cy="4076700"/>
            <a:chOff x="1220947" y="1952625"/>
            <a:chExt cx="5863907" cy="40767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20947" y="1952625"/>
              <a:ext cx="5863907" cy="4076700"/>
            </a:xfrm>
            <a:prstGeom prst="rect">
              <a:avLst/>
            </a:prstGeom>
          </p:spPr>
        </p:pic>
      </p:grpSp>
      <p:grpSp>
        <p:nvGrpSpPr>
          <p:cNvPr id="17" name="load-reading"/>
          <p:cNvGrpSpPr/>
          <p:nvPr/>
        </p:nvGrpSpPr>
        <p:grpSpPr>
          <a:xfrm>
            <a:off x="8082534" y="1812925"/>
            <a:ext cx="3022092" cy="3907790"/>
            <a:chOff x="8082534" y="1812925"/>
            <a:chExt cx="3022092" cy="3907790"/>
          </a:xfrm>
        </p:grpSpPr>
        <p:sp>
          <p:nvSpPr>
            <p:cNvPr id="9" name="TextBox 9"/>
            <p:cNvSpPr txBox="1"/>
            <p:nvPr/>
          </p:nvSpPr>
          <p:spPr>
            <a:xfrm>
              <a:off x="8082534" y="1812925"/>
              <a:ext cx="111785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陳冠宇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85582" y="2336800"/>
              <a:ext cx="20221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2025/09/20 賽前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085201" y="2990850"/>
              <a:ext cx="1782928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最近一次登板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86725" y="3448050"/>
              <a:ext cx="251913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9/18，完整休息一天。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085201" y="3943350"/>
              <a:ext cx="1489456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近三天球數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086725" y="4400550"/>
              <a:ext cx="1432509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累計 17 球。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85201" y="4895850"/>
              <a:ext cx="1661109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近 14 天出賽</a:t>
              </a:r>
            </a:p>
          </p:txBody>
        </p:sp>
        <p:sp>
          <p:nvSpPr>
            <p:cNvPr id="16" name="TextBox 16"/>
            <p:cNvSpPr/>
            <p:nvPr/>
          </p:nvSpPr>
          <p:spPr>
            <a:xfrm>
              <a:off x="8086725" y="5353050"/>
              <a:ext cx="301790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4 場；不等同疲勞診斷。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601980" y="266700"/>
            <a:ext cx="10980420" cy="1047750"/>
            <a:chOff x="601980" y="266700"/>
            <a:chExt cx="10980420" cy="1047750"/>
          </a:xfrm>
        </p:grpSpPr>
        <p:sp>
          <p:nvSpPr>
            <p:cNvPr id="2" name="TextBox 2"/>
            <p:cNvSpPr/>
            <p:nvPr/>
          </p:nvSpPr>
          <p:spPr>
            <a:xfrm>
              <a:off x="601980" y="266700"/>
              <a:ext cx="24584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700" rIns="0" bIns="0" anchor="t" anchorCtr="0">
              <a:no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網站實作｜影片 Demo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609600" y="571500"/>
              <a:ext cx="10972800" cy="666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22225" rIns="0" bIns="0" anchor="t" anchorCtr="0">
              <a:no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代打操作示範：設定局勢、評估並比較候選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26</a:t>
            </a:r>
          </a:p>
        </p:txBody>
      </p:sp>
      <p:grpSp>
        <p:nvGrpSpPr>
          <p:cNvPr id="8" name="play-instruction"/>
          <p:cNvGrpSpPr/>
          <p:nvPr/>
        </p:nvGrpSpPr>
        <p:grpSpPr>
          <a:xfrm>
            <a:off x="10051256" y="263557"/>
            <a:ext cx="1539526" cy="322707"/>
            <a:chOff x="10051256" y="263557"/>
            <a:chExt cx="1539526" cy="322707"/>
          </a:xfrm>
        </p:grpSpPr>
        <p:sp>
          <p:nvSpPr>
            <p:cNvPr id="7" name="TextBox 7"/>
            <p:cNvSpPr/>
            <p:nvPr/>
          </p:nvSpPr>
          <p:spPr>
            <a:xfrm>
              <a:off x="10051256" y="263557"/>
              <a:ext cx="15395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r"/>
              <a:r>
                <a:rPr lang="zh-TW" sz="16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點選播放影片</a:t>
              </a:r>
            </a:p>
          </p:txBody>
        </p:sp>
      </p:grpSp>
      <p:grpSp>
        <p:nvGrpSpPr>
          <p:cNvPr id="10" name="movie-frame"/>
          <p:cNvGrpSpPr/>
          <p:nvPr/>
        </p:nvGrpSpPr>
        <p:grpSpPr>
          <a:xfrm>
            <a:off x="1447800" y="1314450"/>
            <a:ext cx="9296400" cy="5229225"/>
            <a:chOff x="1447800" y="1314450"/>
            <a:chExt cx="9296400" cy="5229225"/>
          </a:xfrm>
        </p:grpSpPr>
      </p:grpSp>
      <p:pic>
        <p:nvPicPr>
          <p:cNvPr id="11" name="實際網站操作影片 Demo（點選播放，25秒）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1447800" y="1314450"/>
            <a:ext cx="9296400" cy="5229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90550" y="673132"/>
            <a:ext cx="7143750" cy="4496562"/>
            <a:chOff x="590550" y="673132"/>
            <a:chExt cx="7143750" cy="4496562"/>
          </a:xfrm>
        </p:grpSpPr>
        <p:sp>
          <p:nvSpPr>
            <p:cNvPr id="3" name="TextBox 3"/>
            <p:cNvSpPr/>
            <p:nvPr/>
          </p:nvSpPr>
          <p:spPr>
            <a:xfrm>
              <a:off x="590550" y="673132"/>
              <a:ext cx="129597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668" rIns="0" bIns="0" anchor="t" anchorCtr="0">
              <a:noAutofit/>
            </a:bodyPr>
            <a:lstStyle/>
            <a:p>
              <a:pPr algn="l"/>
              <a:r>
                <a:rPr lang="zh-TW" sz="84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04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1312" y="2632043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已完成什麼，接著驗證什麼？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0550" y="3562350"/>
              <a:ext cx="7143750" cy="476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8382" tIns="3175" rIns="0" bIns="0" anchor="t" anchorCtr="0">
              <a:noAutofit/>
            </a:bodyPr>
            <a:lstStyle/>
            <a:p>
              <a:pPr algn="l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網站現況、跨年度資料與賽季更新規劃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00837" y="4832318"/>
              <a:ext cx="2564511" cy="33737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10" name="TextBox 8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197596" cy="1063625"/>
            <a:chOff x="592836" y="250825"/>
            <a:chExt cx="819759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3863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04　成果與開發規劃｜跨年度資料（規劃）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1975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第一項規劃：接入 2026，補齊球員與名單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28</a:t>
            </a:r>
          </a:p>
        </p:txBody>
      </p:sp>
      <p:grpSp>
        <p:nvGrpSpPr>
          <p:cNvPr id="12" name="year-transition"/>
          <p:cNvGrpSpPr/>
          <p:nvPr/>
        </p:nvGrpSpPr>
        <p:grpSpPr>
          <a:xfrm>
            <a:off x="592074" y="1816100"/>
            <a:ext cx="7202424" cy="1302861"/>
            <a:chOff x="592074" y="1816100"/>
            <a:chExt cx="7202424" cy="1302861"/>
          </a:xfrm>
        </p:grpSpPr>
        <p:sp>
          <p:nvSpPr>
            <p:cNvPr id="7" name="TextBox 7"/>
            <p:cNvSpPr txBox="1"/>
            <p:nvPr/>
          </p:nvSpPr>
          <p:spPr>
            <a:xfrm>
              <a:off x="592074" y="1866900"/>
              <a:ext cx="2243328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4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2024–2025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3781425" y="2133600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4714875" y="20669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467350" y="1816100"/>
              <a:ext cx="1124814" cy="747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8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2026</a:t>
              </a:r>
            </a:p>
          </p:txBody>
        </p:sp>
        <p:sp>
          <p:nvSpPr>
            <p:cNvPr id="11" name="TextBox 11"/>
            <p:cNvSpPr/>
            <p:nvPr/>
          </p:nvSpPr>
          <p:spPr>
            <a:xfrm>
              <a:off x="598932" y="2708243"/>
              <a:ext cx="71955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先取得資料並確認授權，再做串接；2026 尚未納入本版。</a:t>
              </a:r>
            </a:p>
          </p:txBody>
        </p:sp>
      </p:grpSp>
      <p:grpSp>
        <p:nvGrpSpPr>
          <p:cNvPr id="15" name="future-data-0"/>
          <p:cNvGrpSpPr/>
          <p:nvPr/>
        </p:nvGrpSpPr>
        <p:grpSpPr>
          <a:xfrm>
            <a:off x="597789" y="3673475"/>
            <a:ext cx="2993517" cy="1683766"/>
            <a:chOff x="597789" y="3673475"/>
            <a:chExt cx="2993517" cy="1683766"/>
          </a:xfrm>
        </p:grpSpPr>
        <p:sp>
          <p:nvSpPr>
            <p:cNvPr id="13" name="TextBox 13"/>
            <p:cNvSpPr txBox="1"/>
            <p:nvPr/>
          </p:nvSpPr>
          <p:spPr>
            <a:xfrm>
              <a:off x="597789" y="3673475"/>
              <a:ext cx="220985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人員與當日名單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9694" y="4257675"/>
              <a:ext cx="2991612" cy="10995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新增球員、轉隊與背號，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補入正式登錄及逐場名單，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並串接逐場守位。</a:t>
              </a:r>
            </a:p>
          </p:txBody>
        </p:sp>
      </p:grpSp>
      <p:grpSp>
        <p:nvGrpSpPr>
          <p:cNvPr id="18" name="future-data-1"/>
          <p:cNvGrpSpPr/>
          <p:nvPr/>
        </p:nvGrpSpPr>
        <p:grpSpPr>
          <a:xfrm>
            <a:off x="4331589" y="3673475"/>
            <a:ext cx="3241167" cy="1324674"/>
            <a:chOff x="4331589" y="3673475"/>
            <a:chExt cx="3241167" cy="1324674"/>
          </a:xfrm>
        </p:grpSpPr>
        <p:sp>
          <p:nvSpPr>
            <p:cNvPr id="16" name="TextBox 16"/>
            <p:cNvSpPr txBox="1"/>
            <p:nvPr/>
          </p:nvSpPr>
          <p:spPr>
            <a:xfrm>
              <a:off x="4331589" y="3673475"/>
              <a:ext cx="220985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逐球與投球負荷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33494" y="4257675"/>
              <a:ext cx="32392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持續累積逐球與出賽資料，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以球員編號串接跨年度紀錄。</a:t>
              </a:r>
            </a:p>
          </p:txBody>
        </p:sp>
      </p:grpSp>
      <p:grpSp>
        <p:nvGrpSpPr>
          <p:cNvPr id="21" name="future-data-2"/>
          <p:cNvGrpSpPr/>
          <p:nvPr/>
        </p:nvGrpSpPr>
        <p:grpSpPr>
          <a:xfrm>
            <a:off x="8065389" y="3673475"/>
            <a:ext cx="3241167" cy="1324674"/>
            <a:chOff x="8065389" y="3673475"/>
            <a:chExt cx="3241167" cy="1324674"/>
          </a:xfrm>
        </p:grpSpPr>
        <p:sp>
          <p:nvSpPr>
            <p:cNvPr id="19" name="TextBox 19"/>
            <p:cNvSpPr txBox="1"/>
            <p:nvPr/>
          </p:nvSpPr>
          <p:spPr>
            <a:xfrm>
              <a:off x="8065389" y="3673475"/>
              <a:ext cx="189753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新球員的估計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67294" y="4257675"/>
              <a:ext cx="32392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樣本少時保留整體基準，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累積個人紀錄並顯示資料量。</a:t>
              </a:r>
            </a:p>
          </p:txBody>
        </p:sp>
      </p:grpSp>
      <p:grpSp>
        <p:nvGrpSpPr>
          <p:cNvPr id="24" name="takeaway"/>
          <p:cNvGrpSpPr/>
          <p:nvPr/>
        </p:nvGrpSpPr>
        <p:grpSpPr>
          <a:xfrm>
            <a:off x="609600" y="5467350"/>
            <a:ext cx="10972800" cy="1028700"/>
            <a:chOff x="609600" y="5467350"/>
            <a:chExt cx="10972800" cy="1028700"/>
          </a:xfrm>
        </p:grpSpPr>
        <p:sp>
          <p:nvSpPr>
            <p:cNvPr id="22" name="Rectangle 22"/>
            <p:cNvSpPr/>
            <p:nvPr/>
          </p:nvSpPr>
          <p:spPr>
            <a:xfrm>
              <a:off x="609600" y="5467350"/>
              <a:ext cx="10972800" cy="1028700"/>
            </a:xfrm>
            <a:prstGeom prst="roundRect">
              <a:avLst>
                <a:gd name="adj" fmla="val 11111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8294" y="5534025"/>
              <a:ext cx="695401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完成條件：人員、轉隊、日期可核對；缺漏名單保留人工確認。</a:t>
              </a:r>
              <a:b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依日期順序驗證，避免使用評估日之後的資料。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474202" cy="1063625"/>
            <a:chOff x="592836" y="250825"/>
            <a:chExt cx="8474202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4267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04　成果與開發規劃｜賽季中動態更新（規劃）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84742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第二項規劃：更新近況，驗證後再調整權重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29</a:t>
            </a:r>
          </a:p>
        </p:txBody>
      </p:sp>
      <p:grpSp>
        <p:nvGrpSpPr>
          <p:cNvPr id="26" name="weighted-games"/>
          <p:cNvGrpSpPr/>
          <p:nvPr/>
        </p:nvGrpSpPr>
        <p:grpSpPr>
          <a:xfrm>
            <a:off x="598551" y="1809750"/>
            <a:ext cx="10269474" cy="1805940"/>
            <a:chOff x="598551" y="1809750"/>
            <a:chExt cx="10269474" cy="1805940"/>
          </a:xfrm>
        </p:grpSpPr>
        <p:sp>
          <p:nvSpPr>
            <p:cNvPr id="7" name="TextBox 7"/>
            <p:cNvSpPr txBox="1"/>
            <p:nvPr/>
          </p:nvSpPr>
          <p:spPr>
            <a:xfrm>
              <a:off x="598551" y="1809750"/>
              <a:ext cx="6478473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概念示意：較舊比賽逐步淡化，近期資訊持續加入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76300" y="2476500"/>
              <a:ext cx="866775" cy="619125"/>
            </a:xfrm>
            <a:prstGeom prst="roundRect">
              <a:avLst>
                <a:gd name="adj" fmla="val 18462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64616" y="26797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比賽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114550" y="2476500"/>
              <a:ext cx="866775" cy="619125"/>
            </a:xfrm>
            <a:prstGeom prst="roundRect">
              <a:avLst>
                <a:gd name="adj" fmla="val 18462"/>
              </a:avLst>
            </a:prstGeom>
            <a:solidFill>
              <a:srgbClr val="DCE0D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302866" y="26797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比賽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352800" y="2476500"/>
              <a:ext cx="866775" cy="619125"/>
            </a:xfrm>
            <a:prstGeom prst="roundRect">
              <a:avLst>
                <a:gd name="adj" fmla="val 18462"/>
              </a:avLst>
            </a:prstGeom>
            <a:solidFill>
              <a:srgbClr val="BCC8C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41116" y="26797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比賽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591050" y="2476500"/>
              <a:ext cx="866775" cy="619125"/>
            </a:xfrm>
            <a:prstGeom prst="roundRect">
              <a:avLst>
                <a:gd name="adj" fmla="val 18462"/>
              </a:avLst>
            </a:prstGeom>
            <a:solidFill>
              <a:srgbClr val="91A5AD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79366" y="26797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 altLang="en-US">
                  <a:solidFill>
                    <a:srgbClr val="FFFFFF"/>
                  </a:solidFill>
                  <a:latin typeface="Times New Roman"/>
                  <a:ea typeface="標楷體"/>
                  <a:cs typeface="Times New Roman"/>
                </a:rPr>
                <a:t>比賽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829300" y="2476500"/>
              <a:ext cx="866775" cy="619125"/>
            </a:xfrm>
            <a:prstGeom prst="roundRect">
              <a:avLst>
                <a:gd name="adj" fmla="val 18462"/>
              </a:avLst>
            </a:prstGeom>
            <a:solidFill>
              <a:srgbClr val="647F8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17616" y="26797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 altLang="en-US">
                  <a:solidFill>
                    <a:srgbClr val="FFFFFF"/>
                  </a:solidFill>
                  <a:latin typeface="Times New Roman"/>
                  <a:ea typeface="標楷體"/>
                  <a:cs typeface="Times New Roman"/>
                </a:rPr>
                <a:t>比賽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067550" y="2476500"/>
              <a:ext cx="866775" cy="619125"/>
            </a:xfrm>
            <a:prstGeom prst="roundRect">
              <a:avLst>
                <a:gd name="adj" fmla="val 18462"/>
              </a:avLst>
            </a:prstGeom>
            <a:solidFill>
              <a:srgbClr val="3D5B7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55866" y="26797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 altLang="en-US">
                  <a:solidFill>
                    <a:srgbClr val="FFFFFF"/>
                  </a:solidFill>
                  <a:latin typeface="Times New Roman"/>
                  <a:ea typeface="標楷體"/>
                  <a:cs typeface="Times New Roman"/>
                </a:rPr>
                <a:t>比賽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305800" y="2476500"/>
              <a:ext cx="866775" cy="619125"/>
            </a:xfrm>
            <a:prstGeom prst="roundRect">
              <a:avLst>
                <a:gd name="adj" fmla="val 18462"/>
              </a:avLst>
            </a:prstGeom>
            <a:solidFill>
              <a:srgbClr val="18344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94116" y="26797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 altLang="en-US">
                  <a:solidFill>
                    <a:srgbClr val="FFFFFF"/>
                  </a:solidFill>
                  <a:latin typeface="Times New Roman"/>
                  <a:ea typeface="標楷體"/>
                  <a:cs typeface="Times New Roman"/>
                </a:rPr>
                <a:t>比賽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9620250" y="278130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10744200" y="27146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6775" y="3248025"/>
              <a:ext cx="52522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較舊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42804" y="3248025"/>
              <a:ext cx="52522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88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近期</a:t>
              </a:r>
            </a:p>
          </p:txBody>
        </p:sp>
      </p:grpSp>
      <p:grpSp>
        <p:nvGrpSpPr>
          <p:cNvPr id="29" name="update-0"/>
          <p:cNvGrpSpPr/>
          <p:nvPr/>
        </p:nvGrpSpPr>
        <p:grpSpPr>
          <a:xfrm>
            <a:off x="598551" y="3962400"/>
            <a:ext cx="2745105" cy="1226249"/>
            <a:chOff x="598551" y="3962400"/>
            <a:chExt cx="2745105" cy="1226249"/>
          </a:xfrm>
        </p:grpSpPr>
        <p:sp>
          <p:nvSpPr>
            <p:cNvPr id="27" name="TextBox 27"/>
            <p:cNvSpPr txBox="1"/>
            <p:nvPr/>
          </p:nvSpPr>
          <p:spPr>
            <a:xfrm>
              <a:off x="598551" y="3962400"/>
              <a:ext cx="1489456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每場後更新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99694" y="4448175"/>
              <a:ext cx="27439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補入逐球、出賽與負荷，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顯示資料更新日期。</a:t>
              </a:r>
            </a:p>
          </p:txBody>
        </p:sp>
      </p:grpSp>
      <p:grpSp>
        <p:nvGrpSpPr>
          <p:cNvPr id="32" name="update-1"/>
          <p:cNvGrpSpPr/>
          <p:nvPr/>
        </p:nvGrpSpPr>
        <p:grpSpPr>
          <a:xfrm>
            <a:off x="4332351" y="3962400"/>
            <a:ext cx="2745105" cy="1226249"/>
            <a:chOff x="4332351" y="3962400"/>
            <a:chExt cx="2745105" cy="1226249"/>
          </a:xfrm>
        </p:grpSpPr>
        <p:sp>
          <p:nvSpPr>
            <p:cNvPr id="30" name="TextBox 30"/>
            <p:cNvSpPr txBox="1"/>
            <p:nvPr/>
          </p:nvSpPr>
          <p:spPr>
            <a:xfrm>
              <a:off x="4332351" y="3962400"/>
              <a:ext cx="2663342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樣本不足時保留基準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33494" y="4448175"/>
              <a:ext cx="27439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比較近幾場與時間衰減；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樣本少時降低近期影響。</a:t>
              </a:r>
            </a:p>
          </p:txBody>
        </p:sp>
      </p:grpSp>
      <p:grpSp>
        <p:nvGrpSpPr>
          <p:cNvPr id="35" name="update-2"/>
          <p:cNvGrpSpPr/>
          <p:nvPr/>
        </p:nvGrpSpPr>
        <p:grpSpPr>
          <a:xfrm>
            <a:off x="8066151" y="3962400"/>
            <a:ext cx="3240405" cy="1226249"/>
            <a:chOff x="8066151" y="3962400"/>
            <a:chExt cx="3240405" cy="1226249"/>
          </a:xfrm>
        </p:grpSpPr>
        <p:sp>
          <p:nvSpPr>
            <p:cNvPr id="33" name="TextBox 33"/>
            <p:cNvSpPr txBox="1"/>
            <p:nvPr/>
          </p:nvSpPr>
          <p:spPr>
            <a:xfrm>
              <a:off x="8066151" y="3962400"/>
              <a:ext cx="2369871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按時間驗證才採用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67294" y="4448175"/>
              <a:ext cx="32392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與固定權重比較預測誤差；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有改善才採用，否則留原版。</a:t>
              </a:r>
            </a:p>
          </p:txBody>
        </p:sp>
      </p:grpSp>
      <p:grpSp>
        <p:nvGrpSpPr>
          <p:cNvPr id="38" name="takeaway"/>
          <p:cNvGrpSpPr/>
          <p:nvPr/>
        </p:nvGrpSpPr>
        <p:grpSpPr>
          <a:xfrm>
            <a:off x="609600" y="5629275"/>
            <a:ext cx="10972800" cy="704850"/>
            <a:chOff x="609600" y="5629275"/>
            <a:chExt cx="10972800" cy="704850"/>
          </a:xfrm>
        </p:grpSpPr>
        <p:sp>
          <p:nvSpPr>
            <p:cNvPr id="36" name="Rectangle 36"/>
            <p:cNvSpPr/>
            <p:nvPr/>
          </p:nvSpPr>
          <p:spPr>
            <a:xfrm>
              <a:off x="609600" y="5629275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37" name="TextBox 37"/>
            <p:cNvSpPr/>
            <p:nvPr/>
          </p:nvSpPr>
          <p:spPr>
            <a:xfrm>
              <a:off x="828294" y="5721382"/>
              <a:ext cx="815759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既有時間衰減實驗尚不足支持啟用；新資料到位後再驗證，保留原版。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029956" cy="1063625"/>
            <a:chOff x="592836" y="250825"/>
            <a:chExt cx="802995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32575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04　成果與開發規劃｜新增功能規劃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第三項規劃：先補資料，再完成實務功能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30</a:t>
            </a:r>
          </a:p>
        </p:txBody>
      </p:sp>
      <p:grpSp>
        <p:nvGrpSpPr>
          <p:cNvPr id="12" name="planned-task-0"/>
          <p:cNvGrpSpPr/>
          <p:nvPr/>
        </p:nvGrpSpPr>
        <p:grpSpPr>
          <a:xfrm>
            <a:off x="592074" y="1790700"/>
            <a:ext cx="10303078" cy="1254824"/>
            <a:chOff x="592074" y="1790700"/>
            <a:chExt cx="10303078" cy="1254824"/>
          </a:xfrm>
        </p:grpSpPr>
        <p:sp>
          <p:nvSpPr>
            <p:cNvPr id="7" name="TextBox 7"/>
            <p:cNvSpPr txBox="1"/>
            <p:nvPr/>
          </p:nvSpPr>
          <p:spPr>
            <a:xfrm>
              <a:off x="592074" y="1790700"/>
              <a:ext cx="52578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4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59458" y="1822450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單場名單與退場管理</a:t>
              </a:r>
            </a:p>
          </p:txBody>
        </p:sp>
        <p:sp>
          <p:nvSpPr>
            <p:cNvPr id="9" name="TextBox 9"/>
            <p:cNvSpPr/>
            <p:nvPr/>
          </p:nvSpPr>
          <p:spPr>
            <a:xfrm>
              <a:off x="1761744" y="2305050"/>
              <a:ext cx="37345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先取得或人工確認單場名單，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避免重複勾選已退場者。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39075" y="1885950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完成條件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839075" y="2343150"/>
              <a:ext cx="305607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狀態可修正，重整可恢復。</a:t>
              </a:r>
            </a:p>
          </p:txBody>
        </p:sp>
      </p:grpSp>
      <p:grpSp>
        <p:nvGrpSpPr>
          <p:cNvPr id="18" name="planned-task-1"/>
          <p:cNvGrpSpPr/>
          <p:nvPr/>
        </p:nvGrpSpPr>
        <p:grpSpPr>
          <a:xfrm>
            <a:off x="592074" y="3228975"/>
            <a:ext cx="10556164" cy="1254824"/>
            <a:chOff x="592074" y="3228975"/>
            <a:chExt cx="10556164" cy="1254824"/>
          </a:xfrm>
        </p:grpSpPr>
        <p:sp>
          <p:nvSpPr>
            <p:cNvPr id="13" name="TextBox 13"/>
            <p:cNvSpPr txBox="1"/>
            <p:nvPr/>
          </p:nvSpPr>
          <p:spPr>
            <a:xfrm>
              <a:off x="592074" y="3228975"/>
              <a:ext cx="52578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4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59458" y="3260725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換投候選負荷對照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61744" y="3743325"/>
              <a:ext cx="37345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休息日、近三天球數與連投並排，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直接看依據，暫不改評分公式。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39075" y="3324225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完成條件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39075" y="3781425"/>
              <a:ext cx="3309163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數值可追溯，缺資料有提醒。</a:t>
              </a:r>
            </a:p>
          </p:txBody>
        </p:sp>
      </p:grpSp>
      <p:grpSp>
        <p:nvGrpSpPr>
          <p:cNvPr id="24" name="planned-task-2"/>
          <p:cNvGrpSpPr/>
          <p:nvPr/>
        </p:nvGrpSpPr>
        <p:grpSpPr>
          <a:xfrm>
            <a:off x="592074" y="4667250"/>
            <a:ext cx="10303078" cy="1254824"/>
            <a:chOff x="592074" y="4667250"/>
            <a:chExt cx="10303078" cy="1254824"/>
          </a:xfrm>
        </p:grpSpPr>
        <p:sp>
          <p:nvSpPr>
            <p:cNvPr id="19" name="TextBox 19"/>
            <p:cNvSpPr txBox="1"/>
            <p:nvPr/>
          </p:nvSpPr>
          <p:spPr>
            <a:xfrm>
              <a:off x="592074" y="4667250"/>
              <a:ext cx="52578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4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59458" y="4699000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逐場守位與名單回放</a:t>
              </a:r>
            </a:p>
          </p:txBody>
        </p:sp>
        <p:sp>
          <p:nvSpPr>
            <p:cNvPr id="21" name="TextBox 21"/>
            <p:cNvSpPr/>
            <p:nvPr/>
          </p:nvSpPr>
          <p:spPr>
            <a:xfrm>
              <a:off x="1761744" y="5181600"/>
              <a:ext cx="299161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逐場守位到位後減少推估，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只讀取決策前可得資料。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39075" y="4762500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完成條件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39075" y="5219700"/>
              <a:ext cx="305607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後續出賽不改變當時資料。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601980" y="266700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TW" sz="1500" dirty="0" altLang="en-US">
                <a:solidFill>
                  <a:srgbClr val="B54836"/>
                </a:solidFill>
                <a:latin typeface="Times New Roman"/>
                <a:ea typeface="標楷體"/>
                <a:cs typeface="Times New Roman"/>
              </a:rPr>
              <a:t>研究依據</a:t>
            </a:r>
          </a:p>
        </p:txBody>
      </p:sp>
      <p:sp>
        <p:nvSpPr>
          <p:cNvPr id="3" name="TextBox 3"/>
          <p:cNvSpPr/>
          <p:nvPr/>
        </p:nvSpPr>
        <p:spPr>
          <a:xfrm>
            <a:off x="609600" y="571500"/>
            <a:ext cx="10972800" cy="666750"/>
          </a:xfrm>
          <a:prstGeom prst="rect">
            <a:avLst/>
          </a:prstGeom>
          <a:noFill/>
          <a:ln>
            <a:noFill/>
          </a:ln>
        </p:spPr>
        <p:txBody>
          <a:bodyPr wrap="none" lIns="0" tIns="22225" rIns="0" bIns="0" anchor="t" anchorCtr="0">
            <a:noAutofit/>
          </a:bodyPr>
          <a:lstStyle/>
          <a:p>
            <a:pPr algn="l"/>
            <a:r>
              <a:rPr lang="zh-TW" sz="3300" b="1" dirty="0" altLang="en-US">
                <a:solidFill>
                  <a:srgbClr val="18344A"/>
                </a:solidFill>
                <a:latin typeface="Times New Roman"/>
                <a:ea typeface="標楷體"/>
                <a:cs typeface="Times New Roman"/>
              </a:rPr>
              <a:t>方法有研究基礎，應用範圍清楚界定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66825"/>
            <a:ext cx="3429000" cy="47625"/>
          </a:xfrm>
          <a:prstGeom prst="rect">
            <a:avLst/>
          </a:prstGeom>
          <a:solidFill>
            <a:srgbClr val="B54836"/>
          </a:solidFill>
          <a:ln>
            <a:noFill/>
          </a:ln>
        </p:spPr>
      </p:sp>
      <p:sp>
        <p:nvSpPr>
          <p:cNvPr id="5" name="TextBox 5"/>
          <p:cNvSpPr/>
          <p:nvPr/>
        </p:nvSpPr>
        <p:spPr>
          <a:xfrm>
            <a:off x="11373422" y="6445282"/>
            <a:ext cx="2089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-6858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31</a:t>
            </a:r>
          </a:p>
        </p:txBody>
      </p:sp>
      <p:sp>
        <p:nvSpPr>
          <p:cNvPr id="6" name="TextBox 6"/>
          <p:cNvSpPr/>
          <p:nvPr/>
        </p:nvSpPr>
        <p:spPr>
          <a:xfrm>
            <a:off x="600075" y="1571625"/>
            <a:ext cx="7219417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880" b="1" dirty="0" altLang="en-US">
                <a:solidFill>
                  <a:srgbClr val="18344A"/>
                </a:solidFill>
                <a:latin typeface="Times New Roman"/>
                <a:ea typeface="標楷體"/>
                <a:cs typeface="Times New Roman"/>
              </a:rPr>
              <a:t>[1] Efron &amp; Morris（1975）｜JASA 70(350), 311–319</a:t>
            </a:r>
          </a:p>
        </p:txBody>
      </p:sp>
      <p:sp>
        <p:nvSpPr>
          <p:cNvPr id="7" name="TextBox 7"/>
          <p:cNvSpPr/>
          <p:nvPr/>
        </p:nvSpPr>
        <p:spPr>
          <a:xfrm>
            <a:off x="601599" y="1952625"/>
            <a:ext cx="7000989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58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Data Analysis Using Stein’s Estimator and its Generalizations</a:t>
            </a:r>
          </a:p>
        </p:txBody>
      </p:sp>
      <p:sp>
        <p:nvSpPr>
          <p:cNvPr id="8" name="TextBox 8"/>
          <p:cNvSpPr/>
          <p:nvPr/>
        </p:nvSpPr>
        <p:spPr>
          <a:xfrm>
            <a:off x="600456" y="2289143"/>
            <a:ext cx="670986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800" dirty="0" altLang="en-US">
                <a:solidFill>
                  <a:srgbClr val="1D2934"/>
                </a:solidFill>
                <a:latin typeface="Times New Roman"/>
                <a:ea typeface="標楷體"/>
                <a:cs typeface="Times New Roman"/>
              </a:rPr>
              <a:t>小樣本估計向整體收縮，作為部分池化的研究依據。</a:t>
            </a:r>
          </a:p>
        </p:txBody>
      </p:sp>
      <p:sp>
        <p:nvSpPr>
          <p:cNvPr id="9" name="TextBox 9">
            <a:hlinkClick r:id="rId2"/>
          </p:cNvPr>
          <p:cNvSpPr/>
          <p:nvPr/>
        </p:nvSpPr>
        <p:spPr>
          <a:xfrm>
            <a:off x="602361" y="2679668"/>
            <a:ext cx="435734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420" dirty="0" altLang="en-US">
                <a:solidFill>
                  <a:srgbClr val="B54836"/>
                </a:solidFill>
                <a:latin typeface="Times New Roman"/>
                <a:ea typeface="標楷體"/>
                <a:cs typeface="Times New Roman"/>
              </a:rPr>
              <a:t>DOI: 10.1080/01621459.1975.10479864</a:t>
            </a:r>
          </a:p>
        </p:txBody>
      </p:sp>
      <p:sp>
        <p:nvSpPr>
          <p:cNvPr id="10" name="Line 10"/>
          <p:cNvSpPr/>
          <p:nvPr/>
        </p:nvSpPr>
        <p:spPr>
          <a:xfrm>
            <a:off x="609600" y="3009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11" name="TextBox 11"/>
          <p:cNvSpPr/>
          <p:nvPr/>
        </p:nvSpPr>
        <p:spPr>
          <a:xfrm>
            <a:off x="600075" y="3038475"/>
            <a:ext cx="7362749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880" b="1" dirty="0" altLang="en-US">
                <a:solidFill>
                  <a:srgbClr val="18344A"/>
                </a:solidFill>
                <a:latin typeface="Times New Roman"/>
                <a:ea typeface="標楷體"/>
                <a:cs typeface="Times New Roman"/>
              </a:rPr>
              <a:t>[2] Efron（1979）｜The Annals of Statistics 7(1), 1–26</a:t>
            </a:r>
          </a:p>
        </p:txBody>
      </p:sp>
      <p:sp>
        <p:nvSpPr>
          <p:cNvPr id="12" name="TextBox 12"/>
          <p:cNvSpPr/>
          <p:nvPr/>
        </p:nvSpPr>
        <p:spPr>
          <a:xfrm>
            <a:off x="601599" y="3419475"/>
            <a:ext cx="5705284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58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Bootstrap Methods: Another Look at the Jackknife</a:t>
            </a:r>
          </a:p>
        </p:txBody>
      </p:sp>
      <p:sp>
        <p:nvSpPr>
          <p:cNvPr id="13" name="TextBox 13"/>
          <p:cNvSpPr/>
          <p:nvPr/>
        </p:nvSpPr>
        <p:spPr>
          <a:xfrm>
            <a:off x="600456" y="3755993"/>
            <a:ext cx="70006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800" dirty="0" altLang="en-US">
                <a:solidFill>
                  <a:srgbClr val="1D2934"/>
                </a:solidFill>
                <a:latin typeface="Times New Roman"/>
                <a:ea typeface="標楷體"/>
                <a:cs typeface="Times New Roman"/>
              </a:rPr>
              <a:t>近期配球以整場出賽重抽樣描述區間，不視為候選勝出機率。</a:t>
            </a:r>
          </a:p>
        </p:txBody>
      </p:sp>
      <p:sp>
        <p:nvSpPr>
          <p:cNvPr id="14" name="TextBox 14">
            <a:hlinkClick r:id="rId3"/>
          </p:cNvPr>
          <p:cNvSpPr/>
          <p:nvPr/>
        </p:nvSpPr>
        <p:spPr>
          <a:xfrm>
            <a:off x="602361" y="4146518"/>
            <a:ext cx="32439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420" dirty="0" altLang="en-US">
                <a:solidFill>
                  <a:srgbClr val="B54836"/>
                </a:solidFill>
                <a:latin typeface="Times New Roman"/>
                <a:ea typeface="標楷體"/>
                <a:cs typeface="Times New Roman"/>
              </a:rPr>
              <a:t>DOI: 10.1214/aos/1176344552</a:t>
            </a:r>
          </a:p>
        </p:txBody>
      </p:sp>
      <p:sp>
        <p:nvSpPr>
          <p:cNvPr id="15" name="Line 15"/>
          <p:cNvSpPr/>
          <p:nvPr/>
        </p:nvSpPr>
        <p:spPr>
          <a:xfrm>
            <a:off x="609600" y="44767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16" name="TextBox 16"/>
          <p:cNvSpPr/>
          <p:nvPr/>
        </p:nvSpPr>
        <p:spPr>
          <a:xfrm>
            <a:off x="600075" y="4505325"/>
            <a:ext cx="7953337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880" b="1" dirty="0" altLang="en-US">
                <a:solidFill>
                  <a:srgbClr val="18344A"/>
                </a:solidFill>
                <a:latin typeface="Times New Roman"/>
                <a:ea typeface="標楷體"/>
                <a:cs typeface="Times New Roman"/>
              </a:rPr>
              <a:t>[3] Gneiting &amp; Raftery（2007）｜JASA 102(477), 359–378</a:t>
            </a:r>
          </a:p>
        </p:txBody>
      </p:sp>
      <p:sp>
        <p:nvSpPr>
          <p:cNvPr id="17" name="TextBox 17"/>
          <p:cNvSpPr/>
          <p:nvPr/>
        </p:nvSpPr>
        <p:spPr>
          <a:xfrm>
            <a:off x="601599" y="4886325"/>
            <a:ext cx="6433033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58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Strictly Proper Scoring Rules, Prediction, and Estimation</a:t>
            </a:r>
          </a:p>
        </p:txBody>
      </p:sp>
      <p:sp>
        <p:nvSpPr>
          <p:cNvPr id="18" name="TextBox 18"/>
          <p:cNvSpPr/>
          <p:nvPr/>
        </p:nvSpPr>
        <p:spPr>
          <a:xfrm>
            <a:off x="600456" y="5222843"/>
            <a:ext cx="785743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800" dirty="0" altLang="en-US">
                <a:solidFill>
                  <a:srgbClr val="1D2934"/>
                </a:solidFill>
                <a:latin typeface="Times New Roman"/>
                <a:ea typeface="標楷體"/>
                <a:cs typeface="Times New Roman"/>
              </a:rPr>
              <a:t>以 log loss 評估逐球機率預測，並區分模型分數與真實結果。</a:t>
            </a:r>
          </a:p>
        </p:txBody>
      </p:sp>
      <p:sp>
        <p:nvSpPr>
          <p:cNvPr id="19" name="TextBox 19">
            <a:hlinkClick r:id="rId4"/>
          </p:cNvPr>
          <p:cNvSpPr/>
          <p:nvPr/>
        </p:nvSpPr>
        <p:spPr>
          <a:xfrm>
            <a:off x="602361" y="5613368"/>
            <a:ext cx="395306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420" dirty="0" altLang="en-US">
                <a:solidFill>
                  <a:srgbClr val="B54836"/>
                </a:solidFill>
                <a:latin typeface="Times New Roman"/>
                <a:ea typeface="標楷體"/>
                <a:cs typeface="Times New Roman"/>
              </a:rPr>
              <a:t>DOI: 10.1198/016214506000001437</a:t>
            </a:r>
          </a:p>
        </p:txBody>
      </p:sp>
      <p:sp>
        <p:nvSpPr>
          <p:cNvPr id="20" name="Line 20"/>
          <p:cNvSpPr/>
          <p:nvPr/>
        </p:nvSpPr>
        <p:spPr>
          <a:xfrm>
            <a:off x="609600" y="59436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21" name="TextBox 21"/>
          <p:cNvSpPr/>
          <p:nvPr/>
        </p:nvSpPr>
        <p:spPr>
          <a:xfrm>
            <a:off x="601980" y="5981700"/>
            <a:ext cx="7082790" cy="29337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losing"/>
          <p:cNvGrpSpPr/>
          <p:nvPr/>
        </p:nvGrpSpPr>
        <p:grpSpPr>
          <a:xfrm>
            <a:off x="590550" y="1390650"/>
            <a:ext cx="6553200" cy="2114550"/>
            <a:chOff x="590550" y="1390650"/>
            <a:chExt cx="6553200" cy="2114550"/>
          </a:xfrm>
        </p:grpSpPr>
        <p:sp>
          <p:nvSpPr>
            <p:cNvPr id="2" name="TextBox 2"/>
            <p:cNvSpPr/>
            <p:nvPr/>
          </p:nvSpPr>
          <p:spPr>
            <a:xfrm>
              <a:off x="590550" y="1390650"/>
              <a:ext cx="6553200" cy="2114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7950"/>
                </a:lnSpc>
              </a:pPr>
              <a:r>
                <a:rPr lang="zh-TW" sz="57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換人之前，</a:t>
              </a:r>
              <a:br>
                <a:rPr lang="zh-TW" sz="57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57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先看清差距與代價。</a:t>
              </a:r>
            </a:p>
          </p:txBody>
        </p:sp>
      </p:grpSp>
      <p:grpSp>
        <p:nvGrpSpPr>
          <p:cNvPr id="6" name="team"/>
          <p:cNvGrpSpPr/>
          <p:nvPr/>
        </p:nvGrpSpPr>
        <p:grpSpPr>
          <a:xfrm>
            <a:off x="592836" y="3822668"/>
            <a:ext cx="1781461" cy="1134618"/>
            <a:chOff x="592836" y="3822668"/>
            <a:chExt cx="1781461" cy="1134618"/>
          </a:xfrm>
        </p:grpSpPr>
        <p:sp>
          <p:nvSpPr>
            <p:cNvPr id="4" name="TextBox 4"/>
            <p:cNvSpPr/>
            <p:nvPr/>
          </p:nvSpPr>
          <p:spPr>
            <a:xfrm>
              <a:off x="592836" y="3822668"/>
              <a:ext cx="17814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2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一球兩面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8932" y="4546568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8932" rIns="0" bIns="0" anchor="t" anchorCtr="0">
              <a:noAutofit/>
            </a:bodyPr>
            <a:lstStyle/>
            <a:p>
              <a:pPr algn="l"/>
              <a:r>
                <a:rPr lang="zh-TW" sz="180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蘇櫟、陳信安</a:t>
              </a:r>
            </a:p>
          </p:txBody>
        </p:sp>
      </p:grpSp>
      <p:grpSp>
        <p:nvGrpSpPr>
          <p:cNvPr id="8" name="baseball"/>
          <p:cNvGrpSpPr/>
          <p:nvPr/>
        </p:nvGrpSpPr>
        <p:grpSpPr>
          <a:xfrm>
            <a:off x="8858250" y="2095500"/>
            <a:ext cx="2762250" cy="2762250"/>
            <a:chOff x="8858250" y="2095500"/>
            <a:chExt cx="2762250" cy="2762250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58250" y="2095500"/>
              <a:ext cx="2762250" cy="2762250"/>
            </a:xfrm>
            <a:prstGeom prst="rect">
              <a:avLst/>
            </a:prstGeom>
          </p:spPr>
        </p:pic>
      </p:grpSp>
      <p:sp>
        <p:nvSpPr>
          <p:cNvPr id="12" name="TextBox 12"/>
          <p:cNvSpPr/>
          <p:nvPr/>
        </p:nvSpPr>
        <p:spPr>
          <a:xfrm>
            <a:off x="11375612" y="6445282"/>
            <a:ext cx="2136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32</a:t>
            </a:r>
          </a:p>
        </p:txBody>
      </p:sp>
      <p:grpSp>
        <p:nvGrpSpPr>
          <p:cNvPr id="13" name="visible-project-urls"/>
          <p:cNvGrpSpPr/>
          <p:nvPr/>
        </p:nvGrpSpPr>
        <p:grpSpPr>
          <a:xfrm>
            <a:off x="2673477" y="5502307"/>
            <a:ext cx="6845046" cy="829056"/>
            <a:chOff x="2673477" y="5502307"/>
            <a:chExt cx="6845046" cy="829056"/>
          </a:xfrm>
        </p:grpSpPr>
        <p:sp>
          <p:nvSpPr>
            <p:cNvPr id="10" name="TextBox 10">
              <a:hlinkClick r:id="rId3"/>
            </p:cNvPr>
            <p:cNvSpPr/>
            <p:nvPr/>
          </p:nvSpPr>
          <p:spPr>
            <a:xfrm>
              <a:off x="2999708" y="5502307"/>
              <a:ext cx="61925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95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網站 https://da-xiong-chen.github.io/baseball_project/</a:t>
              </a:r>
            </a:p>
          </p:txBody>
        </p:sp>
        <p:sp>
          <p:nvSpPr>
            <p:cNvPr id="11" name="TextBox 11">
              <a:hlinkClick r:id="rId4"/>
            </p:cNvPr>
            <p:cNvSpPr/>
            <p:nvPr/>
          </p:nvSpPr>
          <p:spPr>
            <a:xfrm>
              <a:off x="2673477" y="5949982"/>
              <a:ext cx="6845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95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原始碼 https://github.com/Da-Xiong-Chen/baseball_project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baseball_competition_polished19">
  <a:themeElements>
    <a:clrScheme name="baseball_competition_polished19">
      <a:dk1>
        <a:srgbClr val="1D2934"/>
      </a:dk1>
      <a:lt1>
        <a:srgbClr val="F7F5EF"/>
      </a:lt1>
      <a:dk2>
        <a:srgbClr val="1F497D"/>
      </a:dk2>
      <a:lt2>
        <a:srgbClr val="ECE5D9"/>
      </a:lt2>
      <a:accent1>
        <a:srgbClr val="18344A"/>
      </a:accent1>
      <a:accent2>
        <a:srgbClr val="B54836"/>
      </a:accent2>
      <a:accent3>
        <a:srgbClr val="9A6118"/>
      </a:accent3>
      <a:accent4>
        <a:srgbClr val="18344A"/>
      </a:accent4>
      <a:accent5>
        <a:srgbClr val="58616B"/>
      </a:accent5>
      <a:accent6>
        <a:srgbClr val="D7D1C5"/>
      </a:accent6>
      <a:hlink>
        <a:srgbClr val="B54836"/>
      </a:hlink>
      <a:folHlink>
        <a:srgbClr val="9A6118"/>
      </a:folHlink>
    </a:clrScheme>
    <a:fontScheme name="baseball_competition_polished19">
      <a:majorFont>
        <a:latin typeface="Times New Roman"/>
        <a:ea typeface="標楷體"/>
        <a:cs typeface="Times New Roman"/>
        <a:font script="Jpan" typeface="標楷體"/>
        <a:font script="Hang" typeface="標楷體"/>
        <a:font script="Hans" typeface="標楷體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標楷體"/>
        <a:cs typeface="Times New Roman"/>
        <a:font script="Jpan" typeface="標楷體"/>
        <a:font script="Hang" typeface="標楷體"/>
        <a:font script="Hans" typeface="標楷體"/>
        <a:font script="Hant" typeface="標楷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aseball_competition_polished1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>Microsoft Office PowerPoint</ns0:Application>
  <ns0:PresentationFormat>On-screen Show (16:9)</ns0:PresentationFormat>
  <ns0:Paragraphs>0</ns0:Paragraphs>
  <ns0:Slides>32</ns0:Slides>
  <ns0:Notes>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zh-TW</dc:language>
  <cp:lastModifiedBy/>
  <cp:revision>1</cp:revision>
  <dcterms:created xsi:type="dcterms:W3CDTF">2026-10-15T13:31:12Z</dcterms:created>
  <dcterms:modified xsi:type="dcterms:W3CDTF">2026-10-15T13:31:12Z</dcterms:modified>
  <cp:category/>
  <cp:contentStatus/>
</cp:coreProperties>
</file>