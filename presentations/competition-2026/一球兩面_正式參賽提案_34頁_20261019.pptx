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2000" cy="6858000" type="screen16x9"/>
  <p:notesSz cx="6858000" cy="9144000"/>
  <p:defaultTextStyle>
    <a:defPPr>
      <a:defRPr lang="zh-TW"/>
    </a:defPPr>
    <a:lvl1pPr marL="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printerSettings" Target="printerSettings/printerSettings1.bin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7" Type="http://schemas.openxmlformats.org/officeDocument/2006/relationships/slide" Target="slides/slide1.xml" /><Relationship Id="rId8" Type="http://schemas.openxmlformats.org/officeDocument/2006/relationships/slide" Target="slides/slide2.xml" /><Relationship Id="rId9" Type="http://schemas.openxmlformats.org/officeDocument/2006/relationships/slide" Target="slides/slide3.xml" /><Relationship Id="rId10" Type="http://schemas.openxmlformats.org/officeDocument/2006/relationships/slide" Target="slides/slide4.xml" /><Relationship Id="rId11" Type="http://schemas.openxmlformats.org/officeDocument/2006/relationships/slide" Target="slides/slide5.xml" /><Relationship Id="rId12" Type="http://schemas.openxmlformats.org/officeDocument/2006/relationships/slide" Target="slides/slide6.xml" /><Relationship Id="rId13" Type="http://schemas.openxmlformats.org/officeDocument/2006/relationships/slide" Target="slides/slide7.xml" /><Relationship Id="rId14" Type="http://schemas.openxmlformats.org/officeDocument/2006/relationships/slide" Target="slides/slide8.xml" /><Relationship Id="rId15" Type="http://schemas.openxmlformats.org/officeDocument/2006/relationships/slide" Target="slides/slide9.xml" /><Relationship Id="rId16" Type="http://schemas.openxmlformats.org/officeDocument/2006/relationships/slide" Target="slides/slide10.xml" /><Relationship Id="rId17" Type="http://schemas.openxmlformats.org/officeDocument/2006/relationships/slide" Target="slides/slide11.xml" /><Relationship Id="rId18" Type="http://schemas.openxmlformats.org/officeDocument/2006/relationships/slide" Target="slides/slide12.xml" /><Relationship Id="rId19" Type="http://schemas.openxmlformats.org/officeDocument/2006/relationships/slide" Target="slides/slide13.xml" /><Relationship Id="rId20" Type="http://schemas.openxmlformats.org/officeDocument/2006/relationships/slide" Target="slides/slide14.xml" /><Relationship Id="rId21" Type="http://schemas.openxmlformats.org/officeDocument/2006/relationships/slide" Target="slides/slide15.xml" /><Relationship Id="rId22" Type="http://schemas.openxmlformats.org/officeDocument/2006/relationships/slide" Target="slides/slide16.xml" /><Relationship Id="rId23" Type="http://schemas.openxmlformats.org/officeDocument/2006/relationships/slide" Target="slides/slide17.xml" /><Relationship Id="rId24" Type="http://schemas.openxmlformats.org/officeDocument/2006/relationships/slide" Target="slides/slide18.xml" /><Relationship Id="rId25" Type="http://schemas.openxmlformats.org/officeDocument/2006/relationships/slide" Target="slides/slide19.xml" /><Relationship Id="rId26" Type="http://schemas.openxmlformats.org/officeDocument/2006/relationships/slide" Target="slides/slide20.xml" /><Relationship Id="rId27" Type="http://schemas.openxmlformats.org/officeDocument/2006/relationships/slide" Target="slides/slide21.xml" /><Relationship Id="rId28" Type="http://schemas.openxmlformats.org/officeDocument/2006/relationships/slide" Target="slides/slide22.xml" /><Relationship Id="rId29" Type="http://schemas.openxmlformats.org/officeDocument/2006/relationships/slide" Target="slides/slide23.xml" /><Relationship Id="rId30" Type="http://schemas.openxmlformats.org/officeDocument/2006/relationships/slide" Target="slides/slide24.xml" /><Relationship Id="rId31" Type="http://schemas.openxmlformats.org/officeDocument/2006/relationships/slide" Target="slides/slide25.xml" /><Relationship Id="rId32" Type="http://schemas.openxmlformats.org/officeDocument/2006/relationships/slide" Target="slides/slide26.xml" /><Relationship Id="rId33" Type="http://schemas.openxmlformats.org/officeDocument/2006/relationships/slide" Target="slides/slide27.xml" /><Relationship Id="rId34" Type="http://schemas.openxmlformats.org/officeDocument/2006/relationships/slide" Target="slides/slide28.xml" /><Relationship Id="rId35" Type="http://schemas.openxmlformats.org/officeDocument/2006/relationships/slide" Target="slides/slide29.xml" /><Relationship Id="rId36" Type="http://schemas.openxmlformats.org/officeDocument/2006/relationships/slide" Target="slides/slide30.xml" /><Relationship Id="rId37" Type="http://schemas.openxmlformats.org/officeDocument/2006/relationships/slide" Target="slides/slide31.xml" /><Relationship Id="rId38" Type="http://schemas.openxmlformats.org/officeDocument/2006/relationships/slide" Target="slides/slide32.xml" /><Relationship Id="rId39" Type="http://schemas.openxmlformats.org/officeDocument/2006/relationships/slide" Target="slides/slide33.xml" /><Relationship Id="rId40" Type="http://schemas.openxmlformats.org/officeDocument/2006/relationships/slide" Target="slides/slide34.xml" 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baseball_competition_polished19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TW" smtClean="0"/>
              <a:t>1/27/13</a:t>
            </a:fld>
            <a:endParaRPr lang="zh-TW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TW" smtClean="0"/>
              <a:t>‹#›</a:t>
            </a:fld>
            <a:endParaRPr lang="zh-TW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baseball_competition_polished19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TW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TW" smtClean="0"/>
              <a:t>1/27/13</a:t>
            </a:fld>
            <a:endParaRPr 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TW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TW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TW" smtClean="0"/>
              <a:t>‹#›</a:t>
            </a:fld>
            <a:endParaRPr 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 lang="zh-TW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100" kern="1200" lang="zh-TW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950" kern="1200" lang="zh-TW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50" kern="1200" lang="zh-TW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700" kern="1200" lang="zh-TW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 lang="zh-TW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 lang="zh-TW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 lang="zh-TW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 lang="zh-TW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zh-TW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457200" rtl="0" eaLnBrk="1" latinLnBrk="0" hangingPunct="1">
        <a:defRPr sz="2100" kern="1200" lang="zh-TW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950" kern="1200" lang="zh-TW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50" kern="1200" lang="zh-TW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700" kern="1200" lang="zh-TW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600" kern="1200" lang="zh-TW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450" kern="1200" lang="zh-TW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300" kern="1200" lang="zh-TW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00" kern="1200" lang="zh-TW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050" kern="1200" lang="zh-TW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e281946dee02391a.png" /><Relationship Id="rId3" Type="http://schemas.openxmlformats.org/officeDocument/2006/relationships/hyperlink" Target="https://da-xiong-chen.github.io/baseball_project/" TargetMode="External" /><Relationship Id="rId4" Type="http://schemas.openxmlformats.org/officeDocument/2006/relationships/hyperlink" Target="https://github.com/Da-Xiong-Chen/baseball_project" TargetMode="External" />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e281946dee02391a.png" 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a60d4a4917b83df9.png" 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7aed6398c015c6c9.png" 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e281946dee02391a.png" 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2311dc7b7b40ca75.png" />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e281946dee02391a.png" /></Relationships>
</file>

<file path=ppt/slides/_rels/slide1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2311dc7b7b40ca75.png" /></Relationships>
</file>

<file path=ppt/slides/_rels/slide1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3" Type="http://schemas.openxmlformats.org/officeDocument/2006/relationships/image" Target="../media/image_86e866df19cbbe22.png" /></Relationships>
</file>

<file path=ppt/slides/_rels/slide1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_14c4e86453a820a9.png" /></Relationships>
</file>

<file path=ppt/slides/_rels/slide1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_c9bd71b8c2bc12fc.png" /></Relationships>
</file>

<file path=ppt/slides/_rels/slide2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ea69731a2453d3d2.png" /></Relationships>
</file>

<file path=ppt/slides/_rels/slide2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d9626dfeeeefaa87.png" /></Relationships>
</file>

<file path=ppt/slides/_rels/slide2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165523efa96f3990.png" /></Relationships>
</file>

<file path=ppt/slides/_rels/slide2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e1676326fc1c0630.png" /></Relationships>
</file>

<file path=ppt/slides/_rels/slide2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de3f121c878d3fb8.png" /></Relationships>
</file>

<file path=ppt/slides/_rels/slide2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e281946dee02391a.png" /></Relationships>
</file>

<file path=ppt/slides/_rels/slide3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5" Type="http://schemas.openxmlformats.org/officeDocument/2006/relationships/hyperlink" Target="https://da-xiong-chen.github.io/baseball_project/" TargetMode="External" /><Relationship Id="rId6" Type="http://schemas.openxmlformats.org/officeDocument/2006/relationships/image" Target="../media/image_64020739d0c141cb.png" /></Relationships>
</file>

<file path=ppt/slides/_rels/slide3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hyperlink" Target="https://doi.org/10.1080/01621459.1975.10479864" TargetMode="External" /><Relationship Id="rId3" Type="http://schemas.openxmlformats.org/officeDocument/2006/relationships/hyperlink" Target="https://doi.org/10.1214/aos/1176344552" TargetMode="External" /><Relationship Id="rId4" Type="http://schemas.openxmlformats.org/officeDocument/2006/relationships/hyperlink" Target="https://doi.org/10.1198/016214506000001437" TargetMode="External" /></Relationships>
</file>

<file path=ppt/slides/_rels/slide3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_44de3d25c6c01d2f.png" /><Relationship Id="rId3" Type="http://schemas.openxmlformats.org/officeDocument/2006/relationships/hyperlink" Target="https://da-xiong-chen.github.io/baseball_project/" TargetMode="External" /><Relationship Id="rId4" Type="http://schemas.openxmlformats.org/officeDocument/2006/relationships/hyperlink" Target="https://github.com/Da-Xiong-Chen/baseball_project" TargetMode="Externa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eam"/>
          <p:cNvGrpSpPr/>
          <p:nvPr/>
        </p:nvGrpSpPr>
        <p:grpSpPr>
          <a:xfrm>
            <a:off x="592836" y="488918"/>
            <a:ext cx="4569428" cy="1021271"/>
            <a:chOff x="592836" y="488918"/>
            <a:chExt cx="4569428" cy="1021271"/>
          </a:xfrm>
        </p:grpSpPr>
        <p:sp>
          <p:nvSpPr>
            <p:cNvPr id="2" name="TextBox 2"/>
            <p:cNvSpPr/>
            <p:nvPr/>
          </p:nvSpPr>
          <p:spPr>
            <a:xfrm>
              <a:off x="592836" y="488918"/>
              <a:ext cx="178141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200" b="1" dirty="0">
                  <a:solidFill>
                    <a:srgbClr val="B54836"/>
                  </a:solidFill>
                  <a:latin typeface="Arial"/>
                  <a:ea typeface="Microsoft JhengHei"/>
                  <a:cs typeface="Arial"/>
                </a:rPr>
                <a:t>一球兩面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601218" y="1187482"/>
              <a:ext cx="45610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8868" rIns="0" bIns="0" anchor="t" anchorCtr="0">
              <a:noAutofit/>
            </a:bodyPr>
            <a:lstStyle/>
            <a:p>
              <a:pPr algn="l"/>
              <a:r>
                <a:rPr lang="zh-TW" sz="1580" dirty="0">
                  <a:solidFill>
                    <a:srgbClr val="18344A"/>
                  </a:solidFill>
                  <a:latin typeface="Arial"/>
                  <a:ea typeface="Microsoft JhengHei"/>
                  <a:cs typeface="Arial"/>
                </a:rPr>
                <a:t>2026 野革盃 台灣棒球數據黑客松｜參賽提案</a:t>
              </a:r>
            </a:p>
          </p:txBody>
        </p:sp>
      </p:grpSp>
      <p:grpSp>
        <p:nvGrpSpPr>
          <p:cNvPr id="7" name="hero"/>
          <p:cNvGrpSpPr/>
          <p:nvPr/>
        </p:nvGrpSpPr>
        <p:grpSpPr>
          <a:xfrm>
            <a:off x="590550" y="1930400"/>
            <a:ext cx="5561838" cy="1542542"/>
            <a:chOff x="590550" y="1930400"/>
            <a:chExt cx="5561838" cy="1542542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1930400"/>
              <a:ext cx="4642104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5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臨場用人決策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35508" y="3003550"/>
              <a:ext cx="551688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以公開中職資料，比較代打與換投人選</a:t>
              </a:r>
            </a:p>
          </p:txBody>
        </p:sp>
      </p:grpSp>
      <p:grpSp>
        <p:nvGrpSpPr>
          <p:cNvPr id="9" name="baseball"/>
          <p:cNvGrpSpPr/>
          <p:nvPr/>
        </p:nvGrpSpPr>
        <p:grpSpPr>
          <a:xfrm>
            <a:off x="8001000" y="1714500"/>
            <a:ext cx="3905250" cy="3905250"/>
            <a:chOff x="8001000" y="1714500"/>
            <a:chExt cx="3905250" cy="3905250"/>
          </a:xfrm>
        </p:grpSpPr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1000" y="1714500"/>
              <a:ext cx="3905250" cy="3905250"/>
            </a:xfrm>
            <a:prstGeom prst="rect">
              <a:avLst/>
            </a:prstGeom>
          </p:spPr>
        </p:pic>
      </p:grpSp>
      <p:grpSp>
        <p:nvGrpSpPr>
          <p:cNvPr id="12" name="promise"/>
          <p:cNvGrpSpPr/>
          <p:nvPr/>
        </p:nvGrpSpPr>
        <p:grpSpPr>
          <a:xfrm>
            <a:off x="592836" y="3860800"/>
            <a:ext cx="5364480" cy="1191768"/>
            <a:chOff x="592836" y="3860800"/>
            <a:chExt cx="5364480" cy="1191768"/>
          </a:xfrm>
        </p:grpSpPr>
        <p:sp>
          <p:nvSpPr>
            <p:cNvPr id="10" name="TextBox 10"/>
            <p:cNvSpPr txBox="1"/>
            <p:nvPr/>
          </p:nvSpPr>
          <p:spPr>
            <a:xfrm>
              <a:off x="592836" y="3860800"/>
              <a:ext cx="53644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差多少？誰接守？憑什麼？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8932" y="4641850"/>
              <a:ext cx="28483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參賽者　蘇櫟、陳信安</a:t>
              </a:r>
            </a:p>
          </p:txBody>
        </p:sp>
      </p:grpSp>
      <p:grpSp>
        <p:nvGrpSpPr>
          <p:cNvPr id="15" name="links"/>
          <p:cNvGrpSpPr/>
          <p:nvPr/>
        </p:nvGrpSpPr>
        <p:grpSpPr>
          <a:xfrm>
            <a:off x="597408" y="5422900"/>
            <a:ext cx="5732953" cy="469392"/>
            <a:chOff x="597408" y="5422900"/>
            <a:chExt cx="5732953" cy="469392"/>
          </a:xfrm>
        </p:grpSpPr>
        <p:sp>
          <p:nvSpPr>
            <p:cNvPr id="13" name="TextBox 13">
              <a:hlinkClick r:id="rId3"/>
            </p:cNvPr>
            <p:cNvSpPr txBox="1"/>
            <p:nvPr/>
          </p:nvSpPr>
          <p:spPr>
            <a:xfrm>
              <a:off x="597408" y="5422900"/>
              <a:ext cx="224565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開啟網站 Demo</a:t>
              </a:r>
            </a:p>
          </p:txBody>
        </p:sp>
        <p:sp>
          <p:nvSpPr>
            <p:cNvPr id="14" name="TextBox 14">
              <a:hlinkClick r:id="rId4"/>
            </p:cNvPr>
            <p:cNvSpPr txBox="1"/>
            <p:nvPr/>
          </p:nvSpPr>
          <p:spPr>
            <a:xfrm>
              <a:off x="4178808" y="5422900"/>
              <a:ext cx="215155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GitHub 原始碼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1375631" y="6445250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TW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1980" y="266700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B54836"/>
                </a:solidFill>
                <a:latin typeface="Arial"/>
                <a:ea typeface="Microsoft JhengHei"/>
                <a:cs typeface="Arial"/>
              </a:rPr>
              <a:t>提案內容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3598" y="558800"/>
            <a:ext cx="4696587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3150" b="1" dirty="0">
                <a:solidFill>
                  <a:srgbClr val="18344A"/>
                </a:solidFill>
                <a:latin typeface="Arial"/>
                <a:ea typeface="Microsoft JhengHei"/>
                <a:cs typeface="Arial"/>
              </a:rPr>
              <a:t>從換人情境，到網站實作</a:t>
            </a:r>
          </a:p>
        </p:txBody>
      </p:sp>
      <p:sp>
        <p:nvSpPr>
          <p:cNvPr id="4" name="Rectangle 4"/>
          <p:cNvSpPr/>
          <p:nvPr/>
        </p:nvSpPr>
        <p:spPr>
          <a:xfrm>
            <a:off x="609600" y="1257300"/>
            <a:ext cx="857250" cy="38100"/>
          </a:xfrm>
          <a:prstGeom prst="rect">
            <a:avLst/>
          </a:prstGeom>
          <a:solidFill>
            <a:srgbClr val="B54836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1373378" y="6445250"/>
            <a:ext cx="21588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0075" y="1924050"/>
            <a:ext cx="300582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880" b="1" dirty="0">
                <a:solidFill>
                  <a:srgbClr val="B5483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88720" y="1873250"/>
            <a:ext cx="123444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2250" b="1" dirty="0">
                <a:solidFill>
                  <a:srgbClr val="18344A"/>
                </a:solidFill>
                <a:latin typeface="Arial"/>
                <a:ea typeface="Microsoft JhengHei"/>
                <a:cs typeface="Arial"/>
              </a:rPr>
              <a:t>棒球問題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91006" y="2374900"/>
            <a:ext cx="365302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800" dirty="0">
                <a:solidFill>
                  <a:srgbClr val="58616B"/>
                </a:solidFill>
                <a:latin typeface="Arial"/>
                <a:ea typeface="Microsoft JhengHei"/>
                <a:cs typeface="Arial"/>
              </a:rPr>
              <a:t>關鍵打席，如何比較續打與換人？</a:t>
            </a:r>
          </a:p>
        </p:txBody>
      </p:sp>
      <p:sp>
        <p:nvSpPr>
          <p:cNvPr id="9" name="Line 9"/>
          <p:cNvSpPr/>
          <p:nvPr/>
        </p:nvSpPr>
        <p:spPr>
          <a:xfrm>
            <a:off x="609600" y="2876550"/>
            <a:ext cx="5219700" cy="9525"/>
          </a:xfrm>
          <a:custGeom>
            <a:avLst/>
            <a:gdLst/>
            <a:ahLst/>
            <a:cxnLst/>
            <a:rect l="l" t="t" r="r" b="b"/>
            <a:pathLst>
              <a:path w="5219700" h="9525">
                <a:moveTo>
                  <a:pt x="0" y="0"/>
                </a:moveTo>
                <a:lnTo>
                  <a:pt x="5219700" y="0"/>
                </a:lnTo>
              </a:path>
            </a:pathLst>
          </a:custGeom>
          <a:noFill/>
          <a:ln w="19050">
            <a:solidFill>
              <a:srgbClr val="D7D1C5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600075" y="3333750"/>
            <a:ext cx="300582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880" b="1" dirty="0">
                <a:solidFill>
                  <a:srgbClr val="B5483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8720" y="3282950"/>
            <a:ext cx="184023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2250" b="1" dirty="0">
                <a:solidFill>
                  <a:srgbClr val="18344A"/>
                </a:solidFill>
                <a:latin typeface="Arial"/>
                <a:ea typeface="Microsoft JhengHei"/>
                <a:cs typeface="Arial"/>
              </a:rPr>
              <a:t>使用者與情境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91006" y="3784600"/>
            <a:ext cx="316839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800" dirty="0">
                <a:solidFill>
                  <a:srgbClr val="58616B"/>
                </a:solidFill>
                <a:latin typeface="Arial"/>
                <a:ea typeface="Microsoft JhengHei"/>
                <a:cs typeface="Arial"/>
              </a:rPr>
              <a:t>球隊調度討論與球迷情境模擬</a:t>
            </a:r>
          </a:p>
        </p:txBody>
      </p:sp>
      <p:sp>
        <p:nvSpPr>
          <p:cNvPr id="13" name="Line 13"/>
          <p:cNvSpPr/>
          <p:nvPr/>
        </p:nvSpPr>
        <p:spPr>
          <a:xfrm>
            <a:off x="609600" y="4286250"/>
            <a:ext cx="5219700" cy="9525"/>
          </a:xfrm>
          <a:custGeom>
            <a:avLst/>
            <a:gdLst/>
            <a:ahLst/>
            <a:cxnLst/>
            <a:rect l="l" t="t" r="r" b="b"/>
            <a:pathLst>
              <a:path w="5219700" h="9525">
                <a:moveTo>
                  <a:pt x="0" y="0"/>
                </a:moveTo>
                <a:lnTo>
                  <a:pt x="5219700" y="0"/>
                </a:lnTo>
              </a:path>
            </a:pathLst>
          </a:custGeom>
          <a:noFill/>
          <a:ln w="19050">
            <a:solidFill>
              <a:srgbClr val="D7D1C5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600075" y="4743450"/>
            <a:ext cx="300582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880" b="1" dirty="0">
                <a:solidFill>
                  <a:srgbClr val="B5483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88720" y="4692650"/>
            <a:ext cx="123444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2250" b="1" dirty="0">
                <a:solidFill>
                  <a:srgbClr val="18344A"/>
                </a:solidFill>
                <a:latin typeface="Arial"/>
                <a:ea typeface="Microsoft JhengHei"/>
                <a:cs typeface="Arial"/>
              </a:rPr>
              <a:t>使用資料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91006" y="5194300"/>
            <a:ext cx="292608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800" dirty="0">
                <a:solidFill>
                  <a:srgbClr val="58616B"/>
                </a:solidFill>
                <a:latin typeface="Arial"/>
                <a:ea typeface="Microsoft JhengHei"/>
                <a:cs typeface="Arial"/>
              </a:rPr>
              <a:t>逐球、出賽紀錄與守位資訊</a:t>
            </a:r>
          </a:p>
        </p:txBody>
      </p:sp>
      <p:sp>
        <p:nvSpPr>
          <p:cNvPr id="17" name="Line 17"/>
          <p:cNvSpPr/>
          <p:nvPr/>
        </p:nvSpPr>
        <p:spPr>
          <a:xfrm>
            <a:off x="609600" y="5695950"/>
            <a:ext cx="5219700" cy="9525"/>
          </a:xfrm>
          <a:custGeom>
            <a:avLst/>
            <a:gdLst/>
            <a:ahLst/>
            <a:cxnLst/>
            <a:rect l="l" t="t" r="r" b="b"/>
            <a:pathLst>
              <a:path w="5219700" h="9525">
                <a:moveTo>
                  <a:pt x="0" y="0"/>
                </a:moveTo>
                <a:lnTo>
                  <a:pt x="5219700" y="0"/>
                </a:lnTo>
              </a:path>
            </a:pathLst>
          </a:custGeom>
          <a:noFill/>
          <a:ln w="19050">
            <a:solidFill>
              <a:srgbClr val="D7D1C5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315075" y="1924050"/>
            <a:ext cx="300582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880" b="1" dirty="0">
                <a:solidFill>
                  <a:srgbClr val="B5483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903720" y="1873250"/>
            <a:ext cx="123444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2250" b="1" dirty="0">
                <a:solidFill>
                  <a:srgbClr val="18344A"/>
                </a:solidFill>
                <a:latin typeface="Arial"/>
                <a:ea typeface="Microsoft JhengHei"/>
                <a:cs typeface="Arial"/>
              </a:rPr>
              <a:t>分析方法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906006" y="2374900"/>
            <a:ext cx="292608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800" dirty="0">
                <a:solidFill>
                  <a:srgbClr val="58616B"/>
                </a:solidFill>
                <a:latin typeface="Arial"/>
                <a:ea typeface="Microsoft JhengHei"/>
                <a:cs typeface="Arial"/>
              </a:rPr>
              <a:t>能力估計、回測與研究依據</a:t>
            </a:r>
          </a:p>
        </p:txBody>
      </p:sp>
      <p:sp>
        <p:nvSpPr>
          <p:cNvPr id="21" name="Line 21"/>
          <p:cNvSpPr/>
          <p:nvPr/>
        </p:nvSpPr>
        <p:spPr>
          <a:xfrm>
            <a:off x="6324600" y="2876550"/>
            <a:ext cx="5219700" cy="9525"/>
          </a:xfrm>
          <a:custGeom>
            <a:avLst/>
            <a:gdLst/>
            <a:ahLst/>
            <a:cxnLst/>
            <a:rect l="l" t="t" r="r" b="b"/>
            <a:pathLst>
              <a:path w="5219700" h="9525">
                <a:moveTo>
                  <a:pt x="0" y="0"/>
                </a:moveTo>
                <a:lnTo>
                  <a:pt x="5219700" y="0"/>
                </a:lnTo>
              </a:path>
            </a:pathLst>
          </a:custGeom>
          <a:noFill/>
          <a:ln w="19050">
            <a:solidFill>
              <a:srgbClr val="D7D1C5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315075" y="3333750"/>
            <a:ext cx="300582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880" b="1" dirty="0">
                <a:solidFill>
                  <a:srgbClr val="B5483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903720" y="3282950"/>
            <a:ext cx="123444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2250" b="1" dirty="0">
                <a:solidFill>
                  <a:srgbClr val="18344A"/>
                </a:solidFill>
                <a:latin typeface="Arial"/>
                <a:ea typeface="Microsoft JhengHei"/>
                <a:cs typeface="Arial"/>
              </a:rPr>
              <a:t>網站功能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906006" y="3784600"/>
            <a:ext cx="316839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800" dirty="0">
                <a:solidFill>
                  <a:srgbClr val="58616B"/>
                </a:solidFill>
                <a:latin typeface="Arial"/>
                <a:ea typeface="Microsoft JhengHei"/>
                <a:cs typeface="Arial"/>
              </a:rPr>
              <a:t>代打、換投、名單與單日回放</a:t>
            </a:r>
          </a:p>
        </p:txBody>
      </p:sp>
      <p:sp>
        <p:nvSpPr>
          <p:cNvPr id="25" name="Line 25"/>
          <p:cNvSpPr/>
          <p:nvPr/>
        </p:nvSpPr>
        <p:spPr>
          <a:xfrm>
            <a:off x="6324600" y="4286250"/>
            <a:ext cx="5219700" cy="9525"/>
          </a:xfrm>
          <a:custGeom>
            <a:avLst/>
            <a:gdLst/>
            <a:ahLst/>
            <a:cxnLst/>
            <a:rect l="l" t="t" r="r" b="b"/>
            <a:pathLst>
              <a:path w="5219700" h="9525">
                <a:moveTo>
                  <a:pt x="0" y="0"/>
                </a:moveTo>
                <a:lnTo>
                  <a:pt x="5219700" y="0"/>
                </a:lnTo>
              </a:path>
            </a:pathLst>
          </a:custGeom>
          <a:noFill/>
          <a:ln w="19050">
            <a:solidFill>
              <a:srgbClr val="D7D1C5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6315075" y="4743450"/>
            <a:ext cx="300582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880" b="1" dirty="0">
                <a:solidFill>
                  <a:srgbClr val="B5483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903720" y="4692650"/>
            <a:ext cx="214312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2250" b="1" dirty="0">
                <a:solidFill>
                  <a:srgbClr val="18344A"/>
                </a:solidFill>
                <a:latin typeface="Arial"/>
                <a:ea typeface="Microsoft JhengHei"/>
                <a:cs typeface="Arial"/>
              </a:rPr>
              <a:t>成果與開發規劃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906006" y="5194300"/>
            <a:ext cx="341071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800" dirty="0">
                <a:solidFill>
                  <a:srgbClr val="58616B"/>
                </a:solidFill>
                <a:latin typeface="Arial"/>
                <a:ea typeface="Microsoft JhengHei"/>
                <a:cs typeface="Arial"/>
              </a:rPr>
              <a:t>網站現況、使用驗證與資料更新</a:t>
            </a:r>
          </a:p>
        </p:txBody>
      </p:sp>
      <p:sp>
        <p:nvSpPr>
          <p:cNvPr id="29" name="Line 29"/>
          <p:cNvSpPr/>
          <p:nvPr/>
        </p:nvSpPr>
        <p:spPr>
          <a:xfrm>
            <a:off x="6324600" y="5695950"/>
            <a:ext cx="5219700" cy="9525"/>
          </a:xfrm>
          <a:custGeom>
            <a:avLst/>
            <a:gdLst/>
            <a:ahLst/>
            <a:cxnLst/>
            <a:rect l="l" t="t" r="r" b="b"/>
            <a:pathLst>
              <a:path w="5219700" h="9525">
                <a:moveTo>
                  <a:pt x="0" y="0"/>
                </a:moveTo>
                <a:lnTo>
                  <a:pt x="5219700" y="0"/>
                </a:lnTo>
              </a:path>
            </a:pathLst>
          </a:custGeom>
          <a:noFill/>
          <a:ln w="19050">
            <a:solidFill>
              <a:srgbClr val="D7D1C5"/>
            </a:solidFill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baseball"/>
          <p:cNvGrpSpPr/>
          <p:nvPr/>
        </p:nvGrpSpPr>
        <p:grpSpPr>
          <a:xfrm>
            <a:off x="8001000" y="1714500"/>
            <a:ext cx="3905250" cy="3905250"/>
            <a:chOff x="8001000" y="1714500"/>
            <a:chExt cx="3905250" cy="3905250"/>
          </a:xfrm>
        </p:grpSpPr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1000" y="1714500"/>
              <a:ext cx="3905250" cy="3905250"/>
            </a:xfrm>
            <a:prstGeom prst="rect">
              <a:avLst/>
            </a:prstGeom>
          </p:spPr>
        </p:pic>
      </p:grpSp>
      <p:grpSp>
        <p:nvGrpSpPr>
          <p:cNvPr id="7" name="chapter-content"/>
          <p:cNvGrpSpPr/>
          <p:nvPr/>
        </p:nvGrpSpPr>
        <p:grpSpPr>
          <a:xfrm>
            <a:off x="590550" y="673100"/>
            <a:ext cx="5852922" cy="4496626"/>
            <a:chOff x="590550" y="673100"/>
            <a:chExt cx="5852922" cy="4496626"/>
          </a:xfrm>
        </p:grpSpPr>
        <p:sp>
          <p:nvSpPr>
            <p:cNvPr id="3" name="TextBox 3"/>
            <p:cNvSpPr txBox="1"/>
            <p:nvPr/>
          </p:nvSpPr>
          <p:spPr>
            <a:xfrm>
              <a:off x="590550" y="673100"/>
              <a:ext cx="1296011" cy="1619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8400" b="1" dirty="0">
                  <a:solidFill>
                    <a:srgbClr val="B54836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1312" y="2632075"/>
              <a:ext cx="585216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600" b="1" dirty="0">
                  <a:solidFill>
                    <a:srgbClr val="18344A"/>
                  </a:solidFill>
                  <a:latin typeface="Arial"/>
                  <a:ea typeface="Microsoft JhengHei"/>
                  <a:cs typeface="Arial"/>
                </a:rPr>
                <a:t>換人之前，要先回答什麼？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8932" y="3565525"/>
              <a:ext cx="42618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dirty="0">
                  <a:solidFill>
                    <a:srgbClr val="58616B"/>
                  </a:solidFill>
                  <a:latin typeface="Arial"/>
                  <a:ea typeface="Microsoft JhengHei"/>
                  <a:cs typeface="Arial"/>
                </a:rPr>
                <a:t>棒球問題、目標使用者與應用創新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0837" y="4832350"/>
              <a:ext cx="256453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720" dirty="0">
                  <a:solidFill>
                    <a:srgbClr val="18344A"/>
                  </a:solidFill>
                  <a:latin typeface="Arial"/>
                  <a:ea typeface="Microsoft JhengHei"/>
                  <a:cs typeface="Arial"/>
                </a:rPr>
                <a:t>一球兩面｜臨場用人決策</a:t>
              </a:r>
            </a:p>
          </p:txBody>
        </p:sp>
      </p:grpSp>
      <p:sp>
        <p:nvSpPr>
          <p:cNvPr id="10" name="TextBox 8"/>
          <p:cNvSpPr txBox="1"/>
          <p:nvPr/>
        </p:nvSpPr>
        <p:spPr>
          <a:xfrm>
            <a:off x="11373378" y="6445250"/>
            <a:ext cx="21588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1980" y="266700"/>
            <a:ext cx="145144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B54836"/>
                </a:solidFill>
                <a:latin typeface="Arial"/>
                <a:ea typeface="Microsoft JhengHei"/>
                <a:cs typeface="Arial"/>
              </a:rPr>
              <a:t>01　問題與定位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3598" y="558800"/>
            <a:ext cx="5544693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3150" b="1" dirty="0">
                <a:solidFill>
                  <a:srgbClr val="18344A"/>
                </a:solidFill>
                <a:latin typeface="Arial"/>
                <a:ea typeface="Microsoft JhengHei"/>
                <a:cs typeface="Arial"/>
              </a:rPr>
              <a:t>八局落後一分，要讓誰上場？</a:t>
            </a:r>
          </a:p>
        </p:txBody>
      </p:sp>
      <p:sp>
        <p:nvSpPr>
          <p:cNvPr id="4" name="Rectangle 4"/>
          <p:cNvSpPr/>
          <p:nvPr/>
        </p:nvSpPr>
        <p:spPr>
          <a:xfrm>
            <a:off x="609600" y="1257300"/>
            <a:ext cx="857250" cy="38100"/>
          </a:xfrm>
          <a:prstGeom prst="rect">
            <a:avLst/>
          </a:prstGeom>
          <a:solidFill>
            <a:srgbClr val="B54836"/>
          </a:solidFill>
          <a:ln>
            <a:noFill/>
          </a:ln>
        </p:spPr>
      </p:sp>
      <p:sp>
        <p:nvSpPr>
          <p:cNvPr id="5" name="TextBox 5"/>
          <p:cNvSpPr/>
          <p:nvPr/>
        </p:nvSpPr>
        <p:spPr>
          <a:xfrm>
            <a:off x="11373422" y="6445282"/>
            <a:ext cx="2158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Rectangle 6"/>
          <p:cNvSpPr/>
          <p:nvPr/>
        </p:nvSpPr>
        <p:spPr>
          <a:xfrm>
            <a:off x="600075" y="1822912"/>
            <a:ext cx="6115050" cy="1802475"/>
          </a:xfrm>
          <a:prstGeom prst="roundRect">
            <a:avLst>
              <a:gd name="adj" fmla="val 4228"/>
            </a:avLst>
          </a:prstGeom>
          <a:solidFill>
            <a:srgbClr val="FFFFFF"/>
          </a:solidFill>
          <a:ln w="14288">
            <a:solidFill>
              <a:srgbClr val="D7D1C5"/>
            </a:solidFill>
          </a:ln>
        </p:spPr>
      </p:sp>
      <p:pic>
        <p:nvPicPr>
          <p:cNvPr id="7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832437"/>
            <a:ext cx="6096000" cy="1783425"/>
          </a:xfrm>
          <a:prstGeom prst="rect">
            <a:avLst/>
          </a:prstGeom>
        </p:spPr>
      </p:pic>
      <p:sp>
        <p:nvSpPr>
          <p:cNvPr id="8" name="Freeform 8"/>
          <p:cNvSpPr/>
          <p:nvPr/>
        </p:nvSpPr>
        <p:spPr>
          <a:xfrm>
            <a:off x="2381250" y="4095750"/>
            <a:ext cx="1905000" cy="1905000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952500" y="1905000"/>
                </a:moveTo>
                <a:lnTo>
                  <a:pt x="1905000" y="952500"/>
                </a:lnTo>
                <a:lnTo>
                  <a:pt x="952500" y="0"/>
                </a:lnTo>
                <a:lnTo>
                  <a:pt x="0" y="952500"/>
                </a:lnTo>
                <a:close/>
              </a:path>
            </a:pathLst>
          </a:custGeom>
          <a:noFill/>
          <a:ln w="28575">
            <a:solidFill>
              <a:srgbClr val="D7D1C5"/>
            </a:solidFill>
          </a:ln>
        </p:spPr>
      </p:sp>
      <p:sp>
        <p:nvSpPr>
          <p:cNvPr id="9" name="Polygon 9"/>
          <p:cNvSpPr/>
          <p:nvPr/>
        </p:nvSpPr>
        <p:spPr>
          <a:xfrm>
            <a:off x="3219450" y="39814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228600" y="114300"/>
                </a:lnTo>
                <a:lnTo>
                  <a:pt x="114300" y="228600"/>
                </a:lnTo>
                <a:lnTo>
                  <a:pt x="0" y="114300"/>
                </a:lnTo>
                <a:close/>
              </a:path>
            </a:pathLst>
          </a:custGeom>
          <a:solidFill>
            <a:srgbClr val="B54836"/>
          </a:solidFill>
          <a:ln w="19050">
            <a:solidFill>
              <a:srgbClr val="18344A"/>
            </a:solidFill>
          </a:ln>
        </p:spPr>
      </p:sp>
      <p:sp>
        <p:nvSpPr>
          <p:cNvPr id="10" name="Polygon 10"/>
          <p:cNvSpPr/>
          <p:nvPr/>
        </p:nvSpPr>
        <p:spPr>
          <a:xfrm>
            <a:off x="4171950" y="49339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228600" y="114300"/>
                </a:lnTo>
                <a:lnTo>
                  <a:pt x="114300" y="228600"/>
                </a:lnTo>
                <a:lnTo>
                  <a:pt x="0" y="114300"/>
                </a:lnTo>
                <a:close/>
              </a:path>
            </a:pathLst>
          </a:custGeom>
          <a:solidFill>
            <a:srgbClr val="F7F5EF"/>
          </a:solidFill>
          <a:ln w="19050">
            <a:solidFill>
              <a:srgbClr val="18344A"/>
            </a:solidFill>
          </a:ln>
        </p:spPr>
      </p:sp>
      <p:sp>
        <p:nvSpPr>
          <p:cNvPr id="11" name="Polygon 11"/>
          <p:cNvSpPr/>
          <p:nvPr/>
        </p:nvSpPr>
        <p:spPr>
          <a:xfrm>
            <a:off x="2266950" y="49339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228600" y="114300"/>
                </a:lnTo>
                <a:lnTo>
                  <a:pt x="114300" y="228600"/>
                </a:lnTo>
                <a:lnTo>
                  <a:pt x="0" y="114300"/>
                </a:lnTo>
                <a:close/>
              </a:path>
            </a:pathLst>
          </a:custGeom>
          <a:solidFill>
            <a:srgbClr val="F7F5EF"/>
          </a:solidFill>
          <a:ln w="19050">
            <a:solidFill>
              <a:srgbClr val="18344A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2798826" y="5026025"/>
            <a:ext cx="1069848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TW" sz="1950" b="1" dirty="0">
                <a:solidFill>
                  <a:srgbClr val="18344A"/>
                </a:solidFill>
                <a:latin typeface="Arial"/>
                <a:ea typeface="Microsoft JhengHei"/>
                <a:cs typeface="Arial"/>
              </a:rPr>
              <a:t>二壘有人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961132" y="5422900"/>
            <a:ext cx="74523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TW" sz="1800" dirty="0">
                <a:solidFill>
                  <a:srgbClr val="58616B"/>
                </a:solidFill>
                <a:latin typeface="Arial"/>
                <a:ea typeface="Microsoft JhengHei"/>
                <a:cs typeface="Arial"/>
              </a:rPr>
              <a:t>一出局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334250" y="1809750"/>
            <a:ext cx="1143000" cy="361950"/>
          </a:xfrm>
          <a:prstGeom prst="roundRect">
            <a:avLst>
              <a:gd name="adj" fmla="val 21053"/>
            </a:avLst>
          </a:prstGeom>
          <a:solidFill>
            <a:srgbClr val="ECE5D9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7478268" y="1863725"/>
            <a:ext cx="69570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650" b="1" dirty="0">
                <a:solidFill>
                  <a:srgbClr val="18344A"/>
                </a:solidFill>
                <a:latin typeface="Arial"/>
                <a:ea typeface="Microsoft JhengHei"/>
                <a:cs typeface="Arial"/>
              </a:rPr>
              <a:t>選擇 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321296" y="2216150"/>
            <a:ext cx="1742313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2550" b="1" dirty="0">
                <a:solidFill>
                  <a:srgbClr val="18344A"/>
                </a:solidFill>
                <a:latin typeface="Arial"/>
                <a:ea typeface="Microsoft JhengHei"/>
                <a:cs typeface="Arial"/>
              </a:rPr>
              <a:t>林佳緯續打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324725" y="2743200"/>
            <a:ext cx="2549906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880" dirty="0">
                <a:solidFill>
                  <a:srgbClr val="1D2934"/>
                </a:solidFill>
                <a:latin typeface="Arial"/>
                <a:ea typeface="Microsoft JhengHei"/>
                <a:cs typeface="Arial"/>
              </a:rPr>
              <a:t>左打，面對左投魔力藍</a:t>
            </a:r>
          </a:p>
        </p:txBody>
      </p:sp>
      <p:sp>
        <p:nvSpPr>
          <p:cNvPr id="18" name="Line 18"/>
          <p:cNvSpPr/>
          <p:nvPr/>
        </p:nvSpPr>
        <p:spPr>
          <a:xfrm>
            <a:off x="7334250" y="3333750"/>
            <a:ext cx="4248150" cy="9525"/>
          </a:xfrm>
          <a:custGeom>
            <a:avLst/>
            <a:gdLst/>
            <a:ahLst/>
            <a:cxnLst/>
            <a:rect l="l" t="t" r="r" b="b"/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/>
          <a:ln w="19050">
            <a:solidFill>
              <a:srgbClr val="D7D1C5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7334250" y="3638550"/>
            <a:ext cx="1143000" cy="361950"/>
          </a:xfrm>
          <a:prstGeom prst="roundRect">
            <a:avLst>
              <a:gd name="adj" fmla="val 21053"/>
            </a:avLst>
          </a:prstGeom>
          <a:solidFill>
            <a:srgbClr val="ECE5D9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7478268" y="3692525"/>
            <a:ext cx="69570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650" b="1" dirty="0">
                <a:solidFill>
                  <a:srgbClr val="18344A"/>
                </a:solidFill>
                <a:latin typeface="Arial"/>
                <a:ea typeface="Microsoft JhengHei"/>
                <a:cs typeface="Arial"/>
              </a:rPr>
              <a:t>選擇 B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321296" y="4044950"/>
            <a:ext cx="1742313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2550" b="1" dirty="0">
                <a:solidFill>
                  <a:srgbClr val="18344A"/>
                </a:solidFill>
                <a:latin typeface="Arial"/>
                <a:ea typeface="Microsoft JhengHei"/>
                <a:cs typeface="Arial"/>
              </a:rPr>
              <a:t>胡金龍代打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324725" y="4572000"/>
            <a:ext cx="2802992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880" dirty="0">
                <a:solidFill>
                  <a:srgbClr val="1D2934"/>
                </a:solidFill>
                <a:latin typeface="Arial"/>
                <a:ea typeface="Microsoft JhengHei"/>
                <a:cs typeface="Arial"/>
              </a:rPr>
              <a:t>右打，承接指定打擊棒次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01980" y="5981700"/>
            <a:ext cx="545652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58616B"/>
                </a:solidFill>
                <a:latin typeface="Arial"/>
                <a:ea typeface="Microsoft JhengHei"/>
                <a:cs typeface="Arial"/>
              </a:rPr>
              <a:t>比較條件：統一對富邦，8 局上、1：2。這是自訂示範情境。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1980" y="266700"/>
            <a:ext cx="145144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B54836"/>
                </a:solidFill>
                <a:latin typeface="Arial"/>
                <a:ea typeface="Microsoft JhengHei"/>
                <a:cs typeface="Arial"/>
              </a:rPr>
              <a:t>01　問題與定位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3598" y="558800"/>
            <a:ext cx="6816852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3150" b="1" dirty="0">
                <a:solidFill>
                  <a:srgbClr val="18344A"/>
                </a:solidFill>
                <a:latin typeface="Arial"/>
                <a:ea typeface="Microsoft JhengHei"/>
                <a:cs typeface="Arial"/>
              </a:rPr>
              <a:t>球隊確認可用名單，球迷可直接模擬</a:t>
            </a:r>
          </a:p>
        </p:txBody>
      </p:sp>
      <p:sp>
        <p:nvSpPr>
          <p:cNvPr id="4" name="Rectangle 4"/>
          <p:cNvSpPr/>
          <p:nvPr/>
        </p:nvSpPr>
        <p:spPr>
          <a:xfrm>
            <a:off x="609600" y="1257300"/>
            <a:ext cx="857250" cy="38100"/>
          </a:xfrm>
          <a:prstGeom prst="rect">
            <a:avLst/>
          </a:prstGeom>
          <a:solidFill>
            <a:srgbClr val="B54836"/>
          </a:solidFill>
          <a:ln>
            <a:noFill/>
          </a:ln>
        </p:spPr>
      </p:sp>
      <p:sp>
        <p:nvSpPr>
          <p:cNvPr id="5" name="TextBox 5"/>
          <p:cNvSpPr/>
          <p:nvPr/>
        </p:nvSpPr>
        <p:spPr>
          <a:xfrm>
            <a:off x="11373422" y="6445282"/>
            <a:ext cx="2158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6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638300"/>
            <a:ext cx="4533900" cy="1000125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98551" y="2924175"/>
            <a:ext cx="2663342" cy="4263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2180" b="1" dirty="0">
                <a:solidFill>
                  <a:srgbClr val="18344A"/>
                </a:solidFill>
                <a:latin typeface="Arial"/>
                <a:ea typeface="Microsoft JhengHei"/>
                <a:cs typeface="Arial"/>
              </a:rPr>
              <a:t>球隊分析員與教練團</a:t>
            </a:r>
          </a:p>
        </p:txBody>
      </p:sp>
      <p:sp>
        <p:nvSpPr>
          <p:cNvPr id="8" name="Rectangle 8"/>
          <p:cNvSpPr/>
          <p:nvPr/>
        </p:nvSpPr>
        <p:spPr>
          <a:xfrm>
            <a:off x="4095750" y="2876550"/>
            <a:ext cx="2190750" cy="59055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4288">
            <a:solidFill>
              <a:srgbClr val="D7D1C5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4455033" y="3051175"/>
            <a:ext cx="14721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TW" sz="1800" b="1" dirty="0">
                <a:solidFill>
                  <a:srgbClr val="18344A"/>
                </a:solidFill>
                <a:latin typeface="Arial"/>
                <a:ea typeface="Microsoft JhengHei"/>
                <a:cs typeface="Arial"/>
              </a:rPr>
              <a:t>安排場上九棒</a:t>
            </a:r>
          </a:p>
        </p:txBody>
      </p:sp>
      <p:sp>
        <p:nvSpPr>
          <p:cNvPr id="10" name="Line 10"/>
          <p:cNvSpPr/>
          <p:nvPr/>
        </p:nvSpPr>
        <p:spPr>
          <a:xfrm>
            <a:off x="6353175" y="3171825"/>
            <a:ext cx="152400" cy="9525"/>
          </a:xfrm>
          <a:custGeom>
            <a:avLst/>
            <a:gdLst/>
            <a:ahLst/>
            <a:cxnLst/>
            <a:rect l="l" t="t" r="r" b="b"/>
            <a:pathLst>
              <a:path w="152400" h="9525">
                <a:moveTo>
                  <a:pt x="0" y="0"/>
                </a:moveTo>
                <a:lnTo>
                  <a:pt x="152400" y="0"/>
                </a:lnTo>
              </a:path>
            </a:pathLst>
          </a:custGeom>
          <a:noFill/>
          <a:ln w="23812">
            <a:solidFill>
              <a:srgbClr val="B54836"/>
            </a:solidFill>
          </a:ln>
        </p:spPr>
      </p:sp>
      <p:sp>
        <p:nvSpPr>
          <p:cNvPr id="11" name="Freeform 11"/>
          <p:cNvSpPr/>
          <p:nvPr/>
        </p:nvSpPr>
        <p:spPr>
          <a:xfrm>
            <a:off x="6419850" y="3114675"/>
            <a:ext cx="85725" cy="114300"/>
          </a:xfrm>
          <a:custGeom>
            <a:avLst/>
            <a:gdLst/>
            <a:ahLst/>
            <a:cxnLst/>
            <a:rect l="l" t="t" r="r" b="b"/>
            <a:pathLst>
              <a:path w="85725" h="114300">
                <a:moveTo>
                  <a:pt x="0" y="0"/>
                </a:moveTo>
                <a:lnTo>
                  <a:pt x="85725" y="57150"/>
                </a:lnTo>
                <a:lnTo>
                  <a:pt x="0" y="114300"/>
                </a:lnTo>
              </a:path>
            </a:pathLst>
          </a:custGeom>
          <a:noFill/>
          <a:ln w="23812">
            <a:solidFill>
              <a:srgbClr val="B54836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6572250" y="2876550"/>
            <a:ext cx="2190750" cy="59055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4288">
            <a:solidFill>
              <a:srgbClr val="D7D1C5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6810375" y="3051175"/>
            <a:ext cx="171450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TW" sz="1800" b="1" dirty="0">
                <a:solidFill>
                  <a:srgbClr val="18344A"/>
                </a:solidFill>
                <a:latin typeface="Arial"/>
                <a:ea typeface="Microsoft JhengHei"/>
                <a:cs typeface="Arial"/>
              </a:rPr>
              <a:t>確認板凳／牛棚</a:t>
            </a:r>
          </a:p>
        </p:txBody>
      </p:sp>
      <p:sp>
        <p:nvSpPr>
          <p:cNvPr id="14" name="Line 14"/>
          <p:cNvSpPr/>
          <p:nvPr/>
        </p:nvSpPr>
        <p:spPr>
          <a:xfrm>
            <a:off x="8829675" y="3171825"/>
            <a:ext cx="152400" cy="9525"/>
          </a:xfrm>
          <a:custGeom>
            <a:avLst/>
            <a:gdLst/>
            <a:ahLst/>
            <a:cxnLst/>
            <a:rect l="l" t="t" r="r" b="b"/>
            <a:pathLst>
              <a:path w="152400" h="9525">
                <a:moveTo>
                  <a:pt x="0" y="0"/>
                </a:moveTo>
                <a:lnTo>
                  <a:pt x="152400" y="0"/>
                </a:lnTo>
              </a:path>
            </a:pathLst>
          </a:custGeom>
          <a:noFill/>
          <a:ln w="23812">
            <a:solidFill>
              <a:srgbClr val="B54836"/>
            </a:solidFill>
          </a:ln>
        </p:spPr>
      </p:sp>
      <p:sp>
        <p:nvSpPr>
          <p:cNvPr id="15" name="Freeform 15"/>
          <p:cNvSpPr/>
          <p:nvPr/>
        </p:nvSpPr>
        <p:spPr>
          <a:xfrm>
            <a:off x="8896350" y="3114675"/>
            <a:ext cx="85725" cy="114300"/>
          </a:xfrm>
          <a:custGeom>
            <a:avLst/>
            <a:gdLst/>
            <a:ahLst/>
            <a:cxnLst/>
            <a:rect l="l" t="t" r="r" b="b"/>
            <a:pathLst>
              <a:path w="85725" h="114300">
                <a:moveTo>
                  <a:pt x="0" y="0"/>
                </a:moveTo>
                <a:lnTo>
                  <a:pt x="85725" y="57150"/>
                </a:lnTo>
                <a:lnTo>
                  <a:pt x="0" y="114300"/>
                </a:lnTo>
              </a:path>
            </a:pathLst>
          </a:custGeom>
          <a:noFill/>
          <a:ln w="23812">
            <a:solidFill>
              <a:srgbClr val="B54836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9048750" y="2876550"/>
            <a:ext cx="2190750" cy="59055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4288">
            <a:solidFill>
              <a:srgbClr val="D7D1C5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9408033" y="3051175"/>
            <a:ext cx="14721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TW" sz="1800" b="1" dirty="0">
                <a:solidFill>
                  <a:srgbClr val="18344A"/>
                </a:solidFill>
                <a:latin typeface="Arial"/>
                <a:ea typeface="Microsoft JhengHei"/>
                <a:cs typeface="Arial"/>
              </a:rPr>
              <a:t>比較換人人選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086606" y="3660775"/>
            <a:ext cx="413766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800" dirty="0">
                <a:solidFill>
                  <a:srgbClr val="58616B"/>
                </a:solidFill>
                <a:latin typeface="Arial"/>
                <a:ea typeface="Microsoft JhengHei"/>
                <a:cs typeface="Arial"/>
              </a:rPr>
              <a:t>用於備戰模擬、調度討論與賽後檢討。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98551" y="4562475"/>
            <a:ext cx="1489456" cy="4263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2180" b="1" dirty="0">
                <a:solidFill>
                  <a:srgbClr val="18344A"/>
                </a:solidFill>
                <a:latin typeface="Arial"/>
                <a:ea typeface="Microsoft JhengHei"/>
                <a:cs typeface="Arial"/>
              </a:rPr>
              <a:t>一般使用者</a:t>
            </a:r>
          </a:p>
        </p:txBody>
      </p:sp>
      <p:sp>
        <p:nvSpPr>
          <p:cNvPr id="20" name="Rectangle 20"/>
          <p:cNvSpPr/>
          <p:nvPr/>
        </p:nvSpPr>
        <p:spPr>
          <a:xfrm>
            <a:off x="4095750" y="4514850"/>
            <a:ext cx="2190750" cy="59055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4288">
            <a:solidFill>
              <a:srgbClr val="D7D1C5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4455033" y="4689475"/>
            <a:ext cx="14721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TW" sz="1800" b="1" dirty="0">
                <a:solidFill>
                  <a:srgbClr val="18344A"/>
                </a:solidFill>
                <a:latin typeface="Arial"/>
                <a:ea typeface="Microsoft JhengHei"/>
                <a:cs typeface="Arial"/>
              </a:rPr>
              <a:t>選擇投打組合</a:t>
            </a:r>
          </a:p>
        </p:txBody>
      </p:sp>
      <p:sp>
        <p:nvSpPr>
          <p:cNvPr id="22" name="Line 22"/>
          <p:cNvSpPr/>
          <p:nvPr/>
        </p:nvSpPr>
        <p:spPr>
          <a:xfrm>
            <a:off x="6353175" y="4810125"/>
            <a:ext cx="152400" cy="9525"/>
          </a:xfrm>
          <a:custGeom>
            <a:avLst/>
            <a:gdLst/>
            <a:ahLst/>
            <a:cxnLst/>
            <a:rect l="l" t="t" r="r" b="b"/>
            <a:pathLst>
              <a:path w="152400" h="9525">
                <a:moveTo>
                  <a:pt x="0" y="0"/>
                </a:moveTo>
                <a:lnTo>
                  <a:pt x="152400" y="0"/>
                </a:lnTo>
              </a:path>
            </a:pathLst>
          </a:custGeom>
          <a:noFill/>
          <a:ln w="23812">
            <a:solidFill>
              <a:srgbClr val="B54836"/>
            </a:solidFill>
          </a:ln>
        </p:spPr>
      </p:sp>
      <p:sp>
        <p:nvSpPr>
          <p:cNvPr id="23" name="Freeform 23"/>
          <p:cNvSpPr/>
          <p:nvPr/>
        </p:nvSpPr>
        <p:spPr>
          <a:xfrm>
            <a:off x="6419850" y="4752975"/>
            <a:ext cx="85725" cy="114300"/>
          </a:xfrm>
          <a:custGeom>
            <a:avLst/>
            <a:gdLst/>
            <a:ahLst/>
            <a:cxnLst/>
            <a:rect l="l" t="t" r="r" b="b"/>
            <a:pathLst>
              <a:path w="85725" h="114300">
                <a:moveTo>
                  <a:pt x="0" y="0"/>
                </a:moveTo>
                <a:lnTo>
                  <a:pt x="85725" y="57150"/>
                </a:lnTo>
                <a:lnTo>
                  <a:pt x="0" y="114300"/>
                </a:lnTo>
              </a:path>
            </a:pathLst>
          </a:custGeom>
          <a:noFill/>
          <a:ln w="23812">
            <a:solidFill>
              <a:srgbClr val="B54836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6572250" y="4514850"/>
            <a:ext cx="2190750" cy="59055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4288">
            <a:solidFill>
              <a:srgbClr val="D7D1C5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6810375" y="4689475"/>
            <a:ext cx="171450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TW" sz="1800" b="1" dirty="0">
                <a:solidFill>
                  <a:srgbClr val="18344A"/>
                </a:solidFill>
                <a:latin typeface="Arial"/>
                <a:ea typeface="Microsoft JhengHei"/>
                <a:cs typeface="Arial"/>
              </a:rPr>
              <a:t>設定比分與壘況</a:t>
            </a:r>
          </a:p>
        </p:txBody>
      </p:sp>
      <p:sp>
        <p:nvSpPr>
          <p:cNvPr id="26" name="Line 26"/>
          <p:cNvSpPr/>
          <p:nvPr/>
        </p:nvSpPr>
        <p:spPr>
          <a:xfrm>
            <a:off x="8829675" y="4810125"/>
            <a:ext cx="152400" cy="9525"/>
          </a:xfrm>
          <a:custGeom>
            <a:avLst/>
            <a:gdLst/>
            <a:ahLst/>
            <a:cxnLst/>
            <a:rect l="l" t="t" r="r" b="b"/>
            <a:pathLst>
              <a:path w="152400" h="9525">
                <a:moveTo>
                  <a:pt x="0" y="0"/>
                </a:moveTo>
                <a:lnTo>
                  <a:pt x="152400" y="0"/>
                </a:lnTo>
              </a:path>
            </a:pathLst>
          </a:custGeom>
          <a:noFill/>
          <a:ln w="23812">
            <a:solidFill>
              <a:srgbClr val="B54836"/>
            </a:solidFill>
          </a:ln>
        </p:spPr>
      </p:sp>
      <p:sp>
        <p:nvSpPr>
          <p:cNvPr id="27" name="Freeform 27"/>
          <p:cNvSpPr/>
          <p:nvPr/>
        </p:nvSpPr>
        <p:spPr>
          <a:xfrm>
            <a:off x="8896350" y="4752975"/>
            <a:ext cx="85725" cy="114300"/>
          </a:xfrm>
          <a:custGeom>
            <a:avLst/>
            <a:gdLst/>
            <a:ahLst/>
            <a:cxnLst/>
            <a:rect l="l" t="t" r="r" b="b"/>
            <a:pathLst>
              <a:path w="85725" h="114300">
                <a:moveTo>
                  <a:pt x="0" y="0"/>
                </a:moveTo>
                <a:lnTo>
                  <a:pt x="85725" y="57150"/>
                </a:lnTo>
                <a:lnTo>
                  <a:pt x="0" y="114300"/>
                </a:lnTo>
              </a:path>
            </a:pathLst>
          </a:custGeom>
          <a:noFill/>
          <a:ln w="23812">
            <a:solidFill>
              <a:srgbClr val="B54836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9048750" y="4514850"/>
            <a:ext cx="2190750" cy="59055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4288">
            <a:solidFill>
              <a:srgbClr val="D7D1C5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9408033" y="4689475"/>
            <a:ext cx="14721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TW" sz="1800" b="1" dirty="0">
                <a:solidFill>
                  <a:srgbClr val="18344A"/>
                </a:solidFill>
                <a:latin typeface="Arial"/>
                <a:ea typeface="Microsoft JhengHei"/>
                <a:cs typeface="Arial"/>
              </a:rPr>
              <a:t>查看候選差距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086606" y="5299075"/>
            <a:ext cx="486460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800" dirty="0">
                <a:solidFill>
                  <a:srgbClr val="58616B"/>
                </a:solidFill>
                <a:latin typeface="Arial"/>
                <a:ea typeface="Microsoft JhengHei"/>
                <a:cs typeface="Arial"/>
              </a:rPr>
              <a:t>可跳過場上名單，也可套用名單後自由比較。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1980" y="266700"/>
            <a:ext cx="145144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B54836"/>
                </a:solidFill>
                <a:latin typeface="Arial"/>
                <a:ea typeface="Microsoft JhengHei"/>
                <a:cs typeface="Arial"/>
              </a:rPr>
              <a:t>01　問題與定位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3598" y="558800"/>
            <a:ext cx="6392799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3150" b="1" dirty="0">
                <a:solidFill>
                  <a:srgbClr val="18344A"/>
                </a:solidFill>
                <a:latin typeface="Arial"/>
                <a:ea typeface="Microsoft JhengHei"/>
                <a:cs typeface="Arial"/>
              </a:rPr>
              <a:t>把投打數據，放進同一個換人情境</a:t>
            </a:r>
          </a:p>
        </p:txBody>
      </p:sp>
      <p:sp>
        <p:nvSpPr>
          <p:cNvPr id="4" name="Rectangle 4"/>
          <p:cNvSpPr/>
          <p:nvPr/>
        </p:nvSpPr>
        <p:spPr>
          <a:xfrm>
            <a:off x="609600" y="1257300"/>
            <a:ext cx="857250" cy="38100"/>
          </a:xfrm>
          <a:prstGeom prst="rect">
            <a:avLst/>
          </a:prstGeom>
          <a:solidFill>
            <a:srgbClr val="B54836"/>
          </a:solidFill>
          <a:ln>
            <a:noFill/>
          </a:ln>
        </p:spPr>
      </p:sp>
      <p:sp>
        <p:nvSpPr>
          <p:cNvPr id="5" name="TextBox 5"/>
          <p:cNvSpPr/>
          <p:nvPr/>
        </p:nvSpPr>
        <p:spPr>
          <a:xfrm>
            <a:off x="11373422" y="6445282"/>
            <a:ext cx="2158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Rectangle 6"/>
          <p:cNvSpPr/>
          <p:nvPr/>
        </p:nvSpPr>
        <p:spPr>
          <a:xfrm>
            <a:off x="609600" y="1838325"/>
            <a:ext cx="333375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D7D1C5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27532" y="1936750"/>
            <a:ext cx="115214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2100" b="1" dirty="0">
                <a:solidFill>
                  <a:srgbClr val="18344A"/>
                </a:solidFill>
                <a:latin typeface="Arial"/>
                <a:ea typeface="Microsoft JhengHei"/>
                <a:cs typeface="Arial"/>
              </a:rPr>
              <a:t>投打能力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29437" y="2327275"/>
            <a:ext cx="2101444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720" dirty="0">
                <a:solidFill>
                  <a:srgbClr val="58616B"/>
                </a:solidFill>
                <a:latin typeface="Arial"/>
                <a:ea typeface="Microsoft JhengHei"/>
                <a:cs typeface="Arial"/>
              </a:rPr>
              <a:t>球路適性、左右投打</a:t>
            </a:r>
          </a:p>
        </p:txBody>
      </p:sp>
      <p:sp>
        <p:nvSpPr>
          <p:cNvPr id="9" name="Line 9"/>
          <p:cNvSpPr/>
          <p:nvPr/>
        </p:nvSpPr>
        <p:spPr>
          <a:xfrm>
            <a:off x="4038600" y="2295525"/>
            <a:ext cx="419100" cy="9525"/>
          </a:xfrm>
          <a:custGeom>
            <a:avLst/>
            <a:gdLst/>
            <a:ahLst/>
            <a:cxnLst/>
            <a:rect l="l" t="t" r="r" b="b"/>
            <a:pathLst>
              <a:path w="419100" h="952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/>
          <a:ln w="23812">
            <a:solidFill>
              <a:srgbClr val="B54836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609600" y="3038475"/>
            <a:ext cx="333375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D7D1C5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827532" y="3136900"/>
            <a:ext cx="115214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2100" b="1" dirty="0">
                <a:solidFill>
                  <a:srgbClr val="18344A"/>
                </a:solidFill>
                <a:latin typeface="Arial"/>
                <a:ea typeface="Microsoft JhengHei"/>
                <a:cs typeface="Arial"/>
              </a:rPr>
              <a:t>當下局勢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29437" y="3527425"/>
            <a:ext cx="2564536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720" dirty="0">
                <a:solidFill>
                  <a:srgbClr val="58616B"/>
                </a:solidFill>
                <a:latin typeface="Arial"/>
                <a:ea typeface="Microsoft JhengHei"/>
                <a:cs typeface="Arial"/>
              </a:rPr>
              <a:t>局數、比分、出局與壘況</a:t>
            </a:r>
          </a:p>
        </p:txBody>
      </p:sp>
      <p:sp>
        <p:nvSpPr>
          <p:cNvPr id="13" name="Line 13"/>
          <p:cNvSpPr/>
          <p:nvPr/>
        </p:nvSpPr>
        <p:spPr>
          <a:xfrm>
            <a:off x="4038600" y="3495675"/>
            <a:ext cx="419100" cy="9525"/>
          </a:xfrm>
          <a:custGeom>
            <a:avLst/>
            <a:gdLst/>
            <a:ahLst/>
            <a:cxnLst/>
            <a:rect l="l" t="t" r="r" b="b"/>
            <a:pathLst>
              <a:path w="419100" h="952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/>
          <a:ln w="23812">
            <a:solidFill>
              <a:srgbClr val="B54836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609600" y="4238625"/>
            <a:ext cx="333375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D7D1C5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827532" y="4337050"/>
            <a:ext cx="115214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2100" b="1" dirty="0">
                <a:solidFill>
                  <a:srgbClr val="18344A"/>
                </a:solidFill>
                <a:latin typeface="Arial"/>
                <a:ea typeface="Microsoft JhengHei"/>
                <a:cs typeface="Arial"/>
              </a:rPr>
              <a:t>可用人選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9437" y="4727575"/>
            <a:ext cx="233299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720" dirty="0">
                <a:solidFill>
                  <a:srgbClr val="58616B"/>
                </a:solidFill>
                <a:latin typeface="Arial"/>
                <a:ea typeface="Microsoft JhengHei"/>
                <a:cs typeface="Arial"/>
              </a:rPr>
              <a:t>板凳、牛棚與接守安排</a:t>
            </a:r>
          </a:p>
        </p:txBody>
      </p:sp>
      <p:sp>
        <p:nvSpPr>
          <p:cNvPr id="17" name="Line 17"/>
          <p:cNvSpPr/>
          <p:nvPr/>
        </p:nvSpPr>
        <p:spPr>
          <a:xfrm>
            <a:off x="4038600" y="4695825"/>
            <a:ext cx="419100" cy="9525"/>
          </a:xfrm>
          <a:custGeom>
            <a:avLst/>
            <a:gdLst/>
            <a:ahLst/>
            <a:cxnLst/>
            <a:rect l="l" t="t" r="r" b="b"/>
            <a:pathLst>
              <a:path w="419100" h="952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/>
          <a:ln w="23812">
            <a:solidFill>
              <a:srgbClr val="B54836"/>
            </a:solidFill>
          </a:ln>
        </p:spPr>
      </p:sp>
      <p:sp>
        <p:nvSpPr>
          <p:cNvPr id="18" name="Line 18"/>
          <p:cNvSpPr/>
          <p:nvPr/>
        </p:nvSpPr>
        <p:spPr>
          <a:xfrm>
            <a:off x="4457700" y="2295525"/>
            <a:ext cx="9525" cy="2400300"/>
          </a:xfrm>
          <a:custGeom>
            <a:avLst/>
            <a:gdLst/>
            <a:ahLst/>
            <a:cxnLst/>
            <a:rect l="l" t="t" r="r" b="b"/>
            <a:pathLst>
              <a:path w="9525" h="2400300">
                <a:moveTo>
                  <a:pt x="0" y="0"/>
                </a:moveTo>
                <a:lnTo>
                  <a:pt x="0" y="2400300"/>
                </a:lnTo>
              </a:path>
            </a:pathLst>
          </a:custGeom>
          <a:noFill/>
          <a:ln w="23812">
            <a:solidFill>
              <a:srgbClr val="B54836"/>
            </a:solidFill>
          </a:ln>
        </p:spPr>
      </p:sp>
      <p:sp>
        <p:nvSpPr>
          <p:cNvPr id="19" name="Line 19"/>
          <p:cNvSpPr/>
          <p:nvPr/>
        </p:nvSpPr>
        <p:spPr>
          <a:xfrm>
            <a:off x="4457700" y="3276600"/>
            <a:ext cx="533400" cy="9525"/>
          </a:xfrm>
          <a:custGeom>
            <a:avLst/>
            <a:gdLst/>
            <a:ahLst/>
            <a:cxnLst/>
            <a:rect l="l" t="t" r="r" b="b"/>
            <a:pathLst>
              <a:path w="533400" h="9525">
                <a:moveTo>
                  <a:pt x="0" y="0"/>
                </a:moveTo>
                <a:lnTo>
                  <a:pt x="533400" y="0"/>
                </a:lnTo>
              </a:path>
            </a:pathLst>
          </a:custGeom>
          <a:noFill/>
          <a:ln w="23812">
            <a:solidFill>
              <a:srgbClr val="B54836"/>
            </a:solidFill>
          </a:ln>
        </p:spPr>
      </p:sp>
      <p:sp>
        <p:nvSpPr>
          <p:cNvPr id="20" name="Freeform 20"/>
          <p:cNvSpPr/>
          <p:nvPr/>
        </p:nvSpPr>
        <p:spPr>
          <a:xfrm>
            <a:off x="4905375" y="3219450"/>
            <a:ext cx="85725" cy="114300"/>
          </a:xfrm>
          <a:custGeom>
            <a:avLst/>
            <a:gdLst/>
            <a:ahLst/>
            <a:cxnLst/>
            <a:rect l="l" t="t" r="r" b="b"/>
            <a:pathLst>
              <a:path w="85725" h="114300">
                <a:moveTo>
                  <a:pt x="0" y="0"/>
                </a:moveTo>
                <a:lnTo>
                  <a:pt x="85725" y="57150"/>
                </a:lnTo>
                <a:lnTo>
                  <a:pt x="0" y="114300"/>
                </a:lnTo>
              </a:path>
            </a:pathLst>
          </a:custGeom>
          <a:noFill/>
          <a:ln w="23812">
            <a:solidFill>
              <a:srgbClr val="B54836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5143500" y="2266950"/>
            <a:ext cx="2381250" cy="2038350"/>
          </a:xfrm>
          <a:prstGeom prst="roundRect">
            <a:avLst>
              <a:gd name="adj" fmla="val 7477"/>
            </a:avLst>
          </a:prstGeom>
          <a:solidFill>
            <a:srgbClr val="18344A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5414010" y="2720975"/>
            <a:ext cx="184023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TW" sz="2250" b="1" dirty="0">
                <a:solidFill>
                  <a:srgbClr val="FFFFFF"/>
                </a:solidFill>
                <a:latin typeface="Arial"/>
                <a:ea typeface="Microsoft JhengHei"/>
                <a:cs typeface="Arial"/>
              </a:rPr>
              <a:t>固定比較條件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644007" y="3317875"/>
            <a:ext cx="1380236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TW" sz="2020" dirty="0">
                <a:solidFill>
                  <a:srgbClr val="FFFFFF"/>
                </a:solidFill>
                <a:latin typeface="Arial"/>
                <a:ea typeface="Microsoft JhengHei"/>
                <a:cs typeface="Arial"/>
              </a:rPr>
              <a:t>現任與候選</a:t>
            </a:r>
          </a:p>
        </p:txBody>
      </p:sp>
      <p:sp>
        <p:nvSpPr>
          <p:cNvPr id="24" name="Line 24"/>
          <p:cNvSpPr/>
          <p:nvPr/>
        </p:nvSpPr>
        <p:spPr>
          <a:xfrm>
            <a:off x="7677150" y="3276600"/>
            <a:ext cx="590550" cy="9525"/>
          </a:xfrm>
          <a:custGeom>
            <a:avLst/>
            <a:gdLst/>
            <a:ahLst/>
            <a:cxnLst/>
            <a:rect l="l" t="t" r="r" b="b"/>
            <a:pathLst>
              <a:path w="590550" h="9525">
                <a:moveTo>
                  <a:pt x="0" y="0"/>
                </a:moveTo>
                <a:lnTo>
                  <a:pt x="590550" y="0"/>
                </a:lnTo>
              </a:path>
            </a:pathLst>
          </a:custGeom>
          <a:noFill/>
          <a:ln w="23812">
            <a:solidFill>
              <a:srgbClr val="B54836"/>
            </a:solidFill>
          </a:ln>
        </p:spPr>
      </p:sp>
      <p:sp>
        <p:nvSpPr>
          <p:cNvPr id="25" name="Freeform 25"/>
          <p:cNvSpPr/>
          <p:nvPr/>
        </p:nvSpPr>
        <p:spPr>
          <a:xfrm>
            <a:off x="8181975" y="3219450"/>
            <a:ext cx="85725" cy="114300"/>
          </a:xfrm>
          <a:custGeom>
            <a:avLst/>
            <a:gdLst/>
            <a:ahLst/>
            <a:cxnLst/>
            <a:rect l="l" t="t" r="r" b="b"/>
            <a:pathLst>
              <a:path w="85725" h="114300">
                <a:moveTo>
                  <a:pt x="0" y="0"/>
                </a:moveTo>
                <a:lnTo>
                  <a:pt x="85725" y="57150"/>
                </a:lnTo>
                <a:lnTo>
                  <a:pt x="0" y="114300"/>
                </a:lnTo>
              </a:path>
            </a:pathLst>
          </a:custGeom>
          <a:noFill/>
          <a:ln w="23812">
            <a:solidFill>
              <a:srgbClr val="B54836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60308" y="2251075"/>
            <a:ext cx="1316736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2400" b="1" dirty="0">
                <a:solidFill>
                  <a:srgbClr val="B54836"/>
                </a:solidFill>
                <a:latin typeface="Arial"/>
                <a:ea typeface="Microsoft JhengHei"/>
                <a:cs typeface="Arial"/>
              </a:rPr>
              <a:t>差多少？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563356" y="2746375"/>
            <a:ext cx="219913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800" dirty="0">
                <a:solidFill>
                  <a:srgbClr val="1D2934"/>
                </a:solidFill>
                <a:latin typeface="Arial"/>
                <a:ea typeface="Microsoft JhengHei"/>
                <a:cs typeface="Arial"/>
              </a:rPr>
              <a:t>相對現任的估計差距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560308" y="3403600"/>
            <a:ext cx="163982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2400" b="1" dirty="0">
                <a:solidFill>
                  <a:srgbClr val="B54836"/>
                </a:solidFill>
                <a:latin typeface="Arial"/>
                <a:ea typeface="Microsoft JhengHei"/>
                <a:cs typeface="Arial"/>
              </a:rPr>
              <a:t>換得成嗎？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563356" y="3898900"/>
            <a:ext cx="244144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800" dirty="0">
                <a:solidFill>
                  <a:srgbClr val="1D2934"/>
                </a:solidFill>
                <a:latin typeface="Arial"/>
                <a:ea typeface="Microsoft JhengHei"/>
                <a:cs typeface="Arial"/>
              </a:rPr>
              <a:t>守位、人選與資料提醒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01980" y="5981700"/>
            <a:ext cx="60731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58616B"/>
                </a:solidFill>
                <a:latin typeface="Arial"/>
                <a:ea typeface="Microsoft JhengHei"/>
                <a:cs typeface="Arial"/>
              </a:rPr>
              <a:t>應用重點：讓同一套比較條件，連到名單限制與可追溯的判讀依據。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593598" y="266700"/>
            <a:ext cx="5544693" cy="1028700"/>
            <a:chOff x="593598" y="266700"/>
            <a:chExt cx="5544693" cy="1028700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66700"/>
              <a:ext cx="14514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Arial"/>
                  <a:ea typeface="Microsoft JhengHei"/>
                  <a:cs typeface="Arial"/>
                </a:rPr>
                <a:t>01　問題與定位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558800"/>
              <a:ext cx="554469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150" b="1" dirty="0">
                  <a:solidFill>
                    <a:srgbClr val="18344A"/>
                  </a:solidFill>
                  <a:latin typeface="Arial"/>
                  <a:ea typeface="Microsoft JhengHei"/>
                  <a:cs typeface="Arial"/>
                </a:rPr>
                <a:t>三個入口，對應三種使用任務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57300"/>
              <a:ext cx="857250" cy="38100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grpSp>
        <p:nvGrpSpPr>
          <p:cNvPr id="8" name="page-footer"/>
          <p:cNvGrpSpPr/>
          <p:nvPr/>
        </p:nvGrpSpPr>
        <p:grpSpPr>
          <a:xfrm>
            <a:off x="601980" y="5981700"/>
            <a:ext cx="10987278" cy="727583"/>
            <a:chOff x="601980" y="5981700"/>
            <a:chExt cx="10987278" cy="727583"/>
          </a:xfrm>
        </p:grpSpPr>
        <p:sp>
          <p:nvSpPr>
            <p:cNvPr id="6" name="TextBox 6"/>
            <p:cNvSpPr txBox="1"/>
            <p:nvPr/>
          </p:nvSpPr>
          <p:spPr>
            <a:xfrm>
              <a:off x="11373378" y="6445250"/>
              <a:ext cx="2158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350" dirty="0">
                  <a:solidFill>
                    <a:srgbClr val="58616B"/>
                  </a:solidFill>
                  <a:latin typeface="Arial"/>
                  <a:ea typeface="Arial"/>
                  <a:cs typeface="Arial"/>
                </a:rPr>
                <a:t>07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1980" y="5981700"/>
              <a:ext cx="70827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>
                  <a:solidFill>
                    <a:srgbClr val="58616B"/>
                  </a:solidFill>
                  <a:latin typeface="Arial"/>
                  <a:ea typeface="Microsoft JhengHei"/>
                  <a:cs typeface="Arial"/>
                </a:rPr>
                <a:t>兩種使用模式皆可評估及編輯名單；單日分析獨立使用，手機與電腦皆可操作。</a:t>
              </a:r>
            </a:p>
          </p:txBody>
        </p:sp>
      </p:grpSp>
      <p:grpSp>
        <p:nvGrpSpPr>
          <p:cNvPr id="12" name="feature-chart"/>
          <p:cNvGrpSpPr/>
          <p:nvPr/>
        </p:nvGrpSpPr>
        <p:grpSpPr>
          <a:xfrm>
            <a:off x="598551" y="1790700"/>
            <a:ext cx="2885694" cy="2799715"/>
            <a:chOff x="598551" y="1790700"/>
            <a:chExt cx="2885694" cy="2799715"/>
          </a:xfrm>
        </p:grpSpPr>
        <p:sp>
          <p:nvSpPr>
            <p:cNvPr id="9" name="Freeform 9"/>
            <p:cNvSpPr/>
            <p:nvPr/>
          </p:nvSpPr>
          <p:spPr>
            <a:xfrm>
              <a:off x="800100" y="1790700"/>
              <a:ext cx="1028700" cy="809625"/>
            </a:xfrm>
            <a:custGeom>
              <a:avLst/>
              <a:gdLst/>
              <a:ahLst/>
              <a:cxnLst/>
              <a:rect l="l" t="t" r="r" b="b"/>
              <a:pathLst>
                <a:path w="1028700" h="809625">
                  <a:moveTo>
                    <a:pt x="0" y="47625"/>
                  </a:moveTo>
                  <a:lnTo>
                    <a:pt x="0" y="809625"/>
                  </a:lnTo>
                  <a:lnTo>
                    <a:pt x="1028700" y="809625"/>
                  </a:lnTo>
                  <a:moveTo>
                    <a:pt x="228600" y="666750"/>
                  </a:moveTo>
                  <a:lnTo>
                    <a:pt x="228600" y="400050"/>
                  </a:lnTo>
                  <a:moveTo>
                    <a:pt x="504825" y="666750"/>
                  </a:moveTo>
                  <a:lnTo>
                    <a:pt x="504825" y="171450"/>
                  </a:lnTo>
                  <a:moveTo>
                    <a:pt x="781050" y="666750"/>
                  </a:moveTo>
                  <a:lnTo>
                    <a:pt x="781050" y="0"/>
                  </a:lnTo>
                </a:path>
              </a:pathLst>
            </a:custGeom>
            <a:noFill/>
            <a:ln w="38100">
              <a:solidFill>
                <a:srgbClr val="18344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98551" y="3276600"/>
              <a:ext cx="2076399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>
                  <a:solidFill>
                    <a:srgbClr val="18344A"/>
                  </a:solidFill>
                  <a:latin typeface="Arial"/>
                  <a:ea typeface="Microsoft JhengHei"/>
                  <a:cs typeface="Arial"/>
                </a:rPr>
                <a:t>換打／換投評估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0075" y="3889375"/>
              <a:ext cx="2884170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zh-TW" sz="188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  <a:t>固定對手與局勢，</a:t>
              </a:r>
              <a:br>
                <a:rPr lang="zh-TW" sz="188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</a:br>
              <a:r>
                <a:rPr lang="zh-TW" sz="188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  <a:t>比較現任與最多四位候選。</a:t>
              </a:r>
            </a:p>
          </p:txBody>
        </p:sp>
      </p:grpSp>
      <p:grpSp>
        <p:nvGrpSpPr>
          <p:cNvPr id="19" name="feature-field"/>
          <p:cNvGrpSpPr/>
          <p:nvPr/>
        </p:nvGrpSpPr>
        <p:grpSpPr>
          <a:xfrm>
            <a:off x="4332351" y="1838325"/>
            <a:ext cx="2646934" cy="2752090"/>
            <a:chOff x="4332351" y="1838325"/>
            <a:chExt cx="2646934" cy="2752090"/>
          </a:xfrm>
        </p:grpSpPr>
        <p:sp>
          <p:nvSpPr>
            <p:cNvPr id="13" name="Freeform 13"/>
            <p:cNvSpPr/>
            <p:nvPr/>
          </p:nvSpPr>
          <p:spPr>
            <a:xfrm>
              <a:off x="4552950" y="1885950"/>
              <a:ext cx="990600" cy="933450"/>
            </a:xfrm>
            <a:custGeom>
              <a:avLst/>
              <a:gdLst/>
              <a:ahLst/>
              <a:cxnLst/>
              <a:rect l="l" t="t" r="r" b="b"/>
              <a:pathLst>
                <a:path w="990600" h="933450">
                  <a:moveTo>
                    <a:pt x="495300" y="0"/>
                  </a:moveTo>
                  <a:lnTo>
                    <a:pt x="990600" y="466725"/>
                  </a:lnTo>
                  <a:lnTo>
                    <a:pt x="495300" y="933450"/>
                  </a:lnTo>
                  <a:lnTo>
                    <a:pt x="0" y="466725"/>
                  </a:lnTo>
                  <a:close/>
                </a:path>
              </a:pathLst>
            </a:custGeom>
            <a:noFill/>
            <a:ln w="38100">
              <a:solidFill>
                <a:srgbClr val="18344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000625" y="1838325"/>
              <a:ext cx="95250" cy="95250"/>
            </a:xfrm>
            <a:prstGeom prst="rect">
              <a:avLst/>
            </a:prstGeom>
            <a:solidFill>
              <a:srgbClr val="B54836"/>
            </a:solidFill>
            <a:ln w="38100">
              <a:solidFill>
                <a:srgbClr val="B54836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95925" y="2305050"/>
              <a:ext cx="95250" cy="95250"/>
            </a:xfrm>
            <a:prstGeom prst="rect">
              <a:avLst/>
            </a:prstGeom>
            <a:solidFill>
              <a:srgbClr val="B54836"/>
            </a:solidFill>
            <a:ln w="38100">
              <a:solidFill>
                <a:srgbClr val="B5483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505325" y="2305050"/>
              <a:ext cx="95250" cy="95250"/>
            </a:xfrm>
            <a:prstGeom prst="rect">
              <a:avLst/>
            </a:prstGeom>
            <a:solidFill>
              <a:srgbClr val="B54836"/>
            </a:solidFill>
            <a:ln w="38100">
              <a:solidFill>
                <a:srgbClr val="B5483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332351" y="3276600"/>
              <a:ext cx="1782928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>
                  <a:solidFill>
                    <a:srgbClr val="18344A"/>
                  </a:solidFill>
                  <a:latin typeface="Arial"/>
                  <a:ea typeface="Microsoft JhengHei"/>
                  <a:cs typeface="Arial"/>
                </a:rPr>
                <a:t>我方場上名單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333875" y="3889375"/>
              <a:ext cx="2645410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zh-TW" sz="188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  <a:t>球場圖設定守位，</a:t>
              </a:r>
              <a:br>
                <a:rPr lang="zh-TW" sz="188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</a:br>
              <a:r>
                <a:rPr lang="zh-TW" sz="188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  <a:t>棒次表安排九棒與投手。</a:t>
              </a:r>
            </a:p>
          </p:txBody>
        </p:sp>
      </p:grpSp>
      <p:grpSp>
        <p:nvGrpSpPr>
          <p:cNvPr id="24" name="feature-clock"/>
          <p:cNvGrpSpPr/>
          <p:nvPr/>
        </p:nvGrpSpPr>
        <p:grpSpPr>
          <a:xfrm>
            <a:off x="8066151" y="1895475"/>
            <a:ext cx="2885694" cy="2694940"/>
            <a:chOff x="8066151" y="1895475"/>
            <a:chExt cx="2885694" cy="2694940"/>
          </a:xfrm>
        </p:grpSpPr>
        <p:sp>
          <p:nvSpPr>
            <p:cNvPr id="20" name="Ellipse 20"/>
            <p:cNvSpPr/>
            <p:nvPr/>
          </p:nvSpPr>
          <p:spPr>
            <a:xfrm>
              <a:off x="8324850" y="1895475"/>
              <a:ext cx="914400" cy="914400"/>
            </a:xfrm>
            <a:prstGeom prst="ellipse">
              <a:avLst/>
            </a:prstGeom>
            <a:noFill/>
            <a:ln w="38100">
              <a:solidFill>
                <a:srgbClr val="18344A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8782050" y="2066925"/>
              <a:ext cx="238125" cy="438150"/>
            </a:xfrm>
            <a:custGeom>
              <a:avLst/>
              <a:gdLst/>
              <a:ahLst/>
              <a:cxnLst/>
              <a:rect l="l" t="t" r="r" b="b"/>
              <a:pathLst>
                <a:path w="238125" h="438150">
                  <a:moveTo>
                    <a:pt x="0" y="0"/>
                  </a:moveTo>
                  <a:lnTo>
                    <a:pt x="0" y="285750"/>
                  </a:lnTo>
                  <a:lnTo>
                    <a:pt x="238125" y="438150"/>
                  </a:lnTo>
                </a:path>
              </a:pathLst>
            </a:custGeom>
            <a:noFill/>
            <a:ln w="38100">
              <a:solidFill>
                <a:srgbClr val="18344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066151" y="3276600"/>
              <a:ext cx="1930426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>
                  <a:solidFill>
                    <a:srgbClr val="18344A"/>
                  </a:solidFill>
                  <a:latin typeface="Arial"/>
                  <a:ea typeface="Microsoft JhengHei"/>
                  <a:cs typeface="Arial"/>
                </a:rPr>
                <a:t>2025 單日分析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067675" y="3889375"/>
              <a:ext cx="2884170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zh-TW" sz="188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  <a:t>回到賽季中特定一天，</a:t>
              </a:r>
              <a:br>
                <a:rPr lang="zh-TW" sz="188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</a:br>
              <a:r>
                <a:rPr lang="zh-TW" sz="188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  <a:t>查看賽前負荷與打席回放。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baseball"/>
          <p:cNvGrpSpPr/>
          <p:nvPr/>
        </p:nvGrpSpPr>
        <p:grpSpPr>
          <a:xfrm>
            <a:off x="8001000" y="1714500"/>
            <a:ext cx="3905250" cy="3905250"/>
            <a:chOff x="8001000" y="1714500"/>
            <a:chExt cx="3905250" cy="3905250"/>
          </a:xfrm>
        </p:grpSpPr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1000" y="1714500"/>
              <a:ext cx="3905250" cy="3905250"/>
            </a:xfrm>
            <a:prstGeom prst="rect">
              <a:avLst/>
            </a:prstGeom>
          </p:spPr>
        </p:pic>
      </p:grpSp>
      <p:grpSp>
        <p:nvGrpSpPr>
          <p:cNvPr id="7" name="chapter-content"/>
          <p:cNvGrpSpPr/>
          <p:nvPr/>
        </p:nvGrpSpPr>
        <p:grpSpPr>
          <a:xfrm>
            <a:off x="590550" y="673100"/>
            <a:ext cx="5852922" cy="4496626"/>
            <a:chOff x="590550" y="673100"/>
            <a:chExt cx="5852922" cy="4496626"/>
          </a:xfrm>
        </p:grpSpPr>
        <p:sp>
          <p:nvSpPr>
            <p:cNvPr id="3" name="TextBox 3"/>
            <p:cNvSpPr txBox="1"/>
            <p:nvPr/>
          </p:nvSpPr>
          <p:spPr>
            <a:xfrm>
              <a:off x="590550" y="673100"/>
              <a:ext cx="1296011" cy="1619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8400" b="1" dirty="0">
                  <a:solidFill>
                    <a:srgbClr val="B54836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1312" y="2632075"/>
              <a:ext cx="585216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600" b="1" dirty="0">
                  <a:solidFill>
                    <a:srgbClr val="18344A"/>
                  </a:solidFill>
                  <a:latin typeface="Arial"/>
                  <a:ea typeface="Microsoft JhengHei"/>
                  <a:cs typeface="Arial"/>
                </a:rPr>
                <a:t>拿什麼資料，做什麼比較？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8932" y="3565525"/>
              <a:ext cx="39791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dirty="0">
                  <a:solidFill>
                    <a:srgbClr val="58616B"/>
                  </a:solidFill>
                  <a:latin typeface="Arial"/>
                  <a:ea typeface="Microsoft JhengHei"/>
                  <a:cs typeface="Arial"/>
                </a:rPr>
                <a:t>資料來源、估計方法與驗證界線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0837" y="4832350"/>
              <a:ext cx="256453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720" dirty="0">
                  <a:solidFill>
                    <a:srgbClr val="18344A"/>
                  </a:solidFill>
                  <a:latin typeface="Arial"/>
                  <a:ea typeface="Microsoft JhengHei"/>
                  <a:cs typeface="Arial"/>
                </a:rPr>
                <a:t>一球兩面｜臨場用人決策</a:t>
              </a:r>
            </a:p>
          </p:txBody>
        </p:sp>
      </p:grpSp>
      <p:sp>
        <p:nvSpPr>
          <p:cNvPr id="10" name="TextBox 8"/>
          <p:cNvSpPr txBox="1"/>
          <p:nvPr/>
        </p:nvSpPr>
        <p:spPr>
          <a:xfrm>
            <a:off x="11373378" y="6445250"/>
            <a:ext cx="21588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1980" y="266700"/>
            <a:ext cx="145144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B54836"/>
                </a:solidFill>
                <a:latin typeface="Arial"/>
                <a:ea typeface="Microsoft JhengHei"/>
                <a:cs typeface="Arial"/>
              </a:rPr>
              <a:t>02　資料與方法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3598" y="558800"/>
            <a:ext cx="7240905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3150" b="1" dirty="0">
                <a:solidFill>
                  <a:srgbClr val="18344A"/>
                </a:solidFill>
                <a:latin typeface="Arial"/>
                <a:ea typeface="Microsoft JhengHei"/>
                <a:cs typeface="Arial"/>
              </a:rPr>
              <a:t>兩季公開資料，整理成對決與名單資訊</a:t>
            </a:r>
          </a:p>
        </p:txBody>
      </p:sp>
      <p:sp>
        <p:nvSpPr>
          <p:cNvPr id="4" name="Rectangle 4"/>
          <p:cNvSpPr/>
          <p:nvPr/>
        </p:nvSpPr>
        <p:spPr>
          <a:xfrm>
            <a:off x="609600" y="1257300"/>
            <a:ext cx="857250" cy="38100"/>
          </a:xfrm>
          <a:prstGeom prst="rect">
            <a:avLst/>
          </a:prstGeom>
          <a:solidFill>
            <a:srgbClr val="B54836"/>
          </a:solidFill>
          <a:ln>
            <a:noFill/>
          </a:ln>
        </p:spPr>
      </p:sp>
      <p:sp>
        <p:nvSpPr>
          <p:cNvPr id="5" name="TextBox 5"/>
          <p:cNvSpPr/>
          <p:nvPr/>
        </p:nvSpPr>
        <p:spPr>
          <a:xfrm>
            <a:off x="11373422" y="6445282"/>
            <a:ext cx="2158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8170" y="1778000"/>
            <a:ext cx="153733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2250" b="1" dirty="0">
                <a:solidFill>
                  <a:srgbClr val="18344A"/>
                </a:solidFill>
                <a:latin typeface="Arial"/>
                <a:ea typeface="Microsoft JhengHei"/>
                <a:cs typeface="Arial"/>
              </a:rPr>
              <a:t>逐球與出賽</a:t>
            </a:r>
          </a:p>
        </p:txBody>
      </p:sp>
      <p:sp>
        <p:nvSpPr>
          <p:cNvPr id="7" name="Rectangle 7"/>
          <p:cNvSpPr/>
          <p:nvPr/>
        </p:nvSpPr>
        <p:spPr>
          <a:xfrm>
            <a:off x="609600" y="2324100"/>
            <a:ext cx="1905000" cy="361950"/>
          </a:xfrm>
          <a:prstGeom prst="roundRect">
            <a:avLst>
              <a:gd name="adj" fmla="val 21053"/>
            </a:avLst>
          </a:prstGeom>
          <a:solidFill>
            <a:srgbClr val="ECE5D9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53618" y="2378075"/>
            <a:ext cx="112866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650" b="1" dirty="0">
                <a:solidFill>
                  <a:srgbClr val="18344A"/>
                </a:solidFill>
                <a:latin typeface="Arial"/>
                <a:ea typeface="Arial"/>
                <a:cs typeface="Arial"/>
              </a:rPr>
              <a:t>2024–2025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00075" y="2990850"/>
            <a:ext cx="2802992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880" dirty="0">
                <a:solidFill>
                  <a:srgbClr val="1D2934"/>
                </a:solidFill>
                <a:latin typeface="Arial"/>
                <a:ea typeface="Microsoft JhengHei"/>
                <a:cs typeface="Arial"/>
              </a:rPr>
              <a:t>球種、投打側、逐球結果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00075" y="3324225"/>
            <a:ext cx="2296820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880" dirty="0">
                <a:solidFill>
                  <a:srgbClr val="1D2934"/>
                </a:solidFill>
                <a:latin typeface="Arial"/>
                <a:ea typeface="Microsoft JhengHei"/>
                <a:cs typeface="Arial"/>
              </a:rPr>
              <a:t>出賽日期與投球負荷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331970" y="1778000"/>
            <a:ext cx="214312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2250" b="1" dirty="0">
                <a:solidFill>
                  <a:srgbClr val="18344A"/>
                </a:solidFill>
                <a:latin typeface="Arial"/>
                <a:ea typeface="Microsoft JhengHei"/>
                <a:cs typeface="Arial"/>
              </a:rPr>
              <a:t>守位與球員對照</a:t>
            </a:r>
          </a:p>
        </p:txBody>
      </p:sp>
      <p:sp>
        <p:nvSpPr>
          <p:cNvPr id="12" name="Rectangle 12"/>
          <p:cNvSpPr/>
          <p:nvPr/>
        </p:nvSpPr>
        <p:spPr>
          <a:xfrm>
            <a:off x="4343400" y="2324100"/>
            <a:ext cx="1905000" cy="361950"/>
          </a:xfrm>
          <a:prstGeom prst="roundRect">
            <a:avLst>
              <a:gd name="adj" fmla="val 21053"/>
            </a:avLst>
          </a:prstGeom>
          <a:solidFill>
            <a:srgbClr val="ECE5D9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4487418" y="2378075"/>
            <a:ext cx="101689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650" b="1" dirty="0">
                <a:solidFill>
                  <a:srgbClr val="18344A"/>
                </a:solidFill>
                <a:latin typeface="Arial"/>
                <a:ea typeface="Microsoft JhengHei"/>
                <a:cs typeface="Arial"/>
              </a:rPr>
              <a:t>2025 為主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333875" y="2990850"/>
            <a:ext cx="2549906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880" dirty="0">
                <a:solidFill>
                  <a:srgbClr val="1D2934"/>
                </a:solidFill>
                <a:latin typeface="Arial"/>
                <a:ea typeface="Microsoft JhengHei"/>
                <a:cs typeface="Arial"/>
              </a:rPr>
              <a:t>守位出賽、球隊、背號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333875" y="3324225"/>
            <a:ext cx="2296820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880" dirty="0">
                <a:solidFill>
                  <a:srgbClr val="1D2934"/>
                </a:solidFill>
                <a:latin typeface="Arial"/>
                <a:ea typeface="Microsoft JhengHei"/>
                <a:cs typeface="Arial"/>
              </a:rPr>
              <a:t>支援名單與接守檢查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065770" y="1778000"/>
            <a:ext cx="184023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2250" b="1" dirty="0">
                <a:solidFill>
                  <a:srgbClr val="18344A"/>
                </a:solidFill>
                <a:latin typeface="Arial"/>
                <a:ea typeface="Microsoft JhengHei"/>
                <a:cs typeface="Arial"/>
              </a:rPr>
              <a:t>資料使用界線</a:t>
            </a:r>
          </a:p>
        </p:txBody>
      </p:sp>
      <p:sp>
        <p:nvSpPr>
          <p:cNvPr id="17" name="Rectangle 17"/>
          <p:cNvSpPr/>
          <p:nvPr/>
        </p:nvSpPr>
        <p:spPr>
          <a:xfrm>
            <a:off x="8077200" y="2324100"/>
            <a:ext cx="1905000" cy="361950"/>
          </a:xfrm>
          <a:prstGeom prst="roundRect">
            <a:avLst>
              <a:gd name="adj" fmla="val 21053"/>
            </a:avLst>
          </a:prstGeom>
          <a:solidFill>
            <a:srgbClr val="ECE5D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221218" y="2378075"/>
            <a:ext cx="9052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650" b="1" dirty="0">
                <a:solidFill>
                  <a:srgbClr val="18344A"/>
                </a:solidFill>
                <a:latin typeface="Arial"/>
                <a:ea typeface="Microsoft JhengHei"/>
                <a:cs typeface="Arial"/>
              </a:rPr>
              <a:t>歷史回放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067675" y="2990850"/>
            <a:ext cx="2802992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880" dirty="0">
                <a:solidFill>
                  <a:srgbClr val="1D2934"/>
                </a:solidFill>
                <a:latin typeface="Arial"/>
                <a:ea typeface="Microsoft JhengHei"/>
                <a:cs typeface="Arial"/>
              </a:rPr>
              <a:t>只用決策前可取得的紀錄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067675" y="3324225"/>
            <a:ext cx="2549906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880" dirty="0">
                <a:solidFill>
                  <a:srgbClr val="1D2934"/>
                </a:solidFill>
                <a:latin typeface="Arial"/>
                <a:ea typeface="Microsoft JhengHei"/>
                <a:cs typeface="Arial"/>
              </a:rPr>
              <a:t>能力模型另記截止日期</a:t>
            </a:r>
          </a:p>
        </p:txBody>
      </p:sp>
      <p:sp>
        <p:nvSpPr>
          <p:cNvPr id="21" name="Line 21"/>
          <p:cNvSpPr/>
          <p:nvPr/>
        </p:nvSpPr>
        <p:spPr>
          <a:xfrm>
            <a:off x="914400" y="4676775"/>
            <a:ext cx="10363200" cy="9525"/>
          </a:xfrm>
          <a:custGeom>
            <a:avLst/>
            <a:gdLst/>
            <a:ahLst/>
            <a:cxnLst/>
            <a:rect l="l" t="t" r="r" b="b"/>
            <a:pathLst>
              <a:path w="10363200" h="9525">
                <a:moveTo>
                  <a:pt x="0" y="0"/>
                </a:moveTo>
                <a:lnTo>
                  <a:pt x="10363200" y="0"/>
                </a:lnTo>
              </a:path>
            </a:pathLst>
          </a:custGeom>
          <a:noFill/>
          <a:ln w="28575">
            <a:solidFill>
              <a:srgbClr val="18344A"/>
            </a:solidFill>
          </a:ln>
        </p:spPr>
      </p:sp>
      <p:sp>
        <p:nvSpPr>
          <p:cNvPr id="22" name="Ellipse 22"/>
          <p:cNvSpPr/>
          <p:nvPr/>
        </p:nvSpPr>
        <p:spPr>
          <a:xfrm>
            <a:off x="1457325" y="4610100"/>
            <a:ext cx="133350" cy="133350"/>
          </a:xfrm>
          <a:prstGeom prst="ellipse">
            <a:avLst/>
          </a:prstGeom>
          <a:solidFill>
            <a:srgbClr val="B54836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198854" y="4870450"/>
            <a:ext cx="650291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TW" sz="2100" b="1" dirty="0">
                <a:solidFill>
                  <a:srgbClr val="18344A"/>
                </a:solidFill>
                <a:latin typeface="Arial"/>
                <a:ea typeface="Arial"/>
                <a:cs typeface="Arial"/>
              </a:rPr>
              <a:t>2024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89051" y="5308600"/>
            <a:ext cx="1869897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TW" sz="1720" dirty="0">
                <a:solidFill>
                  <a:srgbClr val="58616B"/>
                </a:solidFill>
                <a:latin typeface="Arial"/>
                <a:ea typeface="Microsoft JhengHei"/>
                <a:cs typeface="Arial"/>
              </a:rPr>
              <a:t>建立長期能力基準</a:t>
            </a:r>
          </a:p>
        </p:txBody>
      </p:sp>
      <p:sp>
        <p:nvSpPr>
          <p:cNvPr id="25" name="Ellipse 25"/>
          <p:cNvSpPr/>
          <p:nvPr/>
        </p:nvSpPr>
        <p:spPr>
          <a:xfrm>
            <a:off x="5743575" y="4610100"/>
            <a:ext cx="133350" cy="133350"/>
          </a:xfrm>
          <a:prstGeom prst="ellipse">
            <a:avLst/>
          </a:prstGeom>
          <a:solidFill>
            <a:srgbClr val="B54836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5485104" y="4870450"/>
            <a:ext cx="650291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TW" sz="2100" b="1" dirty="0">
                <a:solidFill>
                  <a:srgbClr val="18344A"/>
                </a:solidFill>
                <a:latin typeface="Arial"/>
                <a:ea typeface="Arial"/>
                <a:cs typeface="Arial"/>
              </a:rPr>
              <a:t>2025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875301" y="5308600"/>
            <a:ext cx="1869897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TW" sz="1720" dirty="0">
                <a:solidFill>
                  <a:srgbClr val="58616B"/>
                </a:solidFill>
                <a:latin typeface="Arial"/>
                <a:ea typeface="Microsoft JhengHei"/>
                <a:cs typeface="Arial"/>
              </a:rPr>
              <a:t>累積當季出賽紀錄</a:t>
            </a:r>
          </a:p>
        </p:txBody>
      </p:sp>
      <p:sp>
        <p:nvSpPr>
          <p:cNvPr id="28" name="Ellipse 28"/>
          <p:cNvSpPr/>
          <p:nvPr/>
        </p:nvSpPr>
        <p:spPr>
          <a:xfrm>
            <a:off x="10410825" y="4610100"/>
            <a:ext cx="133350" cy="133350"/>
          </a:xfrm>
          <a:prstGeom prst="ellipse">
            <a:avLst/>
          </a:prstGeom>
          <a:solidFill>
            <a:srgbClr val="B54836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869737" y="4870450"/>
            <a:ext cx="121552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TW" sz="2100" b="1" dirty="0">
                <a:solidFill>
                  <a:srgbClr val="18344A"/>
                </a:solidFill>
                <a:latin typeface="Arial"/>
                <a:ea typeface="Microsoft JhengHei"/>
                <a:cs typeface="Arial"/>
              </a:rPr>
              <a:t>9/20 賽前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426778" y="5308600"/>
            <a:ext cx="2101444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TW" sz="1720" dirty="0">
                <a:solidFill>
                  <a:srgbClr val="58616B"/>
                </a:solidFill>
                <a:latin typeface="Arial"/>
                <a:ea typeface="Microsoft JhengHei"/>
                <a:cs typeface="Arial"/>
              </a:rPr>
              <a:t>單日回放的時間界線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01980" y="5981700"/>
            <a:ext cx="804594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58616B"/>
                </a:solidFill>
                <a:latin typeface="Arial"/>
                <a:ea typeface="Microsoft JhengHei"/>
                <a:cs typeface="Arial"/>
              </a:rPr>
              <a:t>來源：Rebas Open Data（ODC-By）、ldkrsi/cpbl-opendata（MIT）；背號僅用於搜尋。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1980" y="266700"/>
            <a:ext cx="145144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B54836"/>
                </a:solidFill>
                <a:latin typeface="Arial"/>
                <a:ea typeface="Microsoft JhengHei"/>
                <a:cs typeface="Arial"/>
              </a:rPr>
              <a:t>02　資料與方法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3598" y="558800"/>
            <a:ext cx="6816852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3150" b="1" dirty="0">
                <a:solidFill>
                  <a:srgbClr val="18344A"/>
                </a:solidFill>
                <a:latin typeface="Arial"/>
                <a:ea typeface="Microsoft JhengHei"/>
                <a:cs typeface="Arial"/>
              </a:rPr>
              <a:t>先估計對決，再換算當下的勝率差距</a:t>
            </a:r>
          </a:p>
        </p:txBody>
      </p:sp>
      <p:sp>
        <p:nvSpPr>
          <p:cNvPr id="4" name="Rectangle 4"/>
          <p:cNvSpPr/>
          <p:nvPr/>
        </p:nvSpPr>
        <p:spPr>
          <a:xfrm>
            <a:off x="609600" y="1257300"/>
            <a:ext cx="857250" cy="38100"/>
          </a:xfrm>
          <a:prstGeom prst="rect">
            <a:avLst/>
          </a:prstGeom>
          <a:solidFill>
            <a:srgbClr val="B54836"/>
          </a:solidFill>
          <a:ln>
            <a:noFill/>
          </a:ln>
        </p:spPr>
      </p:sp>
      <p:sp>
        <p:nvSpPr>
          <p:cNvPr id="5" name="TextBox 5"/>
          <p:cNvSpPr/>
          <p:nvPr/>
        </p:nvSpPr>
        <p:spPr>
          <a:xfrm>
            <a:off x="11373422" y="6445282"/>
            <a:ext cx="2158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Rectangle 6"/>
          <p:cNvSpPr/>
          <p:nvPr/>
        </p:nvSpPr>
        <p:spPr>
          <a:xfrm>
            <a:off x="609600" y="2876550"/>
            <a:ext cx="2095500" cy="1047750"/>
          </a:xfrm>
          <a:prstGeom prst="roundRect">
            <a:avLst>
              <a:gd name="adj" fmla="val 10909"/>
            </a:avLst>
          </a:prstGeom>
          <a:solidFill>
            <a:srgbClr val="18344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62025" y="3086100"/>
            <a:ext cx="1790649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TW" sz="1880" b="1" dirty="0">
                <a:solidFill>
                  <a:srgbClr val="FFFFFF"/>
                </a:solidFill>
                <a:latin typeface="Arial"/>
                <a:ea typeface="Microsoft JhengHei"/>
                <a:cs typeface="Arial"/>
              </a:rPr>
              <a:t>逐球與出賽資料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38175" y="3432175"/>
            <a:ext cx="1638351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TW" sz="1720" dirty="0">
                <a:solidFill>
                  <a:srgbClr val="FFFFFF"/>
                </a:solidFill>
                <a:latin typeface="Arial"/>
                <a:ea typeface="Microsoft JhengHei"/>
                <a:cs typeface="Arial"/>
              </a:rPr>
              <a:t>同一投手與候選</a:t>
            </a:r>
          </a:p>
        </p:txBody>
      </p:sp>
      <p:sp>
        <p:nvSpPr>
          <p:cNvPr id="9" name="Rectangle 9"/>
          <p:cNvSpPr/>
          <p:nvPr/>
        </p:nvSpPr>
        <p:spPr>
          <a:xfrm>
            <a:off x="3638550" y="1819275"/>
            <a:ext cx="4476750" cy="14859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4288">
            <a:solidFill>
              <a:srgbClr val="D7D1C5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3874770" y="1939925"/>
            <a:ext cx="123444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2250" b="1" dirty="0">
                <a:solidFill>
                  <a:srgbClr val="18344A"/>
                </a:solidFill>
                <a:latin typeface="Arial"/>
                <a:ea typeface="Microsoft JhengHei"/>
                <a:cs typeface="Arial"/>
              </a:rPr>
              <a:t>部分池化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877056" y="2460625"/>
            <a:ext cx="341071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800" dirty="0">
                <a:solidFill>
                  <a:srgbClr val="1D2934"/>
                </a:solidFill>
                <a:latin typeface="Arial"/>
                <a:ea typeface="Microsoft JhengHei"/>
                <a:cs typeface="Arial"/>
              </a:rPr>
              <a:t>綜合能力、左右投打與球路適性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877056" y="2780665"/>
            <a:ext cx="244144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800" dirty="0">
                <a:solidFill>
                  <a:srgbClr val="1D2934"/>
                </a:solidFill>
                <a:latin typeface="Arial"/>
                <a:ea typeface="Microsoft JhengHei"/>
                <a:cs typeface="Arial"/>
              </a:rPr>
              <a:t>小樣本向整體基準收縮</a:t>
            </a:r>
          </a:p>
        </p:txBody>
      </p:sp>
      <p:sp>
        <p:nvSpPr>
          <p:cNvPr id="13" name="Rectangle 13"/>
          <p:cNvSpPr/>
          <p:nvPr/>
        </p:nvSpPr>
        <p:spPr>
          <a:xfrm>
            <a:off x="3638550" y="3857625"/>
            <a:ext cx="4476750" cy="14859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4288">
            <a:solidFill>
              <a:srgbClr val="D7D1C5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874770" y="3978275"/>
            <a:ext cx="153733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2250" b="1" dirty="0">
                <a:solidFill>
                  <a:srgbClr val="18344A"/>
                </a:solidFill>
                <a:latin typeface="Arial"/>
                <a:ea typeface="Microsoft JhengHei"/>
                <a:cs typeface="Arial"/>
              </a:rPr>
              <a:t>梯度提升樹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877056" y="4498975"/>
            <a:ext cx="316839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800" dirty="0">
                <a:solidFill>
                  <a:srgbClr val="1D2934"/>
                </a:solidFill>
                <a:latin typeface="Arial"/>
                <a:ea typeface="Microsoft JhengHei"/>
                <a:cs typeface="Arial"/>
              </a:rPr>
              <a:t>沿用投手歷史投球，替換打者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877056" y="4819015"/>
            <a:ext cx="268376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800" dirty="0">
                <a:solidFill>
                  <a:srgbClr val="1D2934"/>
                </a:solidFill>
                <a:latin typeface="Arial"/>
                <a:ea typeface="Microsoft JhengHei"/>
                <a:cs typeface="Arial"/>
              </a:rPr>
              <a:t>預測逐球結果，換算得分</a:t>
            </a:r>
          </a:p>
        </p:txBody>
      </p:sp>
      <p:sp>
        <p:nvSpPr>
          <p:cNvPr id="17" name="Line 17"/>
          <p:cNvSpPr/>
          <p:nvPr/>
        </p:nvSpPr>
        <p:spPr>
          <a:xfrm>
            <a:off x="2800350" y="2562225"/>
            <a:ext cx="723900" cy="571500"/>
          </a:xfrm>
          <a:custGeom>
            <a:avLst/>
            <a:gdLst/>
            <a:ahLst/>
            <a:cxnLst/>
            <a:rect l="l" t="t" r="r" b="b"/>
            <a:pathLst>
              <a:path w="723900" h="571500">
                <a:moveTo>
                  <a:pt x="0" y="571500"/>
                </a:moveTo>
                <a:lnTo>
                  <a:pt x="723900" y="0"/>
                </a:lnTo>
              </a:path>
            </a:pathLst>
          </a:custGeom>
          <a:noFill/>
          <a:ln w="23812">
            <a:solidFill>
              <a:srgbClr val="B54836"/>
            </a:solidFill>
          </a:ln>
        </p:spPr>
      </p:sp>
      <p:sp>
        <p:nvSpPr>
          <p:cNvPr id="18" name="Freeform 18"/>
          <p:cNvSpPr/>
          <p:nvPr/>
        </p:nvSpPr>
        <p:spPr>
          <a:xfrm>
            <a:off x="3438525" y="2505075"/>
            <a:ext cx="85725" cy="114300"/>
          </a:xfrm>
          <a:custGeom>
            <a:avLst/>
            <a:gdLst/>
            <a:ahLst/>
            <a:cxnLst/>
            <a:rect l="l" t="t" r="r" b="b"/>
            <a:pathLst>
              <a:path w="85725" h="114300">
                <a:moveTo>
                  <a:pt x="0" y="0"/>
                </a:moveTo>
                <a:lnTo>
                  <a:pt x="85725" y="57150"/>
                </a:lnTo>
                <a:lnTo>
                  <a:pt x="0" y="114300"/>
                </a:lnTo>
              </a:path>
            </a:pathLst>
          </a:custGeom>
          <a:noFill/>
          <a:ln w="23812">
            <a:solidFill>
              <a:srgbClr val="B54836"/>
            </a:solidFill>
          </a:ln>
        </p:spPr>
      </p:sp>
      <p:sp>
        <p:nvSpPr>
          <p:cNvPr id="19" name="Line 19"/>
          <p:cNvSpPr/>
          <p:nvPr/>
        </p:nvSpPr>
        <p:spPr>
          <a:xfrm>
            <a:off x="2800350" y="3686175"/>
            <a:ext cx="723900" cy="914400"/>
          </a:xfrm>
          <a:custGeom>
            <a:avLst/>
            <a:gdLst/>
            <a:ahLst/>
            <a:cxnLst/>
            <a:rect l="l" t="t" r="r" b="b"/>
            <a:pathLst>
              <a:path w="723900" h="914400">
                <a:moveTo>
                  <a:pt x="0" y="0"/>
                </a:moveTo>
                <a:lnTo>
                  <a:pt x="723900" y="914400"/>
                </a:lnTo>
              </a:path>
            </a:pathLst>
          </a:custGeom>
          <a:noFill/>
          <a:ln w="23812">
            <a:solidFill>
              <a:srgbClr val="B54836"/>
            </a:solidFill>
          </a:ln>
        </p:spPr>
      </p:sp>
      <p:sp>
        <p:nvSpPr>
          <p:cNvPr id="20" name="Freeform 20"/>
          <p:cNvSpPr/>
          <p:nvPr/>
        </p:nvSpPr>
        <p:spPr>
          <a:xfrm>
            <a:off x="3438525" y="4543425"/>
            <a:ext cx="85725" cy="114300"/>
          </a:xfrm>
          <a:custGeom>
            <a:avLst/>
            <a:gdLst/>
            <a:ahLst/>
            <a:cxnLst/>
            <a:rect l="l" t="t" r="r" b="b"/>
            <a:pathLst>
              <a:path w="85725" h="114300">
                <a:moveTo>
                  <a:pt x="0" y="0"/>
                </a:moveTo>
                <a:lnTo>
                  <a:pt x="85725" y="57150"/>
                </a:lnTo>
                <a:lnTo>
                  <a:pt x="0" y="114300"/>
                </a:lnTo>
              </a:path>
            </a:pathLst>
          </a:custGeom>
          <a:noFill/>
          <a:ln w="23812">
            <a:solidFill>
              <a:srgbClr val="B54836"/>
            </a:solidFill>
          </a:ln>
        </p:spPr>
      </p:sp>
      <p:sp>
        <p:nvSpPr>
          <p:cNvPr id="21" name="Line 21"/>
          <p:cNvSpPr/>
          <p:nvPr/>
        </p:nvSpPr>
        <p:spPr>
          <a:xfrm>
            <a:off x="8229600" y="2562225"/>
            <a:ext cx="781050" cy="571500"/>
          </a:xfrm>
          <a:custGeom>
            <a:avLst/>
            <a:gdLst/>
            <a:ahLst/>
            <a:cxnLst/>
            <a:rect l="l" t="t" r="r" b="b"/>
            <a:pathLst>
              <a:path w="781050" h="571500">
                <a:moveTo>
                  <a:pt x="0" y="0"/>
                </a:moveTo>
                <a:lnTo>
                  <a:pt x="781050" y="571500"/>
                </a:lnTo>
              </a:path>
            </a:pathLst>
          </a:custGeom>
          <a:noFill/>
          <a:ln w="23812">
            <a:solidFill>
              <a:srgbClr val="B54836"/>
            </a:solidFill>
          </a:ln>
        </p:spPr>
      </p:sp>
      <p:sp>
        <p:nvSpPr>
          <p:cNvPr id="22" name="Freeform 22"/>
          <p:cNvSpPr/>
          <p:nvPr/>
        </p:nvSpPr>
        <p:spPr>
          <a:xfrm>
            <a:off x="8924925" y="3076575"/>
            <a:ext cx="85725" cy="114300"/>
          </a:xfrm>
          <a:custGeom>
            <a:avLst/>
            <a:gdLst/>
            <a:ahLst/>
            <a:cxnLst/>
            <a:rect l="l" t="t" r="r" b="b"/>
            <a:pathLst>
              <a:path w="85725" h="114300">
                <a:moveTo>
                  <a:pt x="0" y="0"/>
                </a:moveTo>
                <a:lnTo>
                  <a:pt x="85725" y="57150"/>
                </a:lnTo>
                <a:lnTo>
                  <a:pt x="0" y="114300"/>
                </a:lnTo>
              </a:path>
            </a:pathLst>
          </a:custGeom>
          <a:noFill/>
          <a:ln w="23812">
            <a:solidFill>
              <a:srgbClr val="B54836"/>
            </a:solidFill>
          </a:ln>
        </p:spPr>
      </p:sp>
      <p:sp>
        <p:nvSpPr>
          <p:cNvPr id="23" name="Line 23"/>
          <p:cNvSpPr/>
          <p:nvPr/>
        </p:nvSpPr>
        <p:spPr>
          <a:xfrm>
            <a:off x="8229600" y="3686175"/>
            <a:ext cx="781050" cy="914400"/>
          </a:xfrm>
          <a:custGeom>
            <a:avLst/>
            <a:gdLst/>
            <a:ahLst/>
            <a:cxnLst/>
            <a:rect l="l" t="t" r="r" b="b"/>
            <a:pathLst>
              <a:path w="781050" h="914400">
                <a:moveTo>
                  <a:pt x="0" y="914400"/>
                </a:moveTo>
                <a:lnTo>
                  <a:pt x="781050" y="0"/>
                </a:lnTo>
              </a:path>
            </a:pathLst>
          </a:custGeom>
          <a:noFill/>
          <a:ln w="23812">
            <a:solidFill>
              <a:srgbClr val="B54836"/>
            </a:solidFill>
          </a:ln>
        </p:spPr>
      </p:sp>
      <p:sp>
        <p:nvSpPr>
          <p:cNvPr id="24" name="Freeform 24"/>
          <p:cNvSpPr/>
          <p:nvPr/>
        </p:nvSpPr>
        <p:spPr>
          <a:xfrm>
            <a:off x="8924925" y="3629025"/>
            <a:ext cx="85725" cy="114300"/>
          </a:xfrm>
          <a:custGeom>
            <a:avLst/>
            <a:gdLst/>
            <a:ahLst/>
            <a:cxnLst/>
            <a:rect l="l" t="t" r="r" b="b"/>
            <a:pathLst>
              <a:path w="85725" h="114300">
                <a:moveTo>
                  <a:pt x="0" y="0"/>
                </a:moveTo>
                <a:lnTo>
                  <a:pt x="85725" y="57150"/>
                </a:lnTo>
                <a:lnTo>
                  <a:pt x="0" y="114300"/>
                </a:lnTo>
              </a:path>
            </a:pathLst>
          </a:custGeom>
          <a:noFill/>
          <a:ln w="23812">
            <a:solidFill>
              <a:srgbClr val="B54836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9105900" y="2733675"/>
            <a:ext cx="2476500" cy="1428750"/>
          </a:xfrm>
          <a:prstGeom prst="roundRect">
            <a:avLst>
              <a:gd name="adj" fmla="val 8000"/>
            </a:avLst>
          </a:prstGeom>
          <a:solidFill>
            <a:srgbClr val="ECE5D9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9518066" y="2936875"/>
            <a:ext cx="1652168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TW" sz="2020" b="1" dirty="0">
                <a:solidFill>
                  <a:srgbClr val="18344A"/>
                </a:solidFill>
                <a:latin typeface="Arial"/>
                <a:ea typeface="Microsoft JhengHei"/>
                <a:cs typeface="Arial"/>
              </a:rPr>
              <a:t>整合得分估計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486900" y="3470275"/>
            <a:ext cx="171450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TW" sz="1800" dirty="0">
                <a:solidFill>
                  <a:srgbClr val="18344A"/>
                </a:solidFill>
                <a:latin typeface="Arial"/>
                <a:ea typeface="Microsoft JhengHei"/>
                <a:cs typeface="Arial"/>
              </a:rPr>
              <a:t>依局勢換算差距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01980" y="5981700"/>
            <a:ext cx="689810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58616B"/>
                </a:solidFill>
                <a:latin typeface="Arial"/>
                <a:ea typeface="Microsoft JhengHei"/>
                <a:cs typeface="Arial"/>
              </a:rPr>
              <a:t>逐球模型無法使用時，回到階層式估計；球路分為 4 類球種 × 2 個高度區間。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1980" y="266700"/>
            <a:ext cx="145144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B54836"/>
                </a:solidFill>
                <a:latin typeface="Arial"/>
                <a:ea typeface="Microsoft JhengHei"/>
                <a:cs typeface="Arial"/>
              </a:rPr>
              <a:t>02　資料與方法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3598" y="558800"/>
            <a:ext cx="6392799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3150" b="1" dirty="0">
                <a:solidFill>
                  <a:srgbClr val="18344A"/>
                </a:solidFill>
                <a:latin typeface="Arial"/>
                <a:ea typeface="Microsoft JhengHei"/>
                <a:cs typeface="Arial"/>
              </a:rPr>
              <a:t>看差距，再看比較基準與資料提醒</a:t>
            </a:r>
          </a:p>
        </p:txBody>
      </p:sp>
      <p:sp>
        <p:nvSpPr>
          <p:cNvPr id="4" name="Rectangle 4"/>
          <p:cNvSpPr/>
          <p:nvPr/>
        </p:nvSpPr>
        <p:spPr>
          <a:xfrm>
            <a:off x="609600" y="1257300"/>
            <a:ext cx="857250" cy="38100"/>
          </a:xfrm>
          <a:prstGeom prst="rect">
            <a:avLst/>
          </a:prstGeom>
          <a:solidFill>
            <a:srgbClr val="B54836"/>
          </a:solidFill>
          <a:ln>
            <a:noFill/>
          </a:ln>
        </p:spPr>
      </p:sp>
      <p:sp>
        <p:nvSpPr>
          <p:cNvPr id="5" name="TextBox 5"/>
          <p:cNvSpPr/>
          <p:nvPr/>
        </p:nvSpPr>
        <p:spPr>
          <a:xfrm>
            <a:off x="11373422" y="6445282"/>
            <a:ext cx="2158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Rectangle 6"/>
          <p:cNvSpPr/>
          <p:nvPr/>
        </p:nvSpPr>
        <p:spPr>
          <a:xfrm>
            <a:off x="600075" y="1990381"/>
            <a:ext cx="10991850" cy="1734237"/>
          </a:xfrm>
          <a:prstGeom prst="roundRect">
            <a:avLst>
              <a:gd name="adj" fmla="val 4394"/>
            </a:avLst>
          </a:prstGeom>
          <a:solidFill>
            <a:srgbClr val="FFFFFF"/>
          </a:solidFill>
          <a:ln w="14288">
            <a:solidFill>
              <a:srgbClr val="D7D1C5"/>
            </a:solidFill>
          </a:ln>
        </p:spPr>
      </p:sp>
      <p:pic>
        <p:nvPicPr>
          <p:cNvPr id="7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999906"/>
            <a:ext cx="10972800" cy="1715187"/>
          </a:xfrm>
          <a:prstGeom prst="rect">
            <a:avLst/>
          </a:prstGeom>
        </p:spPr>
      </p:pic>
      <p:sp>
        <p:nvSpPr>
          <p:cNvPr id="8" name="Ellipse 8"/>
          <p:cNvSpPr/>
          <p:nvPr/>
        </p:nvSpPr>
        <p:spPr>
          <a:xfrm>
            <a:off x="619125" y="4238625"/>
            <a:ext cx="323850" cy="323850"/>
          </a:xfrm>
          <a:prstGeom prst="ellipse">
            <a:avLst/>
          </a:prstGeom>
          <a:solidFill>
            <a:srgbClr val="B54836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13897" y="4276725"/>
            <a:ext cx="134306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TW" sz="158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98932" y="4689475"/>
            <a:ext cx="1105215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2100" b="1" dirty="0">
                <a:solidFill>
                  <a:srgbClr val="18344A"/>
                </a:solidFill>
                <a:latin typeface="Arial"/>
                <a:ea typeface="Microsoft JhengHei"/>
                <a:cs typeface="Arial"/>
              </a:rPr>
              <a:t>現任為 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00837" y="5146675"/>
            <a:ext cx="1869897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720" dirty="0">
                <a:solidFill>
                  <a:srgbClr val="1D2934"/>
                </a:solidFill>
                <a:latin typeface="Arial"/>
                <a:ea typeface="Microsoft JhengHei"/>
                <a:cs typeface="Arial"/>
              </a:rPr>
              <a:t>同一位現任球員，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00837" y="5453380"/>
            <a:ext cx="2564536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720" dirty="0">
                <a:solidFill>
                  <a:srgbClr val="1D2934"/>
                </a:solidFill>
                <a:latin typeface="Arial"/>
                <a:ea typeface="Microsoft JhengHei"/>
                <a:cs typeface="Arial"/>
              </a:rPr>
              <a:t>是所有候選的比較基準。</a:t>
            </a:r>
          </a:p>
        </p:txBody>
      </p:sp>
      <p:sp>
        <p:nvSpPr>
          <p:cNvPr id="13" name="Ellipse 13"/>
          <p:cNvSpPr/>
          <p:nvPr/>
        </p:nvSpPr>
        <p:spPr>
          <a:xfrm>
            <a:off x="4352925" y="4238625"/>
            <a:ext cx="323850" cy="323850"/>
          </a:xfrm>
          <a:prstGeom prst="ellipse">
            <a:avLst/>
          </a:prstGeom>
          <a:solidFill>
            <a:srgbClr val="B54836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447697" y="4276725"/>
            <a:ext cx="134306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TW" sz="158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332732" y="4689475"/>
            <a:ext cx="178093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2100" b="1" dirty="0">
                <a:solidFill>
                  <a:srgbClr val="18344A"/>
                </a:solidFill>
                <a:latin typeface="Arial"/>
                <a:ea typeface="Microsoft JhengHei"/>
                <a:cs typeface="Arial"/>
              </a:rPr>
              <a:t>＋1.05 百分點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334637" y="5146675"/>
            <a:ext cx="3027629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720" dirty="0">
                <a:solidFill>
                  <a:srgbClr val="1D2934"/>
                </a:solidFill>
                <a:latin typeface="Arial"/>
                <a:ea typeface="Microsoft JhengHei"/>
                <a:cs typeface="Arial"/>
              </a:rPr>
              <a:t>依當下局勢換算的模型差距，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334637" y="5453380"/>
            <a:ext cx="3027629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720" dirty="0">
                <a:solidFill>
                  <a:srgbClr val="1D2934"/>
                </a:solidFill>
                <a:latin typeface="Arial"/>
                <a:ea typeface="Microsoft JhengHei"/>
                <a:cs typeface="Arial"/>
              </a:rPr>
              <a:t>不等於換人後必然增加勝率。</a:t>
            </a:r>
          </a:p>
        </p:txBody>
      </p:sp>
      <p:sp>
        <p:nvSpPr>
          <p:cNvPr id="18" name="Ellipse 18"/>
          <p:cNvSpPr/>
          <p:nvPr/>
        </p:nvSpPr>
        <p:spPr>
          <a:xfrm>
            <a:off x="8086725" y="4238625"/>
            <a:ext cx="323850" cy="323850"/>
          </a:xfrm>
          <a:prstGeom prst="ellipse">
            <a:avLst/>
          </a:prstGeom>
          <a:solidFill>
            <a:srgbClr val="B54836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181497" y="4276725"/>
            <a:ext cx="134306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TW" sz="158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066532" y="4689475"/>
            <a:ext cx="2016873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2100" b="1" dirty="0">
                <a:solidFill>
                  <a:srgbClr val="18344A"/>
                </a:solidFill>
                <a:latin typeface="Arial"/>
                <a:ea typeface="Microsoft JhengHei"/>
                <a:cs typeface="Arial"/>
              </a:rPr>
              <a:t>價值分數 1–100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068437" y="5146675"/>
            <a:ext cx="3259176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720" dirty="0">
                <a:solidFill>
                  <a:srgbClr val="1D2934"/>
                </a:solidFill>
                <a:latin typeface="Arial"/>
                <a:ea typeface="Microsoft JhengHei"/>
                <a:cs typeface="Arial"/>
              </a:rPr>
              <a:t>表示同一比較池內的相對位置，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068437" y="5453380"/>
            <a:ext cx="2564536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720" dirty="0">
                <a:solidFill>
                  <a:srgbClr val="1D2934"/>
                </a:solidFill>
                <a:latin typeface="Arial"/>
                <a:ea typeface="Microsoft JhengHei"/>
                <a:cs typeface="Arial"/>
              </a:rPr>
              <a:t>不是安打率或成功機率。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01980" y="5981700"/>
            <a:ext cx="50634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58616B"/>
                </a:solidFill>
                <a:latin typeface="Arial"/>
                <a:ea typeface="Microsoft JhengHei"/>
                <a:cs typeface="Arial"/>
              </a:rPr>
              <a:t>誤差線來自階層式估計，並非完整集成模型的預測區間。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hapter-kicker"/>
          <p:cNvGrpSpPr/>
          <p:nvPr/>
        </p:nvGrpSpPr>
        <p:grpSpPr>
          <a:xfrm>
            <a:off x="602742" y="177832"/>
            <a:ext cx="1304068" cy="264033"/>
            <a:chOff x="602742" y="177832"/>
            <a:chExt cx="1304068" cy="264033"/>
          </a:xfrm>
        </p:grpSpPr>
        <p:sp>
          <p:nvSpPr>
            <p:cNvPr id="2" name="TextBox 2"/>
            <p:cNvSpPr/>
            <p:nvPr/>
          </p:nvSpPr>
          <p:spPr>
            <a:xfrm>
              <a:off x="602742" y="177832"/>
              <a:ext cx="13040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8868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Arial"/>
                  <a:ea typeface="Microsoft JhengHei"/>
                  <a:cs typeface="Arial"/>
                </a:rPr>
                <a:t>02　資料與方法</a:t>
              </a:r>
            </a:p>
          </p:txBody>
        </p:sp>
      </p:grpSp>
      <p:grpSp>
        <p:nvGrpSpPr>
          <p:cNvPr id="5" name="title"/>
          <p:cNvGrpSpPr/>
          <p:nvPr/>
        </p:nvGrpSpPr>
        <p:grpSpPr>
          <a:xfrm>
            <a:off x="592836" y="546068"/>
            <a:ext cx="6697218" cy="645414"/>
            <a:chOff x="592836" y="546068"/>
            <a:chExt cx="6697218" cy="645414"/>
          </a:xfrm>
        </p:grpSpPr>
        <p:sp>
          <p:nvSpPr>
            <p:cNvPr id="4" name="TextBox 4"/>
            <p:cNvSpPr/>
            <p:nvPr/>
          </p:nvSpPr>
          <p:spPr>
            <a:xfrm>
              <a:off x="592836" y="546068"/>
              <a:ext cx="669721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6764" tIns="12732" rIns="0" bIns="0" anchor="t" anchorCtr="0">
              <a:noAutofit/>
            </a:bodyPr>
            <a:lstStyle/>
            <a:p>
              <a:pPr algn="l"/>
              <a:r>
                <a:rPr lang="zh-TW" sz="3150" b="1" dirty="0">
                  <a:solidFill>
                    <a:srgbClr val="18344A"/>
                  </a:solidFill>
                  <a:latin typeface="Arial"/>
                  <a:ea typeface="Microsoft JhengHei"/>
                  <a:cs typeface="Arial"/>
                </a:rPr>
                <a:t>換投提示，能否辨識續投風險？</a:t>
              </a:r>
            </a:p>
          </p:txBody>
        </p:sp>
      </p:grpSp>
      <p:sp>
        <p:nvSpPr>
          <p:cNvPr id="28" name="TextBox 28"/>
          <p:cNvSpPr/>
          <p:nvPr/>
        </p:nvSpPr>
        <p:spPr>
          <a:xfrm>
            <a:off x="11365992" y="6445282"/>
            <a:ext cx="21364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l"/>
            <a:r>
              <a:rPr lang="zh-TW" sz="1350" dirty="0">
                <a:solidFill>
                  <a:srgbClr val="58616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8" name="Rectangle 8"/>
          <p:cNvSpPr/>
          <p:nvPr/>
        </p:nvSpPr>
        <p:spPr>
          <a:xfrm>
            <a:off x="609600" y="1257300"/>
            <a:ext cx="857250" cy="38100"/>
          </a:xfrm>
          <a:prstGeom prst="rect">
            <a:avLst/>
          </a:prstGeom>
          <a:solidFill>
            <a:srgbClr val="B54836"/>
          </a:solidFill>
          <a:ln>
            <a:noFill/>
          </a:ln>
        </p:spPr>
      </p:sp>
      <p:grpSp>
        <p:nvGrpSpPr>
          <p:cNvPr id="11" name="backtest-scope"/>
          <p:cNvGrpSpPr/>
          <p:nvPr/>
        </p:nvGrpSpPr>
        <p:grpSpPr>
          <a:xfrm>
            <a:off x="609600" y="1524000"/>
            <a:ext cx="10972800" cy="784860"/>
            <a:chOff x="609600" y="1524000"/>
            <a:chExt cx="10972800" cy="784860"/>
          </a:xfrm>
        </p:grpSpPr>
        <p:sp>
          <p:nvSpPr>
            <p:cNvPr id="9" name="TextBox 9"/>
            <p:cNvSpPr/>
            <p:nvPr/>
          </p:nvSpPr>
          <p:spPr>
            <a:xfrm>
              <a:off x="609600" y="1524000"/>
              <a:ext cx="1097280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40005" rIns="0" bIns="0" anchor="t" anchorCtr="0">
              <a:noAutofit/>
            </a:bodyPr>
            <a:lstStyle/>
            <a:p>
              <a:pPr algn="l"/>
              <a:r>
                <a:rPr lang="zh-TW" sz="2100" b="1" dirty="0">
                  <a:solidFill>
                    <a:srgbClr val="18344A"/>
                  </a:solidFill>
                  <a:latin typeface="Microsoft JhengHei"/>
                  <a:ea typeface="Microsoft JhengHei"/>
                  <a:cs typeface="Microsoft JhengHei"/>
                </a:rPr>
                <a:t>2025 例行賽第 6 局起｜11,868 個換投決策點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9600" y="1943100"/>
              <a:ext cx="109728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4290" rIns="0" bIns="0" anchor="t" anchorCtr="0">
              <a:noAutofit/>
            </a:bodyPr>
            <a:lstStyle/>
            <a:p>
              <a:pPr algn="l"/>
              <a:r>
                <a:rPr lang="zh-TW" sz="1800" dirty="0">
                  <a:solidFill>
                    <a:srgbClr val="58616B"/>
                  </a:solidFill>
                  <a:latin typeface="Microsoft JhengHei"/>
                  <a:ea typeface="Microsoft JhengHei"/>
                  <a:cs typeface="Microsoft JhengHei"/>
                </a:rPr>
                <a:t>每個打席前評估一次；候選差距達 1 百分點視為系統建議。</a:t>
              </a:r>
            </a:p>
          </p:txBody>
        </p:sp>
      </p:grpSp>
      <p:grpSp>
        <p:nvGrpSpPr>
          <p:cNvPr id="24" name="backtest-comparison"/>
          <p:cNvGrpSpPr/>
          <p:nvPr/>
        </p:nvGrpSpPr>
        <p:grpSpPr>
          <a:xfrm>
            <a:off x="609600" y="2552700"/>
            <a:ext cx="10972800" cy="2268855"/>
            <a:chOff x="609600" y="2552700"/>
            <a:chExt cx="10972800" cy="2268855"/>
          </a:xfrm>
        </p:grpSpPr>
        <p:sp>
          <p:nvSpPr>
            <p:cNvPr id="12" name="TextBox 12"/>
            <p:cNvSpPr txBox="1"/>
            <p:nvPr/>
          </p:nvSpPr>
          <p:spPr>
            <a:xfrm>
              <a:off x="609600" y="2552700"/>
              <a:ext cx="1097280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7147" rIns="0" bIns="0" anchor="t" anchorCtr="0">
              <a:noAutofit/>
            </a:bodyPr>
            <a:lstStyle/>
            <a:p>
              <a:pPr algn="l"/>
              <a:r>
                <a:rPr lang="zh-TW" sz="1950" b="1" dirty="0">
                  <a:solidFill>
                    <a:srgbClr val="18344A"/>
                  </a:solidFill>
                  <a:latin typeface="Microsoft JhengHei"/>
                  <a:ea typeface="Microsoft JhengHei"/>
                  <a:cs typeface="Microsoft JhengHei"/>
                </a:rPr>
                <a:t>實際未換投時，比較「建議換」與「不建議換」兩組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9600" y="2971800"/>
              <a:ext cx="109728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1433" rIns="0" bIns="0" anchor="t" anchorCtr="0">
              <a:noAutofit/>
            </a:bodyPr>
            <a:lstStyle/>
            <a:p>
              <a:pPr algn="l"/>
              <a:r>
                <a:rPr lang="zh-TW" sz="1650" dirty="0">
                  <a:solidFill>
                    <a:srgbClr val="58616B"/>
                  </a:solidFill>
                  <a:latin typeface="Microsoft JhengHei"/>
                  <a:ea typeface="Microsoft JhengHei"/>
                  <a:cs typeface="Microsoft JhengHei"/>
                </a:rPr>
                <a:t>續投打席的 RE24 差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990600" y="3771900"/>
              <a:ext cx="6172200" cy="9525"/>
            </a:xfrm>
            <a:custGeom>
              <a:avLst/>
              <a:gdLst/>
              <a:ahLst/>
              <a:cxnLst/>
              <a:rect l="l" t="t" r="r" b="b"/>
              <a:pathLst>
                <a:path w="6172200" h="9525">
                  <a:moveTo>
                    <a:pt x="0" y="0"/>
                  </a:moveTo>
                  <a:lnTo>
                    <a:pt x="6172200" y="0"/>
                  </a:lnTo>
                </a:path>
              </a:pathLst>
            </a:custGeom>
            <a:noFill/>
            <a:ln w="19050">
              <a:solidFill>
                <a:srgbClr val="D7D1C5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2225040" y="3381375"/>
              <a:ext cx="9525" cy="638175"/>
            </a:xfrm>
            <a:custGeom>
              <a:avLst/>
              <a:gdLst/>
              <a:ahLst/>
              <a:cxnLst/>
              <a:rect l="l" t="t" r="r" b="b"/>
              <a:pathLst>
                <a:path w="9525" h="638175">
                  <a:moveTo>
                    <a:pt x="0" y="0"/>
                  </a:moveTo>
                  <a:lnTo>
                    <a:pt x="0" y="638175"/>
                  </a:lnTo>
                </a:path>
              </a:pathLst>
            </a:custGeom>
            <a:noFill/>
            <a:ln w="19050">
              <a:solidFill>
                <a:srgbClr val="58616B"/>
              </a:solidFill>
              <a:prstDash val="dash"/>
            </a:ln>
          </p:spPr>
        </p:sp>
        <p:sp>
          <p:nvSpPr>
            <p:cNvPr id="16" name="Line 16"/>
            <p:cNvSpPr/>
            <p:nvPr/>
          </p:nvSpPr>
          <p:spPr>
            <a:xfrm>
              <a:off x="3274314" y="3648075"/>
              <a:ext cx="3147822" cy="9525"/>
            </a:xfrm>
            <a:custGeom>
              <a:avLst/>
              <a:gdLst/>
              <a:ahLst/>
              <a:cxnLst/>
              <a:rect l="l" t="t" r="r" b="b"/>
              <a:pathLst>
                <a:path w="3147822" h="9525">
                  <a:moveTo>
                    <a:pt x="0" y="0"/>
                  </a:moveTo>
                  <a:lnTo>
                    <a:pt x="3147822" y="0"/>
                  </a:lnTo>
                </a:path>
              </a:pathLst>
            </a:custGeom>
            <a:noFill/>
            <a:ln w="47625">
              <a:solidFill>
                <a:srgbClr val="B54836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3274314" y="3533775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6422136" y="3533775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4793361" y="3562350"/>
              <a:ext cx="171450" cy="171450"/>
            </a:xfrm>
            <a:prstGeom prst="ellipse">
              <a:avLst/>
            </a:prstGeom>
            <a:solidFill>
              <a:srgbClr val="B5483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072640" y="4086225"/>
              <a:ext cx="950976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28575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58616B"/>
                  </a:solidFill>
                  <a:latin typeface="Microsoft JhengHei"/>
                  <a:ea typeface="Microsoft JhengHei"/>
                  <a:cs typeface="Microsoft JhengHei"/>
                </a:rPr>
                <a:t>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41520" y="4086225"/>
              <a:ext cx="704088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28575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58616B"/>
                  </a:solidFill>
                  <a:latin typeface="Microsoft JhengHei"/>
                  <a:ea typeface="Microsoft JhengHei"/>
                  <a:cs typeface="Microsoft JhengHei"/>
                </a:rPr>
                <a:t>+0.04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010400" y="4086225"/>
              <a:ext cx="4572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28575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58616B"/>
                  </a:solidFill>
                  <a:latin typeface="Microsoft JhengHei"/>
                  <a:ea typeface="Microsoft JhengHei"/>
                  <a:cs typeface="Microsoft JhengHei"/>
                </a:rPr>
                <a:t>+0.08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09600" y="4486275"/>
              <a:ext cx="109728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1433" rIns="0" bIns="0" anchor="t" anchorCtr="0">
              <a:noAutofit/>
            </a:bodyPr>
            <a:lstStyle/>
            <a:p>
              <a:pPr algn="l"/>
              <a:r>
                <a:rPr lang="zh-TW" sz="1650" dirty="0">
                  <a:solidFill>
                    <a:srgbClr val="58616B"/>
                  </a:solidFill>
                  <a:latin typeface="Microsoft JhengHei"/>
                  <a:ea typeface="Microsoft JhengHei"/>
                  <a:cs typeface="Microsoft JhengHei"/>
                </a:rPr>
                <a:t>95% 區間：+0.017 ～ +0.068；高於 0 表示「建議換投」組的續投風險較高。</a:t>
              </a:r>
            </a:p>
          </p:txBody>
        </p:sp>
      </p:grpSp>
      <p:grpSp>
        <p:nvGrpSpPr>
          <p:cNvPr id="27" name="backtest-result"/>
          <p:cNvGrpSpPr/>
          <p:nvPr/>
        </p:nvGrpSpPr>
        <p:grpSpPr>
          <a:xfrm>
            <a:off x="8001000" y="2667000"/>
            <a:ext cx="3581400" cy="1720215"/>
            <a:chOff x="8001000" y="2667000"/>
            <a:chExt cx="3581400" cy="1720215"/>
          </a:xfrm>
        </p:grpSpPr>
        <p:sp>
          <p:nvSpPr>
            <p:cNvPr id="25" name="TextBox 25"/>
            <p:cNvSpPr txBox="1"/>
            <p:nvPr/>
          </p:nvSpPr>
          <p:spPr>
            <a:xfrm>
              <a:off x="8001000" y="2667000"/>
              <a:ext cx="3581400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91440" rIns="0" bIns="0" anchor="t" anchorCtr="0">
              <a:noAutofit/>
            </a:bodyPr>
            <a:lstStyle/>
            <a:p>
              <a:pPr algn="l"/>
              <a:r>
                <a:rPr lang="zh-TW" sz="4800" b="1" dirty="0">
                  <a:solidFill>
                    <a:srgbClr val="B54836"/>
                  </a:solidFill>
                  <a:latin typeface="Microsoft JhengHei"/>
                  <a:ea typeface="Microsoft JhengHei"/>
                  <a:cs typeface="Microsoft JhengHei"/>
                </a:rPr>
                <a:t>+0.043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001000" y="3562350"/>
              <a:ext cx="3581400" cy="8248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7147" rIns="0" bIns="0" anchor="t" anchorCtr="0">
              <a:noAutofit/>
            </a:bodyPr>
            <a:lstStyle/>
            <a:p>
              <a:pPr algn="l">
                <a:lnSpc>
                  <a:spcPts val="3375"/>
                </a:lnSpc>
              </a:pPr>
              <a:r>
                <a:rPr lang="zh-TW" sz="1950" dirty="0">
                  <a:solidFill>
                    <a:srgbClr val="18344A"/>
                  </a:solidFill>
                  <a:latin typeface="Microsoft JhengHei"/>
                  <a:ea typeface="Microsoft JhengHei"/>
                  <a:cs typeface="Microsoft JhengHei"/>
                </a:rPr>
                <a:t>得分期望差（RE24）</a:t>
              </a:r>
              <a:br/>
              <a:r>
                <a:rPr lang="zh-TW" sz="1950" dirty="0">
                  <a:solidFill>
                    <a:srgbClr val="18344A"/>
                  </a:solidFill>
                  <a:latin typeface="Microsoft JhengHei"/>
                  <a:ea typeface="Microsoft JhengHei"/>
                  <a:cs typeface="Microsoft JhengHei"/>
                </a:rPr>
                <a:t>提供換投風險線索</a:t>
              </a:r>
            </a:p>
          </p:txBody>
        </p:sp>
      </p:grpSp>
      <p:grpSp>
        <p:nvGrpSpPr>
          <p:cNvPr id="31" name="backtest-limits"/>
          <p:cNvGrpSpPr/>
          <p:nvPr/>
        </p:nvGrpSpPr>
        <p:grpSpPr>
          <a:xfrm>
            <a:off x="609600" y="5124450"/>
            <a:ext cx="10972800" cy="1173480"/>
            <a:chOff x="609600" y="5124450"/>
            <a:chExt cx="10972800" cy="1173480"/>
          </a:xfrm>
        </p:grpSpPr>
        <p:sp>
          <p:nvSpPr>
            <p:cNvPr id="29" name="TextBox 29"/>
            <p:cNvSpPr/>
            <p:nvPr/>
          </p:nvSpPr>
          <p:spPr>
            <a:xfrm>
              <a:off x="609600" y="5124450"/>
              <a:ext cx="1097280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2705" rIns="0" bIns="0" anchor="t" anchorCtr="0">
              <a:noAutofit/>
            </a:bodyPr>
            <a:lstStyle/>
            <a:p>
              <a:pPr algn="l"/>
              <a:r>
                <a:rPr lang="zh-TW" sz="1950" b="1" dirty="0">
                  <a:solidFill>
                    <a:srgbClr val="18344A"/>
                  </a:solidFill>
                  <a:latin typeface="Microsoft JhengHei"/>
                  <a:ea typeface="Microsoft JhengHei"/>
                  <a:cs typeface="Microsoft JhengHei"/>
                </a:rPr>
                <a:t>代打時機的組間差異尚不明顯，仍需更多驗證。</a:t>
              </a:r>
            </a:p>
          </p:txBody>
        </p:sp>
        <p:sp>
          <p:nvSpPr>
            <p:cNvPr id="30" name="TextBox 30"/>
            <p:cNvSpPr/>
            <p:nvPr/>
          </p:nvSpPr>
          <p:spPr>
            <a:xfrm>
              <a:off x="609600" y="5638800"/>
              <a:ext cx="10972800" cy="6591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94932" rIns="0" bIns="0" anchor="t" anchorCtr="0">
              <a:noAutofit/>
            </a:bodyPr>
            <a:lstStyle/>
            <a:p>
              <a:pPr algn="l"/>
              <a:r>
                <a:rPr lang="zh-TW" sz="1580" dirty="0">
                  <a:solidFill>
                    <a:srgbClr val="58616B"/>
                  </a:solidFill>
                  <a:latin typeface="Microsoft JhengHei"/>
                  <a:ea typeface="Microsoft JhengHei"/>
                  <a:cs typeface="Microsoft JhengHei"/>
                </a:rPr>
                <a:t>觀察性比較，不能推論換人的因果效益；可用名單由歷史出賽推估。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baseball"/>
          <p:cNvGrpSpPr/>
          <p:nvPr/>
        </p:nvGrpSpPr>
        <p:grpSpPr>
          <a:xfrm>
            <a:off x="8001000" y="1714500"/>
            <a:ext cx="3905250" cy="3905250"/>
            <a:chOff x="8001000" y="1714500"/>
            <a:chExt cx="3905250" cy="3905250"/>
          </a:xfrm>
        </p:grpSpPr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1000" y="1714500"/>
              <a:ext cx="3905250" cy="3905250"/>
            </a:xfrm>
            <a:prstGeom prst="rect">
              <a:avLst/>
            </a:prstGeom>
          </p:spPr>
        </p:pic>
      </p:grpSp>
      <p:grpSp>
        <p:nvGrpSpPr>
          <p:cNvPr id="7" name="chapter-content"/>
          <p:cNvGrpSpPr/>
          <p:nvPr/>
        </p:nvGrpSpPr>
        <p:grpSpPr>
          <a:xfrm>
            <a:off x="590550" y="673100"/>
            <a:ext cx="5368290" cy="4496626"/>
            <a:chOff x="590550" y="673100"/>
            <a:chExt cx="5368290" cy="4496626"/>
          </a:xfrm>
        </p:grpSpPr>
        <p:sp>
          <p:nvSpPr>
            <p:cNvPr id="3" name="TextBox 3"/>
            <p:cNvSpPr txBox="1"/>
            <p:nvPr/>
          </p:nvSpPr>
          <p:spPr>
            <a:xfrm>
              <a:off x="590550" y="673100"/>
              <a:ext cx="1296011" cy="1619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8400" b="1" dirty="0">
                  <a:solidFill>
                    <a:srgbClr val="B54836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1312" y="2632075"/>
              <a:ext cx="536752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600" b="1" dirty="0">
                  <a:solidFill>
                    <a:srgbClr val="18344A"/>
                  </a:solidFill>
                  <a:latin typeface="Arial"/>
                  <a:ea typeface="Microsoft JhengHei"/>
                  <a:cs typeface="Arial"/>
                </a:rPr>
                <a:t>把比較變成可操作的網站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8932" y="3565525"/>
              <a:ext cx="42618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dirty="0">
                  <a:solidFill>
                    <a:srgbClr val="58616B"/>
                  </a:solidFill>
                  <a:latin typeface="Arial"/>
                  <a:ea typeface="Microsoft JhengHei"/>
                  <a:cs typeface="Arial"/>
                </a:rPr>
                <a:t>換打、換投、名單配置與單日回放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0837" y="4832350"/>
              <a:ext cx="256453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720" dirty="0">
                  <a:solidFill>
                    <a:srgbClr val="18344A"/>
                  </a:solidFill>
                  <a:latin typeface="Arial"/>
                  <a:ea typeface="Microsoft JhengHei"/>
                  <a:cs typeface="Arial"/>
                </a:rPr>
                <a:t>一球兩面｜臨場用人決策</a:t>
              </a:r>
            </a:p>
          </p:txBody>
        </p:sp>
      </p:grpSp>
      <p:sp>
        <p:nvSpPr>
          <p:cNvPr id="10" name="TextBox 8"/>
          <p:cNvSpPr txBox="1"/>
          <p:nvPr/>
        </p:nvSpPr>
        <p:spPr>
          <a:xfrm>
            <a:off x="11373378" y="6445250"/>
            <a:ext cx="21588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593598" y="266700"/>
            <a:ext cx="7664958" cy="1028700"/>
            <a:chOff x="593598" y="266700"/>
            <a:chExt cx="7664958" cy="1028700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66700"/>
              <a:ext cx="12495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Arial"/>
                  <a:ea typeface="Microsoft JhengHei"/>
                  <a:cs typeface="Arial"/>
                </a:rPr>
                <a:t>03　網站實作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558800"/>
              <a:ext cx="766495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150" b="1" dirty="0">
                  <a:solidFill>
                    <a:srgbClr val="18344A"/>
                  </a:solidFill>
                  <a:latin typeface="Arial"/>
                  <a:ea typeface="Microsoft JhengHei"/>
                  <a:cs typeface="Arial"/>
                </a:rPr>
                <a:t>相同評估工具，名單限制依使用方式調整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57300"/>
              <a:ext cx="857250" cy="38100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grpSp>
        <p:nvGrpSpPr>
          <p:cNvPr id="8" name="page-footer"/>
          <p:cNvGrpSpPr/>
          <p:nvPr/>
        </p:nvGrpSpPr>
        <p:grpSpPr>
          <a:xfrm>
            <a:off x="601980" y="5981700"/>
            <a:ext cx="10987278" cy="727583"/>
            <a:chOff x="601980" y="5981700"/>
            <a:chExt cx="10987278" cy="727583"/>
          </a:xfrm>
        </p:grpSpPr>
        <p:sp>
          <p:nvSpPr>
            <p:cNvPr id="6" name="TextBox 6"/>
            <p:cNvSpPr txBox="1"/>
            <p:nvPr/>
          </p:nvSpPr>
          <p:spPr>
            <a:xfrm>
              <a:off x="11373378" y="6445250"/>
              <a:ext cx="2158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350" dirty="0">
                  <a:solidFill>
                    <a:srgbClr val="58616B"/>
                  </a:solidFill>
                  <a:latin typeface="Arial"/>
                  <a:ea typeface="Arial"/>
                  <a:cs typeface="Arial"/>
                </a:rPr>
                <a:t>14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1980" y="5981700"/>
              <a:ext cx="58712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>
                  <a:solidFill>
                    <a:srgbClr val="58616B"/>
                  </a:solidFill>
                  <a:latin typeface="Arial"/>
                  <a:ea typeface="Microsoft JhengHei"/>
                  <a:cs typeface="Arial"/>
                </a:rPr>
                <a:t>單日分析不受使用模式影響；切換模式不會刪除已存的場上配置。</a:t>
              </a:r>
            </a:p>
          </p:txBody>
        </p:sp>
      </p:grpSp>
      <p:grpSp>
        <p:nvGrpSpPr>
          <p:cNvPr id="14" name="audience-64"/>
          <p:cNvGrpSpPr/>
          <p:nvPr/>
        </p:nvGrpSpPr>
        <p:grpSpPr>
          <a:xfrm>
            <a:off x="609600" y="1828800"/>
            <a:ext cx="5334000" cy="3714750"/>
            <a:chOff x="609600" y="1828800"/>
            <a:chExt cx="5334000" cy="3714750"/>
          </a:xfrm>
        </p:grpSpPr>
        <p:sp>
          <p:nvSpPr>
            <p:cNvPr id="9" name="Rectangle 9"/>
            <p:cNvSpPr/>
            <p:nvPr/>
          </p:nvSpPr>
          <p:spPr>
            <a:xfrm>
              <a:off x="609600" y="1828800"/>
              <a:ext cx="5334000" cy="3714750"/>
            </a:xfrm>
            <a:prstGeom prst="roundRect">
              <a:avLst>
                <a:gd name="adj" fmla="val 3077"/>
              </a:avLst>
            </a:prstGeom>
            <a:solidFill>
              <a:srgbClr val="FFFFFF"/>
            </a:solidFill>
            <a:ln w="14288">
              <a:solidFill>
                <a:srgbClr val="D7D1C5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2584" y="2060575"/>
              <a:ext cx="184480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700" b="1" dirty="0">
                  <a:solidFill>
                    <a:srgbClr val="18344A"/>
                  </a:solidFill>
                  <a:latin typeface="Arial"/>
                  <a:ea typeface="Microsoft JhengHei"/>
                  <a:cs typeface="Arial"/>
                </a:rPr>
                <a:t>一般使用者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66775" y="2876550"/>
              <a:ext cx="3056077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  <a:t>不需先設定名單即可評估。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6775" y="3571875"/>
              <a:ext cx="3562248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  <a:t>可安排九棒，也可選其他球員。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66775" y="4267200"/>
              <a:ext cx="2802992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  <a:t>適合自由模擬投打組合。</a:t>
              </a:r>
            </a:p>
          </p:txBody>
        </p:sp>
      </p:grpSp>
      <p:grpSp>
        <p:nvGrpSpPr>
          <p:cNvPr id="20" name="audience-656"/>
          <p:cNvGrpSpPr/>
          <p:nvPr/>
        </p:nvGrpSpPr>
        <p:grpSpPr>
          <a:xfrm>
            <a:off x="6248400" y="1828800"/>
            <a:ext cx="5334000" cy="3714750"/>
            <a:chOff x="6248400" y="1828800"/>
            <a:chExt cx="5334000" cy="3714750"/>
          </a:xfrm>
        </p:grpSpPr>
        <p:sp>
          <p:nvSpPr>
            <p:cNvPr id="15" name="Rectangle 15"/>
            <p:cNvSpPr/>
            <p:nvPr/>
          </p:nvSpPr>
          <p:spPr>
            <a:xfrm>
              <a:off x="6248400" y="1828800"/>
              <a:ext cx="5334000" cy="3714750"/>
            </a:xfrm>
            <a:prstGeom prst="roundRect">
              <a:avLst>
                <a:gd name="adj" fmla="val 3077"/>
              </a:avLst>
            </a:prstGeom>
            <a:solidFill>
              <a:srgbClr val="FFFFFF"/>
            </a:solidFill>
            <a:ln w="14288">
              <a:solidFill>
                <a:srgbClr val="D7D1C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501384" y="2060575"/>
              <a:ext cx="75438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700" b="1" dirty="0">
                  <a:solidFill>
                    <a:srgbClr val="18344A"/>
                  </a:solidFill>
                  <a:latin typeface="Arial"/>
                  <a:ea typeface="Microsoft JhengHei"/>
                  <a:cs typeface="Arial"/>
                </a:rPr>
                <a:t>球隊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05575" y="2876550"/>
              <a:ext cx="3056077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  <a:t>先套用九棒、守位與投手。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05575" y="3571875"/>
              <a:ext cx="4321505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  <a:t>現任依場上配置；替補排除場上人員。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05575" y="4267200"/>
              <a:ext cx="4068420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  <a:t>今日可用板凳與牛棚仍需人工勾選。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593598" y="266700"/>
            <a:ext cx="6816852" cy="1028700"/>
            <a:chOff x="593598" y="266700"/>
            <a:chExt cx="6816852" cy="1028700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66700"/>
              <a:ext cx="22591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Arial"/>
                  <a:ea typeface="Microsoft JhengHei"/>
                  <a:cs typeface="Arial"/>
                </a:rPr>
                <a:t>03　網站實作｜代打情境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558800"/>
              <a:ext cx="681685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150" b="1" dirty="0">
                  <a:solidFill>
                    <a:srgbClr val="18344A"/>
                  </a:solidFill>
                  <a:latin typeface="Arial"/>
                  <a:ea typeface="Microsoft JhengHei"/>
                  <a:cs typeface="Arial"/>
                </a:rPr>
                <a:t>只替換候選打者，其餘條件保持相同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57300"/>
              <a:ext cx="857250" cy="38100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grpSp>
        <p:nvGrpSpPr>
          <p:cNvPr id="8" name="page-footer"/>
          <p:cNvGrpSpPr/>
          <p:nvPr/>
        </p:nvGrpSpPr>
        <p:grpSpPr>
          <a:xfrm>
            <a:off x="601980" y="5981700"/>
            <a:ext cx="10987278" cy="727583"/>
            <a:chOff x="601980" y="5981700"/>
            <a:chExt cx="10987278" cy="727583"/>
          </a:xfrm>
        </p:grpSpPr>
        <p:sp>
          <p:nvSpPr>
            <p:cNvPr id="6" name="TextBox 6"/>
            <p:cNvSpPr txBox="1"/>
            <p:nvPr/>
          </p:nvSpPr>
          <p:spPr>
            <a:xfrm>
              <a:off x="11373378" y="6445250"/>
              <a:ext cx="2158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350" dirty="0">
                  <a:solidFill>
                    <a:srgbClr val="58616B"/>
                  </a:solidFill>
                  <a:latin typeface="Arial"/>
                  <a:ea typeface="Arial"/>
                  <a:cs typeface="Arial"/>
                </a:rPr>
                <a:t>15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1980" y="5981700"/>
              <a:ext cx="6880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>
                  <a:solidFill>
                    <a:srgbClr val="58616B"/>
                  </a:solidFill>
                  <a:latin typeface="Arial"/>
                  <a:ea typeface="Microsoft JhengHei"/>
                  <a:cs typeface="Arial"/>
                </a:rPr>
                <a:t>自訂示範情境：固定對方投手、局勢與原守位，再比較代打候選的估計差距。</a:t>
              </a:r>
            </a:p>
          </p:txBody>
        </p:sp>
      </p:grpSp>
      <p:grpSp>
        <p:nvGrpSpPr>
          <p:cNvPr id="12" name="fixed-condition-0"/>
          <p:cNvGrpSpPr/>
          <p:nvPr/>
        </p:nvGrpSpPr>
        <p:grpSpPr>
          <a:xfrm>
            <a:off x="595122" y="1841500"/>
            <a:ext cx="1179957" cy="1631315"/>
            <a:chOff x="595122" y="1841500"/>
            <a:chExt cx="1179957" cy="1631315"/>
          </a:xfrm>
        </p:grpSpPr>
        <p:sp>
          <p:nvSpPr>
            <p:cNvPr id="9" name="TextBox 9"/>
            <p:cNvSpPr txBox="1"/>
            <p:nvPr/>
          </p:nvSpPr>
          <p:spPr>
            <a:xfrm>
              <a:off x="599313" y="1841500"/>
              <a:ext cx="110830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b="1" dirty="0">
                  <a:solidFill>
                    <a:srgbClr val="B54836"/>
                  </a:solidFill>
                  <a:latin typeface="Arial"/>
                  <a:ea typeface="Microsoft JhengHei"/>
                  <a:cs typeface="Arial"/>
                </a:rPr>
                <a:t>對方投手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5122" y="2454275"/>
              <a:ext cx="117995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850" b="1" dirty="0">
                  <a:solidFill>
                    <a:srgbClr val="18344A"/>
                  </a:solidFill>
                  <a:latin typeface="Arial"/>
                  <a:ea typeface="Microsoft JhengHei"/>
                  <a:cs typeface="Arial"/>
                </a:rPr>
                <a:t>魔力藍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0075" y="3105150"/>
              <a:ext cx="525221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  <a:t>左投</a:t>
              </a:r>
            </a:p>
          </p:txBody>
        </p:sp>
      </p:grpSp>
      <p:grpSp>
        <p:nvGrpSpPr>
          <p:cNvPr id="16" name="fixed-condition-1"/>
          <p:cNvGrpSpPr/>
          <p:nvPr/>
        </p:nvGrpSpPr>
        <p:grpSpPr>
          <a:xfrm>
            <a:off x="4328922" y="1841500"/>
            <a:ext cx="2310393" cy="1631315"/>
            <a:chOff x="4328922" y="1841500"/>
            <a:chExt cx="2310393" cy="1631315"/>
          </a:xfrm>
        </p:grpSpPr>
        <p:sp>
          <p:nvSpPr>
            <p:cNvPr id="13" name="TextBox 13"/>
            <p:cNvSpPr txBox="1"/>
            <p:nvPr/>
          </p:nvSpPr>
          <p:spPr>
            <a:xfrm>
              <a:off x="4333113" y="1841500"/>
              <a:ext cx="110830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b="1" dirty="0">
                  <a:solidFill>
                    <a:srgbClr val="B54836"/>
                  </a:solidFill>
                  <a:latin typeface="Arial"/>
                  <a:ea typeface="Microsoft JhengHei"/>
                  <a:cs typeface="Arial"/>
                </a:rPr>
                <a:t>比賽局勢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328922" y="2454275"/>
              <a:ext cx="231039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850" b="1" dirty="0">
                  <a:solidFill>
                    <a:srgbClr val="18344A"/>
                  </a:solidFill>
                  <a:latin typeface="Arial"/>
                  <a:ea typeface="Microsoft JhengHei"/>
                  <a:cs typeface="Arial"/>
                </a:rPr>
                <a:t>8 局上・1：2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33875" y="3105150"/>
              <a:ext cx="2043735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  <a:t>一出局，二壘有人</a:t>
              </a:r>
            </a:p>
          </p:txBody>
        </p:sp>
      </p:grpSp>
      <p:grpSp>
        <p:nvGrpSpPr>
          <p:cNvPr id="20" name="fixed-condition-2"/>
          <p:cNvGrpSpPr/>
          <p:nvPr/>
        </p:nvGrpSpPr>
        <p:grpSpPr>
          <a:xfrm>
            <a:off x="8062722" y="1841500"/>
            <a:ext cx="1795602" cy="1631315"/>
            <a:chOff x="8062722" y="1841500"/>
            <a:chExt cx="1795602" cy="1631315"/>
          </a:xfrm>
        </p:grpSpPr>
        <p:sp>
          <p:nvSpPr>
            <p:cNvPr id="17" name="TextBox 17"/>
            <p:cNvSpPr txBox="1"/>
            <p:nvPr/>
          </p:nvSpPr>
          <p:spPr>
            <a:xfrm>
              <a:off x="8066913" y="1841500"/>
              <a:ext cx="110830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b="1" dirty="0">
                  <a:solidFill>
                    <a:srgbClr val="B54836"/>
                  </a:solidFill>
                  <a:latin typeface="Arial"/>
                  <a:ea typeface="Microsoft JhengHei"/>
                  <a:cs typeface="Arial"/>
                </a:rPr>
                <a:t>現任打者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62722" y="2454275"/>
              <a:ext cx="117995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850" b="1" dirty="0">
                  <a:solidFill>
                    <a:srgbClr val="18344A"/>
                  </a:solidFill>
                  <a:latin typeface="Arial"/>
                  <a:ea typeface="Microsoft JhengHei"/>
                  <a:cs typeface="Arial"/>
                </a:rPr>
                <a:t>林佳緯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067675" y="3105150"/>
              <a:ext cx="1790649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  <a:t>左打，指定打擊</a:t>
              </a:r>
            </a:p>
          </p:txBody>
        </p:sp>
      </p:grpSp>
      <p:grpSp>
        <p:nvGrpSpPr>
          <p:cNvPr id="23" name="candidate-substitution"/>
          <p:cNvGrpSpPr/>
          <p:nvPr/>
        </p:nvGrpSpPr>
        <p:grpSpPr>
          <a:xfrm>
            <a:off x="596646" y="4232275"/>
            <a:ext cx="7234809" cy="1130554"/>
            <a:chOff x="596646" y="4232275"/>
            <a:chExt cx="7234809" cy="1130554"/>
          </a:xfrm>
        </p:grpSpPr>
        <p:sp>
          <p:nvSpPr>
            <p:cNvPr id="21" name="TextBox 21"/>
            <p:cNvSpPr txBox="1"/>
            <p:nvPr/>
          </p:nvSpPr>
          <p:spPr>
            <a:xfrm>
              <a:off x="597408" y="4232275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>
                  <a:solidFill>
                    <a:srgbClr val="18344A"/>
                  </a:solidFill>
                  <a:latin typeface="Arial"/>
                  <a:ea typeface="Microsoft JhengHei"/>
                  <a:cs typeface="Arial"/>
                </a:rPr>
                <a:t>只改候選人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96646" y="4864100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550" b="1" dirty="0">
                  <a:solidFill>
                    <a:srgbClr val="18344A"/>
                  </a:solidFill>
                  <a:latin typeface="Arial"/>
                  <a:ea typeface="Microsoft JhengHei"/>
                  <a:cs typeface="Arial"/>
                </a:rPr>
                <a:t>林佳緯續打　↔　胡金龍／陳鏞基／楊竣翔代打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1980" y="266700"/>
            <a:ext cx="22591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B54836"/>
                </a:solidFill>
                <a:latin typeface="Arial"/>
                <a:ea typeface="Microsoft JhengHei"/>
                <a:cs typeface="Arial"/>
              </a:rPr>
              <a:t>03　網站實作｜代打比較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3598" y="558800"/>
            <a:ext cx="7240905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3150" b="1" dirty="0">
                <a:solidFill>
                  <a:srgbClr val="18344A"/>
                </a:solidFill>
                <a:latin typeface="Arial"/>
                <a:ea typeface="Microsoft JhengHei"/>
                <a:cs typeface="Arial"/>
              </a:rPr>
              <a:t>胡金龍的估計差距最大，仍要確認接守</a:t>
            </a:r>
          </a:p>
        </p:txBody>
      </p:sp>
      <p:sp>
        <p:nvSpPr>
          <p:cNvPr id="4" name="Rectangle 4"/>
          <p:cNvSpPr/>
          <p:nvPr/>
        </p:nvSpPr>
        <p:spPr>
          <a:xfrm>
            <a:off x="609600" y="1257300"/>
            <a:ext cx="857250" cy="38100"/>
          </a:xfrm>
          <a:prstGeom prst="rect">
            <a:avLst/>
          </a:prstGeom>
          <a:solidFill>
            <a:srgbClr val="B54836"/>
          </a:solidFill>
          <a:ln>
            <a:noFill/>
          </a:ln>
        </p:spPr>
      </p:sp>
      <p:sp>
        <p:nvSpPr>
          <p:cNvPr id="5" name="TextBox 5"/>
          <p:cNvSpPr/>
          <p:nvPr/>
        </p:nvSpPr>
        <p:spPr>
          <a:xfrm>
            <a:off x="11373422" y="6445282"/>
            <a:ext cx="2158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0456" y="1622425"/>
            <a:ext cx="46093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ja-JP" sz="1800" dirty="0">
                <a:solidFill>
                  <a:srgbClr val="58616B"/>
                </a:solidFill>
                <a:latin typeface="Arial"/>
                <a:ea typeface="Microsoft JhengHei"/>
                <a:cs typeface="Arial"/>
              </a:rPr>
              <a:t>基準：林佳緯｜統一對富邦｜8 局上・1：2</a:t>
            </a:r>
          </a:p>
        </p:txBody>
      </p:sp>
      <p:sp>
        <p:nvSpPr>
          <p:cNvPr id="7" name="Rectangle 7"/>
          <p:cNvSpPr/>
          <p:nvPr/>
        </p:nvSpPr>
        <p:spPr>
          <a:xfrm>
            <a:off x="600075" y="2190406"/>
            <a:ext cx="10991850" cy="1734237"/>
          </a:xfrm>
          <a:prstGeom prst="roundRect">
            <a:avLst>
              <a:gd name="adj" fmla="val 4394"/>
            </a:avLst>
          </a:prstGeom>
          <a:solidFill>
            <a:srgbClr val="FFFFFF"/>
          </a:solidFill>
          <a:ln w="14288">
            <a:solidFill>
              <a:srgbClr val="D7D1C5"/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199931"/>
            <a:ext cx="10972800" cy="1715187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590550" y="4089400"/>
            <a:ext cx="1823000" cy="876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4500" b="1" dirty="0">
                <a:solidFill>
                  <a:srgbClr val="237A53"/>
                </a:solidFill>
                <a:latin typeface="Arial"/>
                <a:ea typeface="Microsoft JhengHei"/>
                <a:cs typeface="Arial"/>
              </a:rPr>
              <a:t>＋1.05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00456" y="4851400"/>
            <a:ext cx="341071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800" dirty="0">
                <a:solidFill>
                  <a:srgbClr val="58616B"/>
                </a:solidFill>
                <a:latin typeface="Arial"/>
                <a:ea typeface="Microsoft JhengHei"/>
                <a:cs typeface="Arial"/>
              </a:rPr>
              <a:t>相對現任的模型差距（百分點）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79058" y="4308475"/>
            <a:ext cx="1962912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2400" b="1" dirty="0">
                <a:solidFill>
                  <a:srgbClr val="18344A"/>
                </a:solidFill>
                <a:latin typeface="Arial"/>
                <a:ea typeface="Microsoft JhengHei"/>
                <a:cs typeface="Arial"/>
              </a:rPr>
              <a:t>承接指定打擊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181344" y="4806950"/>
            <a:ext cx="343242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950" dirty="0">
                <a:solidFill>
                  <a:srgbClr val="1D2934"/>
                </a:solidFill>
                <a:latin typeface="Arial"/>
                <a:ea typeface="Microsoft JhengHei"/>
                <a:cs typeface="Arial"/>
              </a:rPr>
              <a:t>本例不需額外安排接守人選。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182106" y="5270500"/>
            <a:ext cx="365302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800" dirty="0">
                <a:solidFill>
                  <a:srgbClr val="58616B"/>
                </a:solidFill>
                <a:latin typeface="Arial"/>
                <a:ea typeface="Microsoft JhengHei"/>
                <a:cs typeface="Arial"/>
              </a:rPr>
              <a:t>楊竣翔資料較少，保留樣本提醒。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01980" y="5981700"/>
            <a:ext cx="710536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58616B"/>
                </a:solidFill>
                <a:latin typeface="Arial"/>
                <a:ea typeface="Microsoft JhengHei"/>
                <a:cs typeface="Arial"/>
              </a:rPr>
              <a:t>本例已選候選中，胡金龍達 1 百分點建議門檻；模型差距不等於實際換人效益。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1980" y="266700"/>
            <a:ext cx="22591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B54836"/>
                </a:solidFill>
                <a:latin typeface="Arial"/>
                <a:ea typeface="Microsoft JhengHei"/>
                <a:cs typeface="Arial"/>
              </a:rPr>
              <a:t>03　網站實作｜換投比較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3598" y="558800"/>
            <a:ext cx="6392799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3150" b="1" dirty="0">
                <a:solidFill>
                  <a:srgbClr val="18344A"/>
                </a:solidFill>
                <a:latin typeface="Arial"/>
                <a:ea typeface="Microsoft JhengHei"/>
                <a:cs typeface="Arial"/>
              </a:rPr>
              <a:t>朱承洋在已選後援中，估計較有利</a:t>
            </a:r>
          </a:p>
        </p:txBody>
      </p:sp>
      <p:sp>
        <p:nvSpPr>
          <p:cNvPr id="4" name="Rectangle 4"/>
          <p:cNvSpPr/>
          <p:nvPr/>
        </p:nvSpPr>
        <p:spPr>
          <a:xfrm>
            <a:off x="609600" y="1257300"/>
            <a:ext cx="857250" cy="38100"/>
          </a:xfrm>
          <a:prstGeom prst="rect">
            <a:avLst/>
          </a:prstGeom>
          <a:solidFill>
            <a:srgbClr val="B54836"/>
          </a:solidFill>
          <a:ln>
            <a:noFill/>
          </a:ln>
        </p:spPr>
      </p:sp>
      <p:sp>
        <p:nvSpPr>
          <p:cNvPr id="5" name="TextBox 5"/>
          <p:cNvSpPr/>
          <p:nvPr/>
        </p:nvSpPr>
        <p:spPr>
          <a:xfrm>
            <a:off x="11373422" y="6445282"/>
            <a:ext cx="2158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0456" y="1622425"/>
            <a:ext cx="622506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ja-JP" sz="1800" dirty="0">
                <a:solidFill>
                  <a:srgbClr val="58616B"/>
                </a:solidFill>
                <a:latin typeface="Arial"/>
                <a:ea typeface="Microsoft JhengHei"/>
                <a:cs typeface="Arial"/>
              </a:rPr>
              <a:t>基準：魔神龍 95 球｜8 局上・0：0｜兩出局，二三壘有人</a:t>
            </a:r>
          </a:p>
        </p:txBody>
      </p:sp>
      <p:sp>
        <p:nvSpPr>
          <p:cNvPr id="7" name="Rectangle 7"/>
          <p:cNvSpPr/>
          <p:nvPr/>
        </p:nvSpPr>
        <p:spPr>
          <a:xfrm>
            <a:off x="1164355" y="2124075"/>
            <a:ext cx="9863290" cy="18669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4288">
            <a:solidFill>
              <a:srgbClr val="D7D1C5"/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880" y="2133600"/>
            <a:ext cx="9844240" cy="184785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590550" y="4089400"/>
            <a:ext cx="1823000" cy="876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4500" b="1" dirty="0">
                <a:solidFill>
                  <a:srgbClr val="237A53"/>
                </a:solidFill>
                <a:latin typeface="Arial"/>
                <a:ea typeface="Microsoft JhengHei"/>
                <a:cs typeface="Arial"/>
              </a:rPr>
              <a:t>＋2.51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00456" y="4851400"/>
            <a:ext cx="341071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800" dirty="0">
                <a:solidFill>
                  <a:srgbClr val="58616B"/>
                </a:solidFill>
                <a:latin typeface="Arial"/>
                <a:ea typeface="Microsoft JhengHei"/>
                <a:cs typeface="Arial"/>
              </a:rPr>
              <a:t>相對現任的模型差距（百分點）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79058" y="4308475"/>
            <a:ext cx="325526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2400" b="1" dirty="0">
                <a:solidFill>
                  <a:srgbClr val="18344A"/>
                </a:solidFill>
                <a:latin typeface="Arial"/>
                <a:ea typeface="Microsoft JhengHei"/>
                <a:cs typeface="Arial"/>
              </a:rPr>
              <a:t>把接下來三棒一起比較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181725" y="4819650"/>
            <a:ext cx="3815334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880" dirty="0">
                <a:solidFill>
                  <a:srgbClr val="1D2934"/>
                </a:solidFill>
                <a:latin typeface="Arial"/>
                <a:ea typeface="Microsoft JhengHei"/>
                <a:cs typeface="Arial"/>
              </a:rPr>
              <a:t>郭天信、李凱威、吉力吉撈．鞏冠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182106" y="5270500"/>
            <a:ext cx="413766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800" dirty="0">
                <a:solidFill>
                  <a:srgbClr val="58616B"/>
                </a:solidFill>
                <a:latin typeface="Arial"/>
                <a:ea typeface="Microsoft JhengHei"/>
                <a:cs typeface="Arial"/>
              </a:rPr>
              <a:t>含本場用球數調整，未模擬後續換局。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01980" y="5981700"/>
            <a:ext cx="70827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58616B"/>
                </a:solidFill>
                <a:latin typeface="Arial"/>
                <a:ea typeface="Microsoft JhengHei"/>
                <a:cs typeface="Arial"/>
              </a:rPr>
              <a:t>只比較使用者勾選的人選；不代表全隊投手的最優解，也未計算整場牛棚配置。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593598" y="266700"/>
            <a:ext cx="5968746" cy="1028700"/>
            <a:chOff x="593598" y="266700"/>
            <a:chExt cx="5968746" cy="1028700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66700"/>
              <a:ext cx="12495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Arial"/>
                  <a:ea typeface="Microsoft JhengHei"/>
                  <a:cs typeface="Arial"/>
                </a:rPr>
                <a:t>03　網站實作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558800"/>
              <a:ext cx="596874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150" b="1" dirty="0">
                  <a:solidFill>
                    <a:srgbClr val="18344A"/>
                  </a:solidFill>
                  <a:latin typeface="Arial"/>
                  <a:ea typeface="Microsoft JhengHei"/>
                  <a:cs typeface="Arial"/>
                </a:rPr>
                <a:t>在球場圖上選人，確認誰守哪裡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57300"/>
              <a:ext cx="857250" cy="38100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grpSp>
        <p:nvGrpSpPr>
          <p:cNvPr id="8" name="page-footer"/>
          <p:cNvGrpSpPr/>
          <p:nvPr/>
        </p:nvGrpSpPr>
        <p:grpSpPr>
          <a:xfrm>
            <a:off x="601980" y="5981700"/>
            <a:ext cx="10987278" cy="727583"/>
            <a:chOff x="601980" y="5981700"/>
            <a:chExt cx="10987278" cy="727583"/>
          </a:xfrm>
        </p:grpSpPr>
        <p:sp>
          <p:nvSpPr>
            <p:cNvPr id="6" name="TextBox 6"/>
            <p:cNvSpPr txBox="1"/>
            <p:nvPr/>
          </p:nvSpPr>
          <p:spPr>
            <a:xfrm>
              <a:off x="11373378" y="6445250"/>
              <a:ext cx="2158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350" dirty="0">
                  <a:solidFill>
                    <a:srgbClr val="58616B"/>
                  </a:solidFill>
                  <a:latin typeface="Arial"/>
                  <a:ea typeface="Arial"/>
                  <a:cs typeface="Arial"/>
                </a:rPr>
                <a:t>18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1980" y="5981700"/>
              <a:ext cx="74502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>
                  <a:solidFill>
                    <a:srgbClr val="58616B"/>
                  </a:solidFill>
                  <a:latin typeface="Arial"/>
                  <a:ea typeface="Microsoft JhengHei"/>
                  <a:cs typeface="Arial"/>
                </a:rPr>
                <a:t>真實網站畫面：樂天配置示範。DH 不占守備位置，球隊模式套用後排除場上替補。</a:t>
              </a:r>
            </a:p>
          </p:txBody>
        </p:sp>
      </p:grpSp>
      <p:grpSp>
        <p:nvGrpSpPr>
          <p:cNvPr id="10" name="field-screenshot"/>
          <p:cNvGrpSpPr/>
          <p:nvPr/>
        </p:nvGrpSpPr>
        <p:grpSpPr>
          <a:xfrm>
            <a:off x="1527559" y="1581150"/>
            <a:ext cx="5212582" cy="4286250"/>
            <a:chOff x="1527559" y="1581150"/>
            <a:chExt cx="5212582" cy="4286250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27559" y="1581150"/>
              <a:ext cx="5212582" cy="4286250"/>
            </a:xfrm>
            <a:prstGeom prst="rect">
              <a:avLst/>
            </a:prstGeom>
          </p:spPr>
        </p:pic>
      </p:grpSp>
      <p:grpSp>
        <p:nvGrpSpPr>
          <p:cNvPr id="15" name="field-explanation"/>
          <p:cNvGrpSpPr/>
          <p:nvPr/>
        </p:nvGrpSpPr>
        <p:grpSpPr>
          <a:xfrm>
            <a:off x="8084058" y="1803400"/>
            <a:ext cx="2886837" cy="3339465"/>
            <a:chOff x="8084058" y="1803400"/>
            <a:chExt cx="2886837" cy="3339465"/>
          </a:xfrm>
        </p:grpSpPr>
        <p:sp>
          <p:nvSpPr>
            <p:cNvPr id="11" name="TextBox 11"/>
            <p:cNvSpPr txBox="1"/>
            <p:nvPr/>
          </p:nvSpPr>
          <p:spPr>
            <a:xfrm>
              <a:off x="8084058" y="180340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>
                  <a:solidFill>
                    <a:srgbClr val="18344A"/>
                  </a:solidFill>
                  <a:latin typeface="Arial"/>
                  <a:ea typeface="Microsoft JhengHei"/>
                  <a:cs typeface="Arial"/>
                </a:rPr>
                <a:t>守備配置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86344" y="2470150"/>
              <a:ext cx="2675165" cy="10748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30"/>
                </a:lnSpc>
              </a:pPr>
              <a:r>
                <a:rPr lang="zh-TW" sz="195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  <a:t>點選守位挑選球員。</a:t>
              </a:r>
              <a:br>
                <a:rPr lang="zh-TW" sz="195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</a:br>
              <a:r>
                <a:rPr lang="zh-TW" sz="195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  <a:t>九棒含八個守位與 DH，</a:t>
              </a:r>
              <a:br>
                <a:rPr lang="zh-TW" sz="195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</a:br>
              <a:r>
                <a:rPr lang="zh-TW" sz="195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  <a:t>另設場上投手。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084820" y="3911600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>
                  <a:solidFill>
                    <a:srgbClr val="B54836"/>
                  </a:solidFill>
                  <a:latin typeface="Arial"/>
                  <a:ea typeface="Microsoft JhengHei"/>
                  <a:cs typeface="Arial"/>
                </a:rPr>
                <a:t>互換守位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086725" y="4441825"/>
              <a:ext cx="2884170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zh-TW" sz="188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  <a:t>開啟後依序點兩個位置；</a:t>
              </a:r>
              <a:br>
                <a:rPr lang="zh-TW" sz="188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</a:br>
              <a:r>
                <a:rPr lang="zh-TW" sz="188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  <a:t>可復原，套用後更新評估。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593598" y="266700"/>
            <a:ext cx="6816852" cy="1028700"/>
            <a:chOff x="593598" y="266700"/>
            <a:chExt cx="6816852" cy="1028700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66700"/>
              <a:ext cx="12495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Arial"/>
                  <a:ea typeface="Microsoft JhengHei"/>
                  <a:cs typeface="Arial"/>
                </a:rPr>
                <a:t>03　網站實作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558800"/>
              <a:ext cx="681685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150" b="1" dirty="0">
                  <a:solidFill>
                    <a:srgbClr val="18344A"/>
                  </a:solidFill>
                  <a:latin typeface="Arial"/>
                  <a:ea typeface="Microsoft JhengHei"/>
                  <a:cs typeface="Arial"/>
                </a:rPr>
                <a:t>打序與人選分開調整，交換後再套用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57300"/>
              <a:ext cx="857250" cy="38100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grpSp>
        <p:nvGrpSpPr>
          <p:cNvPr id="8" name="page-footer"/>
          <p:cNvGrpSpPr/>
          <p:nvPr/>
        </p:nvGrpSpPr>
        <p:grpSpPr>
          <a:xfrm>
            <a:off x="601980" y="5981700"/>
            <a:ext cx="10987278" cy="727583"/>
            <a:chOff x="601980" y="5981700"/>
            <a:chExt cx="10987278" cy="727583"/>
          </a:xfrm>
        </p:grpSpPr>
        <p:sp>
          <p:nvSpPr>
            <p:cNvPr id="6" name="TextBox 6"/>
            <p:cNvSpPr txBox="1"/>
            <p:nvPr/>
          </p:nvSpPr>
          <p:spPr>
            <a:xfrm>
              <a:off x="11373378" y="6445250"/>
              <a:ext cx="2158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350" dirty="0">
                  <a:solidFill>
                    <a:srgbClr val="58616B"/>
                  </a:solidFill>
                  <a:latin typeface="Arial"/>
                  <a:ea typeface="Arial"/>
                  <a:cs typeface="Arial"/>
                </a:rPr>
                <a:t>19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1980" y="5981700"/>
              <a:ext cx="71280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>
                  <a:solidFill>
                    <a:srgbClr val="58616B"/>
                  </a:solidFill>
                  <a:latin typeface="Arial"/>
                  <a:ea typeface="Microsoft JhengHei"/>
                  <a:cs typeface="Arial"/>
                </a:rPr>
                <a:t>截圖放大第 1–4 棒操作；完整九棒皆可調整。尚未套用的編輯不改變評估配置。</a:t>
              </a:r>
            </a:p>
          </p:txBody>
        </p:sp>
      </p:grpSp>
      <p:grpSp>
        <p:nvGrpSpPr>
          <p:cNvPr id="10" name="order-screenshot"/>
          <p:cNvGrpSpPr/>
          <p:nvPr/>
        </p:nvGrpSpPr>
        <p:grpSpPr>
          <a:xfrm>
            <a:off x="1346171" y="1695450"/>
            <a:ext cx="5575357" cy="4000500"/>
            <a:chOff x="1346171" y="1695450"/>
            <a:chExt cx="5575357" cy="4000500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46171" y="1695450"/>
              <a:ext cx="5575357" cy="4000500"/>
            </a:xfrm>
            <a:prstGeom prst="rect">
              <a:avLst/>
            </a:prstGeom>
          </p:spPr>
        </p:pic>
      </p:grpSp>
      <p:grpSp>
        <p:nvGrpSpPr>
          <p:cNvPr id="17" name="order-explanation"/>
          <p:cNvGrpSpPr/>
          <p:nvPr/>
        </p:nvGrpSpPr>
        <p:grpSpPr>
          <a:xfrm>
            <a:off x="8085201" y="1876425"/>
            <a:ext cx="2927985" cy="3374644"/>
            <a:chOff x="8085201" y="1876425"/>
            <a:chExt cx="2927985" cy="3374644"/>
          </a:xfrm>
        </p:grpSpPr>
        <p:sp>
          <p:nvSpPr>
            <p:cNvPr id="11" name="TextBox 11"/>
            <p:cNvSpPr txBox="1"/>
            <p:nvPr/>
          </p:nvSpPr>
          <p:spPr>
            <a:xfrm>
              <a:off x="8085201" y="1876425"/>
              <a:ext cx="1195984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>
                  <a:solidFill>
                    <a:srgbClr val="18344A"/>
                  </a:solidFill>
                  <a:latin typeface="Arial"/>
                  <a:ea typeface="Microsoft JhengHei"/>
                  <a:cs typeface="Arial"/>
                </a:rPr>
                <a:t>選擇球員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87106" y="2384425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  <a:t>點姓名，搜尋或改選人選。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085201" y="3133725"/>
              <a:ext cx="1195984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>
                  <a:solidFill>
                    <a:srgbClr val="18344A"/>
                  </a:solidFill>
                  <a:latin typeface="Arial"/>
                  <a:ea typeface="Microsoft JhengHei"/>
                  <a:cs typeface="Arial"/>
                </a:rPr>
                <a:t>調整棒次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087106" y="3641725"/>
              <a:ext cx="25760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  <a:t>用 ↑↓ 或互換兩個棒次。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085201" y="4391025"/>
              <a:ext cx="1195984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>
                  <a:solidFill>
                    <a:srgbClr val="18344A"/>
                  </a:solidFill>
                  <a:latin typeface="Arial"/>
                  <a:ea typeface="Microsoft JhengHei"/>
                  <a:cs typeface="Arial"/>
                </a:rPr>
                <a:t>套用配置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087106" y="4899025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  <a:t>確認九棒與守位後再生效。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593598" y="266700"/>
            <a:ext cx="8089011" cy="1028700"/>
            <a:chOff x="593598" y="266700"/>
            <a:chExt cx="8089011" cy="1028700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66700"/>
              <a:ext cx="12495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Arial"/>
                  <a:ea typeface="Microsoft JhengHei"/>
                  <a:cs typeface="Arial"/>
                </a:rPr>
                <a:t>03　網站實作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558800"/>
              <a:ext cx="808901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150" b="1" dirty="0">
                  <a:solidFill>
                    <a:srgbClr val="18344A"/>
                  </a:solidFill>
                  <a:latin typeface="Arial"/>
                  <a:ea typeface="Microsoft JhengHei"/>
                  <a:cs typeface="Arial"/>
                </a:rPr>
                <a:t>把常用牛棚存成群組，再確認今日可用人選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57300"/>
              <a:ext cx="857250" cy="38100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grpSp>
        <p:nvGrpSpPr>
          <p:cNvPr id="8" name="page-footer"/>
          <p:cNvGrpSpPr/>
          <p:nvPr/>
        </p:nvGrpSpPr>
        <p:grpSpPr>
          <a:xfrm>
            <a:off x="601980" y="5981700"/>
            <a:ext cx="10987278" cy="727583"/>
            <a:chOff x="601980" y="5981700"/>
            <a:chExt cx="10987278" cy="727583"/>
          </a:xfrm>
        </p:grpSpPr>
        <p:sp>
          <p:nvSpPr>
            <p:cNvPr id="6" name="TextBox 6"/>
            <p:cNvSpPr txBox="1"/>
            <p:nvPr/>
          </p:nvSpPr>
          <p:spPr>
            <a:xfrm>
              <a:off x="11373378" y="6445250"/>
              <a:ext cx="2158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350" dirty="0">
                  <a:solidFill>
                    <a:srgbClr val="58616B"/>
                  </a:solidFill>
                  <a:latin typeface="Arial"/>
                  <a:ea typeface="Arial"/>
                  <a:cs typeface="Arial"/>
                </a:rPr>
                <a:t>20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1980" y="5981700"/>
              <a:ext cx="6477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>
                  <a:solidFill>
                    <a:srgbClr val="58616B"/>
                  </a:solidFill>
                  <a:latin typeface="Arial"/>
                  <a:ea typeface="Microsoft JhengHei"/>
                  <a:cs typeface="Arial"/>
                </a:rPr>
                <a:t>群組只整理可比較人選，不替教練決定登錄、健康狀態或實際上場順序。</a:t>
              </a:r>
            </a:p>
          </p:txBody>
        </p:sp>
      </p:grpSp>
      <p:grpSp>
        <p:nvGrpSpPr>
          <p:cNvPr id="10" name="groups-screenshot"/>
          <p:cNvGrpSpPr/>
          <p:nvPr/>
        </p:nvGrpSpPr>
        <p:grpSpPr>
          <a:xfrm>
            <a:off x="883317" y="1666875"/>
            <a:ext cx="5072317" cy="4095750"/>
            <a:chOff x="883317" y="1666875"/>
            <a:chExt cx="5072317" cy="4095750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3317" y="1666875"/>
              <a:ext cx="5072317" cy="4095750"/>
            </a:xfrm>
            <a:prstGeom prst="rect">
              <a:avLst/>
            </a:prstGeom>
          </p:spPr>
        </p:pic>
      </p:grpSp>
      <p:grpSp>
        <p:nvGrpSpPr>
          <p:cNvPr id="17" name="groups-explanation"/>
          <p:cNvGrpSpPr/>
          <p:nvPr/>
        </p:nvGrpSpPr>
        <p:grpSpPr>
          <a:xfrm>
            <a:off x="6714363" y="1841500"/>
            <a:ext cx="3896487" cy="3419094"/>
            <a:chOff x="6714363" y="1841500"/>
            <a:chExt cx="3896487" cy="3419094"/>
          </a:xfrm>
        </p:grpSpPr>
        <p:sp>
          <p:nvSpPr>
            <p:cNvPr id="11" name="TextBox 11"/>
            <p:cNvSpPr txBox="1"/>
            <p:nvPr/>
          </p:nvSpPr>
          <p:spPr>
            <a:xfrm>
              <a:off x="6714363" y="1841500"/>
              <a:ext cx="3555695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b="1" dirty="0">
                  <a:solidFill>
                    <a:srgbClr val="18344A"/>
                  </a:solidFill>
                  <a:latin typeface="Arial"/>
                  <a:ea typeface="Microsoft JhengHei"/>
                  <a:cs typeface="Arial"/>
                </a:rPr>
                <a:t>勝投組／敗投組／自訂義群組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15506" y="233680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  <a:t>三個可修改範本，非官方分組。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14363" y="3127375"/>
              <a:ext cx="207518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b="1" dirty="0">
                  <a:solidFill>
                    <a:srgbClr val="18344A"/>
                  </a:solidFill>
                  <a:latin typeface="Arial"/>
                  <a:ea typeface="Microsoft JhengHei"/>
                  <a:cs typeface="Arial"/>
                </a:rPr>
                <a:t>編輯成員 → 儲存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15506" y="3622675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  <a:t>群組保存在此網站與瀏覽器。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14363" y="4413250"/>
              <a:ext cx="246796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b="1" dirty="0">
                  <a:solidFill>
                    <a:srgbClr val="18344A"/>
                  </a:solidFill>
                  <a:latin typeface="Arial"/>
                  <a:ea typeface="Microsoft JhengHei"/>
                  <a:cs typeface="Arial"/>
                </a:rPr>
                <a:t>套用後仍可手動勾選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715506" y="4908550"/>
              <a:ext cx="3895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  <a:t>排除場上、已退場或當日不可用者。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593598" y="266700"/>
            <a:ext cx="7664958" cy="1028700"/>
            <a:chOff x="593598" y="266700"/>
            <a:chExt cx="7664958" cy="1028700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66700"/>
              <a:ext cx="12495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Arial"/>
                  <a:ea typeface="Microsoft JhengHei"/>
                  <a:cs typeface="Arial"/>
                </a:rPr>
                <a:t>03　網站實作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558800"/>
              <a:ext cx="766495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150" b="1" dirty="0">
                  <a:solidFill>
                    <a:srgbClr val="18344A"/>
                  </a:solidFill>
                  <a:latin typeface="Arial"/>
                  <a:ea typeface="Microsoft JhengHei"/>
                  <a:cs typeface="Arial"/>
                </a:rPr>
                <a:t>魔力藍對右打：低落類增加，速球類減少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57300"/>
              <a:ext cx="857250" cy="38100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grpSp>
        <p:nvGrpSpPr>
          <p:cNvPr id="8" name="page-footer"/>
          <p:cNvGrpSpPr/>
          <p:nvPr/>
        </p:nvGrpSpPr>
        <p:grpSpPr>
          <a:xfrm>
            <a:off x="601980" y="5981700"/>
            <a:ext cx="10987278" cy="727583"/>
            <a:chOff x="601980" y="5981700"/>
            <a:chExt cx="10987278" cy="727583"/>
          </a:xfrm>
        </p:grpSpPr>
        <p:sp>
          <p:nvSpPr>
            <p:cNvPr id="6" name="TextBox 6"/>
            <p:cNvSpPr txBox="1"/>
            <p:nvPr/>
          </p:nvSpPr>
          <p:spPr>
            <a:xfrm>
              <a:off x="11373378" y="6445250"/>
              <a:ext cx="2158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350" dirty="0">
                  <a:solidFill>
                    <a:srgbClr val="58616B"/>
                  </a:solidFill>
                  <a:latin typeface="Arial"/>
                  <a:ea typeface="Arial"/>
                  <a:cs typeface="Arial"/>
                </a:rPr>
                <a:t>21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1980" y="5981700"/>
              <a:ext cx="78018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>
                  <a:solidFill>
                    <a:srgbClr val="58616B"/>
                  </a:solidFill>
                  <a:latin typeface="Arial"/>
                  <a:ea typeface="Microsoft JhengHei"/>
                  <a:cs typeface="Arial"/>
                </a:rPr>
                <a:t>截至 2025/09/20 賽前；「低落」是球種分類，不代表落點。配球改變不等於效果變好。</a:t>
              </a:r>
            </a:p>
          </p:txBody>
        </p:sp>
      </p:grpSp>
      <p:grpSp>
        <p:nvGrpSpPr>
          <p:cNvPr id="14" name="mix-metric-64"/>
          <p:cNvGrpSpPr/>
          <p:nvPr/>
        </p:nvGrpSpPr>
        <p:grpSpPr>
          <a:xfrm>
            <a:off x="590550" y="1946275"/>
            <a:ext cx="4552751" cy="2447544"/>
            <a:chOff x="590550" y="1946275"/>
            <a:chExt cx="4552751" cy="2447544"/>
          </a:xfrm>
        </p:grpSpPr>
        <p:sp>
          <p:nvSpPr>
            <p:cNvPr id="9" name="TextBox 9"/>
            <p:cNvSpPr txBox="1"/>
            <p:nvPr/>
          </p:nvSpPr>
          <p:spPr>
            <a:xfrm>
              <a:off x="597408" y="1946275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>
                  <a:solidFill>
                    <a:srgbClr val="18344A"/>
                  </a:solidFill>
                  <a:latin typeface="Arial"/>
                  <a:ea typeface="Microsoft JhengHei"/>
                  <a:cs typeface="Arial"/>
                </a:rPr>
                <a:t>低落類球種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0550" y="2609850"/>
              <a:ext cx="1695251" cy="11906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6150" b="1" dirty="0">
                  <a:solidFill>
                    <a:srgbClr val="58616B"/>
                  </a:solidFill>
                  <a:latin typeface="Arial"/>
                  <a:ea typeface="Arial"/>
                  <a:cs typeface="Arial"/>
                </a:rPr>
                <a:t>18%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638425" y="2768600"/>
              <a:ext cx="592734" cy="8048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120" dirty="0">
                  <a:solidFill>
                    <a:srgbClr val="B54836"/>
                  </a:solidFill>
                  <a:latin typeface="Arial"/>
                  <a:ea typeface="Arial"/>
                  <a:cs typeface="Arial"/>
                </a:rPr>
                <a:t>→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448050" y="2609850"/>
              <a:ext cx="1695251" cy="11906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6150" b="1" dirty="0">
                  <a:solidFill>
                    <a:srgbClr val="B54836"/>
                  </a:solidFill>
                  <a:latin typeface="Arial"/>
                  <a:ea typeface="Arial"/>
                  <a:cs typeface="Arial"/>
                </a:rPr>
                <a:t>34%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0456" y="4041775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rgbClr val="58616B"/>
                  </a:solidFill>
                  <a:latin typeface="Arial"/>
                  <a:ea typeface="Microsoft JhengHei"/>
                  <a:cs typeface="Arial"/>
                </a:rPr>
                <a:t>基準期　　　　　　　近期</a:t>
              </a:r>
            </a:p>
          </p:txBody>
        </p:sp>
      </p:grpSp>
      <p:grpSp>
        <p:nvGrpSpPr>
          <p:cNvPr id="20" name="mix-metric-656"/>
          <p:cNvGrpSpPr/>
          <p:nvPr/>
        </p:nvGrpSpPr>
        <p:grpSpPr>
          <a:xfrm>
            <a:off x="6229350" y="1946275"/>
            <a:ext cx="4552751" cy="2447544"/>
            <a:chOff x="6229350" y="1946275"/>
            <a:chExt cx="4552751" cy="2447544"/>
          </a:xfrm>
        </p:grpSpPr>
        <p:sp>
          <p:nvSpPr>
            <p:cNvPr id="15" name="TextBox 15"/>
            <p:cNvSpPr txBox="1"/>
            <p:nvPr/>
          </p:nvSpPr>
          <p:spPr>
            <a:xfrm>
              <a:off x="6236208" y="1946275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>
                  <a:solidFill>
                    <a:srgbClr val="18344A"/>
                  </a:solidFill>
                  <a:latin typeface="Arial"/>
                  <a:ea typeface="Microsoft JhengHei"/>
                  <a:cs typeface="Arial"/>
                </a:rPr>
                <a:t>速球類球種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229350" y="2609850"/>
              <a:ext cx="1695251" cy="11906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6150" b="1" dirty="0">
                  <a:solidFill>
                    <a:srgbClr val="58616B"/>
                  </a:solidFill>
                  <a:latin typeface="Arial"/>
                  <a:ea typeface="Arial"/>
                  <a:cs typeface="Arial"/>
                </a:rPr>
                <a:t>53%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77225" y="2768600"/>
              <a:ext cx="592734" cy="8048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120" dirty="0">
                  <a:solidFill>
                    <a:srgbClr val="B54836"/>
                  </a:solidFill>
                  <a:latin typeface="Arial"/>
                  <a:ea typeface="Arial"/>
                  <a:cs typeface="Arial"/>
                </a:rPr>
                <a:t>→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086850" y="2609850"/>
              <a:ext cx="1695251" cy="11906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6150" b="1" dirty="0">
                  <a:solidFill>
                    <a:srgbClr val="18344A"/>
                  </a:solidFill>
                  <a:latin typeface="Arial"/>
                  <a:ea typeface="Arial"/>
                  <a:cs typeface="Arial"/>
                </a:rPr>
                <a:t>41%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239256" y="4041775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rgbClr val="58616B"/>
                  </a:solidFill>
                  <a:latin typeface="Arial"/>
                  <a:ea typeface="Microsoft JhengHei"/>
                  <a:cs typeface="Arial"/>
                </a:rPr>
                <a:t>基準期　　　　　　　近期</a:t>
              </a:r>
            </a:p>
          </p:txBody>
        </p:sp>
      </p:grpSp>
      <p:grpSp>
        <p:nvGrpSpPr>
          <p:cNvPr id="22" name="mix-sample"/>
          <p:cNvGrpSpPr/>
          <p:nvPr/>
        </p:nvGrpSpPr>
        <p:grpSpPr>
          <a:xfrm>
            <a:off x="598170" y="5026025"/>
            <a:ext cx="5981592" cy="440055"/>
            <a:chOff x="598170" y="5026025"/>
            <a:chExt cx="5981592" cy="440055"/>
          </a:xfrm>
        </p:grpSpPr>
        <p:sp>
          <p:nvSpPr>
            <p:cNvPr id="21" name="TextBox 21"/>
            <p:cNvSpPr txBox="1"/>
            <p:nvPr/>
          </p:nvSpPr>
          <p:spPr>
            <a:xfrm>
              <a:off x="598170" y="5026025"/>
              <a:ext cx="598159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250" b="1" dirty="0">
                  <a:solidFill>
                    <a:srgbClr val="18344A"/>
                  </a:solidFill>
                  <a:latin typeface="Arial"/>
                  <a:ea typeface="Microsoft JhengHei"/>
                  <a:cs typeface="Arial"/>
                </a:rPr>
                <a:t>之前 10 場・428 球　→　最近 5 場・258 球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593598" y="266700"/>
            <a:ext cx="7240905" cy="1028700"/>
            <a:chOff x="593598" y="266700"/>
            <a:chExt cx="7240905" cy="1028700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66700"/>
              <a:ext cx="12495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Arial"/>
                  <a:ea typeface="Microsoft JhengHei"/>
                  <a:cs typeface="Arial"/>
                </a:rPr>
                <a:t>03　網站實作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558800"/>
              <a:ext cx="724090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150" b="1" dirty="0">
                  <a:solidFill>
                    <a:srgbClr val="18344A"/>
                  </a:solidFill>
                  <a:latin typeface="Arial"/>
                  <a:ea typeface="Microsoft JhengHei"/>
                  <a:cs typeface="Arial"/>
                </a:rPr>
                <a:t>網站依相同左右打條件，比較兩段配球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57300"/>
              <a:ext cx="857250" cy="38100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grpSp>
        <p:nvGrpSpPr>
          <p:cNvPr id="8" name="page-footer"/>
          <p:cNvGrpSpPr/>
          <p:nvPr/>
        </p:nvGrpSpPr>
        <p:grpSpPr>
          <a:xfrm>
            <a:off x="601980" y="5981700"/>
            <a:ext cx="10987278" cy="727583"/>
            <a:chOff x="601980" y="5981700"/>
            <a:chExt cx="10987278" cy="727583"/>
          </a:xfrm>
        </p:grpSpPr>
        <p:sp>
          <p:nvSpPr>
            <p:cNvPr id="6" name="TextBox 6"/>
            <p:cNvSpPr txBox="1"/>
            <p:nvPr/>
          </p:nvSpPr>
          <p:spPr>
            <a:xfrm>
              <a:off x="11373378" y="6445250"/>
              <a:ext cx="2158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350" dirty="0">
                  <a:solidFill>
                    <a:srgbClr val="58616B"/>
                  </a:solidFill>
                  <a:latin typeface="Arial"/>
                  <a:ea typeface="Arial"/>
                  <a:cs typeface="Arial"/>
                </a:rPr>
                <a:t>22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1980" y="5981700"/>
              <a:ext cx="69380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dirty="0">
                  <a:solidFill>
                    <a:srgbClr val="58616B"/>
                  </a:solidFill>
                  <a:latin typeface="Arial"/>
                  <a:ea typeface="Microsoft JhengHei"/>
                  <a:cs typeface="Arial"/>
                </a:rPr>
                <a:t>魔力藍・面對右打・2025/09/20 賽前。長條圖是配球比例，並非下一球預測。</a:t>
              </a:r>
            </a:p>
          </p:txBody>
        </p:sp>
      </p:grpSp>
      <p:grpSp>
        <p:nvGrpSpPr>
          <p:cNvPr id="10" name="mix-evidence"/>
          <p:cNvGrpSpPr/>
          <p:nvPr/>
        </p:nvGrpSpPr>
        <p:grpSpPr>
          <a:xfrm>
            <a:off x="1444375" y="1571625"/>
            <a:ext cx="9303250" cy="4286250"/>
            <a:chOff x="1444375" y="1571625"/>
            <a:chExt cx="9303250" cy="4286250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44375" y="1571625"/>
              <a:ext cx="9303250" cy="428625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593598" y="266700"/>
            <a:ext cx="8066282" cy="1028700"/>
            <a:chOff x="593598" y="266700"/>
            <a:chExt cx="8066282" cy="1028700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66700"/>
              <a:ext cx="12495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Arial"/>
                  <a:ea typeface="Microsoft JhengHei"/>
                  <a:cs typeface="Arial"/>
                </a:rPr>
                <a:t>03　網站實作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558800"/>
              <a:ext cx="806628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150" b="1" dirty="0">
                  <a:solidFill>
                    <a:srgbClr val="18344A"/>
                  </a:solidFill>
                  <a:latin typeface="Arial"/>
                  <a:ea typeface="Microsoft JhengHei"/>
                  <a:cs typeface="Arial"/>
                </a:rPr>
                <a:t>六隊三場、226 個打席，完整重現攻守比較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57300"/>
              <a:ext cx="857250" cy="38100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grpSp>
        <p:nvGrpSpPr>
          <p:cNvPr id="8" name="page-footer"/>
          <p:cNvGrpSpPr/>
          <p:nvPr/>
        </p:nvGrpSpPr>
        <p:grpSpPr>
          <a:xfrm>
            <a:off x="601980" y="5981700"/>
            <a:ext cx="10987278" cy="727583"/>
            <a:chOff x="601980" y="5981700"/>
            <a:chExt cx="10987278" cy="727583"/>
          </a:xfrm>
        </p:grpSpPr>
        <p:sp>
          <p:nvSpPr>
            <p:cNvPr id="6" name="TextBox 6"/>
            <p:cNvSpPr txBox="1"/>
            <p:nvPr/>
          </p:nvSpPr>
          <p:spPr>
            <a:xfrm>
              <a:off x="11373378" y="6445250"/>
              <a:ext cx="2158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350" dirty="0">
                  <a:solidFill>
                    <a:srgbClr val="58616B"/>
                  </a:solidFill>
                  <a:latin typeface="Arial"/>
                  <a:ea typeface="Arial"/>
                  <a:cs typeface="Arial"/>
                </a:rPr>
                <a:t>23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1980" y="5981700"/>
              <a:ext cx="708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>
                  <a:solidFill>
                    <a:srgbClr val="58616B"/>
                  </a:solidFill>
                  <a:latin typeface="Arial"/>
                  <a:ea typeface="Microsoft JhengHei"/>
                  <a:cs typeface="Arial"/>
                </a:rPr>
                <a:t>固定日期：2025/09/20（星期六）。實際調度、系統建議與賽後結果分開呈現。</a:t>
              </a:r>
            </a:p>
          </p:txBody>
        </p:sp>
      </p:grpSp>
      <p:grpSp>
        <p:nvGrpSpPr>
          <p:cNvPr id="12" name="coverage-total"/>
          <p:cNvGrpSpPr/>
          <p:nvPr/>
        </p:nvGrpSpPr>
        <p:grpSpPr>
          <a:xfrm>
            <a:off x="590550" y="1711325"/>
            <a:ext cx="6503391" cy="1504950"/>
            <a:chOff x="590550" y="1711325"/>
            <a:chExt cx="6503391" cy="1504950"/>
          </a:xfrm>
        </p:grpSpPr>
        <p:sp>
          <p:nvSpPr>
            <p:cNvPr id="9" name="TextBox 9"/>
            <p:cNvSpPr txBox="1"/>
            <p:nvPr/>
          </p:nvSpPr>
          <p:spPr>
            <a:xfrm>
              <a:off x="590550" y="1711325"/>
              <a:ext cx="1790190" cy="15049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7800" b="1" dirty="0">
                  <a:solidFill>
                    <a:srgbClr val="B54836"/>
                  </a:solidFill>
                  <a:latin typeface="Arial"/>
                  <a:ea typeface="Arial"/>
                  <a:cs typeface="Arial"/>
                </a:rPr>
                <a:t>226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262122" y="1997075"/>
              <a:ext cx="117995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850" b="1" dirty="0">
                  <a:solidFill>
                    <a:srgbClr val="18344A"/>
                  </a:solidFill>
                  <a:latin typeface="Arial"/>
                  <a:ea typeface="Microsoft JhengHei"/>
                  <a:cs typeface="Arial"/>
                </a:rPr>
                <a:t>個打席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266313" y="2565400"/>
              <a:ext cx="382762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  <a:t>每個打席皆可切換代打與換投。</a:t>
              </a:r>
            </a:p>
          </p:txBody>
        </p:sp>
      </p:grpSp>
      <p:grpSp>
        <p:nvGrpSpPr>
          <p:cNvPr id="17" name="coverage-game-0"/>
          <p:cNvGrpSpPr/>
          <p:nvPr/>
        </p:nvGrpSpPr>
        <p:grpSpPr>
          <a:xfrm>
            <a:off x="590550" y="3654425"/>
            <a:ext cx="1747289" cy="1829626"/>
            <a:chOff x="590550" y="3654425"/>
            <a:chExt cx="1747289" cy="1829626"/>
          </a:xfrm>
        </p:grpSpPr>
        <p:sp>
          <p:nvSpPr>
            <p:cNvPr id="13" name="TextBox 13"/>
            <p:cNvSpPr txBox="1"/>
            <p:nvPr/>
          </p:nvSpPr>
          <p:spPr>
            <a:xfrm>
              <a:off x="598170" y="3654425"/>
              <a:ext cx="173966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>
                  <a:solidFill>
                    <a:srgbClr val="18344A"/>
                  </a:solidFill>
                  <a:latin typeface="Arial"/>
                  <a:ea typeface="Microsoft JhengHei"/>
                  <a:cs typeface="Arial"/>
                </a:rPr>
                <a:t>樂天 vs 統一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0550" y="4222750"/>
              <a:ext cx="756906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800" b="1" dirty="0">
                  <a:solidFill>
                    <a:srgbClr val="18344A"/>
                  </a:solidFill>
                  <a:latin typeface="Arial"/>
                  <a:ea typeface="Arial"/>
                  <a:cs typeface="Arial"/>
                </a:rPr>
                <a:t>70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66875" y="4552950"/>
              <a:ext cx="525221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>
                  <a:solidFill>
                    <a:srgbClr val="58616B"/>
                  </a:solidFill>
                  <a:latin typeface="Arial"/>
                  <a:ea typeface="Microsoft JhengHei"/>
                  <a:cs typeface="Arial"/>
                </a:rPr>
                <a:t>打席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00837" y="5146675"/>
              <a:ext cx="99613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720" dirty="0">
                  <a:solidFill>
                    <a:srgbClr val="58616B"/>
                  </a:solidFill>
                  <a:latin typeface="Arial"/>
                  <a:ea typeface="Arial"/>
                  <a:cs typeface="Arial"/>
                </a:rPr>
                <a:t>2025-340</a:t>
              </a:r>
            </a:p>
          </p:txBody>
        </p:sp>
      </p:grpSp>
      <p:grpSp>
        <p:nvGrpSpPr>
          <p:cNvPr id="22" name="coverage-game-1"/>
          <p:cNvGrpSpPr/>
          <p:nvPr/>
        </p:nvGrpSpPr>
        <p:grpSpPr>
          <a:xfrm>
            <a:off x="4324350" y="3654425"/>
            <a:ext cx="1747289" cy="1829626"/>
            <a:chOff x="4324350" y="3654425"/>
            <a:chExt cx="1747289" cy="1829626"/>
          </a:xfrm>
        </p:grpSpPr>
        <p:sp>
          <p:nvSpPr>
            <p:cNvPr id="18" name="TextBox 18"/>
            <p:cNvSpPr txBox="1"/>
            <p:nvPr/>
          </p:nvSpPr>
          <p:spPr>
            <a:xfrm>
              <a:off x="4331970" y="3654425"/>
              <a:ext cx="173966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>
                  <a:solidFill>
                    <a:srgbClr val="18344A"/>
                  </a:solidFill>
                  <a:latin typeface="Arial"/>
                  <a:ea typeface="Microsoft JhengHei"/>
                  <a:cs typeface="Arial"/>
                </a:rPr>
                <a:t>台鋼 vs 富邦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324350" y="4222750"/>
              <a:ext cx="756906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800" b="1" dirty="0">
                  <a:solidFill>
                    <a:srgbClr val="18344A"/>
                  </a:solidFill>
                  <a:latin typeface="Arial"/>
                  <a:ea typeface="Arial"/>
                  <a:cs typeface="Arial"/>
                </a:rPr>
                <a:t>74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400675" y="4552950"/>
              <a:ext cx="525221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>
                  <a:solidFill>
                    <a:srgbClr val="58616B"/>
                  </a:solidFill>
                  <a:latin typeface="Arial"/>
                  <a:ea typeface="Microsoft JhengHei"/>
                  <a:cs typeface="Arial"/>
                </a:rPr>
                <a:t>打席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334637" y="5146675"/>
              <a:ext cx="99613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720" dirty="0">
                  <a:solidFill>
                    <a:srgbClr val="58616B"/>
                  </a:solidFill>
                  <a:latin typeface="Arial"/>
                  <a:ea typeface="Arial"/>
                  <a:cs typeface="Arial"/>
                </a:rPr>
                <a:t>2025-341</a:t>
              </a:r>
            </a:p>
          </p:txBody>
        </p:sp>
      </p:grpSp>
      <p:grpSp>
        <p:nvGrpSpPr>
          <p:cNvPr id="27" name="coverage-game-2"/>
          <p:cNvGrpSpPr/>
          <p:nvPr/>
        </p:nvGrpSpPr>
        <p:grpSpPr>
          <a:xfrm>
            <a:off x="8058150" y="3654425"/>
            <a:ext cx="1747289" cy="1829626"/>
            <a:chOff x="8058150" y="3654425"/>
            <a:chExt cx="1747289" cy="1829626"/>
          </a:xfrm>
        </p:grpSpPr>
        <p:sp>
          <p:nvSpPr>
            <p:cNvPr id="23" name="TextBox 23"/>
            <p:cNvSpPr txBox="1"/>
            <p:nvPr/>
          </p:nvSpPr>
          <p:spPr>
            <a:xfrm>
              <a:off x="8065770" y="3654425"/>
              <a:ext cx="173966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>
                  <a:solidFill>
                    <a:srgbClr val="18344A"/>
                  </a:solidFill>
                  <a:latin typeface="Arial"/>
                  <a:ea typeface="Microsoft JhengHei"/>
                  <a:cs typeface="Arial"/>
                </a:rPr>
                <a:t>味全 vs 中信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058150" y="4222750"/>
              <a:ext cx="756906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800" b="1" dirty="0">
                  <a:solidFill>
                    <a:srgbClr val="18344A"/>
                  </a:solidFill>
                  <a:latin typeface="Arial"/>
                  <a:ea typeface="Arial"/>
                  <a:cs typeface="Arial"/>
                </a:rPr>
                <a:t>82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134475" y="4552950"/>
              <a:ext cx="525221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>
                  <a:solidFill>
                    <a:srgbClr val="58616B"/>
                  </a:solidFill>
                  <a:latin typeface="Arial"/>
                  <a:ea typeface="Microsoft JhengHei"/>
                  <a:cs typeface="Arial"/>
                </a:rPr>
                <a:t>打席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068437" y="5146675"/>
              <a:ext cx="99613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720" dirty="0">
                  <a:solidFill>
                    <a:srgbClr val="58616B"/>
                  </a:solidFill>
                  <a:latin typeface="Arial"/>
                  <a:ea typeface="Arial"/>
                  <a:cs typeface="Arial"/>
                </a:rPr>
                <a:t>2025-342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593598" y="266700"/>
            <a:ext cx="6816852" cy="1028700"/>
            <a:chOff x="593598" y="266700"/>
            <a:chExt cx="6816852" cy="1028700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66700"/>
              <a:ext cx="12495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Arial"/>
                  <a:ea typeface="Microsoft JhengHei"/>
                  <a:cs typeface="Arial"/>
                </a:rPr>
                <a:t>03　網站實作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558800"/>
              <a:ext cx="681685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150" b="1" dirty="0">
                  <a:solidFill>
                    <a:srgbClr val="18344A"/>
                  </a:solidFill>
                  <a:latin typeface="Arial"/>
                  <a:ea typeface="Microsoft JhengHei"/>
                  <a:cs typeface="Arial"/>
                </a:rPr>
                <a:t>同一打席，代打與換投各有比較基準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57300"/>
              <a:ext cx="857250" cy="38100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grpSp>
        <p:nvGrpSpPr>
          <p:cNvPr id="8" name="page-footer"/>
          <p:cNvGrpSpPr/>
          <p:nvPr/>
        </p:nvGrpSpPr>
        <p:grpSpPr>
          <a:xfrm>
            <a:off x="601980" y="5981700"/>
            <a:ext cx="10987278" cy="727583"/>
            <a:chOff x="601980" y="5981700"/>
            <a:chExt cx="10987278" cy="727583"/>
          </a:xfrm>
        </p:grpSpPr>
        <p:sp>
          <p:nvSpPr>
            <p:cNvPr id="6" name="TextBox 6"/>
            <p:cNvSpPr txBox="1"/>
            <p:nvPr/>
          </p:nvSpPr>
          <p:spPr>
            <a:xfrm>
              <a:off x="11373378" y="6445250"/>
              <a:ext cx="2158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350" dirty="0">
                  <a:solidFill>
                    <a:srgbClr val="58616B"/>
                  </a:solidFill>
                  <a:latin typeface="Arial"/>
                  <a:ea typeface="Arial"/>
                  <a:cs typeface="Arial"/>
                </a:rPr>
                <a:t>24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1980" y="5981700"/>
              <a:ext cx="78460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>
                  <a:solidFill>
                    <a:srgbClr val="58616B"/>
                  </a:solidFill>
                  <a:latin typeface="Arial"/>
                  <a:ea typeface="Microsoft JhengHei"/>
                  <a:cs typeface="Arial"/>
                </a:rPr>
                <a:t>實際案例：樂天對統一 4 局下。本日 19 次換投保留原投手基準；實際結果不倒灌推薦。</a:t>
              </a:r>
            </a:p>
          </p:txBody>
        </p:sp>
      </p:grpSp>
      <p:grpSp>
        <p:nvGrpSpPr>
          <p:cNvPr id="12" name="decision-64"/>
          <p:cNvGrpSpPr/>
          <p:nvPr/>
        </p:nvGrpSpPr>
        <p:grpSpPr>
          <a:xfrm>
            <a:off x="609600" y="1676400"/>
            <a:ext cx="5334000" cy="1790700"/>
            <a:chOff x="609600" y="1676400"/>
            <a:chExt cx="5334000" cy="1790700"/>
          </a:xfrm>
        </p:grpSpPr>
        <p:sp>
          <p:nvSpPr>
            <p:cNvPr id="9" name="Rectangle 9"/>
            <p:cNvSpPr/>
            <p:nvPr/>
          </p:nvSpPr>
          <p:spPr>
            <a:xfrm>
              <a:off x="609600" y="1676400"/>
              <a:ext cx="5334000" cy="1790700"/>
            </a:xfrm>
            <a:prstGeom prst="roundRect">
              <a:avLst>
                <a:gd name="adj" fmla="val 6383"/>
              </a:avLst>
            </a:prstGeom>
            <a:solidFill>
              <a:srgbClr val="FFFFFF"/>
            </a:solidFill>
            <a:ln w="14288">
              <a:solidFill>
                <a:srgbClr val="D7D1C5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6008" y="181292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>
                  <a:solidFill>
                    <a:srgbClr val="18344A"/>
                  </a:solidFill>
                  <a:latin typeface="Arial"/>
                  <a:ea typeface="Microsoft JhengHei"/>
                  <a:cs typeface="Arial"/>
                </a:rPr>
                <a:t>代打評估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7913" y="2371725"/>
              <a:ext cx="2400701" cy="7560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zh-TW" sz="202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  <a:t>陳傑憲或候選打者</a:t>
              </a:r>
              <a:br>
                <a:rPr lang="zh-TW" sz="202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</a:br>
              <a:r>
                <a:rPr lang="zh-TW" sz="202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  <a:t>面對實際投手 王志煊</a:t>
              </a:r>
            </a:p>
          </p:txBody>
        </p:sp>
      </p:grpSp>
      <p:grpSp>
        <p:nvGrpSpPr>
          <p:cNvPr id="16" name="decision-656"/>
          <p:cNvGrpSpPr/>
          <p:nvPr/>
        </p:nvGrpSpPr>
        <p:grpSpPr>
          <a:xfrm>
            <a:off x="6248400" y="1676400"/>
            <a:ext cx="5334000" cy="1790700"/>
            <a:chOff x="6248400" y="1676400"/>
            <a:chExt cx="5334000" cy="1790700"/>
          </a:xfrm>
        </p:grpSpPr>
        <p:sp>
          <p:nvSpPr>
            <p:cNvPr id="13" name="Rectangle 13"/>
            <p:cNvSpPr/>
            <p:nvPr/>
          </p:nvSpPr>
          <p:spPr>
            <a:xfrm>
              <a:off x="6248400" y="1676400"/>
              <a:ext cx="5334000" cy="1790700"/>
            </a:xfrm>
            <a:prstGeom prst="roundRect">
              <a:avLst>
                <a:gd name="adj" fmla="val 6383"/>
              </a:avLst>
            </a:prstGeom>
            <a:solidFill>
              <a:srgbClr val="FFFFFF"/>
            </a:solidFill>
            <a:ln w="14288">
              <a:solidFill>
                <a:srgbClr val="D7D1C5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64808" y="181292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>
                  <a:solidFill>
                    <a:srgbClr val="18344A"/>
                  </a:solidFill>
                  <a:latin typeface="Arial"/>
                  <a:ea typeface="Microsoft JhengHei"/>
                  <a:cs typeface="Arial"/>
                </a:rPr>
                <a:t>換投評估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466713" y="2371725"/>
              <a:ext cx="2657241" cy="7560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zh-TW" sz="202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  <a:t>原投手 林子崴若續投</a:t>
              </a:r>
              <a:br>
                <a:rPr lang="zh-TW" sz="202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</a:br>
              <a:r>
                <a:rPr lang="zh-TW" sz="202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  <a:t>對照 王志煊等牛棚候選</a:t>
              </a:r>
            </a:p>
          </p:txBody>
        </p:sp>
      </p:grpSp>
      <p:grpSp>
        <p:nvGrpSpPr>
          <p:cNvPr id="18" name="baseline-screenshot"/>
          <p:cNvGrpSpPr/>
          <p:nvPr/>
        </p:nvGrpSpPr>
        <p:grpSpPr>
          <a:xfrm>
            <a:off x="609600" y="3718261"/>
            <a:ext cx="10972800" cy="2088479"/>
            <a:chOff x="609600" y="3718261"/>
            <a:chExt cx="10972800" cy="2088479"/>
          </a:xfrm>
        </p:grpSpPr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3718261"/>
              <a:ext cx="10972800" cy="208847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3598" y="266700"/>
            <a:ext cx="6816852" cy="1028700"/>
            <a:chOff x="593598" y="266700"/>
            <a:chExt cx="6816852" cy="1028700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66700"/>
              <a:ext cx="22591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Arial"/>
                  <a:ea typeface="Microsoft JhengHei"/>
                  <a:cs typeface="Arial"/>
                </a:rPr>
                <a:t>03　網站實作｜單日回放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558800"/>
              <a:ext cx="681685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150" b="1" dirty="0">
                  <a:solidFill>
                    <a:srgbClr val="18344A"/>
                  </a:solidFill>
                  <a:latin typeface="Arial"/>
                  <a:ea typeface="Microsoft JhengHei"/>
                  <a:cs typeface="Arial"/>
                </a:rPr>
                <a:t>只拿當時已知的資訊，重現決策情境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57300"/>
              <a:ext cx="857250" cy="38100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grpSp>
        <p:nvGrpSpPr>
          <p:cNvPr id="8" name="footer"/>
          <p:cNvGrpSpPr/>
          <p:nvPr/>
        </p:nvGrpSpPr>
        <p:grpSpPr>
          <a:xfrm>
            <a:off x="601980" y="5981700"/>
            <a:ext cx="10987278" cy="727615"/>
            <a:chOff x="601980" y="5981700"/>
            <a:chExt cx="10987278" cy="727615"/>
          </a:xfrm>
        </p:grpSpPr>
        <p:sp>
          <p:nvSpPr>
            <p:cNvPr id="6" name="TextBox 6"/>
            <p:cNvSpPr/>
            <p:nvPr/>
          </p:nvSpPr>
          <p:spPr>
            <a:xfrm>
              <a:off x="11373422" y="6445282"/>
              <a:ext cx="2158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r"/>
              <a:r>
                <a:rPr lang="zh-TW" sz="1350" dirty="0">
                  <a:solidFill>
                    <a:srgbClr val="58616B"/>
                  </a:solidFill>
                  <a:latin typeface="Arial"/>
                  <a:ea typeface="Arial"/>
                  <a:cs typeface="Arial"/>
                </a:rPr>
                <a:t>25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1980" y="5981700"/>
              <a:ext cx="60731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>
                  <a:solidFill>
                    <a:srgbClr val="58616B"/>
                  </a:solidFill>
                  <a:latin typeface="Arial"/>
                  <a:ea typeface="Microsoft JhengHei"/>
                  <a:cs typeface="Arial"/>
                </a:rPr>
                <a:t>回放驗證可重現比較條件；全季觀察性回測與單日示範的用途不同。</a:t>
              </a:r>
            </a:p>
          </p:txBody>
        </p:sp>
      </p:grpSp>
      <p:grpSp>
        <p:nvGrpSpPr>
          <p:cNvPr id="19" name="cutoff-timeline"/>
          <p:cNvGrpSpPr/>
          <p:nvPr/>
        </p:nvGrpSpPr>
        <p:grpSpPr>
          <a:xfrm>
            <a:off x="701878" y="1749425"/>
            <a:ext cx="10594798" cy="1210501"/>
            <a:chOff x="701878" y="1749425"/>
            <a:chExt cx="10594798" cy="1210501"/>
          </a:xfrm>
        </p:grpSpPr>
        <p:sp>
          <p:nvSpPr>
            <p:cNvPr id="9" name="Line 9"/>
            <p:cNvSpPr/>
            <p:nvPr/>
          </p:nvSpPr>
          <p:spPr>
            <a:xfrm>
              <a:off x="1123950" y="2381250"/>
              <a:ext cx="9944100" cy="9525"/>
            </a:xfrm>
            <a:custGeom>
              <a:avLst/>
              <a:gdLst/>
              <a:ahLst/>
              <a:cxnLst/>
              <a:rect l="l" t="t" r="r" b="b"/>
              <a:pathLst>
                <a:path w="9944100" h="9525">
                  <a:moveTo>
                    <a:pt x="0" y="0"/>
                  </a:moveTo>
                  <a:lnTo>
                    <a:pt x="9944100" y="0"/>
                  </a:lnTo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1666875" y="2295525"/>
              <a:ext cx="171450" cy="171450"/>
            </a:xfrm>
            <a:prstGeom prst="ellipse">
              <a:avLst/>
            </a:prstGeom>
            <a:solidFill>
              <a:srgbClr val="B5483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530628" y="1749425"/>
              <a:ext cx="44394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>
                  <a:solidFill>
                    <a:srgbClr val="18344A"/>
                  </a:solidFill>
                  <a:latin typeface="Arial"/>
                  <a:ea typeface="Arial"/>
                  <a:cs typeface="Arial"/>
                </a:rPr>
                <a:t>9/1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1878" y="2622550"/>
              <a:ext cx="210144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720" dirty="0">
                  <a:solidFill>
                    <a:srgbClr val="58616B"/>
                  </a:solidFill>
                  <a:latin typeface="Arial"/>
                  <a:ea typeface="Microsoft JhengHei"/>
                  <a:cs typeface="Arial"/>
                </a:rPr>
                <a:t>逐球模型的訓練截止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915025" y="2295525"/>
              <a:ext cx="171450" cy="171450"/>
            </a:xfrm>
            <a:prstGeom prst="ellipse">
              <a:avLst/>
            </a:prstGeom>
            <a:solidFill>
              <a:srgbClr val="B5483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349575" y="1749425"/>
              <a:ext cx="130234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>
                  <a:solidFill>
                    <a:srgbClr val="18344A"/>
                  </a:solidFill>
                  <a:latin typeface="Arial"/>
                  <a:ea typeface="Microsoft JhengHei"/>
                  <a:cs typeface="Arial"/>
                </a:rPr>
                <a:t>9/20 賽前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02709" y="2622550"/>
              <a:ext cx="2796083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720" dirty="0">
                  <a:solidFill>
                    <a:srgbClr val="58616B"/>
                  </a:solidFill>
                  <a:latin typeface="Arial"/>
                  <a:ea typeface="Microsoft JhengHei"/>
                  <a:cs typeface="Arial"/>
                </a:rPr>
                <a:t>能力估計、近期出賽與配球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10391775" y="2295525"/>
              <a:ext cx="171450" cy="171450"/>
            </a:xfrm>
            <a:prstGeom prst="ellipse">
              <a:avLst/>
            </a:prstGeom>
            <a:solidFill>
              <a:srgbClr val="B5483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708832" y="1749425"/>
              <a:ext cx="15373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250" b="1" dirty="0">
                  <a:solidFill>
                    <a:srgbClr val="18344A"/>
                  </a:solidFill>
                  <a:latin typeface="Arial"/>
                  <a:ea typeface="Microsoft JhengHei"/>
                  <a:cs typeface="Arial"/>
                </a:rPr>
                <a:t>打席結束後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658325" y="2622550"/>
              <a:ext cx="163835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720" dirty="0">
                  <a:solidFill>
                    <a:srgbClr val="58616B"/>
                  </a:solidFill>
                  <a:latin typeface="Arial"/>
                  <a:ea typeface="Microsoft JhengHei"/>
                  <a:cs typeface="Arial"/>
                </a:rPr>
                <a:t>實際調度與結果</a:t>
              </a:r>
            </a:p>
          </p:txBody>
        </p:sp>
      </p:grpSp>
      <p:grpSp>
        <p:nvGrpSpPr>
          <p:cNvPr id="23" name="known-data"/>
          <p:cNvGrpSpPr/>
          <p:nvPr/>
        </p:nvGrpSpPr>
        <p:grpSpPr>
          <a:xfrm>
            <a:off x="609600" y="3609975"/>
            <a:ext cx="6667500" cy="2047875"/>
            <a:chOff x="609600" y="3609975"/>
            <a:chExt cx="6667500" cy="2047875"/>
          </a:xfrm>
        </p:grpSpPr>
        <p:sp>
          <p:nvSpPr>
            <p:cNvPr id="20" name="Rectangle 20"/>
            <p:cNvSpPr/>
            <p:nvPr/>
          </p:nvSpPr>
          <p:spPr>
            <a:xfrm>
              <a:off x="609600" y="3609975"/>
              <a:ext cx="6667500" cy="2047875"/>
            </a:xfrm>
            <a:prstGeom prst="roundRect">
              <a:avLst>
                <a:gd name="adj" fmla="val 5581"/>
              </a:avLst>
            </a:prstGeom>
            <a:solidFill>
              <a:srgbClr val="FFFFFF"/>
            </a:solidFill>
            <a:ln w="14288">
              <a:solidFill>
                <a:srgbClr val="D7D1C5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26770" y="3759200"/>
              <a:ext cx="365760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>
                  <a:solidFill>
                    <a:srgbClr val="18344A"/>
                  </a:solidFill>
                  <a:latin typeface="Arial"/>
                  <a:ea typeface="Microsoft JhengHei"/>
                  <a:cs typeface="Arial"/>
                </a:rPr>
                <a:t>推薦輸入：只用決策前紀錄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8675" y="4260850"/>
              <a:ext cx="4316730" cy="1034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zh-TW" sz="188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  <a:t>同日打席結果不進入能力估計。</a:t>
              </a:r>
              <a:br>
                <a:rPr lang="zh-TW" sz="188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</a:br>
              <a:r>
                <a:rPr lang="zh-TW" sz="188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  <a:t>出賽、休息天數與負荷截於 9/20 之前。</a:t>
              </a:r>
              <a:br>
                <a:rPr lang="zh-TW" sz="188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</a:br>
              <a:r>
                <a:rPr lang="zh-TW" sz="188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  <a:t>歷史名單與守位仍為推估，需人工確認。</a:t>
              </a:r>
            </a:p>
          </p:txBody>
        </p:sp>
      </p:grpSp>
      <p:grpSp>
        <p:nvGrpSpPr>
          <p:cNvPr id="26" name="interpretation"/>
          <p:cNvGrpSpPr/>
          <p:nvPr/>
        </p:nvGrpSpPr>
        <p:grpSpPr>
          <a:xfrm>
            <a:off x="7723632" y="3746500"/>
            <a:ext cx="2991612" cy="1782064"/>
            <a:chOff x="7723632" y="3746500"/>
            <a:chExt cx="2991612" cy="1782064"/>
          </a:xfrm>
        </p:grpSpPr>
        <p:sp>
          <p:nvSpPr>
            <p:cNvPr id="24" name="TextBox 24"/>
            <p:cNvSpPr txBox="1"/>
            <p:nvPr/>
          </p:nvSpPr>
          <p:spPr>
            <a:xfrm>
              <a:off x="7723632" y="3746500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>
                  <a:solidFill>
                    <a:srgbClr val="B54836"/>
                  </a:solidFill>
                  <a:latin typeface="Arial"/>
                  <a:ea typeface="Microsoft JhengHei"/>
                  <a:cs typeface="Arial"/>
                </a:rPr>
                <a:t>如何解讀回放？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725156" y="4216400"/>
              <a:ext cx="2990088" cy="1312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zh-TW" sz="180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  <a:t>6 局起標示系統建議，</a:t>
              </a:r>
              <a:br>
                <a:rPr lang="zh-TW" sz="180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</a:br>
              <a:r>
                <a:rPr lang="zh-TW" sz="180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  <a:t>門檻為相對現任 1 百分點。</a:t>
              </a:r>
              <a:br>
                <a:rPr lang="zh-TW" sz="180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</a:br>
              <a:r>
                <a:rPr lang="zh-TW" sz="180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  <a:t>單日表現不是準確率，</a:t>
              </a:r>
              <a:br>
                <a:rPr lang="zh-TW" sz="180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</a:br>
              <a:r>
                <a:rPr lang="zh-TW" sz="180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  <a:t>也不能證明換人的因果效益。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593598" y="266700"/>
            <a:ext cx="6816852" cy="1028700"/>
            <a:chOff x="593598" y="266700"/>
            <a:chExt cx="6816852" cy="1028700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66700"/>
              <a:ext cx="22591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Arial"/>
                  <a:ea typeface="Microsoft JhengHei"/>
                  <a:cs typeface="Arial"/>
                </a:rPr>
                <a:t>03　網站實作｜單日回放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558800"/>
              <a:ext cx="681685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150" b="1" dirty="0">
                  <a:solidFill>
                    <a:srgbClr val="18344A"/>
                  </a:solidFill>
                  <a:latin typeface="Arial"/>
                  <a:ea typeface="Microsoft JhengHei"/>
                  <a:cs typeface="Arial"/>
                </a:rPr>
                <a:t>回到同一個打席，分開看建議與結果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57300"/>
              <a:ext cx="857250" cy="38100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grpSp>
        <p:nvGrpSpPr>
          <p:cNvPr id="8" name="page-footer"/>
          <p:cNvGrpSpPr/>
          <p:nvPr/>
        </p:nvGrpSpPr>
        <p:grpSpPr>
          <a:xfrm>
            <a:off x="601980" y="5981700"/>
            <a:ext cx="10987278" cy="727583"/>
            <a:chOff x="601980" y="5981700"/>
            <a:chExt cx="10987278" cy="727583"/>
          </a:xfrm>
        </p:grpSpPr>
        <p:sp>
          <p:nvSpPr>
            <p:cNvPr id="6" name="TextBox 6"/>
            <p:cNvSpPr txBox="1"/>
            <p:nvPr/>
          </p:nvSpPr>
          <p:spPr>
            <a:xfrm>
              <a:off x="11373378" y="6445250"/>
              <a:ext cx="2158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350" dirty="0">
                  <a:solidFill>
                    <a:srgbClr val="58616B"/>
                  </a:solidFill>
                  <a:latin typeface="Arial"/>
                  <a:ea typeface="Arial"/>
                  <a:cs typeface="Arial"/>
                </a:rPr>
                <a:t>26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1980" y="5981700"/>
              <a:ext cx="7914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>
                  <a:solidFill>
                    <a:srgbClr val="58616B"/>
                  </a:solidFill>
                  <a:latin typeface="Arial"/>
                  <a:ea typeface="Microsoft JhengHei"/>
                  <a:cs typeface="Arial"/>
                </a:rPr>
                <a:t>2025/09/20 台鋼對富邦，7 局上。單次安打不能判定調度優劣；當日全部打席皆可回放。</a:t>
              </a:r>
            </a:p>
          </p:txBody>
        </p:sp>
      </p:grpSp>
      <p:grpSp>
        <p:nvGrpSpPr>
          <p:cNvPr id="10" name="replay-scoreboard"/>
          <p:cNvGrpSpPr/>
          <p:nvPr/>
        </p:nvGrpSpPr>
        <p:grpSpPr>
          <a:xfrm>
            <a:off x="1306169" y="1657350"/>
            <a:ext cx="9579662" cy="2895600"/>
            <a:chOff x="1306169" y="1657350"/>
            <a:chExt cx="9579662" cy="2895600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06169" y="1657350"/>
              <a:ext cx="9579662" cy="2895600"/>
            </a:xfrm>
            <a:prstGeom prst="rect">
              <a:avLst/>
            </a:prstGeom>
          </p:spPr>
        </p:pic>
      </p:grpSp>
      <p:grpSp>
        <p:nvGrpSpPr>
          <p:cNvPr id="14" name="replay-fact-0"/>
          <p:cNvGrpSpPr/>
          <p:nvPr/>
        </p:nvGrpSpPr>
        <p:grpSpPr>
          <a:xfrm>
            <a:off x="597408" y="4813300"/>
            <a:ext cx="1900944" cy="1087882"/>
            <a:chOff x="597408" y="4813300"/>
            <a:chExt cx="1900944" cy="1087882"/>
          </a:xfrm>
        </p:grpSpPr>
        <p:sp>
          <p:nvSpPr>
            <p:cNvPr id="11" name="TextBox 11"/>
            <p:cNvSpPr txBox="1"/>
            <p:nvPr/>
          </p:nvSpPr>
          <p:spPr>
            <a:xfrm>
              <a:off x="600456" y="481330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b="1" dirty="0">
                  <a:solidFill>
                    <a:srgbClr val="B54836"/>
                  </a:solidFill>
                  <a:latin typeface="Arial"/>
                  <a:ea typeface="Microsoft JhengHei"/>
                  <a:cs typeface="Arial"/>
                </a:rPr>
                <a:t>模型差距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7408" y="5175250"/>
              <a:ext cx="190094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>
                  <a:solidFill>
                    <a:srgbClr val="237A53"/>
                  </a:solidFill>
                  <a:latin typeface="Arial"/>
                  <a:ea typeface="Microsoft JhengHei"/>
                  <a:cs typeface="Arial"/>
                </a:rPr>
                <a:t>+0.54 百分點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1218" y="5578475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dirty="0">
                  <a:solidFill>
                    <a:srgbClr val="58616B"/>
                  </a:solidFill>
                  <a:latin typeface="Arial"/>
                  <a:ea typeface="Microsoft JhengHei"/>
                  <a:cs typeface="Arial"/>
                </a:rPr>
                <a:t>郭永維相對林家鋐</a:t>
              </a:r>
            </a:p>
          </p:txBody>
        </p:sp>
      </p:grpSp>
      <p:grpSp>
        <p:nvGrpSpPr>
          <p:cNvPr id="18" name="replay-fact-1"/>
          <p:cNvGrpSpPr/>
          <p:nvPr/>
        </p:nvGrpSpPr>
        <p:grpSpPr>
          <a:xfrm>
            <a:off x="4331208" y="4813300"/>
            <a:ext cx="2266637" cy="1087882"/>
            <a:chOff x="4331208" y="4813300"/>
            <a:chExt cx="2266637" cy="1087882"/>
          </a:xfrm>
        </p:grpSpPr>
        <p:sp>
          <p:nvSpPr>
            <p:cNvPr id="15" name="TextBox 15"/>
            <p:cNvSpPr txBox="1"/>
            <p:nvPr/>
          </p:nvSpPr>
          <p:spPr>
            <a:xfrm>
              <a:off x="4334256" y="481330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b="1" dirty="0">
                  <a:solidFill>
                    <a:srgbClr val="B54836"/>
                  </a:solidFill>
                  <a:latin typeface="Arial"/>
                  <a:ea typeface="Microsoft JhengHei"/>
                  <a:cs typeface="Arial"/>
                </a:rPr>
                <a:t>系統判讀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331208" y="517525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>
                  <a:solidFill>
                    <a:srgbClr val="18344A"/>
                  </a:solidFill>
                  <a:latin typeface="Arial"/>
                  <a:ea typeface="Microsoft JhengHei"/>
                  <a:cs typeface="Arial"/>
                </a:rPr>
                <a:t>續打為主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335018" y="5578475"/>
              <a:ext cx="226282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dirty="0">
                  <a:solidFill>
                    <a:srgbClr val="58616B"/>
                  </a:solidFill>
                  <a:latin typeface="Arial"/>
                  <a:ea typeface="Microsoft JhengHei"/>
                  <a:cs typeface="Arial"/>
                </a:rPr>
                <a:t>未達 1 百分點建議門檻</a:t>
              </a:r>
            </a:p>
          </p:txBody>
        </p:sp>
      </p:grpSp>
      <p:grpSp>
        <p:nvGrpSpPr>
          <p:cNvPr id="22" name="replay-fact-2"/>
          <p:cNvGrpSpPr/>
          <p:nvPr/>
        </p:nvGrpSpPr>
        <p:grpSpPr>
          <a:xfrm>
            <a:off x="8065008" y="4813300"/>
            <a:ext cx="2019681" cy="1087882"/>
            <a:chOff x="8065008" y="4813300"/>
            <a:chExt cx="2019681" cy="1087882"/>
          </a:xfrm>
        </p:grpSpPr>
        <p:sp>
          <p:nvSpPr>
            <p:cNvPr id="19" name="TextBox 19"/>
            <p:cNvSpPr txBox="1"/>
            <p:nvPr/>
          </p:nvSpPr>
          <p:spPr>
            <a:xfrm>
              <a:off x="8068056" y="481330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b="1" dirty="0">
                  <a:solidFill>
                    <a:srgbClr val="B54836"/>
                  </a:solidFill>
                  <a:latin typeface="Arial"/>
                  <a:ea typeface="Microsoft JhengHei"/>
                  <a:cs typeface="Arial"/>
                </a:rPr>
                <a:t>實際發生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065008" y="517525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>
                  <a:solidFill>
                    <a:srgbClr val="18344A"/>
                  </a:solidFill>
                  <a:latin typeface="Arial"/>
                  <a:ea typeface="Microsoft JhengHei"/>
                  <a:cs typeface="Arial"/>
                </a:rPr>
                <a:t>一壘安打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68818" y="5578475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dirty="0">
                  <a:solidFill>
                    <a:srgbClr val="58616B"/>
                  </a:solidFill>
                  <a:latin typeface="Arial"/>
                  <a:ea typeface="Microsoft JhengHei"/>
                  <a:cs typeface="Arial"/>
                </a:rPr>
                <a:t>郭永維對魔力藍代打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1980" y="266700"/>
            <a:ext cx="22591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B54836"/>
                </a:solidFill>
                <a:latin typeface="Arial"/>
                <a:ea typeface="Microsoft JhengHei"/>
                <a:cs typeface="Arial"/>
              </a:rPr>
              <a:t>03　網站實作｜賽前負荷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3598" y="558800"/>
            <a:ext cx="6392799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3150" b="1" dirty="0">
                <a:solidFill>
                  <a:srgbClr val="18344A"/>
                </a:solidFill>
                <a:latin typeface="Arial"/>
                <a:ea typeface="Microsoft JhengHei"/>
                <a:cs typeface="Arial"/>
              </a:rPr>
              <a:t>換投前，也要看前幾天投了多少球</a:t>
            </a:r>
          </a:p>
        </p:txBody>
      </p:sp>
      <p:sp>
        <p:nvSpPr>
          <p:cNvPr id="4" name="Rectangle 4"/>
          <p:cNvSpPr/>
          <p:nvPr/>
        </p:nvSpPr>
        <p:spPr>
          <a:xfrm>
            <a:off x="609600" y="1257300"/>
            <a:ext cx="857250" cy="38100"/>
          </a:xfrm>
          <a:prstGeom prst="rect">
            <a:avLst/>
          </a:prstGeom>
          <a:solidFill>
            <a:srgbClr val="B54836"/>
          </a:solidFill>
          <a:ln>
            <a:noFill/>
          </a:ln>
        </p:spPr>
      </p:sp>
      <p:sp>
        <p:nvSpPr>
          <p:cNvPr id="5" name="TextBox 5"/>
          <p:cNvSpPr/>
          <p:nvPr/>
        </p:nvSpPr>
        <p:spPr>
          <a:xfrm>
            <a:off x="11373422" y="6445282"/>
            <a:ext cx="2158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9694" y="1587500"/>
            <a:ext cx="2981701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950" b="1" dirty="0">
                <a:solidFill>
                  <a:srgbClr val="18344A"/>
                </a:solidFill>
                <a:latin typeface="Arial"/>
                <a:ea typeface="Microsoft JhengHei"/>
                <a:cs typeface="Arial"/>
              </a:rPr>
              <a:t>陳冠宇｜2025/09/20 賽前</a:t>
            </a:r>
          </a:p>
        </p:txBody>
      </p:sp>
      <p:sp>
        <p:nvSpPr>
          <p:cNvPr id="7" name="Rectangle 7"/>
          <p:cNvSpPr/>
          <p:nvPr/>
        </p:nvSpPr>
        <p:spPr>
          <a:xfrm>
            <a:off x="600075" y="2204850"/>
            <a:ext cx="10991850" cy="895724"/>
          </a:xfrm>
          <a:prstGeom prst="roundRect">
            <a:avLst>
              <a:gd name="adj" fmla="val 8507"/>
            </a:avLst>
          </a:prstGeom>
          <a:solidFill>
            <a:srgbClr val="FFFFFF"/>
          </a:solidFill>
          <a:ln w="14288">
            <a:solidFill>
              <a:srgbClr val="D7D1C5"/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214375"/>
            <a:ext cx="10972800" cy="876674"/>
          </a:xfrm>
          <a:prstGeom prst="rect">
            <a:avLst/>
          </a:prstGeom>
        </p:spPr>
      </p:pic>
      <p:sp>
        <p:nvSpPr>
          <p:cNvPr id="9" name="Line 9"/>
          <p:cNvSpPr/>
          <p:nvPr/>
        </p:nvSpPr>
        <p:spPr>
          <a:xfrm>
            <a:off x="1714500" y="3914775"/>
            <a:ext cx="8763000" cy="9525"/>
          </a:xfrm>
          <a:custGeom>
            <a:avLst/>
            <a:gdLst/>
            <a:ahLst/>
            <a:cxnLst/>
            <a:rect l="l" t="t" r="r" b="b"/>
            <a:pathLst>
              <a:path w="8763000" h="9525">
                <a:moveTo>
                  <a:pt x="0" y="0"/>
                </a:moveTo>
                <a:lnTo>
                  <a:pt x="8763000" y="0"/>
                </a:lnTo>
              </a:path>
            </a:pathLst>
          </a:custGeom>
          <a:noFill/>
          <a:ln w="28575">
            <a:solidFill>
              <a:srgbClr val="18344A"/>
            </a:solidFill>
          </a:ln>
        </p:spPr>
      </p:sp>
      <p:sp>
        <p:nvSpPr>
          <p:cNvPr id="10" name="Ellipse 10"/>
          <p:cNvSpPr/>
          <p:nvPr/>
        </p:nvSpPr>
        <p:spPr>
          <a:xfrm>
            <a:off x="1638300" y="3838575"/>
            <a:ext cx="152400" cy="152400"/>
          </a:xfrm>
          <a:prstGeom prst="ellipse">
            <a:avLst/>
          </a:prstGeom>
          <a:solidFill>
            <a:srgbClr val="B54836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417844" y="4133850"/>
            <a:ext cx="593311" cy="4263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TW" sz="2180" b="1" dirty="0">
                <a:solidFill>
                  <a:srgbClr val="18344A"/>
                </a:solidFill>
                <a:latin typeface="Arial"/>
                <a:ea typeface="Arial"/>
                <a:cs typeface="Arial"/>
              </a:rPr>
              <a:t>9/18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17067" y="4625975"/>
            <a:ext cx="159486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TW" sz="1950" b="1" dirty="0">
                <a:solidFill>
                  <a:srgbClr val="18344A"/>
                </a:solidFill>
                <a:latin typeface="Arial"/>
                <a:ea typeface="Microsoft JhengHei"/>
                <a:cs typeface="Arial"/>
              </a:rPr>
              <a:t>最近一次登板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17988" y="5070475"/>
            <a:ext cx="1793024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TW" sz="1720" dirty="0">
                <a:solidFill>
                  <a:srgbClr val="58616B"/>
                </a:solidFill>
                <a:latin typeface="Arial"/>
                <a:ea typeface="Microsoft JhengHei"/>
                <a:cs typeface="Arial"/>
              </a:rPr>
              <a:t>近三天累計 17 球</a:t>
            </a:r>
          </a:p>
        </p:txBody>
      </p:sp>
      <p:sp>
        <p:nvSpPr>
          <p:cNvPr id="14" name="Ellipse 14"/>
          <p:cNvSpPr/>
          <p:nvPr/>
        </p:nvSpPr>
        <p:spPr>
          <a:xfrm>
            <a:off x="6019800" y="3838575"/>
            <a:ext cx="152400" cy="152400"/>
          </a:xfrm>
          <a:prstGeom prst="ellipse">
            <a:avLst/>
          </a:prstGeom>
          <a:solidFill>
            <a:srgbClr val="B54836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5799344" y="4133850"/>
            <a:ext cx="593311" cy="4263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TW" sz="2180" b="1" dirty="0">
                <a:solidFill>
                  <a:srgbClr val="18344A"/>
                </a:solidFill>
                <a:latin typeface="Arial"/>
                <a:ea typeface="Arial"/>
                <a:cs typeface="Arial"/>
              </a:rPr>
              <a:t>9/19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298567" y="4625975"/>
            <a:ext cx="159486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TW" sz="1950" b="1" dirty="0">
                <a:solidFill>
                  <a:srgbClr val="18344A"/>
                </a:solidFill>
                <a:latin typeface="Arial"/>
                <a:ea typeface="Microsoft JhengHei"/>
                <a:cs typeface="Arial"/>
              </a:rPr>
              <a:t>完整休息一天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276825" y="5070475"/>
            <a:ext cx="1638351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TW" sz="1720" dirty="0">
                <a:solidFill>
                  <a:srgbClr val="58616B"/>
                </a:solidFill>
                <a:latin typeface="Arial"/>
                <a:ea typeface="Microsoft JhengHei"/>
                <a:cs typeface="Arial"/>
              </a:rPr>
              <a:t>賽前未連續登板</a:t>
            </a:r>
          </a:p>
        </p:txBody>
      </p:sp>
      <p:sp>
        <p:nvSpPr>
          <p:cNvPr id="18" name="Ellipse 18"/>
          <p:cNvSpPr/>
          <p:nvPr/>
        </p:nvSpPr>
        <p:spPr>
          <a:xfrm>
            <a:off x="10401300" y="3838575"/>
            <a:ext cx="152400" cy="152400"/>
          </a:xfrm>
          <a:prstGeom prst="ellipse">
            <a:avLst/>
          </a:prstGeom>
          <a:solidFill>
            <a:srgbClr val="B54836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9846610" y="4133850"/>
            <a:ext cx="1261781" cy="4263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TW" sz="2180" b="1" dirty="0">
                <a:solidFill>
                  <a:srgbClr val="18344A"/>
                </a:solidFill>
                <a:latin typeface="Arial"/>
                <a:ea typeface="Microsoft JhengHei"/>
                <a:cs typeface="Arial"/>
              </a:rPr>
              <a:t>9/20 賽前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548812" y="4625975"/>
            <a:ext cx="1857375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TW" sz="1950" b="1" dirty="0">
                <a:solidFill>
                  <a:srgbClr val="18344A"/>
                </a:solidFill>
                <a:latin typeface="Arial"/>
                <a:ea typeface="Microsoft JhengHei"/>
                <a:cs typeface="Arial"/>
              </a:rPr>
              <a:t>準備今天的換投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568045" y="5070475"/>
            <a:ext cx="1818911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TW" sz="1720" dirty="0">
                <a:solidFill>
                  <a:srgbClr val="58616B"/>
                </a:solidFill>
                <a:latin typeface="Arial"/>
                <a:ea typeface="Microsoft JhengHei"/>
                <a:cs typeface="Arial"/>
              </a:rPr>
              <a:t>近 14 天出賽 4 場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01980" y="5981700"/>
            <a:ext cx="74866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58616B"/>
                </a:solidFill>
                <a:latin typeface="Arial"/>
                <a:ea typeface="Microsoft JhengHei"/>
                <a:cs typeface="Arial"/>
              </a:rPr>
              <a:t>連投、休息日與近期球數是負荷資訊；跨日疲勞仍屬情境假設，不能當成實證扣分。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593598" y="266700"/>
            <a:ext cx="7664958" cy="1028700"/>
            <a:chOff x="593598" y="266700"/>
            <a:chExt cx="7664958" cy="1028700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66700"/>
              <a:ext cx="12495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Arial"/>
                  <a:ea typeface="Microsoft JhengHei"/>
                  <a:cs typeface="Arial"/>
                </a:rPr>
                <a:t>03　網站實作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558800"/>
              <a:ext cx="766495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150" b="1" dirty="0">
                  <a:solidFill>
                    <a:srgbClr val="18344A"/>
                  </a:solidFill>
                  <a:latin typeface="Arial"/>
                  <a:ea typeface="Microsoft JhengHei"/>
                  <a:cs typeface="Arial"/>
                </a:rPr>
                <a:t>先固定條件，再比較人選，最後檢查提醒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57300"/>
              <a:ext cx="857250" cy="38100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grpSp>
        <p:nvGrpSpPr>
          <p:cNvPr id="8" name="page-footer"/>
          <p:cNvGrpSpPr/>
          <p:nvPr/>
        </p:nvGrpSpPr>
        <p:grpSpPr>
          <a:xfrm>
            <a:off x="601980" y="5981700"/>
            <a:ext cx="10987278" cy="727583"/>
            <a:chOff x="601980" y="5981700"/>
            <a:chExt cx="10987278" cy="727583"/>
          </a:xfrm>
        </p:grpSpPr>
        <p:sp>
          <p:nvSpPr>
            <p:cNvPr id="6" name="TextBox 6"/>
            <p:cNvSpPr txBox="1"/>
            <p:nvPr/>
          </p:nvSpPr>
          <p:spPr>
            <a:xfrm>
              <a:off x="11373378" y="6445250"/>
              <a:ext cx="2158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350" dirty="0">
                  <a:solidFill>
                    <a:srgbClr val="58616B"/>
                  </a:solidFill>
                  <a:latin typeface="Arial"/>
                  <a:ea typeface="Arial"/>
                  <a:cs typeface="Arial"/>
                </a:rPr>
                <a:t>28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1980" y="5981700"/>
              <a:ext cx="58712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>
                  <a:solidFill>
                    <a:srgbClr val="58616B"/>
                  </a:solidFill>
                  <a:latin typeface="Arial"/>
                  <a:ea typeface="Microsoft JhengHei"/>
                  <a:cs typeface="Arial"/>
                </a:rPr>
                <a:t>比較結果協助整理理由；教練仍需結合現場狀態與實際名單判斷。</a:t>
              </a:r>
            </a:p>
          </p:txBody>
        </p:sp>
      </p:grpSp>
      <p:grpSp>
        <p:nvGrpSpPr>
          <p:cNvPr id="15" name="workflow-0"/>
          <p:cNvGrpSpPr/>
          <p:nvPr/>
        </p:nvGrpSpPr>
        <p:grpSpPr>
          <a:xfrm>
            <a:off x="598170" y="1885950"/>
            <a:ext cx="2647315" cy="2733040"/>
            <a:chOff x="598170" y="1885950"/>
            <a:chExt cx="2647315" cy="2733040"/>
          </a:xfrm>
        </p:grpSpPr>
        <p:sp>
          <p:nvSpPr>
            <p:cNvPr id="9" name="Freeform 9"/>
            <p:cNvSpPr/>
            <p:nvPr/>
          </p:nvSpPr>
          <p:spPr>
            <a:xfrm>
              <a:off x="800100" y="1933575"/>
              <a:ext cx="990600" cy="933450"/>
            </a:xfrm>
            <a:custGeom>
              <a:avLst/>
              <a:gdLst/>
              <a:ahLst/>
              <a:cxnLst/>
              <a:rect l="l" t="t" r="r" b="b"/>
              <a:pathLst>
                <a:path w="990600" h="933450">
                  <a:moveTo>
                    <a:pt x="495300" y="0"/>
                  </a:moveTo>
                  <a:lnTo>
                    <a:pt x="990600" y="466725"/>
                  </a:lnTo>
                  <a:lnTo>
                    <a:pt x="495300" y="933450"/>
                  </a:lnTo>
                  <a:lnTo>
                    <a:pt x="0" y="466725"/>
                  </a:lnTo>
                  <a:close/>
                </a:path>
              </a:pathLst>
            </a:custGeom>
            <a:noFill/>
            <a:ln w="38100">
              <a:solidFill>
                <a:srgbClr val="18344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1247775" y="1885950"/>
              <a:ext cx="95250" cy="95250"/>
            </a:xfrm>
            <a:prstGeom prst="rect">
              <a:avLst/>
            </a:prstGeom>
            <a:solidFill>
              <a:srgbClr val="B54836"/>
            </a:solidFill>
            <a:ln w="38100">
              <a:solidFill>
                <a:srgbClr val="B54836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1743075" y="2352675"/>
              <a:ext cx="95250" cy="95250"/>
            </a:xfrm>
            <a:prstGeom prst="rect">
              <a:avLst/>
            </a:prstGeom>
            <a:solidFill>
              <a:srgbClr val="B54836"/>
            </a:solidFill>
            <a:ln w="38100">
              <a:solidFill>
                <a:srgbClr val="B54836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752475" y="2352675"/>
              <a:ext cx="95250" cy="95250"/>
            </a:xfrm>
            <a:prstGeom prst="rect">
              <a:avLst/>
            </a:prstGeom>
            <a:solidFill>
              <a:srgbClr val="B54836"/>
            </a:solidFill>
            <a:ln w="38100">
              <a:solidFill>
                <a:srgbClr val="B5483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98170" y="3254375"/>
              <a:ext cx="170580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>
                  <a:solidFill>
                    <a:srgbClr val="18344A"/>
                  </a:solidFill>
                  <a:latin typeface="Arial"/>
                  <a:ea typeface="Microsoft JhengHei"/>
                  <a:cs typeface="Arial"/>
                </a:rPr>
                <a:t>1　設定局勢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0075" y="3917950"/>
              <a:ext cx="2645410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zh-TW" sz="188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  <a:t>球隊、投打人選、比分、</a:t>
              </a:r>
              <a:br>
                <a:rPr lang="zh-TW" sz="188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</a:br>
              <a:r>
                <a:rPr lang="zh-TW" sz="188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  <a:t>局數、出局與壘況。</a:t>
              </a:r>
            </a:p>
          </p:txBody>
        </p:sp>
      </p:grpSp>
      <p:grpSp>
        <p:nvGrpSpPr>
          <p:cNvPr id="19" name="workflow-1"/>
          <p:cNvGrpSpPr/>
          <p:nvPr/>
        </p:nvGrpSpPr>
        <p:grpSpPr>
          <a:xfrm>
            <a:off x="4331970" y="1838325"/>
            <a:ext cx="2408555" cy="2780665"/>
            <a:chOff x="4331970" y="1838325"/>
            <a:chExt cx="2408555" cy="2780665"/>
          </a:xfrm>
        </p:grpSpPr>
        <p:sp>
          <p:nvSpPr>
            <p:cNvPr id="16" name="Freeform 16"/>
            <p:cNvSpPr/>
            <p:nvPr/>
          </p:nvSpPr>
          <p:spPr>
            <a:xfrm>
              <a:off x="4514850" y="1838325"/>
              <a:ext cx="1028700" cy="809625"/>
            </a:xfrm>
            <a:custGeom>
              <a:avLst/>
              <a:gdLst/>
              <a:ahLst/>
              <a:cxnLst/>
              <a:rect l="l" t="t" r="r" b="b"/>
              <a:pathLst>
                <a:path w="1028700" h="809625">
                  <a:moveTo>
                    <a:pt x="0" y="47625"/>
                  </a:moveTo>
                  <a:lnTo>
                    <a:pt x="0" y="809625"/>
                  </a:lnTo>
                  <a:lnTo>
                    <a:pt x="1028700" y="809625"/>
                  </a:lnTo>
                  <a:moveTo>
                    <a:pt x="228600" y="666750"/>
                  </a:moveTo>
                  <a:lnTo>
                    <a:pt x="228600" y="400050"/>
                  </a:lnTo>
                  <a:moveTo>
                    <a:pt x="504825" y="666750"/>
                  </a:moveTo>
                  <a:lnTo>
                    <a:pt x="504825" y="171450"/>
                  </a:lnTo>
                  <a:moveTo>
                    <a:pt x="781050" y="666750"/>
                  </a:moveTo>
                  <a:lnTo>
                    <a:pt x="781050" y="0"/>
                  </a:lnTo>
                </a:path>
              </a:pathLst>
            </a:custGeom>
            <a:noFill/>
            <a:ln w="38100">
              <a:solidFill>
                <a:srgbClr val="18344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331970" y="3254375"/>
              <a:ext cx="170580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>
                  <a:solidFill>
                    <a:srgbClr val="18344A"/>
                  </a:solidFill>
                  <a:latin typeface="Arial"/>
                  <a:ea typeface="Microsoft JhengHei"/>
                  <a:cs typeface="Arial"/>
                </a:rPr>
                <a:t>2　比較人選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333875" y="3917950"/>
              <a:ext cx="2406650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zh-TW" sz="188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  <a:t>先看相對現任的差距，</a:t>
              </a:r>
              <a:br>
                <a:rPr lang="zh-TW" sz="188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</a:br>
              <a:r>
                <a:rPr lang="zh-TW" sz="188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  <a:t>最多選四人檢視比較。</a:t>
              </a:r>
            </a:p>
          </p:txBody>
        </p:sp>
      </p:grpSp>
      <p:grpSp>
        <p:nvGrpSpPr>
          <p:cNvPr id="24" name="workflow-2"/>
          <p:cNvGrpSpPr/>
          <p:nvPr/>
        </p:nvGrpSpPr>
        <p:grpSpPr>
          <a:xfrm>
            <a:off x="8065770" y="1943100"/>
            <a:ext cx="2886075" cy="2675890"/>
            <a:chOff x="8065770" y="1943100"/>
            <a:chExt cx="2886075" cy="2675890"/>
          </a:xfrm>
        </p:grpSpPr>
        <p:sp>
          <p:nvSpPr>
            <p:cNvPr id="20" name="Ellipse 20"/>
            <p:cNvSpPr/>
            <p:nvPr/>
          </p:nvSpPr>
          <p:spPr>
            <a:xfrm>
              <a:off x="8305800" y="1943100"/>
              <a:ext cx="914400" cy="914400"/>
            </a:xfrm>
            <a:prstGeom prst="ellipse">
              <a:avLst/>
            </a:prstGeom>
            <a:noFill/>
            <a:ln w="38100">
              <a:solidFill>
                <a:srgbClr val="18344A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8763000" y="2114550"/>
              <a:ext cx="238125" cy="438150"/>
            </a:xfrm>
            <a:custGeom>
              <a:avLst/>
              <a:gdLst/>
              <a:ahLst/>
              <a:cxnLst/>
              <a:rect l="l" t="t" r="r" b="b"/>
              <a:pathLst>
                <a:path w="238125" h="438150">
                  <a:moveTo>
                    <a:pt x="0" y="0"/>
                  </a:moveTo>
                  <a:lnTo>
                    <a:pt x="0" y="285750"/>
                  </a:lnTo>
                  <a:lnTo>
                    <a:pt x="238125" y="438150"/>
                  </a:lnTo>
                </a:path>
              </a:pathLst>
            </a:custGeom>
            <a:noFill/>
            <a:ln w="38100">
              <a:solidFill>
                <a:srgbClr val="18344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065770" y="3254375"/>
              <a:ext cx="170580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>
                  <a:solidFill>
                    <a:srgbClr val="18344A"/>
                  </a:solidFill>
                  <a:latin typeface="Arial"/>
                  <a:ea typeface="Microsoft JhengHei"/>
                  <a:cs typeface="Arial"/>
                </a:rPr>
                <a:t>3　核對限制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067675" y="3917950"/>
              <a:ext cx="2884170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zh-TW" sz="188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  <a:t>確認接守安排、可用名單，</a:t>
              </a:r>
              <a:br>
                <a:rPr lang="zh-TW" sz="188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</a:br>
              <a:r>
                <a:rPr lang="zh-TW" sz="188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  <a:t>並留意模型分歧與資料量。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593598" y="266700"/>
            <a:ext cx="5968746" cy="1028700"/>
            <a:chOff x="593598" y="266700"/>
            <a:chExt cx="5968746" cy="1028700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66700"/>
              <a:ext cx="12495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Arial"/>
                  <a:ea typeface="Microsoft JhengHei"/>
                  <a:cs typeface="Arial"/>
                </a:rPr>
                <a:t>03　網站實作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558800"/>
              <a:ext cx="596874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150" b="1" dirty="0">
                  <a:solidFill>
                    <a:srgbClr val="18344A"/>
                  </a:solidFill>
                  <a:latin typeface="Arial"/>
                  <a:ea typeface="Microsoft JhengHei"/>
                  <a:cs typeface="Arial"/>
                </a:rPr>
                <a:t>差距之外，三種提醒都要一起看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57300"/>
              <a:ext cx="857250" cy="38100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grpSp>
        <p:nvGrpSpPr>
          <p:cNvPr id="8" name="page-footer"/>
          <p:cNvGrpSpPr/>
          <p:nvPr/>
        </p:nvGrpSpPr>
        <p:grpSpPr>
          <a:xfrm>
            <a:off x="601980" y="5981700"/>
            <a:ext cx="10987278" cy="727583"/>
            <a:chOff x="601980" y="5981700"/>
            <a:chExt cx="10987278" cy="727583"/>
          </a:xfrm>
        </p:grpSpPr>
        <p:sp>
          <p:nvSpPr>
            <p:cNvPr id="6" name="TextBox 6"/>
            <p:cNvSpPr txBox="1"/>
            <p:nvPr/>
          </p:nvSpPr>
          <p:spPr>
            <a:xfrm>
              <a:off x="11373378" y="6445250"/>
              <a:ext cx="2158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350" dirty="0">
                  <a:solidFill>
                    <a:srgbClr val="58616B"/>
                  </a:solidFill>
                  <a:latin typeface="Arial"/>
                  <a:ea typeface="Arial"/>
                  <a:cs typeface="Arial"/>
                </a:rPr>
                <a:t>29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1980" y="5981700"/>
              <a:ext cx="6880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>
                  <a:solidFill>
                    <a:srgbClr val="58616B"/>
                  </a:solidFill>
                  <a:latin typeface="Arial"/>
                  <a:ea typeface="Microsoft JhengHei"/>
                  <a:cs typeface="Arial"/>
                </a:rPr>
                <a:t>示意圖：網站提供這三類提醒；守備只判斷能否接守，不代表守備品質評分。</a:t>
              </a:r>
            </a:p>
          </p:txBody>
        </p:sp>
      </p:grpSp>
      <p:grpSp>
        <p:nvGrpSpPr>
          <p:cNvPr id="13" name="decision-warning-0"/>
          <p:cNvGrpSpPr/>
          <p:nvPr/>
        </p:nvGrpSpPr>
        <p:grpSpPr>
          <a:xfrm>
            <a:off x="597408" y="1905000"/>
            <a:ext cx="2648077" cy="2837815"/>
            <a:chOff x="597408" y="1905000"/>
            <a:chExt cx="2648077" cy="2837815"/>
          </a:xfrm>
        </p:grpSpPr>
        <p:sp>
          <p:nvSpPr>
            <p:cNvPr id="9" name="Freeform 9"/>
            <p:cNvSpPr/>
            <p:nvPr/>
          </p:nvSpPr>
          <p:spPr>
            <a:xfrm>
              <a:off x="666750" y="1905000"/>
              <a:ext cx="781050" cy="704850"/>
            </a:xfrm>
            <a:custGeom>
              <a:avLst/>
              <a:gdLst/>
              <a:ahLst/>
              <a:cxnLst/>
              <a:rect l="l" t="t" r="r" b="b"/>
              <a:pathLst>
                <a:path w="781050" h="704850">
                  <a:moveTo>
                    <a:pt x="390525" y="0"/>
                  </a:moveTo>
                  <a:lnTo>
                    <a:pt x="781050" y="704850"/>
                  </a:lnTo>
                  <a:lnTo>
                    <a:pt x="0" y="704850"/>
                  </a:lnTo>
                  <a:close/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87165" y="2159000"/>
              <a:ext cx="14022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550" b="1" dirty="0">
                  <a:solidFill>
                    <a:srgbClr val="B54836"/>
                  </a:solidFill>
                  <a:latin typeface="Arial"/>
                  <a:ea typeface="Arial"/>
                  <a:cs typeface="Arial"/>
                </a:rPr>
                <a:t>!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7408" y="304165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>
                  <a:solidFill>
                    <a:srgbClr val="18344A"/>
                  </a:solidFill>
                  <a:latin typeface="Arial"/>
                  <a:ea typeface="Microsoft JhengHei"/>
                  <a:cs typeface="Arial"/>
                </a:rPr>
                <a:t>接守需求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0075" y="3708400"/>
              <a:ext cx="2645410" cy="1034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zh-TW" sz="188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  <a:t>代打不只換一個名字。</a:t>
              </a:r>
              <a:br>
                <a:rPr lang="zh-TW" sz="188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</a:br>
              <a:r>
                <a:rPr lang="zh-TW" sz="188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  <a:t>確認替補能接守原位置，</a:t>
              </a:r>
              <a:br>
                <a:rPr lang="zh-TW" sz="188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</a:br>
              <a:r>
                <a:rPr lang="zh-TW" sz="188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  <a:t>以及是否需再調整守備。</a:t>
              </a:r>
            </a:p>
          </p:txBody>
        </p:sp>
      </p:grpSp>
      <p:grpSp>
        <p:nvGrpSpPr>
          <p:cNvPr id="18" name="decision-warning-1"/>
          <p:cNvGrpSpPr/>
          <p:nvPr/>
        </p:nvGrpSpPr>
        <p:grpSpPr>
          <a:xfrm>
            <a:off x="4331208" y="1905000"/>
            <a:ext cx="2648077" cy="2837815"/>
            <a:chOff x="4331208" y="1905000"/>
            <a:chExt cx="2648077" cy="2837815"/>
          </a:xfrm>
        </p:grpSpPr>
        <p:sp>
          <p:nvSpPr>
            <p:cNvPr id="14" name="Freeform 14"/>
            <p:cNvSpPr/>
            <p:nvPr/>
          </p:nvSpPr>
          <p:spPr>
            <a:xfrm>
              <a:off x="4400550" y="1905000"/>
              <a:ext cx="781050" cy="704850"/>
            </a:xfrm>
            <a:custGeom>
              <a:avLst/>
              <a:gdLst/>
              <a:ahLst/>
              <a:cxnLst/>
              <a:rect l="l" t="t" r="r" b="b"/>
              <a:pathLst>
                <a:path w="781050" h="704850">
                  <a:moveTo>
                    <a:pt x="390525" y="0"/>
                  </a:moveTo>
                  <a:lnTo>
                    <a:pt x="781050" y="704850"/>
                  </a:lnTo>
                  <a:lnTo>
                    <a:pt x="0" y="704850"/>
                  </a:lnTo>
                  <a:close/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720965" y="2159000"/>
              <a:ext cx="14022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550" b="1" dirty="0">
                  <a:solidFill>
                    <a:srgbClr val="B54836"/>
                  </a:solidFill>
                  <a:latin typeface="Arial"/>
                  <a:ea typeface="Arial"/>
                  <a:cs typeface="Arial"/>
                </a:rPr>
                <a:t>!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331208" y="304165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>
                  <a:solidFill>
                    <a:srgbClr val="18344A"/>
                  </a:solidFill>
                  <a:latin typeface="Arial"/>
                  <a:ea typeface="Microsoft JhengHei"/>
                  <a:cs typeface="Arial"/>
                </a:rPr>
                <a:t>模型分歧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333875" y="3708400"/>
              <a:ext cx="2645410" cy="1034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zh-TW" sz="188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  <a:t>兩種估計的方向不同，</a:t>
              </a:r>
              <a:br>
                <a:rPr lang="zh-TW" sz="188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</a:br>
              <a:r>
                <a:rPr lang="zh-TW" sz="188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  <a:t>代表排序沒有同樣把握，</a:t>
              </a:r>
              <a:br>
                <a:rPr lang="zh-TW" sz="188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</a:br>
              <a:r>
                <a:rPr lang="zh-TW" sz="188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  <a:t>不宜只看分數做決定。</a:t>
              </a:r>
            </a:p>
          </p:txBody>
        </p:sp>
      </p:grpSp>
      <p:grpSp>
        <p:nvGrpSpPr>
          <p:cNvPr id="23" name="decision-warning-2"/>
          <p:cNvGrpSpPr/>
          <p:nvPr/>
        </p:nvGrpSpPr>
        <p:grpSpPr>
          <a:xfrm>
            <a:off x="8065008" y="1905000"/>
            <a:ext cx="2648077" cy="2837815"/>
            <a:chOff x="8065008" y="1905000"/>
            <a:chExt cx="2648077" cy="2837815"/>
          </a:xfrm>
        </p:grpSpPr>
        <p:sp>
          <p:nvSpPr>
            <p:cNvPr id="19" name="Freeform 19"/>
            <p:cNvSpPr/>
            <p:nvPr/>
          </p:nvSpPr>
          <p:spPr>
            <a:xfrm>
              <a:off x="8134350" y="1905000"/>
              <a:ext cx="781050" cy="704850"/>
            </a:xfrm>
            <a:custGeom>
              <a:avLst/>
              <a:gdLst/>
              <a:ahLst/>
              <a:cxnLst/>
              <a:rect l="l" t="t" r="r" b="b"/>
              <a:pathLst>
                <a:path w="781050" h="704850">
                  <a:moveTo>
                    <a:pt x="390525" y="0"/>
                  </a:moveTo>
                  <a:lnTo>
                    <a:pt x="781050" y="704850"/>
                  </a:lnTo>
                  <a:lnTo>
                    <a:pt x="0" y="704850"/>
                  </a:lnTo>
                  <a:close/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454765" y="2159000"/>
              <a:ext cx="14022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550" b="1" dirty="0">
                  <a:solidFill>
                    <a:srgbClr val="B54836"/>
                  </a:solidFill>
                  <a:latin typeface="Arial"/>
                  <a:ea typeface="Arial"/>
                  <a:cs typeface="Arial"/>
                </a:rPr>
                <a:t>!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65008" y="304165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>
                  <a:solidFill>
                    <a:srgbClr val="18344A"/>
                  </a:solidFill>
                  <a:latin typeface="Arial"/>
                  <a:ea typeface="Microsoft JhengHei"/>
                  <a:cs typeface="Arial"/>
                </a:rPr>
                <a:t>資料有限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067675" y="3708400"/>
              <a:ext cx="2645410" cy="1034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zh-TW" sz="188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  <a:t>樣本少或資料不完整，</a:t>
              </a:r>
              <a:br>
                <a:rPr lang="zh-TW" sz="188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</a:br>
              <a:r>
                <a:rPr lang="zh-TW" sz="188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  <a:t>估計更倚賴整體基準；</a:t>
              </a:r>
              <a:br>
                <a:rPr lang="zh-TW" sz="188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</a:br>
              <a:r>
                <a:rPr lang="zh-TW" sz="188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  <a:t>球隊仍需核對當日狀態。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baseball"/>
          <p:cNvGrpSpPr/>
          <p:nvPr/>
        </p:nvGrpSpPr>
        <p:grpSpPr>
          <a:xfrm>
            <a:off x="8001000" y="1714500"/>
            <a:ext cx="3905250" cy="3905250"/>
            <a:chOff x="8001000" y="1714500"/>
            <a:chExt cx="3905250" cy="3905250"/>
          </a:xfrm>
        </p:grpSpPr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1000" y="1714500"/>
              <a:ext cx="3905250" cy="3905250"/>
            </a:xfrm>
            <a:prstGeom prst="rect">
              <a:avLst/>
            </a:prstGeom>
          </p:spPr>
        </p:pic>
      </p:grpSp>
      <p:grpSp>
        <p:nvGrpSpPr>
          <p:cNvPr id="7" name="chapter-content"/>
          <p:cNvGrpSpPr/>
          <p:nvPr/>
        </p:nvGrpSpPr>
        <p:grpSpPr>
          <a:xfrm>
            <a:off x="590550" y="673100"/>
            <a:ext cx="6337554" cy="4496626"/>
            <a:chOff x="590550" y="673100"/>
            <a:chExt cx="6337554" cy="4496626"/>
          </a:xfrm>
        </p:grpSpPr>
        <p:sp>
          <p:nvSpPr>
            <p:cNvPr id="3" name="TextBox 3"/>
            <p:cNvSpPr txBox="1"/>
            <p:nvPr/>
          </p:nvSpPr>
          <p:spPr>
            <a:xfrm>
              <a:off x="590550" y="673100"/>
              <a:ext cx="1296011" cy="1619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8400" b="1" dirty="0">
                  <a:solidFill>
                    <a:srgbClr val="B54836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1312" y="2632075"/>
              <a:ext cx="633679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600" b="1" dirty="0">
                  <a:solidFill>
                    <a:srgbClr val="18344A"/>
                  </a:solidFill>
                  <a:latin typeface="Arial"/>
                  <a:ea typeface="Microsoft JhengHei"/>
                  <a:cs typeface="Arial"/>
                </a:rPr>
                <a:t>已完成什麼，接著驗證什麼？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8932" y="3565525"/>
              <a:ext cx="42582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dirty="0">
                  <a:solidFill>
                    <a:srgbClr val="58616B"/>
                  </a:solidFill>
                  <a:latin typeface="Arial"/>
                  <a:ea typeface="Microsoft JhengHei"/>
                  <a:cs typeface="Arial"/>
                </a:rPr>
                <a:t>網站 Demo、開發規劃與研究依據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0837" y="4832350"/>
              <a:ext cx="256453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720" dirty="0">
                  <a:solidFill>
                    <a:srgbClr val="18344A"/>
                  </a:solidFill>
                  <a:latin typeface="Arial"/>
                  <a:ea typeface="Microsoft JhengHei"/>
                  <a:cs typeface="Arial"/>
                </a:rPr>
                <a:t>一球兩面｜臨場用人決策</a:t>
              </a:r>
            </a:p>
          </p:txBody>
        </p:sp>
      </p:grpSp>
      <p:sp>
        <p:nvSpPr>
          <p:cNvPr id="10" name="TextBox 8"/>
          <p:cNvSpPr txBox="1"/>
          <p:nvPr/>
        </p:nvSpPr>
        <p:spPr>
          <a:xfrm>
            <a:off x="11373378" y="6445250"/>
            <a:ext cx="21588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1980" y="266700"/>
            <a:ext cx="185530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B54836"/>
                </a:solidFill>
                <a:latin typeface="Arial"/>
                <a:ea typeface="Microsoft JhengHei"/>
                <a:cs typeface="Arial"/>
              </a:rPr>
              <a:t>04　成果與開發規劃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3598" y="558800"/>
            <a:ext cx="6816852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3150" b="1" dirty="0">
                <a:solidFill>
                  <a:srgbClr val="18344A"/>
                </a:solidFill>
                <a:latin typeface="Arial"/>
                <a:ea typeface="Microsoft JhengHei"/>
                <a:cs typeface="Arial"/>
              </a:rPr>
              <a:t>先完成可用的比較，再驗證實務判讀</a:t>
            </a:r>
          </a:p>
        </p:txBody>
      </p:sp>
      <p:sp>
        <p:nvSpPr>
          <p:cNvPr id="4" name="Rectangle 4"/>
          <p:cNvSpPr/>
          <p:nvPr/>
        </p:nvSpPr>
        <p:spPr>
          <a:xfrm>
            <a:off x="609600" y="1257300"/>
            <a:ext cx="857250" cy="38100"/>
          </a:xfrm>
          <a:prstGeom prst="rect">
            <a:avLst/>
          </a:prstGeom>
          <a:solidFill>
            <a:srgbClr val="B54836"/>
          </a:solidFill>
          <a:ln>
            <a:noFill/>
          </a:ln>
        </p:spPr>
      </p:sp>
      <p:sp>
        <p:nvSpPr>
          <p:cNvPr id="5" name="TextBox 5"/>
          <p:cNvSpPr/>
          <p:nvPr/>
        </p:nvSpPr>
        <p:spPr>
          <a:xfrm>
            <a:off x="11373422" y="6445282"/>
            <a:ext cx="2158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6" name="Line 6"/>
          <p:cNvSpPr/>
          <p:nvPr/>
        </p:nvSpPr>
        <p:spPr>
          <a:xfrm>
            <a:off x="1428750" y="2409825"/>
            <a:ext cx="9239250" cy="9525"/>
          </a:xfrm>
          <a:custGeom>
            <a:avLst/>
            <a:gdLst/>
            <a:ahLst/>
            <a:cxnLst/>
            <a:rect l="l" t="t" r="r" b="b"/>
            <a:pathLst>
              <a:path w="9239250" h="9525">
                <a:moveTo>
                  <a:pt x="0" y="0"/>
                </a:moveTo>
                <a:lnTo>
                  <a:pt x="9239250" y="0"/>
                </a:lnTo>
              </a:path>
            </a:pathLst>
          </a:custGeom>
          <a:noFill/>
          <a:ln w="28575">
            <a:solidFill>
              <a:srgbClr val="18344A"/>
            </a:solidFill>
          </a:ln>
        </p:spPr>
      </p:sp>
      <p:sp>
        <p:nvSpPr>
          <p:cNvPr id="7" name="Ellipse 7"/>
          <p:cNvSpPr/>
          <p:nvPr/>
        </p:nvSpPr>
        <p:spPr>
          <a:xfrm>
            <a:off x="2286000" y="2314575"/>
            <a:ext cx="190500" cy="190500"/>
          </a:xfrm>
          <a:prstGeom prst="ellipse">
            <a:avLst/>
          </a:prstGeom>
          <a:solidFill>
            <a:srgbClr val="B54836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00456" y="1736725"/>
            <a:ext cx="74523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800" b="1" dirty="0">
                <a:solidFill>
                  <a:srgbClr val="B54836"/>
                </a:solidFill>
                <a:latin typeface="Arial"/>
                <a:ea typeface="Microsoft JhengHei"/>
                <a:cs typeface="Arial"/>
              </a:rPr>
              <a:t>已完成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98170" y="2835275"/>
            <a:ext cx="184023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2250" b="1" dirty="0">
                <a:solidFill>
                  <a:srgbClr val="18344A"/>
                </a:solidFill>
                <a:latin typeface="Arial"/>
                <a:ea typeface="Microsoft JhengHei"/>
                <a:cs typeface="Arial"/>
              </a:rPr>
              <a:t>網站功能整合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00075" y="3495675"/>
            <a:ext cx="2549906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880" dirty="0">
                <a:solidFill>
                  <a:srgbClr val="1D2934"/>
                </a:solidFill>
                <a:latin typeface="Arial"/>
                <a:ea typeface="Microsoft JhengHei"/>
                <a:cs typeface="Arial"/>
              </a:rPr>
              <a:t>換打、換投與候選比較</a:t>
            </a:r>
          </a:p>
        </p:txBody>
      </p:sp>
      <p:sp>
        <p:nvSpPr>
          <p:cNvPr id="11" name="TextBox 11"/>
          <p:cNvSpPr/>
          <p:nvPr/>
        </p:nvSpPr>
        <p:spPr>
          <a:xfrm>
            <a:off x="600075" y="3829050"/>
            <a:ext cx="3056096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TW" sz="1880" dirty="0">
                <a:solidFill>
                  <a:srgbClr val="1D2934"/>
                </a:solidFill>
                <a:latin typeface="Arial"/>
                <a:ea typeface="Microsoft JhengHei"/>
                <a:cs typeface="Arial"/>
              </a:rPr>
              <a:t>名單、群組與完整單日回放</a:t>
            </a:r>
          </a:p>
        </p:txBody>
      </p:sp>
      <p:sp>
        <p:nvSpPr>
          <p:cNvPr id="12" name="Ellipse 12"/>
          <p:cNvSpPr/>
          <p:nvPr/>
        </p:nvSpPr>
        <p:spPr>
          <a:xfrm>
            <a:off x="6019800" y="2314575"/>
            <a:ext cx="190500" cy="190500"/>
          </a:xfrm>
          <a:prstGeom prst="ellipse">
            <a:avLst/>
          </a:prstGeom>
          <a:solidFill>
            <a:srgbClr val="B54836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4334256" y="1736725"/>
            <a:ext cx="74523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800" b="1" dirty="0">
                <a:solidFill>
                  <a:srgbClr val="B54836"/>
                </a:solidFill>
                <a:latin typeface="Arial"/>
                <a:ea typeface="Microsoft JhengHei"/>
                <a:cs typeface="Arial"/>
              </a:rPr>
              <a:t>下一步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331970" y="2835275"/>
            <a:ext cx="184023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2250" b="1" dirty="0">
                <a:solidFill>
                  <a:srgbClr val="18344A"/>
                </a:solidFill>
                <a:latin typeface="Arial"/>
                <a:ea typeface="Microsoft JhengHei"/>
                <a:cs typeface="Arial"/>
              </a:rPr>
              <a:t>球隊情境試用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333875" y="3495675"/>
            <a:ext cx="2802992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880" dirty="0">
                <a:solidFill>
                  <a:srgbClr val="1D2934"/>
                </a:solidFill>
                <a:latin typeface="Arial"/>
                <a:ea typeface="Microsoft JhengHei"/>
                <a:cs typeface="Arial"/>
              </a:rPr>
              <a:t>觀察能否讀懂差距與提醒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333875" y="3829050"/>
            <a:ext cx="3056077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880" dirty="0">
                <a:solidFill>
                  <a:srgbClr val="1D2934"/>
                </a:solidFill>
                <a:latin typeface="Arial"/>
                <a:ea typeface="Microsoft JhengHei"/>
                <a:cs typeface="Arial"/>
              </a:rPr>
              <a:t>記錄誤操作與名單核對問題</a:t>
            </a:r>
          </a:p>
        </p:txBody>
      </p:sp>
      <p:sp>
        <p:nvSpPr>
          <p:cNvPr id="17" name="Ellipse 17"/>
          <p:cNvSpPr/>
          <p:nvPr/>
        </p:nvSpPr>
        <p:spPr>
          <a:xfrm>
            <a:off x="9753600" y="2314575"/>
            <a:ext cx="190500" cy="190500"/>
          </a:xfrm>
          <a:prstGeom prst="ellipse">
            <a:avLst/>
          </a:prstGeom>
          <a:solidFill>
            <a:srgbClr val="B54836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068056" y="1736725"/>
            <a:ext cx="9875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800" b="1" dirty="0">
                <a:solidFill>
                  <a:srgbClr val="B54836"/>
                </a:solidFill>
                <a:latin typeface="Arial"/>
                <a:ea typeface="Microsoft JhengHei"/>
                <a:cs typeface="Arial"/>
              </a:rPr>
              <a:t>持續更新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065770" y="2835275"/>
            <a:ext cx="214312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2250" b="1" dirty="0">
                <a:solidFill>
                  <a:srgbClr val="18344A"/>
                </a:solidFill>
                <a:latin typeface="Arial"/>
                <a:ea typeface="Microsoft JhengHei"/>
                <a:cs typeface="Arial"/>
              </a:rPr>
              <a:t>資料與模型驗證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067675" y="3495675"/>
            <a:ext cx="3056077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880" dirty="0">
                <a:solidFill>
                  <a:srgbClr val="1D2934"/>
                </a:solidFill>
                <a:latin typeface="Arial"/>
                <a:ea typeface="Microsoft JhengHei"/>
                <a:cs typeface="Arial"/>
              </a:rPr>
              <a:t>更新出賽、守位與負荷資料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067675" y="3829050"/>
            <a:ext cx="2296820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880" dirty="0">
                <a:solidFill>
                  <a:srgbClr val="1D2934"/>
                </a:solidFill>
                <a:latin typeface="Arial"/>
                <a:ea typeface="Microsoft JhengHei"/>
                <a:cs typeface="Arial"/>
              </a:rPr>
              <a:t>依時間切分重跑回測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09600" y="4819650"/>
            <a:ext cx="10972800" cy="1038225"/>
          </a:xfrm>
          <a:prstGeom prst="roundRect">
            <a:avLst>
              <a:gd name="adj" fmla="val 11009"/>
            </a:avLst>
          </a:prstGeom>
          <a:solidFill>
            <a:srgbClr val="ECE5D9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828294" y="4949825"/>
            <a:ext cx="1069848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950" b="1" dirty="0">
                <a:solidFill>
                  <a:srgbClr val="18344A"/>
                </a:solidFill>
                <a:latin typeface="Arial"/>
                <a:ea typeface="Microsoft JhengHei"/>
                <a:cs typeface="Arial"/>
              </a:rPr>
              <a:t>預期成效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28294" y="5330825"/>
            <a:ext cx="7895082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950" dirty="0">
                <a:solidFill>
                  <a:srgbClr val="1D2934"/>
                </a:solidFill>
                <a:latin typeface="Arial"/>
                <a:ea typeface="Microsoft JhengHei"/>
                <a:cs typeface="Arial"/>
              </a:rPr>
              <a:t>減少重複整理名單與數據，讓使用者能說清楚「為什麼考慮換人」。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01980" y="5981700"/>
            <a:ext cx="62750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58616B"/>
                </a:solidFill>
                <a:latin typeface="Arial"/>
                <a:ea typeface="Microsoft JhengHei"/>
                <a:cs typeface="Arial"/>
              </a:rPr>
              <a:t>尚未完成球隊實地驗證；不將模型差距解讀為已證實的實際勝率提升。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593598" y="266700"/>
            <a:ext cx="7283076" cy="1028700"/>
            <a:chOff x="593598" y="266700"/>
            <a:chExt cx="7283076" cy="1028700"/>
          </a:xfrm>
        </p:grpSpPr>
        <p:sp>
          <p:nvSpPr>
            <p:cNvPr id="2" name="TextBox 2"/>
            <p:cNvSpPr txBox="1"/>
            <p:nvPr/>
          </p:nvSpPr>
          <p:spPr>
            <a:xfrm>
              <a:off x="601980" y="266700"/>
              <a:ext cx="30642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Arial"/>
                  <a:ea typeface="Microsoft JhengHei"/>
                  <a:cs typeface="Arial"/>
                </a:rPr>
                <a:t>04　成果與開發規劃｜實際 Demo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558800"/>
              <a:ext cx="728307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150" b="1" dirty="0">
                  <a:solidFill>
                    <a:srgbClr val="18344A"/>
                  </a:solidFill>
                  <a:latin typeface="Arial"/>
                  <a:ea typeface="Microsoft JhengHei"/>
                  <a:cs typeface="Arial"/>
                </a:rPr>
                <a:t>網站 Demo：從同一天，走過三種功能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57300"/>
              <a:ext cx="857250" cy="38100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grpSp>
        <p:nvGrpSpPr>
          <p:cNvPr id="11" name="page-footer"/>
          <p:cNvGrpSpPr/>
          <p:nvPr/>
        </p:nvGrpSpPr>
        <p:grpSpPr>
          <a:xfrm>
            <a:off x="609600" y="6038850"/>
            <a:ext cx="10979658" cy="670433"/>
            <a:chOff x="609600" y="6038850"/>
            <a:chExt cx="10979658" cy="670433"/>
          </a:xfrm>
        </p:grpSpPr>
        <p:sp>
          <p:nvSpPr>
            <p:cNvPr id="6" name="TextBox 6"/>
            <p:cNvSpPr txBox="1"/>
            <p:nvPr/>
          </p:nvSpPr>
          <p:spPr>
            <a:xfrm>
              <a:off x="11373378" y="6445250"/>
              <a:ext cx="2158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350" dirty="0">
                  <a:solidFill>
                    <a:srgbClr val="58616B"/>
                  </a:solidFill>
                  <a:latin typeface="Arial"/>
                  <a:ea typeface="Arial"/>
                  <a:cs typeface="Arial"/>
                </a:rPr>
                <a:t>32</a:t>
              </a:r>
            </a:p>
          </p:txBody>
        </p:sp>
        <p:grpSp>
          <p:nvGrpSpPr>
            <p:cNvPr id="9" name="Group 9"/>
            <p:cNvGrpSpPr/>
            <p:nvPr/>
          </p:nvGrpSpPr>
          <p:grpSpPr>
            <a:xfrm>
              <a:off x="609600" y="6038850"/>
              <a:ext cx="2857500" cy="425831"/>
              <a:chOff x="609600" y="6038850"/>
              <a:chExt cx="2857500" cy="425831"/>
            </a:xfrm>
          </p:grpSpPr>
          <p:sp>
            <p:nvSpPr>
              <p:cNvPr id="7" name="Rectangle 7">
                <a:hlinkClick r:id="rId5"/>
              </p:cNvPr>
              <p:cNvSpPr/>
              <p:nvPr/>
            </p:nvSpPr>
            <p:spPr>
              <a:xfrm>
                <a:off x="609600" y="6038850"/>
                <a:ext cx="2857500" cy="419100"/>
              </a:xfrm>
              <a:prstGeom prst="roundRect">
                <a:avLst>
                  <a:gd name="adj" fmla="val 27273"/>
                </a:avLst>
              </a:prstGeom>
              <a:solidFill>
                <a:srgbClr val="18344A"/>
              </a:solidFill>
              <a:ln>
                <a:noFill/>
              </a:ln>
            </p:spPr>
          </p:sp>
          <p:sp>
            <p:nvSpPr>
              <p:cNvPr id="8" name="TextBox 8">
                <a:hlinkClick r:id="rId5"/>
              </p:cNvPr>
              <p:cNvSpPr txBox="1"/>
              <p:nvPr/>
            </p:nvSpPr>
            <p:spPr>
              <a:xfrm>
                <a:off x="982759" y="6083300"/>
                <a:ext cx="2111182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950" b="1" dirty="0">
                    <a:solidFill>
                      <a:srgbClr val="FFFFFF"/>
                    </a:solidFill>
                    <a:latin typeface="Arial"/>
                    <a:ea typeface="Microsoft JhengHei"/>
                    <a:cs typeface="Arial"/>
                  </a:rPr>
                  <a:t>開啟網站 Demo ↗</a:t>
                </a:r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3801237" y="6080125"/>
              <a:ext cx="409593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720" dirty="0">
                  <a:solidFill>
                    <a:srgbClr val="58616B"/>
                  </a:solidFill>
                  <a:latin typeface="Arial"/>
                  <a:ea typeface="Microsoft JhengHei"/>
                  <a:cs typeface="Arial"/>
                </a:rPr>
                <a:t>2025 單日分析 → 樂天 → 查看當日打席</a:t>
              </a:r>
            </a:p>
          </p:txBody>
        </p:sp>
      </p:grpSp>
      <p:grpSp>
        <p:nvGrpSpPr>
          <p:cNvPr id="18" name="demo-path"/>
          <p:cNvGrpSpPr/>
          <p:nvPr/>
        </p:nvGrpSpPr>
        <p:grpSpPr>
          <a:xfrm>
            <a:off x="598170" y="1692275"/>
            <a:ext cx="10858090" cy="810451"/>
            <a:chOff x="598170" y="1692275"/>
            <a:chExt cx="10858090" cy="810451"/>
          </a:xfrm>
        </p:grpSpPr>
        <p:sp>
          <p:nvSpPr>
            <p:cNvPr id="12" name="TextBox 12"/>
            <p:cNvSpPr txBox="1"/>
            <p:nvPr/>
          </p:nvSpPr>
          <p:spPr>
            <a:xfrm>
              <a:off x="598170" y="1692275"/>
              <a:ext cx="15373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>
                  <a:solidFill>
                    <a:srgbClr val="18344A"/>
                  </a:solidFill>
                  <a:latin typeface="Arial"/>
                  <a:ea typeface="Microsoft JhengHei"/>
                  <a:cs typeface="Arial"/>
                </a:rPr>
                <a:t>一般使用者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0837" y="2165350"/>
              <a:ext cx="269318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72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  <a:t>選投打與局勢 → 評估候選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331970" y="1692275"/>
              <a:ext cx="6286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>
                  <a:solidFill>
                    <a:srgbClr val="18344A"/>
                  </a:solidFill>
                  <a:latin typeface="Arial"/>
                  <a:ea typeface="Microsoft JhengHei"/>
                  <a:cs typeface="Arial"/>
                </a:rPr>
                <a:t>球隊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34637" y="2165350"/>
              <a:ext cx="292473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72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  <a:t>套用九棒 → 勾選板凳／牛棚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065770" y="1692275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>
                  <a:solidFill>
                    <a:srgbClr val="18344A"/>
                  </a:solidFill>
                  <a:latin typeface="Arial"/>
                  <a:ea typeface="Microsoft JhengHei"/>
                  <a:cs typeface="Arial"/>
                </a:rPr>
                <a:t>單日分析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068437" y="2165350"/>
              <a:ext cx="3387823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720" dirty="0">
                  <a:solidFill>
                    <a:srgbClr val="1D2934"/>
                  </a:solidFill>
                  <a:latin typeface="Arial"/>
                  <a:ea typeface="Microsoft JhengHei"/>
                  <a:cs typeface="Arial"/>
                </a:rPr>
                <a:t>選球隊 → 賽前負荷與逐打席回放</a:t>
              </a:r>
            </a:p>
          </p:txBody>
        </p:sp>
      </p:grpSp>
      <p:grpSp>
        <p:nvGrpSpPr>
          <p:cNvPr id="20" name="demo-website"/>
          <p:cNvGrpSpPr/>
          <p:nvPr/>
        </p:nvGrpSpPr>
        <p:grpSpPr>
          <a:xfrm>
            <a:off x="1167057" y="2609850"/>
            <a:ext cx="9857885" cy="3276600"/>
            <a:chOff x="1167057" y="2609850"/>
            <a:chExt cx="9857885" cy="3276600"/>
          </a:xfrm>
        </p:grpSpPr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67057" y="2609850"/>
              <a:ext cx="9857885" cy="32766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1980" y="266700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B54836"/>
                </a:solidFill>
                <a:latin typeface="Arial"/>
                <a:ea typeface="Microsoft JhengHei"/>
                <a:cs typeface="Arial"/>
              </a:rPr>
              <a:t>研究依據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3598" y="558800"/>
            <a:ext cx="6816852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3150" b="1" dirty="0">
                <a:solidFill>
                  <a:srgbClr val="18344A"/>
                </a:solidFill>
                <a:latin typeface="Arial"/>
                <a:ea typeface="Microsoft JhengHei"/>
                <a:cs typeface="Arial"/>
              </a:rPr>
              <a:t>方法有研究基礎，應用範圍清楚界定</a:t>
            </a:r>
          </a:p>
        </p:txBody>
      </p:sp>
      <p:sp>
        <p:nvSpPr>
          <p:cNvPr id="4" name="Rectangle 4"/>
          <p:cNvSpPr/>
          <p:nvPr/>
        </p:nvSpPr>
        <p:spPr>
          <a:xfrm>
            <a:off x="609600" y="1257300"/>
            <a:ext cx="857250" cy="38100"/>
          </a:xfrm>
          <a:prstGeom prst="rect">
            <a:avLst/>
          </a:prstGeom>
          <a:solidFill>
            <a:srgbClr val="B54836"/>
          </a:solidFill>
          <a:ln>
            <a:noFill/>
          </a:ln>
        </p:spPr>
      </p:sp>
      <p:sp>
        <p:nvSpPr>
          <p:cNvPr id="5" name="TextBox 5"/>
          <p:cNvSpPr/>
          <p:nvPr/>
        </p:nvSpPr>
        <p:spPr>
          <a:xfrm>
            <a:off x="11373422" y="6445282"/>
            <a:ext cx="2158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0075" y="1571625"/>
            <a:ext cx="6016201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880" b="1" dirty="0">
                <a:solidFill>
                  <a:srgbClr val="18344A"/>
                </a:solidFill>
                <a:latin typeface="Arial"/>
                <a:ea typeface="Microsoft JhengHei"/>
                <a:cs typeface="Arial"/>
              </a:rPr>
              <a:t>Efron &amp; Morris（1975）｜JASA 70(350), 311–319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01599" y="1952625"/>
            <a:ext cx="5834137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80" dirty="0">
                <a:solidFill>
                  <a:srgbClr val="58616B"/>
                </a:solidFill>
                <a:latin typeface="Arial"/>
                <a:ea typeface="Arial"/>
                <a:cs typeface="Arial"/>
              </a:rPr>
              <a:t>Data Analysis Using Stein’s Estimator and its Generalizations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0456" y="2289175"/>
            <a:ext cx="559155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800" dirty="0">
                <a:solidFill>
                  <a:srgbClr val="1D2934"/>
                </a:solidFill>
                <a:latin typeface="Arial"/>
                <a:ea typeface="Microsoft JhengHei"/>
                <a:cs typeface="Arial"/>
              </a:rPr>
              <a:t>小樣本估計向整體收縮，作為部分池化的研究依據。</a:t>
            </a:r>
          </a:p>
        </p:txBody>
      </p:sp>
      <p:sp>
        <p:nvSpPr>
          <p:cNvPr id="9" name="TextBox 9">
            <a:hlinkClick r:id="rId2"/>
          </p:cNvPr>
          <p:cNvSpPr txBox="1"/>
          <p:nvPr/>
        </p:nvSpPr>
        <p:spPr>
          <a:xfrm>
            <a:off x="602361" y="2679700"/>
            <a:ext cx="363110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B54836"/>
                </a:solidFill>
                <a:latin typeface="Arial"/>
                <a:ea typeface="Arial"/>
                <a:cs typeface="Arial"/>
              </a:rPr>
              <a:t>DOI: 10.1080/01621459.1975.10479864</a:t>
            </a:r>
          </a:p>
        </p:txBody>
      </p:sp>
      <p:sp>
        <p:nvSpPr>
          <p:cNvPr id="10" name="Line 10"/>
          <p:cNvSpPr/>
          <p:nvPr/>
        </p:nvSpPr>
        <p:spPr>
          <a:xfrm>
            <a:off x="609600" y="30099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D7D1C5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600075" y="3038475"/>
            <a:ext cx="6135604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880" b="1" dirty="0">
                <a:solidFill>
                  <a:srgbClr val="18344A"/>
                </a:solidFill>
                <a:latin typeface="Arial"/>
                <a:ea typeface="Microsoft JhengHei"/>
                <a:cs typeface="Arial"/>
              </a:rPr>
              <a:t>Efron（1979）｜The Annals of Statistics 7(1), 1–26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01599" y="3419475"/>
            <a:ext cx="4754380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80" dirty="0">
                <a:solidFill>
                  <a:srgbClr val="58616B"/>
                </a:solidFill>
                <a:latin typeface="Arial"/>
                <a:ea typeface="Arial"/>
                <a:cs typeface="Arial"/>
              </a:rPr>
              <a:t>Bootstrap Methods: Another Look at the Jackknife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00456" y="3756025"/>
            <a:ext cx="583387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800" dirty="0">
                <a:solidFill>
                  <a:srgbClr val="1D2934"/>
                </a:solidFill>
                <a:latin typeface="Arial"/>
                <a:ea typeface="Microsoft JhengHei"/>
                <a:cs typeface="Arial"/>
              </a:rPr>
              <a:t>以重抽樣描述比較的不確定性，不視為候選勝出機率。</a:t>
            </a:r>
          </a:p>
        </p:txBody>
      </p:sp>
      <p:sp>
        <p:nvSpPr>
          <p:cNvPr id="14" name="TextBox 14">
            <a:hlinkClick r:id="rId3"/>
          </p:cNvPr>
          <p:cNvSpPr txBox="1"/>
          <p:nvPr/>
        </p:nvSpPr>
        <p:spPr>
          <a:xfrm>
            <a:off x="602361" y="4146550"/>
            <a:ext cx="270324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B54836"/>
                </a:solidFill>
                <a:latin typeface="Arial"/>
                <a:ea typeface="Arial"/>
                <a:cs typeface="Arial"/>
              </a:rPr>
              <a:t>DOI: 10.1214/aos/1176344552</a:t>
            </a:r>
          </a:p>
        </p:txBody>
      </p:sp>
      <p:sp>
        <p:nvSpPr>
          <p:cNvPr id="15" name="Line 15"/>
          <p:cNvSpPr/>
          <p:nvPr/>
        </p:nvSpPr>
        <p:spPr>
          <a:xfrm>
            <a:off x="609600" y="44767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D7D1C5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600075" y="4505325"/>
            <a:ext cx="6627774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880" b="1" dirty="0">
                <a:solidFill>
                  <a:srgbClr val="18344A"/>
                </a:solidFill>
                <a:latin typeface="Arial"/>
                <a:ea typeface="Microsoft JhengHei"/>
                <a:cs typeface="Arial"/>
              </a:rPr>
              <a:t>Gneiting &amp; Raftery（2007）｜JASA 102(477), 359–378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01599" y="4886325"/>
            <a:ext cx="5360881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80" dirty="0">
                <a:solidFill>
                  <a:srgbClr val="58616B"/>
                </a:solidFill>
                <a:latin typeface="Arial"/>
                <a:ea typeface="Arial"/>
                <a:cs typeface="Arial"/>
              </a:rPr>
              <a:t>Strictly Proper Scoring Rules, Prediction, and Estimation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00456" y="5222875"/>
            <a:ext cx="654783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800" dirty="0">
                <a:solidFill>
                  <a:srgbClr val="1D2934"/>
                </a:solidFill>
                <a:latin typeface="Arial"/>
                <a:ea typeface="Microsoft JhengHei"/>
                <a:cs typeface="Arial"/>
              </a:rPr>
              <a:t>以 log loss 評估逐球機率預測，並區分模型分數與真實結果。</a:t>
            </a:r>
          </a:p>
        </p:txBody>
      </p:sp>
      <p:sp>
        <p:nvSpPr>
          <p:cNvPr id="19" name="TextBox 19">
            <a:hlinkClick r:id="rId4"/>
          </p:cNvPr>
          <p:cNvSpPr txBox="1"/>
          <p:nvPr/>
        </p:nvSpPr>
        <p:spPr>
          <a:xfrm>
            <a:off x="602361" y="5613400"/>
            <a:ext cx="329420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B54836"/>
                </a:solidFill>
                <a:latin typeface="Arial"/>
                <a:ea typeface="Arial"/>
                <a:cs typeface="Arial"/>
              </a:rPr>
              <a:t>DOI: 10.1198/016214506000001437</a:t>
            </a:r>
          </a:p>
        </p:txBody>
      </p:sp>
      <p:sp>
        <p:nvSpPr>
          <p:cNvPr id="20" name="Line 20"/>
          <p:cNvSpPr/>
          <p:nvPr/>
        </p:nvSpPr>
        <p:spPr>
          <a:xfrm>
            <a:off x="609600" y="59436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D7D1C5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601980" y="5981700"/>
            <a:ext cx="70827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1500" dirty="0">
                <a:solidFill>
                  <a:srgbClr val="58616B"/>
                </a:solidFill>
                <a:latin typeface="Arial"/>
                <a:ea typeface="Microsoft JhengHei"/>
                <a:cs typeface="Arial"/>
              </a:rPr>
              <a:t>文獻作為方法依據；網站以逐球預測與換人比較為主，完整打席機率尚未驗證。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losing"/>
          <p:cNvGrpSpPr/>
          <p:nvPr/>
        </p:nvGrpSpPr>
        <p:grpSpPr>
          <a:xfrm>
            <a:off x="590550" y="1390650"/>
            <a:ext cx="6553200" cy="2114550"/>
            <a:chOff x="590550" y="1390650"/>
            <a:chExt cx="6553200" cy="2114550"/>
          </a:xfrm>
        </p:grpSpPr>
        <p:sp>
          <p:nvSpPr>
            <p:cNvPr id="2" name="TextBox 2"/>
            <p:cNvSpPr txBox="1"/>
            <p:nvPr/>
          </p:nvSpPr>
          <p:spPr>
            <a:xfrm>
              <a:off x="590550" y="1390650"/>
              <a:ext cx="6553200" cy="2114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7950"/>
                </a:lnSpc>
              </a:pPr>
              <a:r>
                <a:rPr lang="zh-TW" sz="5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換人之前，</a:t>
              </a:r>
              <a:br>
                <a:rPr lang="zh-TW" sz="5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TW" sz="5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先看清差距與代價。</a:t>
              </a:r>
            </a:p>
          </p:txBody>
        </p:sp>
      </p:grpSp>
      <p:grpSp>
        <p:nvGrpSpPr>
          <p:cNvPr id="6" name="team"/>
          <p:cNvGrpSpPr/>
          <p:nvPr/>
        </p:nvGrpSpPr>
        <p:grpSpPr>
          <a:xfrm>
            <a:off x="592836" y="3822668"/>
            <a:ext cx="1781419" cy="1134650"/>
            <a:chOff x="592836" y="3822668"/>
            <a:chExt cx="1781419" cy="1134650"/>
          </a:xfrm>
        </p:grpSpPr>
        <p:sp>
          <p:nvSpPr>
            <p:cNvPr id="4" name="TextBox 4"/>
            <p:cNvSpPr/>
            <p:nvPr/>
          </p:nvSpPr>
          <p:spPr>
            <a:xfrm>
              <a:off x="592836" y="3822668"/>
              <a:ext cx="178141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200" b="1" dirty="0">
                  <a:solidFill>
                    <a:srgbClr val="B54836"/>
                  </a:solidFill>
                  <a:latin typeface="Arial"/>
                  <a:ea typeface="Microsoft JhengHei"/>
                  <a:cs typeface="Arial"/>
                </a:rPr>
                <a:t>一球兩面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8932" y="4546600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蘇櫟、陳信安</a:t>
              </a:r>
            </a:p>
          </p:txBody>
        </p:sp>
      </p:grpSp>
      <p:grpSp>
        <p:nvGrpSpPr>
          <p:cNvPr id="8" name="baseball"/>
          <p:cNvGrpSpPr/>
          <p:nvPr/>
        </p:nvGrpSpPr>
        <p:grpSpPr>
          <a:xfrm>
            <a:off x="8858250" y="3524250"/>
            <a:ext cx="2762250" cy="2762250"/>
            <a:chOff x="8858250" y="3524250"/>
            <a:chExt cx="2762250" cy="2762250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58250" y="3524250"/>
              <a:ext cx="2762250" cy="2762250"/>
            </a:xfrm>
            <a:prstGeom prst="rect">
              <a:avLst/>
            </a:prstGeom>
          </p:spPr>
        </p:pic>
      </p:grpSp>
      <p:grpSp>
        <p:nvGrpSpPr>
          <p:cNvPr id="11" name="links"/>
          <p:cNvGrpSpPr/>
          <p:nvPr/>
        </p:nvGrpSpPr>
        <p:grpSpPr>
          <a:xfrm>
            <a:off x="597408" y="5384800"/>
            <a:ext cx="5732953" cy="469392"/>
            <a:chOff x="597408" y="5384800"/>
            <a:chExt cx="5732953" cy="469392"/>
          </a:xfrm>
        </p:grpSpPr>
        <p:sp>
          <p:nvSpPr>
            <p:cNvPr id="9" name="TextBox 9">
              <a:hlinkClick r:id="rId3"/>
            </p:cNvPr>
            <p:cNvSpPr txBox="1"/>
            <p:nvPr/>
          </p:nvSpPr>
          <p:spPr>
            <a:xfrm>
              <a:off x="597408" y="5384800"/>
              <a:ext cx="224565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開啟網站 Demo</a:t>
              </a:r>
            </a:p>
          </p:txBody>
        </p:sp>
        <p:sp>
          <p:nvSpPr>
            <p:cNvPr id="10" name="TextBox 10">
              <a:hlinkClick r:id="rId4"/>
            </p:cNvPr>
            <p:cNvSpPr txBox="1"/>
            <p:nvPr/>
          </p:nvSpPr>
          <p:spPr>
            <a:xfrm>
              <a:off x="4178808" y="5384800"/>
              <a:ext cx="215155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sz="2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GitHub 原始碼</a:t>
              </a:r>
            </a:p>
          </p:txBody>
        </p:sp>
      </p:grpSp>
      <p:sp>
        <p:nvSpPr>
          <p:cNvPr id="12" name="TextBox 12"/>
          <p:cNvSpPr/>
          <p:nvPr/>
        </p:nvSpPr>
        <p:spPr>
          <a:xfrm>
            <a:off x="11375612" y="6445282"/>
            <a:ext cx="21364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seball_competition_polished19">
  <a:themeElements>
    <a:clrScheme name="baseball_competition_polished19">
      <a:dk1>
        <a:srgbClr val="1D2934"/>
      </a:dk1>
      <a:lt1>
        <a:srgbClr val="F7F5EF"/>
      </a:lt1>
      <a:dk2>
        <a:srgbClr val="1F497D"/>
      </a:dk2>
      <a:lt2>
        <a:srgbClr val="ECE5D9"/>
      </a:lt2>
      <a:accent1>
        <a:srgbClr val="18344A"/>
      </a:accent1>
      <a:accent2>
        <a:srgbClr val="B54836"/>
      </a:accent2>
      <a:accent3>
        <a:srgbClr val="9A6118"/>
      </a:accent3>
      <a:accent4>
        <a:srgbClr val="18344A"/>
      </a:accent4>
      <a:accent5>
        <a:srgbClr val="58616B"/>
      </a:accent5>
      <a:accent6>
        <a:srgbClr val="D7D1C5"/>
      </a:accent6>
      <a:hlink>
        <a:srgbClr val="B54836"/>
      </a:hlink>
      <a:folHlink>
        <a:srgbClr val="9A6118"/>
      </a:folHlink>
    </a:clrScheme>
    <a:fontScheme name="baseball_competition_polished19">
      <a:majorFont>
        <a:latin typeface="Arial"/>
        <a:ea typeface="Microsoft JhengHei"/>
        <a:cs typeface="Arial"/>
        <a:font script="Jpan" typeface="Microsoft JhengHei"/>
        <a:font script="Hang" typeface="Microsoft JhengHei"/>
        <a:font script="Hans" typeface="Microsoft JhengHei"/>
        <a:font script="Hant" typeface="Microsoft Jheng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JhengHei"/>
        <a:cs typeface="Arial"/>
        <a:font script="Jpan" typeface="Microsoft JhengHei"/>
        <a:font script="Hang" typeface="Microsoft JhengHei"/>
        <a:font script="Hans" typeface="Microsoft JhengHei"/>
        <a:font script="Hant" typeface="Microsoft Jheng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aseball_competition_polished1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1</ns0:TotalTime>
  <ns0:Words>0</ns0:Words>
  <ns0:Application>Microsoft Office PowerPoint</ns0:Application>
  <ns0:PresentationFormat>On-screen Show (16:9)</ns0:PresentationFormat>
  <ns0:Paragraphs>0</ns0:Paragraphs>
  <ns0:Slides>34</ns0:Slides>
  <ns0:Notes>0</ns0:Notes>
  <ns0:HiddenSlides>0</ns0:HiddenSlides>
  <ns0:MMClips>0</ns0:MMClips>
  <ns0:ScaleCrop>false</ns0:ScaleCrop>
  <ns0:HeadingPairs>
    <ns1:vector size="4" baseType="variant">
      <ns1:variant>
        <ns1:lpstr>Theme</ns1:lpstr>
      </ns1:variant>
      <ns1:variant>
        <ns1:i4>1</ns1:i4>
      </ns1:variant>
      <ns1:variant>
        <ns1:lpstr>Slide Titles</ns1:lpstr>
      </ns1:variant>
      <ns1:variant>
        <ns1:i4>0</ns1:i4>
      </ns1:variant>
    </ns1:vector>
  </ns0:HeadingPairs>
  <ns0:TitlesOfParts>
    <ns1:vector size="1" baseType="lpstr">
      <ns1:lpstr>Office Theme</ns1:lpstr>
    </ns1:vector>
  </ns0:TitlesOfParts>
  <ns0:Manager/>
  <ns0:Company/>
  <ns0:LinksUpToDate>false</ns0:LinksUpToDate>
  <ns0:SharedDoc>false</ns0:SharedDoc>
  <ns0:HyperlinkBase/>
  <ns0:HyperlinksChanged>false</ns0:HyperlinksChanged>
  <ns0:AppVersion>14.0000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zh-TW</dc:language>
  <cp:lastModifiedBy/>
  <cp:revision>1</cp:revision>
  <dcterms:created xsi:type="dcterms:W3CDTF">2026-10-15T13:31:12Z</dcterms:created>
  <dcterms:modified xsi:type="dcterms:W3CDTF">2026-10-15T13:31:12Z</dcterms:modified>
  <cp:category/>
  <cp:contentStatus/>
</cp:coreProperties>
</file>