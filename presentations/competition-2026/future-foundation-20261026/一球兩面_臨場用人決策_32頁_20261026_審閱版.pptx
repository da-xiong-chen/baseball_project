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4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altLang="en-US" smtClean="0">
                <a:latin typeface="Times New Roman"/>
                <a:ea typeface="標楷體"/>
                <a:cs typeface="Times New Roman"/>
              </a:rPr>
              <a:t>2026/10/23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altLang="en-US" smtClean="0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TW" altLang="en-US" sz="1200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altLang="en-US" smtClean="0">
                <a:latin typeface="Times New Roman"/>
                <a:ea typeface="標楷體"/>
                <a:cs typeface="Times New Roman"/>
              </a:rPr>
              <a:t>2026/10/23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TW" altLang="en-US" sz="1200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TW" altLang="en-US" sz="1200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altLang="en-US" smtClean="0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TW" altLang="en-US" sz="3300" kern="1200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TW" altLang="en-US" sz="2100" kern="1200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TW" altLang="en-US" sz="1950" kern="1200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850" kern="1200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TW" altLang="en-US" sz="1700" kern="1200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TW" altLang="en-US" sz="1600" kern="1200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450" kern="1200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300" kern="1200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200" kern="1200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050" kern="1200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lang="zh-TW" altLang="en-US" sz="2100" kern="1200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lang="zh-TW" altLang="en-US" sz="1950" kern="1200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lang="zh-TW" altLang="en-US" sz="1850" kern="1200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lang="zh-TW" altLang="en-US" sz="1700" kern="1200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lang="zh-TW" altLang="en-US" sz="1600" kern="1200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lang="zh-TW" altLang="en-US" sz="1450" kern="1200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lang="zh-TW" altLang="en-US" sz="1300" kern="1200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lang="zh-TW" altLang="en-US" sz="1200" kern="1200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lang="zh-TW" altLang="en-US" sz="1050" kern="1200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_2b516f7044689ea7.png"/><Relationship Id="rId5" Type="http://schemas.openxmlformats.org/officeDocument/2006/relationships/image" Target="../media/image_98f7606aacd44e6f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_2b516f7044689ea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_2b516f7044689ea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bb32fc1a7bc810ea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84f4d0f46d65ed2e.png"/><Relationship Id="rId3" Type="http://schemas.openxmlformats.org/officeDocument/2006/relationships/image" Target="../media/image_b47605d954d4d870.png"/><Relationship Id="rId4" Type="http://schemas.openxmlformats.org/officeDocument/2006/relationships/image" Target="../media/image6.png"/><Relationship Id="rId5" Type="http://schemas.openxmlformats.org/officeDocument/2006/relationships/image" Target="../media/image_342f8f748633baa3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4a95b7fbff185e3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_d3533253bf245e35.png"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_ea244da7add09269.jp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_154cde719aa5e014.jpg" 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image" Target="../media/image13.png" /><Relationship Id="rId6" Type="http://schemas.openxmlformats.org/officeDocument/2006/relationships/image" Target="../media/image_933a3c2a268d89c8.jp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image" Target="../media/image16.png" 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cea99e12fb21ed1e.png"/><Relationship Id="rId3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i.org/10.1080/01621459.1975.10479864" TargetMode="External"/><Relationship Id="rId3" Type="http://schemas.openxmlformats.org/officeDocument/2006/relationships/hyperlink" Target="https://doi.org/10.1214/aos/1176344552" TargetMode="External"/><Relationship Id="rId4" Type="http://schemas.openxmlformats.org/officeDocument/2006/relationships/hyperlink" Target="https://doi.org/10.1198/016214506000001437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6477000" cy="1021271"/>
            <a:chOff x="592836" y="488918"/>
            <a:chExt cx="6477000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64770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一球兩面 | 臨場用人決策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32"/>
            <a:ext cx="5561838" cy="1542478"/>
            <a:chOff x="590550" y="1930432"/>
            <a:chExt cx="5561838" cy="1542478"/>
          </a:xfrm>
        </p:grpSpPr>
        <p:sp>
          <p:nvSpPr>
            <p:cNvPr id="5" name="TextBox 5"/>
            <p:cNvSpPr/>
            <p:nvPr/>
          </p:nvSpPr>
          <p:spPr>
            <a:xfrm>
              <a:off x="590550" y="1930432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臨場用人決策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35508" y="30035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632" rIns="0" bIns="0" anchor="t" anchorCtr="0">
              <a:noAutofit/>
            </a:bodyPr>
            <a:lstStyle/>
            <a:p>
              <a:pPr algn="l"/>
              <a:r>
                <a:rPr lang="zh-TW" sz="200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333500"/>
            <a:ext cx="3905250" cy="3905250"/>
            <a:chOff x="8001000" y="1333500"/>
            <a:chExt cx="3905250" cy="3905250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333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768"/>
            <a:ext cx="5364480" cy="1191768"/>
            <a:chOff x="592836" y="3860768"/>
            <a:chExt cx="5364480" cy="1191768"/>
          </a:xfrm>
        </p:grpSpPr>
        <p:sp>
          <p:nvSpPr>
            <p:cNvPr id="10" name="TextBox 10"/>
            <p:cNvSpPr/>
            <p:nvPr/>
          </p:nvSpPr>
          <p:spPr>
            <a:xfrm>
              <a:off x="592836" y="3860768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4641818"/>
              <a:ext cx="52387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隊名：一球兩面｜蘇櫟、陳信安</a:t>
              </a:r>
            </a:p>
          </p:txBody>
        </p:sp>
      </p:grpSp>
      <p:sp>
        <p:nvSpPr>
          <p:cNvPr id="16" name="TextBox 16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grpSp>
        <p:nvGrpSpPr>
          <p:cNvPr id="14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8" name="TextBox 11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原始碼 https://github.com/Da-Xiong-Chen/baseball_project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id="{C7EAC4C2-788F-7E06-BC8C-3F825E4C7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82" y="5188172"/>
            <a:ext cx="1355720" cy="1355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臨場用人決策：問題、方法與應用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grpSp>
        <p:nvGrpSpPr>
          <p:cNvPr id="11" name="chapter-0"/>
          <p:cNvGrpSpPr/>
          <p:nvPr/>
        </p:nvGrpSpPr>
        <p:grpSpPr>
          <a:xfrm>
            <a:off x="594741" y="1711357"/>
            <a:ext cx="4002976" cy="1848612"/>
            <a:chOff x="594741" y="1711357"/>
            <a:chExt cx="4002976" cy="1848612"/>
          </a:xfrm>
        </p:grpSpPr>
        <p:sp>
          <p:nvSpPr>
            <p:cNvPr id="7" name="TextBox 7"/>
            <p:cNvSpPr/>
            <p:nvPr/>
          </p:nvSpPr>
          <p:spPr>
            <a:xfrm>
              <a:off x="594741" y="1711357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13967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問題與定位</a:t>
              </a:r>
            </a:p>
          </p:txBody>
        </p:sp>
        <p:sp>
          <p:nvSpPr>
            <p:cNvPr id="9" name="TextBox 9"/>
            <p:cNvSpPr/>
            <p:nvPr/>
          </p:nvSpPr>
          <p:spPr>
            <a:xfrm>
              <a:off x="1361122" y="2311432"/>
              <a:ext cx="3236595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關鍵打席的人選比較，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與兩種模式的名單需求。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400937" y="3222593"/>
              <a:ext cx="30276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棒球問題、使用者與產品概念</a:t>
              </a:r>
            </a:p>
          </p:txBody>
        </p:sp>
      </p:grpSp>
      <p:grpSp>
        <p:nvGrpSpPr>
          <p:cNvPr id="16" name="chapter-1"/>
          <p:cNvGrpSpPr/>
          <p:nvPr/>
        </p:nvGrpSpPr>
        <p:grpSpPr>
          <a:xfrm>
            <a:off x="6233541" y="1711357"/>
            <a:ext cx="4290631" cy="1848612"/>
            <a:chOff x="6233541" y="1711357"/>
            <a:chExt cx="4290631" cy="1848612"/>
          </a:xfrm>
        </p:grpSpPr>
        <p:sp>
          <p:nvSpPr>
            <p:cNvPr id="12" name="TextBox 12"/>
            <p:cNvSpPr/>
            <p:nvPr/>
          </p:nvSpPr>
          <p:spPr>
            <a:xfrm>
              <a:off x="6233541" y="1711357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02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70355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資料與方法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6999922" y="2311432"/>
              <a:ext cx="3524250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公開資料、對決能力估計，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與時間順序驗證的結果。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7039737" y="3222593"/>
              <a:ext cx="21014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使用資料與分析方法</a:t>
              </a:r>
            </a:p>
          </p:txBody>
        </p:sp>
      </p:grpSp>
      <p:grpSp>
        <p:nvGrpSpPr>
          <p:cNvPr id="21" name="chapter-2"/>
          <p:cNvGrpSpPr/>
          <p:nvPr/>
        </p:nvGrpSpPr>
        <p:grpSpPr>
          <a:xfrm>
            <a:off x="594741" y="3892582"/>
            <a:ext cx="4338256" cy="1848612"/>
            <a:chOff x="594741" y="3892582"/>
            <a:chExt cx="4338256" cy="1848612"/>
          </a:xfrm>
        </p:grpSpPr>
        <p:sp>
          <p:nvSpPr>
            <p:cNvPr id="17" name="TextBox 17"/>
            <p:cNvSpPr/>
            <p:nvPr/>
          </p:nvSpPr>
          <p:spPr>
            <a:xfrm>
              <a:off x="594741" y="3892582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03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1396746" y="39433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網站實作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1399413" y="4492657"/>
              <a:ext cx="353358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代打、換投與名單配置，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以及單日決策回放與展示。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1363028" y="5403818"/>
              <a:ext cx="22774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功能流程與操作展示</a:t>
              </a:r>
            </a:p>
          </p:txBody>
        </p:sp>
      </p:grpSp>
      <p:grpSp>
        <p:nvGrpSpPr>
          <p:cNvPr id="26" name="chapter-3"/>
          <p:cNvGrpSpPr/>
          <p:nvPr/>
        </p:nvGrpSpPr>
        <p:grpSpPr>
          <a:xfrm>
            <a:off x="6233541" y="3892582"/>
            <a:ext cx="4002976" cy="1848612"/>
            <a:chOff x="6233541" y="3892582"/>
            <a:chExt cx="4002976" cy="1848612"/>
          </a:xfrm>
        </p:grpSpPr>
        <p:sp>
          <p:nvSpPr>
            <p:cNvPr id="22" name="TextBox 22"/>
            <p:cNvSpPr/>
            <p:nvPr/>
          </p:nvSpPr>
          <p:spPr>
            <a:xfrm>
              <a:off x="6233541" y="3892582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04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7035546" y="39433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後續規劃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6999922" y="4492657"/>
              <a:ext cx="3236595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跨年資料與近況權重，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以及多局牛棚接續問題。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7001828" y="5403818"/>
              <a:ext cx="22774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具體開發與驗收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問題與定位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5808726" cy="1063657"/>
            <a:chOff x="592836" y="250793"/>
            <a:chExt cx="580872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問題與定位｜情境示例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pSp>
        <p:nvGrpSpPr>
          <p:cNvPr id="16" name="base-context"/>
          <p:cNvGrpSpPr/>
          <p:nvPr/>
        </p:nvGrpSpPr>
        <p:grpSpPr>
          <a:xfrm>
            <a:off x="2525649" y="3971925"/>
            <a:ext cx="2282952" cy="2109311"/>
            <a:chOff x="2525649" y="3971925"/>
            <a:chExt cx="2282952" cy="2109311"/>
          </a:xfrm>
        </p:grpSpPr>
        <p:sp>
          <p:nvSpPr>
            <p:cNvPr id="9" name="Polygon 9"/>
            <p:cNvSpPr/>
            <p:nvPr/>
          </p:nvSpPr>
          <p:spPr>
            <a:xfrm>
              <a:off x="3009900" y="4057650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657225" y="0"/>
                  </a:moveTo>
                  <a:lnTo>
                    <a:pt x="1314450" y="657225"/>
                  </a:lnTo>
                  <a:lnTo>
                    <a:pt x="657225" y="1314450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81400" y="39719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23862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81400" y="5286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92417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4667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TextBox 15"/>
            <p:cNvSpPr/>
            <p:nvPr/>
          </p:nvSpPr>
          <p:spPr>
            <a:xfrm>
              <a:off x="2525649" y="5670518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20" name="選擇 A"/>
          <p:cNvGrpSpPr/>
          <p:nvPr/>
        </p:nvGrpSpPr>
        <p:grpSpPr>
          <a:xfrm>
            <a:off x="7415022" y="2047875"/>
            <a:ext cx="2744057" cy="1421607"/>
            <a:chOff x="7415022" y="2047875"/>
            <a:chExt cx="2744057" cy="1421607"/>
          </a:xfrm>
        </p:grpSpPr>
        <p:sp>
          <p:nvSpPr>
            <p:cNvPr id="17" name="TextBox 17"/>
            <p:cNvSpPr/>
            <p:nvPr/>
          </p:nvSpPr>
          <p:spPr>
            <a:xfrm>
              <a:off x="7419975" y="2047875"/>
              <a:ext cx="84086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選擇 A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7415022" y="245745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林佳緯續打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7419213" y="3073432"/>
              <a:ext cx="27398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24" name="選擇 B"/>
          <p:cNvGrpSpPr/>
          <p:nvPr/>
        </p:nvGrpSpPr>
        <p:grpSpPr>
          <a:xfrm>
            <a:off x="7415022" y="4200525"/>
            <a:ext cx="3015996" cy="1421607"/>
            <a:chOff x="7415022" y="4200525"/>
            <a:chExt cx="3015996" cy="1421607"/>
          </a:xfrm>
        </p:grpSpPr>
        <p:sp>
          <p:nvSpPr>
            <p:cNvPr id="21" name="TextBox 21"/>
            <p:cNvSpPr/>
            <p:nvPr/>
          </p:nvSpPr>
          <p:spPr>
            <a:xfrm>
              <a:off x="7419975" y="4200525"/>
              <a:ext cx="82296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選擇 B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7415022" y="461010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胡金龍代打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7419213" y="5226082"/>
              <a:ext cx="301180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右打，承接指定打擊棒次</a:t>
              </a:r>
            </a:p>
          </p:txBody>
        </p:sp>
      </p:grpSp>
      <p:sp>
        <p:nvSpPr>
          <p:cNvPr id="25" name="TextBox 9"/>
          <p:cNvSpPr txBox="1"/>
          <p:nvPr/>
        </p:nvSpPr>
        <p:spPr>
          <a:xfrm>
            <a:off x="596646" y="1997075"/>
            <a:ext cx="358825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5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8 局上｜統一 1：2 富邦</a:t>
            </a:r>
          </a:p>
        </p:txBody>
      </p:sp>
      <p:sp>
        <p:nvSpPr>
          <p:cNvPr id="26" name="TextBox 10"/>
          <p:cNvSpPr txBox="1"/>
          <p:nvPr/>
        </p:nvSpPr>
        <p:spPr>
          <a:xfrm>
            <a:off x="598932" y="2651125"/>
            <a:ext cx="20002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面對左投魔力藍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一般與球隊皆可評估，差別在人選限制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pic>
        <p:nvPicPr>
          <p:cNvPr id="1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04511"/>
            <a:ext cx="5417345" cy="1820228"/>
          </a:xfrm>
          <a:prstGeom prst="rect">
            <a:avLst/>
          </a:prstGeom>
        </p:spPr>
      </p:pic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71461"/>
            <a:ext cx="5417345" cy="182022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084058" y="186055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一般使用者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86344" y="2406650"/>
            <a:ext cx="1857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自由選人評估。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86344" y="2835275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亦可自訂九棒配置。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84058" y="407035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球隊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86344" y="4616450"/>
            <a:ext cx="21198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依場上配置評估。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6344" y="5035550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候選排除場上球員。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6725" y="54673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當日可用名單人工確認。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應用創新：固定局勢下的人選比較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grpSp>
        <p:nvGrpSpPr>
          <p:cNvPr id="13" name="application-0"/>
          <p:cNvGrpSpPr/>
          <p:nvPr/>
        </p:nvGrpSpPr>
        <p:grpSpPr>
          <a:xfrm>
            <a:off x="597789" y="1787557"/>
            <a:ext cx="9992487" cy="1062800"/>
            <a:chOff x="597789" y="1787557"/>
            <a:chExt cx="9992487" cy="1062800"/>
          </a:xfrm>
        </p:grpSpPr>
        <p:sp>
          <p:nvSpPr>
            <p:cNvPr id="7" name="TextBox 7"/>
            <p:cNvSpPr/>
            <p:nvPr/>
          </p:nvSpPr>
          <p:spPr>
            <a:xfrm>
              <a:off x="597789" y="1787557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情境比較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2590038" y="182565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固定對手、局數與壘況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629275" y="194310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19800" y="18764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/>
            <p:nvPr/>
          </p:nvSpPr>
          <p:spPr>
            <a:xfrm>
              <a:off x="6589776" y="1800225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同一局勢下比較候選差距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2590038" y="245430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結合能力、球路與左右投打。</a:t>
              </a:r>
            </a:p>
          </p:txBody>
        </p:sp>
      </p:grpSp>
      <p:grpSp>
        <p:nvGrpSpPr>
          <p:cNvPr id="20" name="application-1"/>
          <p:cNvGrpSpPr/>
          <p:nvPr/>
        </p:nvGrpSpPr>
        <p:grpSpPr>
          <a:xfrm>
            <a:off x="597789" y="3206782"/>
            <a:ext cx="9992487" cy="1062800"/>
            <a:chOff x="597789" y="3206782"/>
            <a:chExt cx="9992487" cy="1062800"/>
          </a:xfrm>
        </p:grpSpPr>
        <p:sp>
          <p:nvSpPr>
            <p:cNvPr id="14" name="TextBox 14"/>
            <p:cNvSpPr/>
            <p:nvPr/>
          </p:nvSpPr>
          <p:spPr>
            <a:xfrm>
              <a:off x="597789" y="3206782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名單連動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2590038" y="324488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連動板凳、牛棚與守位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29275" y="336232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19800" y="3295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6589776" y="3219450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人選比較連動名單配置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2590038" y="387353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檢查今日可用人選與接守安排。</a:t>
              </a:r>
            </a:p>
          </p:txBody>
        </p:sp>
      </p:grpSp>
      <p:grpSp>
        <p:nvGrpSpPr>
          <p:cNvPr id="27" name="application-2"/>
          <p:cNvGrpSpPr/>
          <p:nvPr/>
        </p:nvGrpSpPr>
        <p:grpSpPr>
          <a:xfrm>
            <a:off x="597789" y="4626007"/>
            <a:ext cx="10061638" cy="1062800"/>
            <a:chOff x="597789" y="4626007"/>
            <a:chExt cx="10061638" cy="1062800"/>
          </a:xfrm>
        </p:grpSpPr>
        <p:sp>
          <p:nvSpPr>
            <p:cNvPr id="21" name="TextBox 21"/>
            <p:cNvSpPr/>
            <p:nvPr/>
          </p:nvSpPr>
          <p:spPr>
            <a:xfrm>
              <a:off x="597789" y="4626007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決策回放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2590038" y="4664107"/>
              <a:ext cx="165220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分階段揭示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629275" y="47815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19800" y="4714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/>
            <p:nvPr/>
          </p:nvSpPr>
          <p:spPr>
            <a:xfrm>
              <a:off x="6551295" y="4638675"/>
              <a:ext cx="410813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481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決策資訊與賽後結果分開呈現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2551748" y="5292757"/>
              <a:ext cx="409860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1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區分模型事前判讀與實際結果。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5808726" cy="1063657"/>
            <a:chOff x="592836" y="250793"/>
            <a:chExt cx="580872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問題與定位｜功能概覽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對決評估、配置與單日回放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pic>
        <p:nvPicPr>
          <p:cNvPr id="17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46" y="1619250"/>
            <a:ext cx="7427232" cy="24955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98551" y="4400550"/>
            <a:ext cx="2076399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代打／換投評估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075" y="4914900"/>
            <a:ext cx="204373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固定對手與局勢，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53149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比較現任與最多四位候選。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70451" y="440055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我方場上名單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71975" y="4914900"/>
            <a:ext cx="204373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球場圖設定守位，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1975" y="53149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棒次表安排九棒與投手。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42351" y="4400550"/>
            <a:ext cx="1195984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單日分析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43875" y="4914900"/>
            <a:ext cx="17906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依指定比賽日，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43875" y="53149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呈現賽前負荷與打席回放。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837" y="6070600"/>
            <a:ext cx="511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單日分析使用固定歷史情境，不受目前名單影響。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資料與方法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三類資料，各自支援不同判斷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pSp>
        <p:nvGrpSpPr>
          <p:cNvPr id="20" name="p09-source-0"/>
          <p:cNvGrpSpPr/>
          <p:nvPr/>
        </p:nvGrpSpPr>
        <p:grpSpPr>
          <a:xfrm>
            <a:off x="596646" y="1857375"/>
            <a:ext cx="3546729" cy="3190875"/>
            <a:chOff x="596646" y="1857375"/>
            <a:chExt cx="3546729" cy="3190875"/>
          </a:xfrm>
        </p:grpSpPr>
        <p:sp>
          <p:nvSpPr>
            <p:cNvPr id="11" name="Rectangle 11"/>
            <p:cNvSpPr/>
            <p:nvPr/>
          </p:nvSpPr>
          <p:spPr>
            <a:xfrm>
              <a:off x="647700" y="1952625"/>
              <a:ext cx="666750" cy="476250"/>
            </a:xfrm>
            <a:prstGeom prst="rect">
              <a:avLst/>
            </a:prstGeom>
            <a:noFill/>
            <a:ln w="9525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47700" y="1857375"/>
              <a:ext cx="666750" cy="1905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47700" y="2190750"/>
              <a:ext cx="666750" cy="371475"/>
            </a:xfrm>
            <a:custGeom>
              <a:avLst/>
              <a:gdLst/>
              <a:ahLst/>
              <a:cxnLst/>
              <a:rect l="l" t="t" r="r" b="b"/>
              <a:pathLst>
                <a:path w="666750" h="371475">
                  <a:moveTo>
                    <a:pt x="0" y="0"/>
                  </a:moveTo>
                  <a:cubicBezTo>
                    <a:pt x="142875" y="133350"/>
                    <a:pt x="523875" y="133350"/>
                    <a:pt x="666750" y="0"/>
                  </a:cubicBezTo>
                  <a:moveTo>
                    <a:pt x="0" y="238125"/>
                  </a:moveTo>
                  <a:cubicBezTo>
                    <a:pt x="142875" y="371475"/>
                    <a:pt x="523875" y="371475"/>
                    <a:pt x="666750" y="238125"/>
                  </a:cubicBez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596646" y="2635282"/>
              <a:ext cx="1658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2024–2025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597408" y="3136868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逐球與出賽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600837" y="3613118"/>
              <a:ext cx="18832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17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Rebas · ODC-By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5996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對決估計與投球負荷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601218" y="4673632"/>
              <a:ext cx="14249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背號僅供搜尋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133850" y="2047875"/>
              <a:ext cx="9525" cy="3000375"/>
            </a:xfrm>
            <a:custGeom>
              <a:avLst/>
              <a:gdLst/>
              <a:ahLst/>
              <a:cxnLst/>
              <a:rect l="l" t="t" r="r" b="b"/>
              <a:pathLst>
                <a:path w="9525"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</p:grpSp>
      <p:grpSp>
        <p:nvGrpSpPr>
          <p:cNvPr id="32" name="p09-source-1"/>
          <p:cNvGrpSpPr/>
          <p:nvPr/>
        </p:nvGrpSpPr>
        <p:grpSpPr>
          <a:xfrm>
            <a:off x="4330446" y="1857375"/>
            <a:ext cx="3546729" cy="3190875"/>
            <a:chOff x="4330446" y="1857375"/>
            <a:chExt cx="3546729" cy="3190875"/>
          </a:xfrm>
        </p:grpSpPr>
        <p:sp>
          <p:nvSpPr>
            <p:cNvPr id="21" name="Polygon 21"/>
            <p:cNvSpPr/>
            <p:nvPr/>
          </p:nvSpPr>
          <p:spPr>
            <a:xfrm>
              <a:off x="4381500" y="1857375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5" y="0"/>
                  </a:moveTo>
                  <a:lnTo>
                    <a:pt x="666750" y="333375"/>
                  </a:lnTo>
                  <a:lnTo>
                    <a:pt x="333375" y="666750"/>
                  </a:lnTo>
                  <a:lnTo>
                    <a:pt x="0" y="333375"/>
                  </a:lnTo>
                  <a:close/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676775" y="185737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972050" y="215265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676775" y="244792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381500" y="215265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6" name="TextBox 26"/>
            <p:cNvSpPr/>
            <p:nvPr/>
          </p:nvSpPr>
          <p:spPr>
            <a:xfrm>
              <a:off x="4330446" y="2635282"/>
              <a:ext cx="1658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2023–2024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4331208" y="3136868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歷年守位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4334637" y="3613118"/>
              <a:ext cx="13134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17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ldkrsi · MIT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43334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歷史接守能力推估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4335018" y="4673632"/>
              <a:ext cx="30678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歷史回放不使用2025整季守位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867650" y="2047875"/>
              <a:ext cx="9525" cy="3000375"/>
            </a:xfrm>
            <a:custGeom>
              <a:avLst/>
              <a:gdLst/>
              <a:ahLst/>
              <a:cxnLst/>
              <a:rect l="l" t="t" r="r" b="b"/>
              <a:pathLst>
                <a:path w="9525"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</p:grpSp>
      <p:grpSp>
        <p:nvGrpSpPr>
          <p:cNvPr id="40" name="p09-source-2"/>
          <p:cNvGrpSpPr/>
          <p:nvPr/>
        </p:nvGrpSpPr>
        <p:grpSpPr>
          <a:xfrm>
            <a:off x="8064246" y="1885950"/>
            <a:ext cx="2602992" cy="3110389"/>
            <a:chOff x="8064246" y="1885950"/>
            <a:chExt cx="2602992" cy="3110389"/>
          </a:xfrm>
        </p:grpSpPr>
        <p:sp>
          <p:nvSpPr>
            <p:cNvPr id="33" name="Ellipse 33"/>
            <p:cNvSpPr/>
            <p:nvPr/>
          </p:nvSpPr>
          <p:spPr>
            <a:xfrm>
              <a:off x="8334375" y="1885950"/>
              <a:ext cx="228600" cy="228600"/>
            </a:xfrm>
            <a:prstGeom prst="ellipse">
              <a:avLst/>
            </a:prstGeom>
            <a:noFill/>
            <a:ln w="28575">
              <a:solidFill>
                <a:srgbClr val="18344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2124075"/>
              <a:ext cx="514350" cy="381000"/>
            </a:xfrm>
            <a:custGeom>
              <a:avLst/>
              <a:gdLst/>
              <a:ahLst/>
              <a:cxnLst/>
              <a:rect l="l" t="t" r="r" b="b"/>
              <a:pathLst>
                <a:path w="514350" h="381000">
                  <a:moveTo>
                    <a:pt x="0" y="381000"/>
                  </a:moveTo>
                  <a:lnTo>
                    <a:pt x="0" y="228600"/>
                  </a:lnTo>
                  <a:cubicBezTo>
                    <a:pt x="0" y="0"/>
                    <a:pt x="514350" y="0"/>
                    <a:pt x="514350" y="228600"/>
                  </a:cubicBezTo>
                  <a:lnTo>
                    <a:pt x="514350" y="3810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8064246" y="2635282"/>
              <a:ext cx="751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65008" y="3136868"/>
              <a:ext cx="2414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球員與整季守位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8068437" y="3613118"/>
              <a:ext cx="181337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CPBL 官方資料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80672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球員辨識與季後情境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8068818" y="4673632"/>
              <a:ext cx="2598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整季紀錄不等於當日守位</a:t>
              </a:r>
            </a:p>
          </p:txBody>
        </p:sp>
      </p:grpSp>
      <p:grpSp>
        <p:nvGrpSpPr>
          <p:cNvPr id="43" name="p09-cutoff"/>
          <p:cNvGrpSpPr/>
          <p:nvPr/>
        </p:nvGrpSpPr>
        <p:grpSpPr>
          <a:xfrm>
            <a:off x="600075" y="5562600"/>
            <a:ext cx="10982325" cy="520065"/>
            <a:chOff x="600075" y="5562600"/>
            <a:chExt cx="10982325" cy="520065"/>
          </a:xfrm>
        </p:grpSpPr>
        <p:sp>
          <p:nvSpPr>
            <p:cNvPr id="41" name="Line 41"/>
            <p:cNvSpPr/>
            <p:nvPr/>
          </p:nvSpPr>
          <p:spPr>
            <a:xfrm>
              <a:off x="609600" y="5562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42" name="TextBox 42"/>
            <p:cNvSpPr/>
            <p:nvPr/>
          </p:nvSpPr>
          <p:spPr>
            <a:xfrm>
              <a:off x="600075" y="5715000"/>
              <a:ext cx="804138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歷史能力、名單與負荷只用當日前資料；逐球模型另列訓練截止日。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資料與方法｜估計方法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兩模型整合，換算人選差距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grpSp>
        <p:nvGrpSpPr>
          <p:cNvPr id="42" name="p10-pipeline"/>
          <p:cNvGrpSpPr/>
          <p:nvPr/>
        </p:nvGrpSpPr>
        <p:grpSpPr>
          <a:xfrm>
            <a:off x="598551" y="2038350"/>
            <a:ext cx="10589895" cy="3448050"/>
            <a:chOff x="598551" y="2038350"/>
            <a:chExt cx="10589895" cy="3448050"/>
          </a:xfrm>
        </p:grpSpPr>
        <p:sp>
          <p:nvSpPr>
            <p:cNvPr id="11" name="Rectangle 11"/>
            <p:cNvSpPr/>
            <p:nvPr/>
          </p:nvSpPr>
          <p:spPr>
            <a:xfrm>
              <a:off x="762000" y="3009900"/>
              <a:ext cx="666750" cy="476250"/>
            </a:xfrm>
            <a:prstGeom prst="rect">
              <a:avLst/>
            </a:prstGeom>
            <a:noFill/>
            <a:ln w="9525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62000" y="2914650"/>
              <a:ext cx="666750" cy="1905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62000" y="3248025"/>
              <a:ext cx="666750" cy="371475"/>
            </a:xfrm>
            <a:custGeom>
              <a:avLst/>
              <a:gdLst/>
              <a:ahLst/>
              <a:cxnLst/>
              <a:rect l="l" t="t" r="r" b="b"/>
              <a:pathLst>
                <a:path w="666750" h="371475">
                  <a:moveTo>
                    <a:pt x="0" y="0"/>
                  </a:moveTo>
                  <a:cubicBezTo>
                    <a:pt x="142875" y="133350"/>
                    <a:pt x="523875" y="133350"/>
                    <a:pt x="666750" y="0"/>
                  </a:cubicBezTo>
                  <a:moveTo>
                    <a:pt x="0" y="238125"/>
                  </a:moveTo>
                  <a:cubicBezTo>
                    <a:pt x="142875" y="371475"/>
                    <a:pt x="523875" y="371475"/>
                    <a:pt x="666750" y="238125"/>
                  </a:cubicBez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598551" y="3752850"/>
              <a:ext cx="157248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逐球與出賽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00837" y="4203668"/>
              <a:ext cx="17301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固定對手與候選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333750" y="2038350"/>
              <a:ext cx="3714750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9525">
              <a:solidFill>
                <a:srgbClr val="D7D1C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33750" y="4029075"/>
              <a:ext cx="3714750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9525">
              <a:solidFill>
                <a:srgbClr val="D7D1C5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190750" y="364807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857500" y="3590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952750" y="2762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952750" y="2762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952750" y="4762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3560445" y="2178082"/>
              <a:ext cx="1756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部分池化 [1]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3562350" y="2657475"/>
              <a:ext cx="26931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能力、左右投打與球路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3563112" y="3022568"/>
              <a:ext cx="24640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小樣本向整體基準收縮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3560445" y="4168807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梯度提升樹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3562350" y="4638675"/>
              <a:ext cx="242573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依歷史球路模擬對決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3563112" y="5003768"/>
              <a:ext cx="270872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預測逐球結果並換算得分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048500" y="276225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048500" y="47625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762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543800" y="37528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886700" y="3695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20050" y="3228975"/>
              <a:ext cx="1047750" cy="104775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8222837" y="3429000"/>
              <a:ext cx="6422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各半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87868" y="3851243"/>
              <a:ext cx="9120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zh-TW" sz="14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50% / 50%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067800" y="37528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553575" y="3695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39" name="TextBox 39"/>
            <p:cNvSpPr/>
            <p:nvPr/>
          </p:nvSpPr>
          <p:spPr>
            <a:xfrm>
              <a:off x="9799320" y="295913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得分估計</a:t>
              </a:r>
            </a:p>
          </p:txBody>
        </p:sp>
        <p:sp>
          <p:nvSpPr>
            <p:cNvPr id="40" name="TextBox 40"/>
            <p:cNvSpPr/>
            <p:nvPr/>
          </p:nvSpPr>
          <p:spPr>
            <a:xfrm>
              <a:off x="9801225" y="3467100"/>
              <a:ext cx="135607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依局勢換算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9798558" y="3879818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人選差距</a:t>
              </a:r>
            </a:p>
          </p:txBody>
        </p:sp>
      </p:grpSp>
      <p:sp>
        <p:nvSpPr>
          <p:cNvPr id="7" name="TextBox 7"/>
          <p:cNvSpPr/>
          <p:nvPr/>
        </p:nvSpPr>
        <p:spPr>
          <a:xfrm>
            <a:off x="600456" y="5918168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以截止日前資料估計，整合權重各半。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474202" cy="1063657"/>
            <a:chOff x="592836" y="250793"/>
            <a:chExt cx="8474202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三項指標，分開判讀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pSp>
        <p:nvGrpSpPr>
          <p:cNvPr id="12" name="score-0"/>
          <p:cNvGrpSpPr/>
          <p:nvPr/>
        </p:nvGrpSpPr>
        <p:grpSpPr>
          <a:xfrm>
            <a:off x="598170" y="2025682"/>
            <a:ext cx="3107055" cy="2953417"/>
            <a:chOff x="598170" y="2025682"/>
            <a:chExt cx="3107055" cy="2953417"/>
          </a:xfrm>
        </p:grpSpPr>
        <p:sp>
          <p:nvSpPr>
            <p:cNvPr id="7" name="TextBox 7"/>
            <p:cNvSpPr/>
            <p:nvPr/>
          </p:nvSpPr>
          <p:spPr>
            <a:xfrm>
              <a:off x="598170" y="202568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比較基準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2167128" y="2686050"/>
              <a:ext cx="39014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362200" y="3543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1" name="TextBox 11"/>
            <p:cNvSpPr/>
            <p:nvPr/>
          </p:nvSpPr>
          <p:spPr>
            <a:xfrm>
              <a:off x="599694" y="42386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現任固定為 0。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對手與局勢保持一致。</a:t>
              </a:r>
            </a:p>
          </p:txBody>
        </p:sp>
      </p:grpSp>
      <p:grpSp>
        <p:nvGrpSpPr>
          <p:cNvPr id="18" name="score-1"/>
          <p:cNvGrpSpPr/>
          <p:nvPr/>
        </p:nvGrpSpPr>
        <p:grpSpPr>
          <a:xfrm>
            <a:off x="4295775" y="2025682"/>
            <a:ext cx="3404235" cy="3355943"/>
            <a:chOff x="4295775" y="2025682"/>
            <a:chExt cx="3404235" cy="3355943"/>
          </a:xfrm>
        </p:grpSpPr>
        <p:sp>
          <p:nvSpPr>
            <p:cNvPr id="13" name="TextBox 13"/>
            <p:cNvSpPr/>
            <p:nvPr/>
          </p:nvSpPr>
          <p:spPr>
            <a:xfrm>
              <a:off x="4331970" y="2025682"/>
              <a:ext cx="32385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勝率換算差距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5260276" y="2686050"/>
              <a:ext cx="1671447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237A53"/>
                  </a:solidFill>
                  <a:latin typeface="Times New Roman"/>
                  <a:ea typeface="Times New Roman"/>
                  <a:cs typeface="Times New Roman"/>
                </a:rPr>
                <a:t>+1.06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244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0" y="3629025"/>
              <a:ext cx="1047750" cy="190500"/>
            </a:xfrm>
            <a:prstGeom prst="roundRect">
              <a:avLst>
                <a:gd name="adj" fmla="val 15000"/>
              </a:avLst>
            </a:prstGeom>
            <a:solidFill>
              <a:srgbClr val="237A53"/>
            </a:solidFill>
            <a:ln>
              <a:noFill/>
            </a:ln>
          </p:spPr>
        </p:sp>
        <p:sp>
          <p:nvSpPr>
            <p:cNvPr id="17" name="TextBox 17"/>
            <p:cNvSpPr/>
            <p:nvPr/>
          </p:nvSpPr>
          <p:spPr>
            <a:xfrm>
              <a:off x="4295775" y="4238625"/>
              <a:ext cx="3404235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719" tIns="-12700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正值表示估計較有利。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百分點，非實測勝率增幅。</a:t>
              </a:r>
            </a:p>
          </p:txBody>
        </p:sp>
      </p:grpSp>
      <p:grpSp>
        <p:nvGrpSpPr>
          <p:cNvPr id="25" name="score-2"/>
          <p:cNvGrpSpPr/>
          <p:nvPr/>
        </p:nvGrpSpPr>
        <p:grpSpPr>
          <a:xfrm>
            <a:off x="8065770" y="2025682"/>
            <a:ext cx="3240786" cy="2953417"/>
            <a:chOff x="8065770" y="2025682"/>
            <a:chExt cx="3240786" cy="2953417"/>
          </a:xfrm>
        </p:grpSpPr>
        <p:sp>
          <p:nvSpPr>
            <p:cNvPr id="19" name="TextBox 19"/>
            <p:cNvSpPr/>
            <p:nvPr/>
          </p:nvSpPr>
          <p:spPr>
            <a:xfrm>
              <a:off x="8065770" y="202568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價值分數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8930640" y="2686050"/>
              <a:ext cx="1798320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1–100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582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74395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93470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80672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同角色的相對百分位。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分數不是成功率。</a:t>
              </a:r>
            </a:p>
          </p:txBody>
        </p:sp>
      </p:grpSp>
      <p:grpSp>
        <p:nvGrpSpPr>
          <p:cNvPr id="48" name="p11-error-limit"/>
          <p:cNvGrpSpPr/>
          <p:nvPr/>
        </p:nvGrpSpPr>
        <p:grpSpPr>
          <a:xfrm>
            <a:off x="600075" y="5857875"/>
            <a:ext cx="10982325" cy="510540"/>
            <a:chOff x="600075" y="5857875"/>
            <a:chExt cx="10982325" cy="510540"/>
          </a:xfrm>
        </p:grpSpPr>
        <p:sp>
          <p:nvSpPr>
            <p:cNvPr id="46" name="Line 46"/>
            <p:cNvSpPr/>
            <p:nvPr/>
          </p:nvSpPr>
          <p:spPr>
            <a:xfrm>
              <a:off x="609600" y="5857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47" name="TextBox 47"/>
            <p:cNvSpPr/>
            <p:nvPr/>
          </p:nvSpPr>
          <p:spPr>
            <a:xfrm>
              <a:off x="600075" y="6000750"/>
              <a:ext cx="643690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誤差細線僅涵蓋階層式近似誤差，不是完整集成區間。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資料與方法｜驗證範圍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模型驗證：預測誤差與數值一致性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pSp>
        <p:nvGrpSpPr>
          <p:cNvPr id="26" name="p12-effect"/>
          <p:cNvGrpSpPr/>
          <p:nvPr/>
        </p:nvGrpSpPr>
        <p:grpSpPr>
          <a:xfrm>
            <a:off x="590550" y="1835182"/>
            <a:ext cx="6648450" cy="4129850"/>
            <a:chOff x="590550" y="1835182"/>
            <a:chExt cx="6648450" cy="4129850"/>
          </a:xfrm>
        </p:grpSpPr>
        <p:sp>
          <p:nvSpPr>
            <p:cNvPr id="11" name="TextBox 11"/>
            <p:cNvSpPr/>
            <p:nvPr/>
          </p:nvSpPr>
          <p:spPr>
            <a:xfrm>
              <a:off x="599313" y="1835182"/>
              <a:ext cx="21036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9–10 月回溯檢查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590550" y="2286000"/>
              <a:ext cx="1974342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0.19%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2847594" y="2597182"/>
              <a:ext cx="1961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相對聯盟基準的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2847594" y="2978182"/>
              <a:ext cx="28575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得分預測誤差減少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00125" y="4191000"/>
              <a:ext cx="6238875" cy="9525"/>
            </a:xfrm>
            <a:custGeom>
              <a:avLst/>
              <a:gdLst/>
              <a:ahLst/>
              <a:cxnLst/>
              <a:rect l="l" t="t" r="r" b="b"/>
              <a:pathLst>
                <a:path w="6238875" h="9525">
                  <a:moveTo>
                    <a:pt x="0" y="0"/>
                  </a:moveTo>
                  <a:lnTo>
                    <a:pt x="62388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79718" y="3705225"/>
              <a:ext cx="9525" cy="885825"/>
            </a:xfrm>
            <a:custGeom>
              <a:avLst/>
              <a:gdLst/>
              <a:ahLst/>
              <a:cxnLst/>
              <a:rect l="l" t="t" r="r" b="b"/>
              <a:pathLst>
                <a:path w="9525" h="885825">
                  <a:moveTo>
                    <a:pt x="0" y="0"/>
                  </a:moveTo>
                  <a:lnTo>
                    <a:pt x="0" y="885825"/>
                  </a:lnTo>
                </a:path>
              </a:pathLst>
            </a:custGeom>
            <a:noFill/>
            <a:ln w="19050">
              <a:solidFill>
                <a:srgbClr val="58616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148773" y="4057650"/>
              <a:ext cx="4180125" cy="9525"/>
            </a:xfrm>
            <a:custGeom>
              <a:avLst/>
              <a:gdLst/>
              <a:ahLst/>
              <a:cxnLst/>
              <a:rect l="l" t="t" r="r" b="b"/>
              <a:pathLst>
                <a:path w="4180125" h="9525">
                  <a:moveTo>
                    <a:pt x="0" y="0"/>
                  </a:moveTo>
                  <a:lnTo>
                    <a:pt x="4180125" y="0"/>
                  </a:lnTo>
                </a:path>
              </a:pathLst>
            </a:custGeom>
            <a:noFill/>
            <a:ln w="57150">
              <a:solidFill>
                <a:srgbClr val="B5483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148773" y="39147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328898" y="39147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115960" y="39814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9525">
              <a:solidFill>
                <a:srgbClr val="B54836"/>
              </a:solidFill>
            </a:ln>
          </p:spPr>
        </p:sp>
        <p:sp>
          <p:nvSpPr>
            <p:cNvPr id="21" name="TextBox 21"/>
            <p:cNvSpPr/>
            <p:nvPr/>
          </p:nvSpPr>
          <p:spPr>
            <a:xfrm>
              <a:off x="1718481" y="4638675"/>
              <a:ext cx="8605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−0.16%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3003328" y="4638675"/>
              <a:ext cx="15278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5898607" y="4638675"/>
              <a:ext cx="8605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+0.55%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597408" y="5089493"/>
              <a:ext cx="2840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95% 改善區間跨零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599313" y="5568982"/>
              <a:ext cx="519245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區間跨零，尚不能確認優於聯盟基準。</a:t>
              </a:r>
            </a:p>
          </p:txBody>
        </p:sp>
      </p:grpSp>
      <p:grpSp>
        <p:nvGrpSpPr>
          <p:cNvPr id="36" name="p12-evidence"/>
          <p:cNvGrpSpPr/>
          <p:nvPr/>
        </p:nvGrpSpPr>
        <p:grpSpPr>
          <a:xfrm>
            <a:off x="7991475" y="1809750"/>
            <a:ext cx="3590925" cy="4143375"/>
            <a:chOff x="7991475" y="1809750"/>
            <a:chExt cx="3590925" cy="4143375"/>
          </a:xfrm>
        </p:grpSpPr>
        <p:sp>
          <p:nvSpPr>
            <p:cNvPr id="27" name="Line 27"/>
            <p:cNvSpPr/>
            <p:nvPr/>
          </p:nvSpPr>
          <p:spPr>
            <a:xfrm>
              <a:off x="7991475" y="1809750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28" name="TextBox 28"/>
            <p:cNvSpPr/>
            <p:nvPr/>
          </p:nvSpPr>
          <p:spPr>
            <a:xfrm>
              <a:off x="8238363" y="1882807"/>
              <a:ext cx="14572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數值一致性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8229981" y="2336768"/>
              <a:ext cx="1476851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452 組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8239506" y="2993993"/>
              <a:ext cx="22749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226 打席 × 攻守雙向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8239506" y="3355943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通過網站與重算對照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248650" y="3952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8238363" y="4121182"/>
              <a:ext cx="116986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實務效益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8236839" y="4540282"/>
              <a:ext cx="200358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待現場試用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8239506" y="5022818"/>
              <a:ext cx="23350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數值一致 ≠ 調度有效</a:t>
              </a:r>
            </a:p>
          </p:txBody>
        </p:sp>
      </p:grpSp>
      <p:grpSp>
        <p:nvGrpSpPr>
          <p:cNvPr id="38" name="p12-detail"/>
          <p:cNvGrpSpPr/>
          <p:nvPr/>
        </p:nvGrpSpPr>
        <p:grpSpPr>
          <a:xfrm>
            <a:off x="601218" y="6169057"/>
            <a:ext cx="6176772" cy="322707"/>
            <a:chOff x="601218" y="6169057"/>
            <a:chExt cx="6176772" cy="322707"/>
          </a:xfrm>
        </p:grpSpPr>
        <p:sp>
          <p:nvSpPr>
            <p:cNvPr id="37" name="TextBox 37"/>
            <p:cNvSpPr/>
            <p:nvPr/>
          </p:nvSpPr>
          <p:spPr>
            <a:xfrm>
              <a:off x="601218" y="6169057"/>
              <a:ext cx="6176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5,396 打席／72 場；MSE：現行 0.225575、基準 0.225998。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資料與方法｜樣本分流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續投結果比較：只納入實際續投打席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pSp>
        <p:nvGrpSpPr>
          <p:cNvPr id="42" name="sample-flow"/>
          <p:cNvGrpSpPr/>
          <p:nvPr/>
        </p:nvGrpSpPr>
        <p:grpSpPr>
          <a:xfrm>
            <a:off x="609600" y="1866900"/>
            <a:ext cx="10098739" cy="3750501"/>
            <a:chOff x="609600" y="1866900"/>
            <a:chExt cx="10098739" cy="3750501"/>
          </a:xfrm>
        </p:grpSpPr>
        <p:sp>
          <p:nvSpPr>
            <p:cNvPr id="11" name="Rectangle 11"/>
            <p:cNvSpPr/>
            <p:nvPr/>
          </p:nvSpPr>
          <p:spPr>
            <a:xfrm>
              <a:off x="609600" y="2238375"/>
              <a:ext cx="2590800" cy="1666875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9813" y="2378075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可評估換投決策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1050" y="2705100"/>
              <a:ext cx="185699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6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11,868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0956" y="34893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依實際調度分流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200400" y="30480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638550" y="2476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638550" y="2476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000500" y="2419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3638550" y="4762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000500" y="4705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95750" y="1866900"/>
              <a:ext cx="2857500" cy="1428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95750" y="1866900"/>
              <a:ext cx="47625" cy="1428750"/>
            </a:xfrm>
            <a:prstGeom prst="rect">
              <a:avLst/>
            </a:prstGeom>
            <a:solidFill>
              <a:srgbClr val="24764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94251" y="19907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4286250" y="2371725"/>
              <a:ext cx="152628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650" b="1" dirty="0">
                  <a:solidFill>
                    <a:srgbClr val="24764D"/>
                  </a:solidFill>
                  <a:latin typeface="Times New Roman"/>
                  <a:ea typeface="Times New Roman"/>
                  <a:cs typeface="Times New Roman"/>
                </a:rPr>
                <a:t>9,686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95750" y="4105275"/>
              <a:ext cx="2857500" cy="1409700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95013" y="42259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實際換投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4287012" y="4546568"/>
              <a:ext cx="11887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2,182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96537" y="5146675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不列入右側結果比較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953250" y="25717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486650" y="2324100"/>
              <a:ext cx="9525" cy="1752600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486650" y="23241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10500" y="22669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764D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486650" y="40767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7810500" y="4019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764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5201" y="1895475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系統建議換投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77200" y="2305050"/>
              <a:ext cx="143027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3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1,912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87106" y="30226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實際仍續投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5201" y="365760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系統未建議換投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8077200" y="4067175"/>
              <a:ext cx="143027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3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7,769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87106" y="47847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實際仍續投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87487" y="5280025"/>
              <a:ext cx="26208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續投結果：單打席 RE24</a:t>
              </a:r>
            </a:p>
          </p:txBody>
        </p:sp>
      </p:grpSp>
      <p:grpSp>
        <p:nvGrpSpPr>
          <p:cNvPr id="45" name="sample-definition"/>
          <p:cNvGrpSpPr/>
          <p:nvPr/>
        </p:nvGrpSpPr>
        <p:grpSpPr>
          <a:xfrm>
            <a:off x="600456" y="5727700"/>
            <a:ext cx="7635907" cy="737394"/>
            <a:chOff x="600456" y="5727700"/>
            <a:chExt cx="7635907" cy="737394"/>
          </a:xfrm>
        </p:grpSpPr>
        <p:sp>
          <p:nvSpPr>
            <p:cNvPr id="43" name="TextBox 43"/>
            <p:cNvSpPr txBox="1"/>
            <p:nvPr/>
          </p:nvSpPr>
          <p:spPr>
            <a:xfrm>
              <a:off x="600456" y="5727700"/>
              <a:ext cx="678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2025 第 6 局起：11,962 次評估；94 次因無可用候選而未納入。</a:t>
              </a:r>
            </a:p>
          </p:txBody>
        </p:sp>
        <p:sp>
          <p:nvSpPr>
            <p:cNvPr id="44" name="TextBox 44"/>
            <p:cNvSpPr/>
            <p:nvPr/>
          </p:nvSpPr>
          <p:spPr>
            <a:xfrm>
              <a:off x="600837" y="6127718"/>
              <a:ext cx="76355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門檻：差距 ≥ 1 百分點；其中 5 筆打席中換人另列，9,681 筆比較 RE24。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資料與方法｜續投結果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實際續投時，提示組的進攻方 RE24 較高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pSp>
        <p:nvGrpSpPr>
          <p:cNvPr id="9" name="result-context"/>
          <p:cNvGrpSpPr/>
          <p:nvPr/>
        </p:nvGrpSpPr>
        <p:grpSpPr>
          <a:xfrm>
            <a:off x="598551" y="1743075"/>
            <a:ext cx="10002393" cy="816388"/>
            <a:chOff x="598551" y="1743075"/>
            <a:chExt cx="10002393" cy="816388"/>
          </a:xfrm>
        </p:grpSpPr>
        <p:sp>
          <p:nvSpPr>
            <p:cNvPr id="7" name="TextBox 7"/>
            <p:cNvSpPr/>
            <p:nvPr/>
          </p:nvSpPr>
          <p:spPr>
            <a:xfrm>
              <a:off x="598551" y="1743075"/>
              <a:ext cx="744197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實際續投：建議換投 1,912／未建議換投 7,769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599694" y="2178082"/>
              <a:ext cx="100012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進攻方 RE24 平均差；數值越高，防守方越不利。</a:t>
              </a:r>
            </a:p>
          </p:txBody>
        </p:sp>
      </p:grpSp>
      <p:grpSp>
        <p:nvGrpSpPr>
          <p:cNvPr id="19" name="interval"/>
          <p:cNvGrpSpPr/>
          <p:nvPr/>
        </p:nvGrpSpPr>
        <p:grpSpPr>
          <a:xfrm>
            <a:off x="990410" y="3181350"/>
            <a:ext cx="6291262" cy="1358265"/>
            <a:chOff x="990410" y="3181350"/>
            <a:chExt cx="6291262" cy="1358265"/>
          </a:xfrm>
        </p:grpSpPr>
        <p:sp>
          <p:nvSpPr>
            <p:cNvPr id="10" name="Line 10"/>
            <p:cNvSpPr/>
            <p:nvPr/>
          </p:nvSpPr>
          <p:spPr>
            <a:xfrm>
              <a:off x="1066800" y="3924300"/>
              <a:ext cx="5895975" cy="9525"/>
            </a:xfrm>
            <a:custGeom>
              <a:avLst/>
              <a:gdLst/>
              <a:ahLst/>
              <a:cxnLst/>
              <a:rect l="l" t="t" r="r" b="b"/>
              <a:pathLst>
                <a:path w="5895975" h="9525">
                  <a:moveTo>
                    <a:pt x="0" y="0"/>
                  </a:moveTo>
                  <a:lnTo>
                    <a:pt x="5895975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3181350"/>
              <a:ext cx="9525" cy="1038225"/>
            </a:xfrm>
            <a:custGeom>
              <a:avLst/>
              <a:gdLst/>
              <a:ahLst/>
              <a:cxnLst/>
              <a:rect l="l" t="t" r="r" b="b"/>
              <a:pathLst>
                <a:path w="9525" h="1038225">
                  <a:moveTo>
                    <a:pt x="0" y="0"/>
                  </a:moveTo>
                  <a:lnTo>
                    <a:pt x="0" y="103822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custDash>
                <a:ds d="350000" sp="35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2098596" y="3600450"/>
              <a:ext cx="3684984" cy="9525"/>
            </a:xfrm>
            <a:custGeom>
              <a:avLst/>
              <a:gdLst/>
              <a:ahLst/>
              <a:cxnLst/>
              <a:rect l="l" t="t" r="r" b="b"/>
              <a:pathLst>
                <a:path w="3684984" h="9525">
                  <a:moveTo>
                    <a:pt x="0" y="0"/>
                  </a:moveTo>
                  <a:lnTo>
                    <a:pt x="3684984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098596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83580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938588" y="35242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6" name="TextBox 16"/>
            <p:cNvSpPr/>
            <p:nvPr/>
          </p:nvSpPr>
          <p:spPr>
            <a:xfrm>
              <a:off x="990410" y="4171950"/>
              <a:ext cx="15278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3695890" y="4171950"/>
              <a:ext cx="6377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+0.04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6643878" y="4171950"/>
              <a:ext cx="6377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+0.08</a:t>
              </a:r>
            </a:p>
          </p:txBody>
        </p:sp>
      </p:grpSp>
      <p:grpSp>
        <p:nvGrpSpPr>
          <p:cNvPr id="22" name="result-number"/>
          <p:cNvGrpSpPr/>
          <p:nvPr/>
        </p:nvGrpSpPr>
        <p:grpSpPr>
          <a:xfrm>
            <a:off x="7924800" y="2841593"/>
            <a:ext cx="2690527" cy="1347121"/>
            <a:chOff x="7924800" y="2841593"/>
            <a:chExt cx="2690527" cy="1347121"/>
          </a:xfrm>
        </p:grpSpPr>
        <p:sp>
          <p:nvSpPr>
            <p:cNvPr id="20" name="TextBox 20"/>
            <p:cNvSpPr/>
            <p:nvPr/>
          </p:nvSpPr>
          <p:spPr>
            <a:xfrm>
              <a:off x="7924800" y="2841593"/>
              <a:ext cx="2115693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518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+0.040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7932801" y="3762375"/>
              <a:ext cx="268252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分／打席（RE24）</a:t>
              </a:r>
            </a:p>
          </p:txBody>
        </p:sp>
      </p:grpSp>
      <p:grpSp>
        <p:nvGrpSpPr>
          <p:cNvPr id="26" name="interval-interpretation"/>
          <p:cNvGrpSpPr/>
          <p:nvPr/>
        </p:nvGrpSpPr>
        <p:grpSpPr>
          <a:xfrm>
            <a:off x="599313" y="4768882"/>
            <a:ext cx="7632954" cy="1234630"/>
            <a:chOff x="599313" y="4768882"/>
            <a:chExt cx="7632954" cy="1234630"/>
          </a:xfrm>
        </p:grpSpPr>
        <p:sp>
          <p:nvSpPr>
            <p:cNvPr id="23" name="TextBox 23"/>
            <p:cNvSpPr/>
            <p:nvPr/>
          </p:nvSpPr>
          <p:spPr>
            <a:xfrm>
              <a:off x="599313" y="4768882"/>
              <a:ext cx="576614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95% 比賽重抽樣：+0.014 至 +0.064 分／打席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599694" y="5187982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比賽重抽樣 2,000 次；觀察差異不證明換投效益。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600456" y="5651468"/>
              <a:ext cx="73467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RE24＝本打席得分＋前後預期得分變化。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61022" y="673132"/>
            <a:ext cx="5397818" cy="4496562"/>
            <a:chOff x="561022" y="673132"/>
            <a:chExt cx="5397818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網站實作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61022" y="3565493"/>
              <a:ext cx="4556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設定局勢、比較人選、判讀結果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網站實作｜選擇入口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先選擇使用方式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28" y="1676400"/>
            <a:ext cx="8079241" cy="271462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97408" y="4518025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一般使用者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0075" y="5029200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直接選擇投打與候選。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075" y="54006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從換打／換投評估開始。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69308" y="4518025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球隊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71975" y="5029200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先安排守位與棒次。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71975" y="5400675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套用名單後進行評估。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1208" y="4518025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單日分析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3875" y="502920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從歷史比賽與打席進入。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43875" y="5400675"/>
            <a:ext cx="3309163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查看決策前估計及實際結果。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0837" y="5975350"/>
            <a:ext cx="48800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先完成一般／球隊的比較流程，再看單日回放。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6697218" cy="1063657"/>
            <a:chOff x="592836" y="250793"/>
            <a:chExt cx="6697218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網站實作｜設定局勢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局勢設定：建立同一個比較情境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1933575"/>
            <a:ext cx="4762500" cy="3858389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943344" y="1758950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攻守與球隊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40296" y="2143125"/>
            <a:ext cx="13990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我方進攻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41058" y="258445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統一對富邦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3344" y="3235325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局數與出局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40296" y="3597275"/>
            <a:ext cx="228638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8 局上，1 出局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43344" y="4273550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壘包與比分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41058" y="466090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二壘有人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41058" y="5089525"/>
            <a:ext cx="14203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比分 1：2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0837" y="6070600"/>
            <a:ext cx="511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同一局勢下比較人選，才看得出換人的相對差距。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網站實作｜選擇人選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一般使用者：直接挑選候選人選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456" y="149860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投打設定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4" y="1819275"/>
            <a:ext cx="4405310" cy="2095499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00456" y="391795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今日可用名單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694" y="4219575"/>
            <a:ext cx="4976812" cy="176772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223379" y="1733550"/>
            <a:ext cx="250292" cy="602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8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33157" y="1860550"/>
            <a:ext cx="17175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選擇對方投手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34300" y="2314575"/>
            <a:ext cx="17906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魔力藍，左投。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3379" y="3076575"/>
            <a:ext cx="250292" cy="602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8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33157" y="3203575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選打者與目前守位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34300" y="3657600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林佳緯，指定打擊。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23379" y="4419600"/>
            <a:ext cx="250292" cy="602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8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33157" y="4546600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勾選可用板凳野手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34300" y="5000625"/>
            <a:ext cx="3070403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評估後再挑最多 4 人比較。</a:t>
            </a:r>
          </a:p>
        </p:txBody>
      </p:sp>
      <p:pic>
        <p:nvPicPr>
          <p:cNvPr id="21" name="Imag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5562981"/>
            <a:ext cx="3760736" cy="637413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230618" y="6283325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出賽資格仍由使用者確認。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網站實作｜選擇人選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球隊模式：套用守位與可用名單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1565275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球隊的另一條設定路徑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789" y="2025650"/>
            <a:ext cx="2209851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安排守位與棒次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50939" y="2025650"/>
            <a:ext cx="1897532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勾選可用牛棚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9694" y="2501900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點選守位，更換場上球員。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53906"/>
            <a:ext cx="4294154" cy="1273969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98551" y="4591050"/>
            <a:ext cx="2663342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以棒次表調整順序。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313" y="5064125"/>
            <a:ext cx="305913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九棒含 DH，投手另設。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9313" y="5483225"/>
            <a:ext cx="21960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完成後套用配置。</a:t>
            </a:r>
          </a:p>
        </p:txBody>
      </p:sp>
      <p:pic>
        <p:nvPicPr>
          <p:cNvPr id="16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226" y="2476500"/>
            <a:ext cx="4719344" cy="3790949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00837" y="6070600"/>
            <a:ext cx="534309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圖為操作區局部；套用配置後回到換打／換投評估。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網站實作｜判讀結果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代打結果：先看差距，再看接守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9694" y="1577975"/>
            <a:ext cx="72374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林佳緯（DH）對魔力藍；8 局上、1 出局、二壘有人、1：2。</a:t>
            </a:r>
          </a:p>
        </p:txBody>
      </p:sp>
      <p:grpSp>
        <p:nvGrpSpPr>
          <p:cNvPr id="16" name="Image 8"/>
          <p:cNvGrpSpPr/>
          <p:nvPr/>
        </p:nvGrpSpPr>
        <p:grpSpPr>
          <a:xfrm>
            <a:off x="609600" y="2076640"/>
            <a:ext cx="9879806" cy="2469952"/>
            <a:chOff x="609600" y="2076640"/>
            <a:chExt cx="9879806" cy="2469952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076640"/>
              <a:ext cx="9879806" cy="2469952"/>
            </a:xfrm>
            <a:prstGeom prst="rect">
              <a:avLst/>
            </a:prstGeom>
          </p:spPr>
        </p:pic>
      </p:grpSp>
      <p:sp>
        <p:nvSpPr>
          <p:cNvPr id="9" name="TextBox 9"/>
          <p:cNvSpPr/>
          <p:nvPr/>
        </p:nvSpPr>
        <p:spPr>
          <a:xfrm>
            <a:off x="590550" y="4806982"/>
            <a:ext cx="1720977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TW" sz="5100" b="1" dirty="0">
                <a:solidFill>
                  <a:srgbClr val="146747"/>
                </a:solidFill>
                <a:latin typeface="Times New Roman"/>
                <a:ea typeface="Times New Roman"/>
                <a:cs typeface="Times New Roman"/>
              </a:rPr>
              <a:t>+1.06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551" y="5610225"/>
            <a:ext cx="1489456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46747"/>
                </a:solidFill>
                <a:latin typeface="Times New Roman"/>
                <a:ea typeface="DFKai-SB"/>
                <a:cs typeface="Times New Roman"/>
              </a:rPr>
              <a:t>估計百分點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0070" y="4816475"/>
            <a:ext cx="45034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現任為 0，比較候選的相對差距。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0832" y="5280025"/>
            <a:ext cx="383631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本例胡金龍承接原 DH 棒次。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71594" y="5692775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仍須確認當日可上場資格。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837" y="6070600"/>
            <a:ext cx="395381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估計較有利不等於已實現的勝率提升。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9212770" cy="1063657"/>
            <a:chOff x="592836" y="250793"/>
            <a:chExt cx="921277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網站實作｜判讀結果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92127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換投結果：評估接下來三棒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075" y="1590675"/>
            <a:ext cx="76689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切換我方防守：魔神龍 95 球；8 局上、2 出局、二三壘有人、0：0。</a:t>
            </a:r>
          </a:p>
        </p:txBody>
      </p:sp>
      <p:grpSp>
        <p:nvGrpSpPr>
          <p:cNvPr id="16" name="Image 8"/>
          <p:cNvGrpSpPr/>
          <p:nvPr/>
        </p:nvGrpSpPr>
        <p:grpSpPr>
          <a:xfrm>
            <a:off x="615029" y="2066925"/>
            <a:ext cx="10062210" cy="2515552"/>
            <a:chOff x="615029" y="2066925"/>
            <a:chExt cx="10062210" cy="2515552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029" y="2066925"/>
              <a:ext cx="10062210" cy="2515552"/>
            </a:xfrm>
            <a:prstGeom prst="rect">
              <a:avLst/>
            </a:prstGeom>
          </p:spPr>
        </p:pic>
      </p:grpSp>
      <p:sp>
        <p:nvSpPr>
          <p:cNvPr id="9" name="TextBox 9"/>
          <p:cNvSpPr/>
          <p:nvPr/>
        </p:nvSpPr>
        <p:spPr>
          <a:xfrm>
            <a:off x="590550" y="4806982"/>
            <a:ext cx="1720977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TW" sz="5100" b="1" dirty="0">
                <a:solidFill>
                  <a:srgbClr val="146747"/>
                </a:solidFill>
                <a:latin typeface="Times New Roman"/>
                <a:ea typeface="Times New Roman"/>
                <a:cs typeface="Times New Roman"/>
              </a:rPr>
              <a:t>+2.88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075" y="5648325"/>
            <a:ext cx="3309163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46747"/>
                </a:solidFill>
                <a:latin typeface="Times New Roman"/>
                <a:ea typeface="DFKai-SB"/>
                <a:cs typeface="Times New Roman"/>
              </a:rPr>
              <a:t>朱承洋相對現任的估計百分點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27320" y="4797425"/>
            <a:ext cx="396049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設定後三棒，再看換投差距。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28844" y="5264150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郭天信、李凱威、吉力吉撈．鞏冠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28844" y="5692775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把原投手本場球數納入疲勞估計。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837" y="6070600"/>
            <a:ext cx="464845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這是接下來三棒的比較，不是整場換投收益。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網站實作｜結果補充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候選細節：接守與配球資訊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1584325"/>
            <a:ext cx="48272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需要更深入判讀時，再查看補充資訊。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408" y="210820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接守安排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256222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代打王念好後的歷史示例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9694" y="3092450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球員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57094" y="3092450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目前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90644" y="3092450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備案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" y="351472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97408" y="3651250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林澤彬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55951" y="3676650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板凳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89501" y="3676650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游擊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7408" y="4251325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張育成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55951" y="4276725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游擊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89501" y="4276725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一壘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7408" y="4851400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林岳谷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55951" y="4876800"/>
            <a:ext cx="565957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8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DH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89501" y="4876800"/>
            <a:ext cx="1247033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保留 DH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9694" y="5483225"/>
            <a:ext cx="369493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需人工確認，未納入正式推薦。</a:t>
            </a:r>
          </a:p>
        </p:txBody>
      </p:sp>
      <p:sp>
        <p:nvSpPr>
          <p:cNvPr id="25" name="Line 25"/>
          <p:cNvSpPr/>
          <p:nvPr/>
        </p:nvSpPr>
        <p:spPr>
          <a:xfrm>
            <a:off x="6143625" y="2238375"/>
            <a:ext cx="9525" cy="3667125"/>
          </a:xfrm>
          <a:custGeom>
            <a:avLst/>
            <a:gdLst/>
            <a:ahLst/>
            <a:cxnLst/>
            <a:rect l="l" t="t" r="r" b="b"/>
            <a:pathLst>
              <a:path w="9525" h="3667125">
                <a:moveTo>
                  <a:pt x="0" y="0"/>
                </a:moveTo>
                <a:lnTo>
                  <a:pt x="0" y="3667125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560058" y="210820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賽前配球變化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2725" y="2562225"/>
            <a:ext cx="2839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魔力藍對右打，9/15 賽前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61582" y="3117850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速球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43875" y="3448050"/>
            <a:ext cx="1254919" cy="180975"/>
          </a:xfrm>
          <a:prstGeom prst="rect">
            <a:avLst/>
          </a:prstGeom>
          <a:solidFill>
            <a:srgbClr val="6C7F9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868406" y="3394075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52.7%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43875" y="3838575"/>
            <a:ext cx="985838" cy="180975"/>
          </a:xfrm>
          <a:prstGeom prst="rect">
            <a:avLst/>
          </a:prstGeom>
          <a:solidFill>
            <a:srgbClr val="2742B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868406" y="3784600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41.4%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1582" y="427037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低落球群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143875" y="4600575"/>
            <a:ext cx="431006" cy="180975"/>
          </a:xfrm>
          <a:prstGeom prst="rect">
            <a:avLst/>
          </a:prstGeom>
          <a:solidFill>
            <a:srgbClr val="6C7F9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868406" y="4546600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18.1%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143875" y="4991100"/>
            <a:ext cx="807244" cy="180975"/>
          </a:xfrm>
          <a:prstGeom prst="rect">
            <a:avLst/>
          </a:prstGeom>
          <a:solidFill>
            <a:srgbClr val="2742B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868406" y="4937125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33.9%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63106" y="5384800"/>
            <a:ext cx="33238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上：基準 10 場　下：近期 5 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63868" y="5711825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按球數與左右打調整後的占比。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0837" y="6070600"/>
            <a:ext cx="719546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展開接守方案，或選擇投手與配球觀察條件；這些資訊輔助結果判讀。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單日分析：依序選比賽與打席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5122" y="1549400"/>
            <a:ext cx="2316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3851" y="163830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切換單日分析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2124075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使用固定歷史情境。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7022" y="1549400"/>
            <a:ext cx="2316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65751" y="163830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選擇觀察球隊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1975" y="2124075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台鋼雄鷹對富邦悍將。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8922" y="1549400"/>
            <a:ext cx="2316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37651" y="163830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點選決策打席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43875" y="2124075"/>
            <a:ext cx="204373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六局下，江承諺。</a:t>
            </a: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52" y="2628900"/>
            <a:ext cx="3267958" cy="1524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560820" y="3035300"/>
            <a:ext cx="24460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選到同場比賽後，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60058" y="3470275"/>
            <a:ext cx="32552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找到六局下的江承諺。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9694" y="4321175"/>
            <a:ext cx="421995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點選下方時間列，開啟該打席評估。</a:t>
            </a:r>
          </a:p>
        </p:txBody>
      </p:sp>
      <p:grpSp>
        <p:nvGrpSpPr>
          <p:cNvPr id="35" name="Image 21"/>
          <p:cNvGrpSpPr/>
          <p:nvPr/>
        </p:nvGrpSpPr>
        <p:grpSpPr>
          <a:xfrm>
            <a:off x="948880" y="4752975"/>
            <a:ext cx="9643396" cy="960609"/>
            <a:chOff x="948880" y="4752975"/>
            <a:chExt cx="9643396" cy="960609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8880" y="4752975"/>
              <a:ext cx="9643396" cy="960609"/>
            </a:xfrm>
            <a:prstGeom prst="rect">
              <a:avLst/>
            </a:prstGeom>
          </p:spPr>
        </p:pic>
      </p:grpSp>
      <p:sp>
        <p:nvSpPr>
          <p:cNvPr id="22" name="TextBox 22"/>
          <p:cNvSpPr txBox="1"/>
          <p:nvPr/>
        </p:nvSpPr>
        <p:spPr>
          <a:xfrm>
            <a:off x="600837" y="6070600"/>
            <a:ext cx="603386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2025/09/20 三場共 226 打席可回放；6 局起查看換人提示。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決策前：以原投手比較換投人選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551" y="1571625"/>
            <a:ext cx="5011115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沿用上一頁同一打席，切換換投評估。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9694" y="233045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比較基準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3217" y="2692400"/>
            <a:ext cx="2200148" cy="630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江承諺續投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551" y="3286125"/>
            <a:ext cx="195458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本場已投 89 球</a:t>
            </a:r>
          </a:p>
        </p:txBody>
      </p:sp>
      <p:sp>
        <p:nvSpPr>
          <p:cNvPr id="12" name="Line 12"/>
          <p:cNvSpPr/>
          <p:nvPr/>
        </p:nvSpPr>
        <p:spPr>
          <a:xfrm>
            <a:off x="4667250" y="2933700"/>
            <a:ext cx="1857375" cy="9525"/>
          </a:xfrm>
          <a:custGeom>
            <a:avLst/>
            <a:gdLst/>
            <a:ahLst/>
            <a:cxnLst/>
            <a:rect l="l" t="t" r="r" b="b"/>
            <a:pathLst>
              <a:path w="1857375" h="9525">
                <a:moveTo>
                  <a:pt x="0" y="0"/>
                </a:moveTo>
                <a:lnTo>
                  <a:pt x="185737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6381750" y="2867025"/>
            <a:ext cx="142875" cy="133350"/>
          </a:xfrm>
          <a:custGeom>
            <a:avLst/>
            <a:gdLst/>
            <a:ahLst/>
            <a:cxnLst/>
            <a:rect l="l" t="t" r="r" b="b"/>
            <a:pathLst>
              <a:path w="142875" h="133350">
                <a:moveTo>
                  <a:pt x="142875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B5483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29094" y="233045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模型候選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2617" y="2692400"/>
            <a:ext cx="1333195" cy="630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林詩翔</a:t>
            </a:r>
          </a:p>
        </p:txBody>
      </p:sp>
      <p:sp>
        <p:nvSpPr>
          <p:cNvPr id="16" name="TextBox 16"/>
          <p:cNvSpPr/>
          <p:nvPr/>
        </p:nvSpPr>
        <p:spPr>
          <a:xfrm>
            <a:off x="7224141" y="3225832"/>
            <a:ext cx="2276284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TW" sz="2920" b="1" dirty="0">
                <a:solidFill>
                  <a:srgbClr val="146747"/>
                </a:solidFill>
                <a:latin typeface="Times New Roman"/>
                <a:ea typeface="DFKai-SB"/>
                <a:cs typeface="Times New Roman"/>
              </a:rPr>
              <a:t>+1.07 百分點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8551" y="4019550"/>
            <a:ext cx="3837229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接著展開「揭示實際調度」。</a:t>
            </a:r>
          </a:p>
        </p:txBody>
      </p:sp>
      <p:pic>
        <p:nvPicPr>
          <p:cNvPr id="18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17256"/>
            <a:ext cx="10953205" cy="118872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00837" y="6070600"/>
            <a:ext cx="55746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先看事前估計；實際換誰與打席結果留到下一步揭示。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決策後：再揭示實際調度與結果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9313" y="1597025"/>
            <a:ext cx="736274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依序展開「揭示實際調度」，再看「揭示這個打席的結果」。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92655"/>
            <a:ext cx="10057437" cy="246888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9694" y="490220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實際調度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6265" y="5302250"/>
            <a:ext cx="1790192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王躍霖上場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1594" y="490220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打席結果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68165" y="5302250"/>
            <a:ext cx="2142896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陳真二壘安打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43494" y="4902200"/>
            <a:ext cx="167730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進攻方 WPA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40065" y="5302250"/>
            <a:ext cx="2042467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+2.20 百分點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837" y="6070600"/>
            <a:ext cx="719546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事前候選與實際換人分開對照；單一打席不能證明另一種調度的收益。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01980" y="266700"/>
            <a:ext cx="10980420" cy="1047750"/>
            <a:chOff x="601980" y="266700"/>
            <a:chExt cx="10980420" cy="1047750"/>
          </a:xfrm>
        </p:grpSpPr>
        <p:sp>
          <p:nvSpPr>
            <p:cNvPr id="2" name="TextBox 2"/>
            <p:cNvSpPr/>
            <p:nvPr/>
          </p:nvSpPr>
          <p:spPr>
            <a:xfrm>
              <a:off x="601980" y="266700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網站實作｜操作順序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從設定到結果，完成一次比較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7408" y="1651000"/>
            <a:ext cx="26090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一般使用者／球隊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0550" y="214630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3965" y="229235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設定局勢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075" y="28860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攻守、球隊、局數與壘況</a:t>
            </a:r>
          </a:p>
        </p:txBody>
      </p:sp>
      <p:sp>
        <p:nvSpPr>
          <p:cNvPr id="16" name="Line 16"/>
          <p:cNvSpPr/>
          <p:nvPr/>
        </p:nvSpPr>
        <p:spPr>
          <a:xfrm>
            <a:off x="3371850" y="252412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62450" y="214630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15865" y="2292350"/>
            <a:ext cx="1790192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選人並評估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71975" y="28860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手動選人或套用球隊名單</a:t>
            </a:r>
          </a:p>
        </p:txBody>
      </p:sp>
      <p:sp>
        <p:nvSpPr>
          <p:cNvPr id="20" name="Line 20"/>
          <p:cNvSpPr/>
          <p:nvPr/>
        </p:nvSpPr>
        <p:spPr>
          <a:xfrm>
            <a:off x="7143750" y="252412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134350" y="214630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87765" y="229235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判讀結果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43875" y="2886075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看差距，再確認接守與資格</a:t>
            </a:r>
          </a:p>
        </p:txBody>
      </p:sp>
      <p:sp>
        <p:nvSpPr>
          <p:cNvPr id="24" name="Line 24"/>
          <p:cNvSpPr/>
          <p:nvPr/>
        </p:nvSpPr>
        <p:spPr>
          <a:xfrm>
            <a:off x="609600" y="3733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97408" y="407035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單日分析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0550" y="456565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3965" y="471170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找到打席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0075" y="53149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選球隊，點選歷史決策時點</a:t>
            </a:r>
          </a:p>
        </p:txBody>
      </p:sp>
      <p:sp>
        <p:nvSpPr>
          <p:cNvPr id="29" name="Line 29"/>
          <p:cNvSpPr/>
          <p:nvPr/>
        </p:nvSpPr>
        <p:spPr>
          <a:xfrm>
            <a:off x="3371850" y="494347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362450" y="456565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15865" y="471170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先看估計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71975" y="53149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固定事前基準，比較候選</a:t>
            </a:r>
          </a:p>
        </p:txBody>
      </p:sp>
      <p:sp>
        <p:nvSpPr>
          <p:cNvPr id="33" name="Line 33"/>
          <p:cNvSpPr/>
          <p:nvPr/>
        </p:nvSpPr>
        <p:spPr>
          <a:xfrm>
            <a:off x="7143750" y="494347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134350" y="456565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87765" y="4711700"/>
            <a:ext cx="1790192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再揭示結果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43875" y="53149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對照實際調度與打席結果</a:t>
            </a:r>
          </a:p>
        </p:txBody>
      </p:sp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7143750" cy="4496562"/>
            <a:chOff x="590550" y="673132"/>
            <a:chExt cx="714375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後續規劃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0550" y="3562350"/>
              <a:ext cx="71437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382" tIns="3175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跨年資料、近況權重與牛棚接續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後續規劃｜跨年資料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換隊或跨季後，球員資料怎麼接續？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grpSp>
        <p:nvGrpSpPr>
          <p:cNvPr id="12" name="identity-problem"/>
          <p:cNvGrpSpPr/>
          <p:nvPr/>
        </p:nvGrpSpPr>
        <p:grpSpPr>
          <a:xfrm>
            <a:off x="598170" y="1644650"/>
            <a:ext cx="6989445" cy="440055"/>
            <a:chOff x="598170" y="1644650"/>
            <a:chExt cx="6989445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44650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轉隊、登錄姓名變動，可能讓同一球員的紀錄斷開。</a:t>
              </a:r>
            </a:p>
          </p:txBody>
        </p:sp>
      </p:grpSp>
      <p:grpSp>
        <p:nvGrpSpPr>
          <p:cNvPr id="25" name="identity-bridge"/>
          <p:cNvGrpSpPr/>
          <p:nvPr/>
        </p:nvGrpSpPr>
        <p:grpSpPr>
          <a:xfrm>
            <a:off x="988822" y="2524125"/>
            <a:ext cx="10042906" cy="2232724"/>
            <a:chOff x="988822" y="2524125"/>
            <a:chExt cx="10042906" cy="2232724"/>
          </a:xfrm>
        </p:grpSpPr>
        <p:sp>
          <p:nvSpPr>
            <p:cNvPr id="13" name="TextBox 13"/>
            <p:cNvSpPr txBox="1"/>
            <p:nvPr/>
          </p:nvSpPr>
          <p:spPr>
            <a:xfrm>
              <a:off x="1095756" y="2524125"/>
              <a:ext cx="12755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8822" y="33718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原球隊紀錄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162300" y="31527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305300" y="3095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10100" y="2647950"/>
              <a:ext cx="2952750" cy="1285875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10803" y="2774950"/>
              <a:ext cx="23513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同一球員 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60391" y="3397250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跨年身分對照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772400" y="31527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915400" y="3095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49206" y="2524125"/>
              <a:ext cx="12755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42272" y="33718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新球隊紀錄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39162" y="4302125"/>
              <a:ext cx="689462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出賽、投球負荷與對決資料，沿同一條歷程累積。</a:t>
              </a:r>
            </a:p>
          </p:txBody>
        </p:sp>
      </p:grpSp>
      <p:grpSp>
        <p:nvGrpSpPr>
          <p:cNvPr id="28" name="identity-direction"/>
          <p:cNvGrpSpPr/>
          <p:nvPr/>
        </p:nvGrpSpPr>
        <p:grpSpPr>
          <a:xfrm>
            <a:off x="597789" y="5130832"/>
            <a:ext cx="7519226" cy="828008"/>
            <a:chOff x="597789" y="5130832"/>
            <a:chExt cx="7519226" cy="828008"/>
          </a:xfrm>
        </p:grpSpPr>
        <p:sp>
          <p:nvSpPr>
            <p:cNvPr id="26" name="TextBox 26"/>
            <p:cNvSpPr/>
            <p:nvPr/>
          </p:nvSpPr>
          <p:spPr>
            <a:xfrm>
              <a:off x="597789" y="5130832"/>
              <a:ext cx="751922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既有紀錄接續，再逐批檢查新增資料。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600075" y="5591175"/>
              <a:ext cx="508073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新增、更正與重複檢查已建置。</a:t>
              </a:r>
            </a:p>
          </p:txBody>
        </p:sp>
      </p:grpSp>
      <p:grpSp>
        <p:nvGrpSpPr>
          <p:cNvPr id="30" name="identity-state"/>
          <p:cNvGrpSpPr/>
          <p:nvPr/>
        </p:nvGrpSpPr>
        <p:grpSpPr>
          <a:xfrm>
            <a:off x="600075" y="6143625"/>
            <a:ext cx="6260211" cy="367665"/>
            <a:chOff x="600075" y="6143625"/>
            <a:chExt cx="6260211" cy="367665"/>
          </a:xfrm>
        </p:grpSpPr>
        <p:sp>
          <p:nvSpPr>
            <p:cNvPr id="29" name="TextBox 29"/>
            <p:cNvSpPr/>
            <p:nvPr/>
          </p:nvSpPr>
          <p:spPr>
            <a:xfrm>
              <a:off x="600075" y="6143625"/>
              <a:ext cx="626021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2024–2025 已驗收；2026 等待公開資料。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後續規劃｜近況更新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近況改變，長短期表現怎麼取捨？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grpSp>
        <p:nvGrpSpPr>
          <p:cNvPr id="12" name="recency-question"/>
          <p:cNvGrpSpPr/>
          <p:nvPr/>
        </p:nvGrpSpPr>
        <p:grpSpPr>
          <a:xfrm>
            <a:off x="598170" y="1654175"/>
            <a:ext cx="6686550" cy="440055"/>
            <a:chOff x="598170" y="1654175"/>
            <a:chExt cx="6686550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54175"/>
              <a:ext cx="6686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近期幾場的好壞，何時足以改變原本的能力估計？</a:t>
              </a:r>
            </a:p>
          </p:txBody>
        </p:sp>
      </p:grpSp>
      <p:grpSp>
        <p:nvGrpSpPr>
          <p:cNvPr id="25" name="recency-illustration"/>
          <p:cNvGrpSpPr/>
          <p:nvPr/>
        </p:nvGrpSpPr>
        <p:grpSpPr>
          <a:xfrm>
            <a:off x="599694" y="2451100"/>
            <a:ext cx="10439781" cy="1613281"/>
            <a:chOff x="599694" y="2451100"/>
            <a:chExt cx="10439781" cy="1613281"/>
          </a:xfrm>
        </p:grpSpPr>
        <p:sp>
          <p:nvSpPr>
            <p:cNvPr id="13" name="TextBox 13"/>
            <p:cNvSpPr txBox="1"/>
            <p:nvPr/>
          </p:nvSpPr>
          <p:spPr>
            <a:xfrm>
              <a:off x="600456" y="24511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權重概念示意，非現行計算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886075"/>
              <a:ext cx="1285875" cy="638175"/>
            </a:xfrm>
            <a:prstGeom prst="rect">
              <a:avLst/>
            </a:prstGeom>
            <a:solidFill>
              <a:srgbClr val="E9E3D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133600" y="2886075"/>
              <a:ext cx="1285875" cy="638175"/>
            </a:xfrm>
            <a:prstGeom prst="rect">
              <a:avLst/>
            </a:prstGeom>
            <a:solidFill>
              <a:srgbClr val="D8DDE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57600" y="2886075"/>
              <a:ext cx="1285875" cy="638175"/>
            </a:xfrm>
            <a:prstGeom prst="rect">
              <a:avLst/>
            </a:prstGeom>
            <a:solidFill>
              <a:srgbClr val="B6C3C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81600" y="2886075"/>
              <a:ext cx="1285875" cy="638175"/>
            </a:xfrm>
            <a:prstGeom prst="rect">
              <a:avLst/>
            </a:prstGeom>
            <a:solidFill>
              <a:srgbClr val="8C9FA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05600" y="2886075"/>
              <a:ext cx="1285875" cy="638175"/>
            </a:xfrm>
            <a:prstGeom prst="rect">
              <a:avLst/>
            </a:prstGeom>
            <a:solidFill>
              <a:srgbClr val="607E8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29600" y="2886075"/>
              <a:ext cx="1285875" cy="638175"/>
            </a:xfrm>
            <a:prstGeom prst="rect">
              <a:avLst/>
            </a:prstGeom>
            <a:solidFill>
              <a:srgbClr val="36576D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753600" y="2886075"/>
              <a:ext cx="1285875" cy="63817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9694" y="368300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較舊的比賽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876550" y="3800475"/>
              <a:ext cx="6610350" cy="9525"/>
            </a:xfrm>
            <a:custGeom>
              <a:avLst/>
              <a:gdLst/>
              <a:ahLst/>
              <a:cxnLst/>
              <a:rect l="l" t="t" r="r" b="b"/>
              <a:pathLst>
                <a:path w="6610350" h="9525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486900" y="3743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96094" y="36830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近期比賽</a:t>
              </a:r>
            </a:p>
          </p:txBody>
        </p:sp>
      </p:grpSp>
      <p:grpSp>
        <p:nvGrpSpPr>
          <p:cNvPr id="28" name="long-term-evidence"/>
          <p:cNvGrpSpPr/>
          <p:nvPr/>
        </p:nvGrpSpPr>
        <p:grpSpPr>
          <a:xfrm>
            <a:off x="597789" y="4397375"/>
            <a:ext cx="4373023" cy="948532"/>
            <a:chOff x="597789" y="4397375"/>
            <a:chExt cx="4373023" cy="948532"/>
          </a:xfrm>
        </p:grpSpPr>
        <p:sp>
          <p:nvSpPr>
            <p:cNvPr id="26" name="TextBox 26"/>
            <p:cNvSpPr txBox="1"/>
            <p:nvPr/>
          </p:nvSpPr>
          <p:spPr>
            <a:xfrm>
              <a:off x="597789" y="4397375"/>
              <a:ext cx="345912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長期能力：保留穩定基準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599313" y="4949857"/>
              <a:ext cx="437149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保留現行各半集成作為比較基準。</a:t>
              </a:r>
            </a:p>
          </p:txBody>
        </p:sp>
      </p:grpSp>
      <p:grpSp>
        <p:nvGrpSpPr>
          <p:cNvPr id="31" name="short-term-evidence"/>
          <p:cNvGrpSpPr/>
          <p:nvPr/>
        </p:nvGrpSpPr>
        <p:grpSpPr>
          <a:xfrm>
            <a:off x="6236589" y="4397375"/>
            <a:ext cx="4373023" cy="948532"/>
            <a:chOff x="6236589" y="4397375"/>
            <a:chExt cx="4373023" cy="948532"/>
          </a:xfrm>
        </p:grpSpPr>
        <p:sp>
          <p:nvSpPr>
            <p:cNvPr id="29" name="TextBox 29"/>
            <p:cNvSpPr txBox="1"/>
            <p:nvPr/>
          </p:nvSpPr>
          <p:spPr>
            <a:xfrm>
              <a:off x="6236589" y="4397375"/>
              <a:ext cx="408376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短期狀態：檢查更新是否有用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6238113" y="4949857"/>
              <a:ext cx="437149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57 場、4,367 打席完成單月試跑。</a:t>
              </a:r>
            </a:p>
          </p:txBody>
        </p:sp>
      </p:grpSp>
      <p:grpSp>
        <p:nvGrpSpPr>
          <p:cNvPr id="34" name="recency-state"/>
          <p:cNvGrpSpPr/>
          <p:nvPr/>
        </p:nvGrpSpPr>
        <p:grpSpPr>
          <a:xfrm>
            <a:off x="600075" y="6029325"/>
            <a:ext cx="10982325" cy="462915"/>
            <a:chOff x="600075" y="6029325"/>
            <a:chExt cx="10982325" cy="462915"/>
          </a:xfrm>
        </p:grpSpPr>
        <p:sp>
          <p:nvSpPr>
            <p:cNvPr id="32" name="Line 32"/>
            <p:cNvSpPr/>
            <p:nvPr/>
          </p:nvSpPr>
          <p:spPr>
            <a:xfrm>
              <a:off x="609600" y="6029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600075" y="6124575"/>
              <a:ext cx="58400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試跑已比較誤差與排序；正式權重維持不變。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4355" y="250793"/>
            <a:ext cx="10972800" cy="1063657"/>
            <a:chOff x="554355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後續規劃｜牛棚接續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54355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481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現在換投，後面幾局還有人可用嗎？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grpSp>
        <p:nvGrpSpPr>
          <p:cNvPr id="12" name="bullpen-gap"/>
          <p:cNvGrpSpPr/>
          <p:nvPr/>
        </p:nvGrpSpPr>
        <p:grpSpPr>
          <a:xfrm>
            <a:off x="598170" y="1663732"/>
            <a:ext cx="6686550" cy="440055"/>
            <a:chOff x="598170" y="1663732"/>
            <a:chExt cx="6686550" cy="440055"/>
          </a:xfrm>
        </p:grpSpPr>
        <p:sp>
          <p:nvSpPr>
            <p:cNvPr id="11" name="TextBox 11"/>
            <p:cNvSpPr/>
            <p:nvPr/>
          </p:nvSpPr>
          <p:spPr>
            <a:xfrm>
              <a:off x="598170" y="1663732"/>
              <a:ext cx="6686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先確認可用投手，再比較剩餘容量與接續順序。</a:t>
              </a:r>
            </a:p>
          </p:txBody>
        </p:sp>
      </p:grpSp>
      <p:grpSp>
        <p:nvGrpSpPr>
          <p:cNvPr id="39" name="bullpen-sequences"/>
          <p:cNvGrpSpPr/>
          <p:nvPr/>
        </p:nvGrpSpPr>
        <p:grpSpPr>
          <a:xfrm>
            <a:off x="596646" y="2403443"/>
            <a:ext cx="10357104" cy="2831116"/>
            <a:chOff x="596646" y="2403443"/>
            <a:chExt cx="10357104" cy="2831116"/>
          </a:xfrm>
        </p:grpSpPr>
        <p:sp>
          <p:nvSpPr>
            <p:cNvPr id="13" name="TextBox 13"/>
            <p:cNvSpPr/>
            <p:nvPr/>
          </p:nvSpPr>
          <p:spPr>
            <a:xfrm>
              <a:off x="600075" y="2419350"/>
              <a:ext cx="153752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容量示例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4510278" y="2403443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3 打席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7177278" y="2403443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3 打席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9844278" y="2403443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3 打席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6646" y="3244850"/>
              <a:ext cx="1140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先用 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86250" y="3009900"/>
              <a:ext cx="1333500" cy="809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04812" y="3114675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53250" y="3009900"/>
              <a:ext cx="1333500" cy="80962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89355" y="3114675"/>
              <a:ext cx="461290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20250" y="3009900"/>
              <a:ext cx="1333500" cy="809625"/>
            </a:xfrm>
            <a:prstGeom prst="rect">
              <a:avLst/>
            </a:prstGeom>
            <a:solidFill>
              <a:srgbClr val="9A611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38812" y="3114675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810250" y="341947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667500" y="3362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477250" y="341947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9334500" y="3362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6646" y="4645025"/>
              <a:ext cx="1140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保留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86250" y="4410075"/>
              <a:ext cx="1333500" cy="80962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22355" y="4514850"/>
              <a:ext cx="461290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953250" y="4410075"/>
              <a:ext cx="1333500" cy="809625"/>
            </a:xfrm>
            <a:prstGeom prst="rect">
              <a:avLst/>
            </a:prstGeom>
            <a:solidFill>
              <a:srgbClr val="9A611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71812" y="4514850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620250" y="4410075"/>
              <a:ext cx="1333500" cy="809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38812" y="4514850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810250" y="48196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667500" y="4762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8477250" y="48196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334500" y="4762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</p:grpSp>
      <p:grpSp>
        <p:nvGrpSpPr>
          <p:cNvPr id="42" name="bullpen-direction"/>
          <p:cNvGrpSpPr/>
          <p:nvPr/>
        </p:nvGrpSpPr>
        <p:grpSpPr>
          <a:xfrm>
            <a:off x="596646" y="5657850"/>
            <a:ext cx="8110823" cy="862965"/>
            <a:chOff x="596646" y="5657850"/>
            <a:chExt cx="8110823" cy="862965"/>
          </a:xfrm>
        </p:grpSpPr>
        <p:sp>
          <p:nvSpPr>
            <p:cNvPr id="40" name="TextBox 40"/>
            <p:cNvSpPr/>
            <p:nvPr/>
          </p:nvSpPr>
          <p:spPr>
            <a:xfrm>
              <a:off x="596646" y="5657850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安排接續順序，直接看出容量缺口。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600075" y="6153150"/>
              <a:ext cx="81073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容量原型已建置；多局失分與勝率尚待驗證。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研究依據</a:t>
            </a:r>
          </a:p>
        </p:txBody>
      </p:sp>
      <p:sp>
        <p:nvSpPr>
          <p:cNvPr id="3" name="TextBox 3"/>
          <p:cNvSpPr/>
          <p:nvPr/>
        </p:nvSpPr>
        <p:spPr>
          <a:xfrm>
            <a:off x="609600" y="5715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22225" rIns="0" bIns="0" anchor="t" anchorCtr="0">
            <a:noAutofit/>
          </a:bodyPr>
          <a:lstStyle/>
          <a:p>
            <a:pPr algn="l"/>
            <a:r>
              <a:rPr lang="zh-TW" sz="33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對決估計與預測評估的研究依據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089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-6858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6" name="TextBox 6"/>
          <p:cNvSpPr/>
          <p:nvPr/>
        </p:nvSpPr>
        <p:spPr>
          <a:xfrm>
            <a:off x="600075" y="1571625"/>
            <a:ext cx="721937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[1] Efron &amp; Morris（1975）｜JASA 70(350), 311–319</a:t>
            </a:r>
          </a:p>
        </p:txBody>
      </p:sp>
      <p:sp>
        <p:nvSpPr>
          <p:cNvPr id="7" name="TextBox 7"/>
          <p:cNvSpPr/>
          <p:nvPr/>
        </p:nvSpPr>
        <p:spPr>
          <a:xfrm>
            <a:off x="601599" y="1952625"/>
            <a:ext cx="700097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600456" y="2289143"/>
            <a:ext cx="670988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/>
          <p:nvPr/>
        </p:nvSpPr>
        <p:spPr>
          <a:xfrm>
            <a:off x="602361" y="2679668"/>
            <a:ext cx="43573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/>
          <p:nvPr/>
        </p:nvSpPr>
        <p:spPr>
          <a:xfrm>
            <a:off x="600075" y="3038475"/>
            <a:ext cx="736273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[2] Efron（1979）｜The Annals of Statistics 7(1), 1–26</a:t>
            </a:r>
          </a:p>
        </p:txBody>
      </p:sp>
      <p:sp>
        <p:nvSpPr>
          <p:cNvPr id="12" name="TextBox 12"/>
          <p:cNvSpPr/>
          <p:nvPr/>
        </p:nvSpPr>
        <p:spPr>
          <a:xfrm>
            <a:off x="601599" y="3419475"/>
            <a:ext cx="570528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Bootstrap Methods: Another Look at the Jackknife</a:t>
            </a:r>
          </a:p>
        </p:txBody>
      </p:sp>
      <p:sp>
        <p:nvSpPr>
          <p:cNvPr id="13" name="TextBox 13"/>
          <p:cNvSpPr/>
          <p:nvPr/>
        </p:nvSpPr>
        <p:spPr>
          <a:xfrm>
            <a:off x="600456" y="3755993"/>
            <a:ext cx="7000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以比賽重抽樣描述變動；觀察區間不代表換人收益。</a:t>
            </a:r>
          </a:p>
        </p:txBody>
      </p:sp>
      <p:sp>
        <p:nvSpPr>
          <p:cNvPr id="14" name="TextBox 14">
            <a:hlinkClick r:id="rId3"/>
          </p:cNvPr>
          <p:cNvSpPr/>
          <p:nvPr/>
        </p:nvSpPr>
        <p:spPr>
          <a:xfrm>
            <a:off x="602361" y="4146518"/>
            <a:ext cx="32439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/>
          <p:nvPr/>
        </p:nvSpPr>
        <p:spPr>
          <a:xfrm>
            <a:off x="600075" y="4505325"/>
            <a:ext cx="795337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[3] Gneiting &amp; Raftery（2007）｜JASA 102(477), 359–378</a:t>
            </a:r>
          </a:p>
        </p:txBody>
      </p:sp>
      <p:sp>
        <p:nvSpPr>
          <p:cNvPr id="17" name="TextBox 17"/>
          <p:cNvSpPr/>
          <p:nvPr/>
        </p:nvSpPr>
        <p:spPr>
          <a:xfrm>
            <a:off x="601599" y="4886325"/>
            <a:ext cx="643299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Strictly Proper Scoring Rules, Prediction, and Estimation</a:t>
            </a:r>
          </a:p>
        </p:txBody>
      </p:sp>
      <p:sp>
        <p:nvSpPr>
          <p:cNvPr id="18" name="TextBox 18"/>
          <p:cNvSpPr/>
          <p:nvPr/>
        </p:nvSpPr>
        <p:spPr>
          <a:xfrm>
            <a:off x="600456" y="5222843"/>
            <a:ext cx="785745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RE24 以 MSE 比較；逐球機率另驗證，不混用指標。</a:t>
            </a:r>
          </a:p>
        </p:txBody>
      </p:sp>
      <p:sp>
        <p:nvSpPr>
          <p:cNvPr id="19" name="TextBox 19">
            <a:hlinkClick r:id="rId4"/>
          </p:cNvPr>
          <p:cNvSpPr/>
          <p:nvPr/>
        </p:nvSpPr>
        <p:spPr>
          <a:xfrm>
            <a:off x="602361" y="5613368"/>
            <a:ext cx="3953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換人之前，</a:t>
              </a:r>
              <a:b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6197346" cy="1134618"/>
            <a:chOff x="592836" y="3822668"/>
            <a:chExt cx="6197346" cy="1134618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6191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一球兩面 | 臨場用人決策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4546568"/>
              <a:ext cx="6191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2095500"/>
            <a:ext cx="2762250" cy="2762250"/>
            <a:chOff x="8858250" y="2095500"/>
            <a:chExt cx="2762250" cy="27622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95500"/>
              <a:ext cx="2762250" cy="2762250"/>
            </a:xfrm>
            <a:prstGeom prst="rect">
              <a:avLst/>
            </a:prstGeom>
          </p:spPr>
        </p:pic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grpSp>
        <p:nvGrpSpPr>
          <p:cNvPr id="13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0" name="TextBox 10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1" name="TextBox 11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原始碼 https://github.com/Da-Xiong-Chen/baseball_project</a:t>
              </a:r>
            </a:p>
          </p:txBody>
        </p:sp>
      </p:grpSp>
      <p:pic>
        <p:nvPicPr>
          <p:cNvPr id="7" name="圖片 6">
            <a:extLst>
              <a:ext uri="{FF2B5EF4-FFF2-40B4-BE49-F238E27FC236}">
                <a16:creationId id="{27E10D67-1E64-BFA4-72DD-E54492EEB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82" y="5188172"/>
            <a:ext cx="1355720" cy="1355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2618</Words>
  <Application>Microsoft Office PowerPoint</Application>
  <PresentationFormat>寬螢幕</PresentationFormat>
  <Paragraphs>381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5" baseType="lpstr">
      <vt:lpstr>Arial</vt:lpstr>
      <vt:lpstr>Times New Roman</vt:lpstr>
      <vt:lpstr>baseball_competition_polished19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/>
  <cp:lastModifiedBy>user</cp:lastModifiedBy>
  <cp:revision>6</cp:revision>
  <dcterms:created xsi:type="dcterms:W3CDTF">2026-10-15T13:31:12Z</dcterms:created>
  <dcterms:modified xsi:type="dcterms:W3CDTF">2026-10-23T13:53:25Z</dcterms:modified>
  <cp:category/>
  <cp:contentStatus/>
  <dc:language>zh-TW</dc:language>
</cp:coreProperties>
</file>