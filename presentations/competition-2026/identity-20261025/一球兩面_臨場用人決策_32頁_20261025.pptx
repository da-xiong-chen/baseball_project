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9144000"/>
  <p:defaultTextStyle>
    <a:defPPr>
      <a:defRPr lang="zh-TW" altLang="en-US">
        <a:latin typeface="Times New Roman"/>
        <a:ea typeface="標楷體"/>
        <a:cs typeface="Times New Roman"/>
      </a:defRPr>
    </a:defPPr>
    <a:lvl1pPr marL="0" algn="l" defTabSz="457200" rtl="0" eaLnBrk="1" latinLnBrk="0" hangingPunct="1">
      <a:defRPr lang="zh-TW" altLang="en-US" sz="1800" kern="1200">
        <a:solidFill>
          <a:schemeClr val="tx1"/>
        </a:solidFill>
        <a:latin typeface="Times New Roman"/>
        <a:ea typeface="標楷體"/>
        <a:cs typeface="Times New Roman"/>
      </a:defRPr>
    </a:lvl1pPr>
    <a:lvl2pPr marL="457200" algn="l" defTabSz="457200" rtl="0" eaLnBrk="1" latinLnBrk="0" hangingPunct="1">
      <a:defRPr lang="zh-TW" altLang="en-US" sz="1800" kern="1200">
        <a:solidFill>
          <a:schemeClr val="tx1"/>
        </a:solidFill>
        <a:latin typeface="Times New Roman"/>
        <a:ea typeface="標楷體"/>
        <a:cs typeface="Times New Roman"/>
      </a:defRPr>
    </a:lvl2pPr>
    <a:lvl3pPr marL="914400" algn="l" defTabSz="457200" rtl="0" eaLnBrk="1" latinLnBrk="0" hangingPunct="1">
      <a:defRPr lang="zh-TW" altLang="en-US" sz="1800" kern="1200">
        <a:solidFill>
          <a:schemeClr val="tx1"/>
        </a:solidFill>
        <a:latin typeface="Times New Roman"/>
        <a:ea typeface="標楷體"/>
        <a:cs typeface="Times New Roman"/>
      </a:defRPr>
    </a:lvl3pPr>
    <a:lvl4pPr marL="1371600" algn="l" defTabSz="457200" rtl="0" eaLnBrk="1" latinLnBrk="0" hangingPunct="1">
      <a:defRPr lang="zh-TW" altLang="en-US" sz="1800" kern="1200">
        <a:solidFill>
          <a:schemeClr val="tx1"/>
        </a:solidFill>
        <a:latin typeface="Times New Roman"/>
        <a:ea typeface="標楷體"/>
        <a:cs typeface="Times New Roman"/>
      </a:defRPr>
    </a:lvl4pPr>
    <a:lvl5pPr marL="1828800" algn="l" defTabSz="457200" rtl="0" eaLnBrk="1" latinLnBrk="0" hangingPunct="1">
      <a:defRPr lang="zh-TW" altLang="en-US" sz="1800" kern="1200">
        <a:solidFill>
          <a:schemeClr val="tx1"/>
        </a:solidFill>
        <a:latin typeface="Times New Roman"/>
        <a:ea typeface="標楷體"/>
        <a:cs typeface="Times New Roman"/>
      </a:defRPr>
    </a:lvl5pPr>
    <a:lvl6pPr marL="2286000" algn="l" defTabSz="457200" rtl="0" eaLnBrk="1" latinLnBrk="0" hangingPunct="1">
      <a:defRPr lang="zh-TW" altLang="en-US" sz="1800" kern="1200">
        <a:solidFill>
          <a:schemeClr val="tx1"/>
        </a:solidFill>
        <a:latin typeface="Times New Roman"/>
        <a:ea typeface="標楷體"/>
        <a:cs typeface="Times New Roman"/>
      </a:defRPr>
    </a:lvl6pPr>
    <a:lvl7pPr marL="2743200" algn="l" defTabSz="457200" rtl="0" eaLnBrk="1" latinLnBrk="0" hangingPunct="1">
      <a:defRPr lang="zh-TW" altLang="en-US" sz="1800" kern="1200">
        <a:solidFill>
          <a:schemeClr val="tx1"/>
        </a:solidFill>
        <a:latin typeface="Times New Roman"/>
        <a:ea typeface="標楷體"/>
        <a:cs typeface="Times New Roman"/>
      </a:defRPr>
    </a:lvl7pPr>
    <a:lvl8pPr marL="3200400" algn="l" defTabSz="457200" rtl="0" eaLnBrk="1" latinLnBrk="0" hangingPunct="1">
      <a:defRPr lang="zh-TW" altLang="en-US" sz="1800" kern="1200">
        <a:solidFill>
          <a:schemeClr val="tx1"/>
        </a:solidFill>
        <a:latin typeface="Times New Roman"/>
        <a:ea typeface="標楷體"/>
        <a:cs typeface="Times New Roman"/>
      </a:defRPr>
    </a:lvl8pPr>
    <a:lvl9pPr marL="3657600" algn="l" defTabSz="457200" rtl="0" eaLnBrk="1" latinLnBrk="0" hangingPunct="1">
      <a:defRPr lang="zh-TW" altLang="en-US" sz="1800" kern="1200">
        <a:solidFill>
          <a:schemeClr val="tx1"/>
        </a:solidFill>
        <a:latin typeface="Times New Roman"/>
        <a:ea typeface="標楷體"/>
        <a:cs typeface="Times New Roman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7" autoAdjust="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840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aseball_competition_polished19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TW" altLang="en-US" smtClean="0">
                <a:latin typeface="Times New Roman"/>
                <a:ea typeface="標楷體"/>
                <a:cs typeface="Times New Roman"/>
              </a:rPr>
              <a:t>2026/10/23</a:t>
            </a:fld>
            <a:endParaRPr lang="zh-TW" altLang="en-US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TW" altLang="en-US" smtClean="0">
                <a:latin typeface="Times New Roman"/>
                <a:ea typeface="標楷體"/>
                <a:cs typeface="Times New Roman"/>
              </a:rPr>
              <a:t>‹#›</a:t>
            </a:fld>
            <a:endParaRPr lang="zh-TW" altLang="en-US">
              <a:latin typeface="Times New Roman"/>
              <a:ea typeface="標楷體"/>
              <a:cs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baseball_competition_polished19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zh-TW" altLang="en-US" sz="1200">
                <a:solidFill>
                  <a:schemeClr val="tx1">
                    <a:tint val="75000"/>
                  </a:schemeClr>
                </a:solidFill>
                <a:latin typeface="Times New Roman"/>
                <a:ea typeface="標楷體"/>
                <a:cs typeface="Times New Roman"/>
              </a:defRPr>
            </a:lvl1pPr>
          </a:lstStyle>
          <a:p>
            <a:fld id="{5BCAD085-E8A6-8845-BD4E-CB4CCA059FC4}" type="datetimeFigureOut">
              <a:rPr lang="zh-TW" altLang="en-US" smtClean="0">
                <a:latin typeface="Times New Roman"/>
                <a:ea typeface="標楷體"/>
                <a:cs typeface="Times New Roman"/>
              </a:rPr>
              <a:t>2026/10/23</a:t>
            </a:fld>
            <a:endParaRPr lang="zh-TW" altLang="en-US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TW" altLang="en-US" sz="1200">
                <a:solidFill>
                  <a:schemeClr val="tx1">
                    <a:tint val="75000"/>
                  </a:schemeClr>
                </a:solidFill>
                <a:latin typeface="Times New Roman"/>
                <a:ea typeface="標楷體"/>
                <a:cs typeface="Times New Roman"/>
              </a:defRPr>
            </a:lvl1pPr>
          </a:lstStyle>
          <a:p>
            <a:endParaRPr lang="zh-TW" altLang="en-US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TW" altLang="en-US" sz="1200">
                <a:solidFill>
                  <a:schemeClr val="tx1">
                    <a:tint val="75000"/>
                  </a:schemeClr>
                </a:solidFill>
                <a:latin typeface="Times New Roman"/>
                <a:ea typeface="標楷體"/>
                <a:cs typeface="Times New Roman"/>
              </a:defRPr>
            </a:lvl1pPr>
          </a:lstStyle>
          <a:p>
            <a:fld id="{C1FF6DA9-008F-8B48-92A6-B652298478BF}" type="slidenum">
              <a:rPr lang="zh-TW" altLang="en-US" smtClean="0">
                <a:latin typeface="Times New Roman"/>
                <a:ea typeface="標楷體"/>
                <a:cs typeface="Times New Roman"/>
              </a:rPr>
              <a:t>‹#›</a:t>
            </a:fld>
            <a:endParaRPr lang="zh-TW" altLang="en-US">
              <a:latin typeface="Times New Roman"/>
              <a:ea typeface="標楷體"/>
              <a:cs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lang="zh-TW" altLang="en-US" sz="3300" kern="1200">
          <a:solidFill>
            <a:schemeClr val="tx1"/>
          </a:solidFill>
          <a:latin typeface="Times New Roman"/>
          <a:ea typeface="標楷體"/>
          <a:cs typeface="Times New Roman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lang="zh-TW" altLang="en-US" sz="2100" kern="1200">
          <a:solidFill>
            <a:schemeClr val="tx1"/>
          </a:solidFill>
          <a:latin typeface="Times New Roman"/>
          <a:ea typeface="標楷體"/>
          <a:cs typeface="Times New Roman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lang="zh-TW" altLang="en-US" sz="1950" kern="1200">
          <a:solidFill>
            <a:schemeClr val="tx1"/>
          </a:solidFill>
          <a:latin typeface="Times New Roman"/>
          <a:ea typeface="標楷體"/>
          <a:cs typeface="Times New Roman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lang="zh-TW" altLang="en-US" sz="1850" kern="1200">
          <a:solidFill>
            <a:schemeClr val="tx1"/>
          </a:solidFill>
          <a:latin typeface="Times New Roman"/>
          <a:ea typeface="標楷體"/>
          <a:cs typeface="Times New Roman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lang="zh-TW" altLang="en-US" sz="1700" kern="1200">
          <a:solidFill>
            <a:schemeClr val="tx1"/>
          </a:solidFill>
          <a:latin typeface="Times New Roman"/>
          <a:ea typeface="標楷體"/>
          <a:cs typeface="Times New Roman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lang="zh-TW" altLang="en-US" sz="1600" kern="1200">
          <a:solidFill>
            <a:schemeClr val="tx1"/>
          </a:solidFill>
          <a:latin typeface="Times New Roman"/>
          <a:ea typeface="標楷體"/>
          <a:cs typeface="Times New Roman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lang="zh-TW" altLang="en-US" sz="1450" kern="1200">
          <a:solidFill>
            <a:schemeClr val="tx1"/>
          </a:solidFill>
          <a:latin typeface="Times New Roman"/>
          <a:ea typeface="標楷體"/>
          <a:cs typeface="Times New Roman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lang="zh-TW" altLang="en-US" sz="1300" kern="1200">
          <a:solidFill>
            <a:schemeClr val="tx1"/>
          </a:solidFill>
          <a:latin typeface="Times New Roman"/>
          <a:ea typeface="標楷體"/>
          <a:cs typeface="Times New Roman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lang="zh-TW" altLang="en-US" sz="1200" kern="1200">
          <a:solidFill>
            <a:schemeClr val="tx1"/>
          </a:solidFill>
          <a:latin typeface="Times New Roman"/>
          <a:ea typeface="標楷體"/>
          <a:cs typeface="Times New Roman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lang="zh-TW" altLang="en-US" sz="1050" kern="1200">
          <a:solidFill>
            <a:schemeClr val="tx1"/>
          </a:solidFill>
          <a:latin typeface="Times New Roman"/>
          <a:ea typeface="標楷體"/>
          <a:cs typeface="Times New Roman"/>
        </a:defRPr>
      </a:lvl9pPr>
    </p:bodyStyle>
    <p:otherStyle>
      <a:defPPr>
        <a:defRPr lang="zh-TW" altLang="en-US">
          <a:latin typeface="Times New Roman"/>
          <a:ea typeface="標楷體"/>
          <a:cs typeface="Times New Roman"/>
        </a:defRPr>
      </a:defPPr>
      <a:lvl1pPr marL="0" algn="l" defTabSz="457200" rtl="0" eaLnBrk="1" latinLnBrk="0" hangingPunct="1">
        <a:defRPr lang="zh-TW" altLang="en-US" sz="2100" kern="1200">
          <a:solidFill>
            <a:schemeClr val="tx1"/>
          </a:solidFill>
          <a:latin typeface="Times New Roman"/>
          <a:ea typeface="標楷體"/>
          <a:cs typeface="Times New Roman"/>
        </a:defRPr>
      </a:lvl1pPr>
      <a:lvl2pPr marL="457200" algn="l" defTabSz="457200" rtl="0" eaLnBrk="1" latinLnBrk="0" hangingPunct="1">
        <a:defRPr lang="zh-TW" altLang="en-US" sz="1950" kern="1200">
          <a:solidFill>
            <a:schemeClr val="tx1"/>
          </a:solidFill>
          <a:latin typeface="Times New Roman"/>
          <a:ea typeface="標楷體"/>
          <a:cs typeface="Times New Roman"/>
        </a:defRPr>
      </a:lvl2pPr>
      <a:lvl3pPr marL="914400" algn="l" defTabSz="457200" rtl="0" eaLnBrk="1" latinLnBrk="0" hangingPunct="1">
        <a:defRPr lang="zh-TW" altLang="en-US" sz="1850" kern="1200">
          <a:solidFill>
            <a:schemeClr val="tx1"/>
          </a:solidFill>
          <a:latin typeface="Times New Roman"/>
          <a:ea typeface="標楷體"/>
          <a:cs typeface="Times New Roman"/>
        </a:defRPr>
      </a:lvl3pPr>
      <a:lvl4pPr marL="1371600" algn="l" defTabSz="457200" rtl="0" eaLnBrk="1" latinLnBrk="0" hangingPunct="1">
        <a:defRPr lang="zh-TW" altLang="en-US" sz="1700" kern="1200">
          <a:solidFill>
            <a:schemeClr val="tx1"/>
          </a:solidFill>
          <a:latin typeface="Times New Roman"/>
          <a:ea typeface="標楷體"/>
          <a:cs typeface="Times New Roman"/>
        </a:defRPr>
      </a:lvl4pPr>
      <a:lvl5pPr marL="1828800" algn="l" defTabSz="457200" rtl="0" eaLnBrk="1" latinLnBrk="0" hangingPunct="1">
        <a:defRPr lang="zh-TW" altLang="en-US" sz="1600" kern="1200">
          <a:solidFill>
            <a:schemeClr val="tx1"/>
          </a:solidFill>
          <a:latin typeface="Times New Roman"/>
          <a:ea typeface="標楷體"/>
          <a:cs typeface="Times New Roman"/>
        </a:defRPr>
      </a:lvl5pPr>
      <a:lvl6pPr marL="2286000" algn="l" defTabSz="457200" rtl="0" eaLnBrk="1" latinLnBrk="0" hangingPunct="1">
        <a:defRPr lang="zh-TW" altLang="en-US" sz="1450" kern="1200">
          <a:solidFill>
            <a:schemeClr val="tx1"/>
          </a:solidFill>
          <a:latin typeface="Times New Roman"/>
          <a:ea typeface="標楷體"/>
          <a:cs typeface="Times New Roman"/>
        </a:defRPr>
      </a:lvl6pPr>
      <a:lvl7pPr marL="2743200" algn="l" defTabSz="457200" rtl="0" eaLnBrk="1" latinLnBrk="0" hangingPunct="1">
        <a:defRPr lang="zh-TW" altLang="en-US" sz="1300" kern="1200">
          <a:solidFill>
            <a:schemeClr val="tx1"/>
          </a:solidFill>
          <a:latin typeface="Times New Roman"/>
          <a:ea typeface="標楷體"/>
          <a:cs typeface="Times New Roman"/>
        </a:defRPr>
      </a:lvl7pPr>
      <a:lvl8pPr marL="3200400" algn="l" defTabSz="457200" rtl="0" eaLnBrk="1" latinLnBrk="0" hangingPunct="1">
        <a:defRPr lang="zh-TW" altLang="en-US" sz="1200" kern="1200">
          <a:solidFill>
            <a:schemeClr val="tx1"/>
          </a:solidFill>
          <a:latin typeface="Times New Roman"/>
          <a:ea typeface="標楷體"/>
          <a:cs typeface="Times New Roman"/>
        </a:defRPr>
      </a:lvl8pPr>
      <a:lvl9pPr marL="3657600" algn="l" defTabSz="457200" rtl="0" eaLnBrk="1" latinLnBrk="0" hangingPunct="1">
        <a:defRPr lang="zh-TW" altLang="en-US" sz="1050" kern="1200">
          <a:solidFill>
            <a:schemeClr val="tx1"/>
          </a:solidFill>
          <a:latin typeface="Times New Roman"/>
          <a:ea typeface="標楷體"/>
          <a:cs typeface="Times New Roman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hyperlink" Target="https://da-xiong-chen.github.io/baseball_project/" TargetMode="External"/><Relationship Id="rId4" Type="http://schemas.openxmlformats.org/officeDocument/2006/relationships/hyperlink" Target="https://github.com/Da-Xiong-Chen/baseball_project" TargetMode="External"/><Relationship Id="rId5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_2b516f7044689ea7.png"/><Relationship Id="rId5" Type="http://schemas.openxmlformats.org/officeDocument/2006/relationships/image" Target="../media/image_98f7606aacd44e6f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_2b516f7044689ea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_2b516f7044689ea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bb32fc1a7bc810ea.png"/><Relationship Id="rId3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84f4d0f46d65ed2e.png"/><Relationship Id="rId3" Type="http://schemas.openxmlformats.org/officeDocument/2006/relationships/image" Target="../media/image_b47605d954d4d870.png"/><Relationship Id="rId4" Type="http://schemas.openxmlformats.org/officeDocument/2006/relationships/image" Target="../media/image6.png"/><Relationship Id="rId5" Type="http://schemas.openxmlformats.org/officeDocument/2006/relationships/image" Target="../media/image_342f8f748633baa3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4a95b7fbff185e31.png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_d3533253bf245e35.png"/></Relationships>
</file>

<file path=ppt/slides/_rels/slide2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_ea244da7add09269.jpg" /></Relationships>
</file>

<file path=ppt/slides/_rels/slide2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_154cde719aa5e014.jpg" 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3" Type="http://schemas.openxmlformats.org/officeDocument/2006/relationships/image" Target="../media/image13.png" /><Relationship Id="rId6" Type="http://schemas.openxmlformats.org/officeDocument/2006/relationships/image" Target="../media/image_933a3c2a268d89c8.jpg" /></Relationships>
</file>

<file path=ppt/slides/_rels/slide2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3" Type="http://schemas.openxmlformats.org/officeDocument/2006/relationships/image" Target="../media/image16.png" 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cea99e12fb21ed1e.png"/><Relationship Id="rId3" Type="http://schemas.openxmlformats.org/officeDocument/2006/relationships/image" Target="../media/image1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doi.org/10.1080/01621459.1975.10479864" TargetMode="External"/><Relationship Id="rId3" Type="http://schemas.openxmlformats.org/officeDocument/2006/relationships/hyperlink" Target="https://doi.org/10.1214/aos/1176344552" TargetMode="External"/><Relationship Id="rId4" Type="http://schemas.openxmlformats.org/officeDocument/2006/relationships/hyperlink" Target="https://doi.org/10.1198/016214506000001437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3" Type="http://schemas.openxmlformats.org/officeDocument/2006/relationships/hyperlink" Target="https://da-xiong-chen.github.io/baseball_project/" TargetMode="External"/><Relationship Id="rId4" Type="http://schemas.openxmlformats.org/officeDocument/2006/relationships/hyperlink" Target="https://github.com/Da-Xiong-Chen/baseball_project" TargetMode="External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eam"/>
          <p:cNvGrpSpPr/>
          <p:nvPr/>
        </p:nvGrpSpPr>
        <p:grpSpPr>
          <a:xfrm>
            <a:off x="592836" y="488918"/>
            <a:ext cx="6477000" cy="1021271"/>
            <a:chOff x="592836" y="488918"/>
            <a:chExt cx="6477000" cy="1021271"/>
          </a:xfrm>
        </p:grpSpPr>
        <p:sp>
          <p:nvSpPr>
            <p:cNvPr id="2" name="TextBox 2"/>
            <p:cNvSpPr/>
            <p:nvPr/>
          </p:nvSpPr>
          <p:spPr>
            <a:xfrm>
              <a:off x="592836" y="488918"/>
              <a:ext cx="647700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200" b="1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一球兩面 | 臨場用人決策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601218" y="1187482"/>
              <a:ext cx="456104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8868" rIns="0" bIns="0" anchor="t" anchorCtr="0">
              <a:noAutofit/>
            </a:bodyPr>
            <a:lstStyle/>
            <a:p>
              <a:pPr algn="l"/>
              <a:r>
                <a:rPr lang="zh-TW" sz="1580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2026 野革盃 台灣棒球數據黑客松｜參賽提案</a:t>
              </a:r>
            </a:p>
          </p:txBody>
        </p:sp>
      </p:grpSp>
      <p:grpSp>
        <p:nvGrpSpPr>
          <p:cNvPr id="7" name="hero"/>
          <p:cNvGrpSpPr/>
          <p:nvPr/>
        </p:nvGrpSpPr>
        <p:grpSpPr>
          <a:xfrm>
            <a:off x="590550" y="1930432"/>
            <a:ext cx="5561838" cy="1542478"/>
            <a:chOff x="590550" y="1930432"/>
            <a:chExt cx="5561838" cy="1542478"/>
          </a:xfrm>
        </p:grpSpPr>
        <p:sp>
          <p:nvSpPr>
            <p:cNvPr id="5" name="TextBox 5"/>
            <p:cNvSpPr/>
            <p:nvPr/>
          </p:nvSpPr>
          <p:spPr>
            <a:xfrm>
              <a:off x="590550" y="1930432"/>
              <a:ext cx="4642104" cy="1104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57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臨場用人決策</a:t>
              </a:r>
            </a:p>
          </p:txBody>
        </p:sp>
        <p:sp>
          <p:nvSpPr>
            <p:cNvPr id="6" name="TextBox 6"/>
            <p:cNvSpPr/>
            <p:nvPr/>
          </p:nvSpPr>
          <p:spPr>
            <a:xfrm>
              <a:off x="635508" y="3003518"/>
              <a:ext cx="551688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01632" rIns="0" bIns="0" anchor="t" anchorCtr="0">
              <a:noAutofit/>
            </a:bodyPr>
            <a:lstStyle/>
            <a:p>
              <a:pPr algn="l"/>
              <a:r>
                <a:rPr lang="zh-TW" sz="2000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以公開中職資料，比較代打與換投人選</a:t>
              </a:r>
            </a:p>
          </p:txBody>
        </p:sp>
      </p:grpSp>
      <p:grpSp>
        <p:nvGrpSpPr>
          <p:cNvPr id="9" name="baseball"/>
          <p:cNvGrpSpPr/>
          <p:nvPr/>
        </p:nvGrpSpPr>
        <p:grpSpPr>
          <a:xfrm>
            <a:off x="8001000" y="1333500"/>
            <a:ext cx="3905250" cy="3905250"/>
            <a:chOff x="8001000" y="1333500"/>
            <a:chExt cx="3905250" cy="3905250"/>
          </a:xfrm>
        </p:grpSpPr>
        <p:pic>
          <p:nvPicPr>
            <p:cNvPr id="20" name="Image 2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01000" y="1333500"/>
              <a:ext cx="3905250" cy="3905250"/>
            </a:xfrm>
            <a:prstGeom prst="rect">
              <a:avLst/>
            </a:prstGeom>
          </p:spPr>
        </p:pic>
      </p:grpSp>
      <p:grpSp>
        <p:nvGrpSpPr>
          <p:cNvPr id="12" name="promise"/>
          <p:cNvGrpSpPr/>
          <p:nvPr/>
        </p:nvGrpSpPr>
        <p:grpSpPr>
          <a:xfrm>
            <a:off x="592836" y="3860768"/>
            <a:ext cx="5364480" cy="1191768"/>
            <a:chOff x="592836" y="3860768"/>
            <a:chExt cx="5364480" cy="1191768"/>
          </a:xfrm>
        </p:grpSpPr>
        <p:sp>
          <p:nvSpPr>
            <p:cNvPr id="10" name="TextBox 10"/>
            <p:cNvSpPr/>
            <p:nvPr/>
          </p:nvSpPr>
          <p:spPr>
            <a:xfrm>
              <a:off x="592836" y="3860768"/>
              <a:ext cx="53644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2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差多少？誰接守？憑什麼？</a:t>
              </a:r>
            </a:p>
          </p:txBody>
        </p:sp>
        <p:sp>
          <p:nvSpPr>
            <p:cNvPr id="11" name="TextBox 11"/>
            <p:cNvSpPr/>
            <p:nvPr/>
          </p:nvSpPr>
          <p:spPr>
            <a:xfrm>
              <a:off x="598932" y="4641818"/>
              <a:ext cx="52387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8932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隊名：一球兩面｜蘇櫟、陳信安</a:t>
              </a:r>
            </a:p>
          </p:txBody>
        </p:sp>
      </p:grpSp>
      <p:sp>
        <p:nvSpPr>
          <p:cNvPr id="16" name="TextBox 16"/>
          <p:cNvSpPr/>
          <p:nvPr/>
        </p:nvSpPr>
        <p:spPr>
          <a:xfrm>
            <a:off x="11375612" y="6445282"/>
            <a:ext cx="21364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grpSp>
        <p:nvGrpSpPr>
          <p:cNvPr id="14" name="visible-project-urls"/>
          <p:cNvGrpSpPr/>
          <p:nvPr/>
        </p:nvGrpSpPr>
        <p:grpSpPr>
          <a:xfrm>
            <a:off x="2673477" y="5502307"/>
            <a:ext cx="6845046" cy="829056"/>
            <a:chOff x="2673477" y="5502307"/>
            <a:chExt cx="6845046" cy="829056"/>
          </a:xfrm>
        </p:grpSpPr>
        <p:sp>
          <p:nvSpPr>
            <p:cNvPr id="18" name="TextBox 11">
              <a:hlinkClick r:id="rId3"/>
            </p:cNvPr>
            <p:cNvSpPr/>
            <p:nvPr/>
          </p:nvSpPr>
          <p:spPr>
            <a:xfrm>
              <a:off x="2999708" y="5502307"/>
              <a:ext cx="61925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ctr"/>
              <a:r>
                <a:rPr lang="zh-TW" sz="195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網站 https://da-xiong-chen.github.io/baseball_project/</a:t>
              </a:r>
            </a:p>
          </p:txBody>
        </p:sp>
        <p:sp>
          <p:nvSpPr>
            <p:cNvPr id="13" name="TextBox 13">
              <a:hlinkClick r:id="rId4"/>
            </p:cNvPr>
            <p:cNvSpPr/>
            <p:nvPr/>
          </p:nvSpPr>
          <p:spPr>
            <a:xfrm>
              <a:off x="2673477" y="5949982"/>
              <a:ext cx="684504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ctr"/>
              <a:r>
                <a:rPr lang="zh-TW" sz="195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原始碼 https://github.com/Da-Xiong-Chen/baseball_project</a:t>
              </a:r>
            </a:p>
          </p:txBody>
        </p:sp>
      </p:grpSp>
      <p:pic>
        <p:nvPicPr>
          <p:cNvPr id="15" name="圖片 14">
            <a:extLst>
              <a:ext uri="{FF2B5EF4-FFF2-40B4-BE49-F238E27FC236}">
                <a16:creationId id="{C7EAC4C2-788F-7E06-BC8C-3F825E4C77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5882" y="5188172"/>
            <a:ext cx="1355720" cy="1355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793"/>
            <a:ext cx="8029956" cy="1063657"/>
            <a:chOff x="592836" y="250793"/>
            <a:chExt cx="8029956" cy="1063657"/>
          </a:xfrm>
        </p:grpSpPr>
        <p:sp>
          <p:nvSpPr>
            <p:cNvPr id="2" name="TextBox 2"/>
            <p:cNvSpPr/>
            <p:nvPr/>
          </p:nvSpPr>
          <p:spPr>
            <a:xfrm>
              <a:off x="601980" y="250793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50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提案內容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802995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3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臨場用人決策：問題、方法與應用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479530" y="6473857"/>
            <a:ext cx="10972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grpSp>
        <p:nvGrpSpPr>
          <p:cNvPr id="11" name="chapter-0"/>
          <p:cNvGrpSpPr/>
          <p:nvPr/>
        </p:nvGrpSpPr>
        <p:grpSpPr>
          <a:xfrm>
            <a:off x="594741" y="1711357"/>
            <a:ext cx="4002976" cy="1848612"/>
            <a:chOff x="594741" y="1711357"/>
            <a:chExt cx="4002976" cy="1848612"/>
          </a:xfrm>
        </p:grpSpPr>
        <p:sp>
          <p:nvSpPr>
            <p:cNvPr id="7" name="TextBox 7"/>
            <p:cNvSpPr/>
            <p:nvPr/>
          </p:nvSpPr>
          <p:spPr>
            <a:xfrm>
              <a:off x="594741" y="1711357"/>
              <a:ext cx="445103" cy="5720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920" b="1" dirty="0">
                  <a:solidFill>
                    <a:srgbClr val="B54836"/>
                  </a:solidFill>
                  <a:latin typeface="Times New Roman"/>
                  <a:ea typeface="Times New Roman"/>
                  <a:cs typeface="Times New Roman"/>
                </a:rPr>
                <a:t>01</a:t>
              </a:r>
            </a:p>
          </p:txBody>
        </p:sp>
        <p:sp>
          <p:nvSpPr>
            <p:cNvPr id="8" name="TextBox 8"/>
            <p:cNvSpPr/>
            <p:nvPr/>
          </p:nvSpPr>
          <p:spPr>
            <a:xfrm>
              <a:off x="1396746" y="1762125"/>
              <a:ext cx="17423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255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問題與定位</a:t>
              </a:r>
            </a:p>
          </p:txBody>
        </p:sp>
        <p:sp>
          <p:nvSpPr>
            <p:cNvPr id="9" name="TextBox 9"/>
            <p:cNvSpPr/>
            <p:nvPr/>
          </p:nvSpPr>
          <p:spPr>
            <a:xfrm>
              <a:off x="1361122" y="2311432"/>
              <a:ext cx="3236595" cy="7689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38290" tIns="-32" rIns="0" bIns="0" anchor="t" anchorCtr="0">
              <a:noAutofit/>
            </a:bodyPr>
            <a:lstStyle/>
            <a:p>
              <a:pPr algn="l">
                <a:lnSpc>
                  <a:spcPts val="2936"/>
                </a:lnSpc>
              </a:pPr>
              <a:r>
                <a:rPr lang="zh-TW" sz="202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關鍵打席的人選比較，</a:t>
              </a:r>
              <a:br>
                <a:rPr lang="zh-TW" sz="202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</a:br>
              <a:r>
                <a:rPr lang="zh-TW" sz="202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與兩種模式的名單需求。</a:t>
              </a:r>
            </a:p>
          </p:txBody>
        </p:sp>
        <p:sp>
          <p:nvSpPr>
            <p:cNvPr id="10" name="TextBox 10"/>
            <p:cNvSpPr/>
            <p:nvPr/>
          </p:nvSpPr>
          <p:spPr>
            <a:xfrm>
              <a:off x="1400937" y="3222593"/>
              <a:ext cx="3027616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72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棒球問題、使用者與產品概念</a:t>
              </a:r>
            </a:p>
          </p:txBody>
        </p:sp>
      </p:grpSp>
      <p:grpSp>
        <p:nvGrpSpPr>
          <p:cNvPr id="16" name="chapter-1"/>
          <p:cNvGrpSpPr/>
          <p:nvPr/>
        </p:nvGrpSpPr>
        <p:grpSpPr>
          <a:xfrm>
            <a:off x="6233541" y="1711357"/>
            <a:ext cx="4290631" cy="1848612"/>
            <a:chOff x="6233541" y="1711357"/>
            <a:chExt cx="4290631" cy="1848612"/>
          </a:xfrm>
        </p:grpSpPr>
        <p:sp>
          <p:nvSpPr>
            <p:cNvPr id="12" name="TextBox 12"/>
            <p:cNvSpPr/>
            <p:nvPr/>
          </p:nvSpPr>
          <p:spPr>
            <a:xfrm>
              <a:off x="6233541" y="1711357"/>
              <a:ext cx="445103" cy="5720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920" b="1" dirty="0">
                  <a:solidFill>
                    <a:srgbClr val="B54836"/>
                  </a:solidFill>
                  <a:latin typeface="Times New Roman"/>
                  <a:ea typeface="Times New Roman"/>
                  <a:cs typeface="Times New Roman"/>
                </a:rPr>
                <a:t>02</a:t>
              </a:r>
            </a:p>
          </p:txBody>
        </p:sp>
        <p:sp>
          <p:nvSpPr>
            <p:cNvPr id="13" name="TextBox 13"/>
            <p:cNvSpPr/>
            <p:nvPr/>
          </p:nvSpPr>
          <p:spPr>
            <a:xfrm>
              <a:off x="7035546" y="1762125"/>
              <a:ext cx="17423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255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資料與方法</a:t>
              </a:r>
            </a:p>
          </p:txBody>
        </p:sp>
        <p:sp>
          <p:nvSpPr>
            <p:cNvPr id="14" name="TextBox 14"/>
            <p:cNvSpPr/>
            <p:nvPr/>
          </p:nvSpPr>
          <p:spPr>
            <a:xfrm>
              <a:off x="6999922" y="2311432"/>
              <a:ext cx="3524250" cy="7689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38290" tIns="-32" rIns="0" bIns="0" anchor="t" anchorCtr="0">
              <a:noAutofit/>
            </a:bodyPr>
            <a:lstStyle/>
            <a:p>
              <a:pPr algn="l">
                <a:lnSpc>
                  <a:spcPts val="2936"/>
                </a:lnSpc>
              </a:pPr>
              <a:r>
                <a:rPr lang="zh-TW" sz="202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公開資料、對決能力估計，</a:t>
              </a:r>
              <a:br>
                <a:rPr lang="zh-TW" sz="202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</a:br>
              <a:r>
                <a:rPr lang="zh-TW" sz="202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與時間順序驗證的結果。</a:t>
              </a:r>
            </a:p>
          </p:txBody>
        </p:sp>
        <p:sp>
          <p:nvSpPr>
            <p:cNvPr id="15" name="TextBox 15"/>
            <p:cNvSpPr/>
            <p:nvPr/>
          </p:nvSpPr>
          <p:spPr>
            <a:xfrm>
              <a:off x="7039737" y="3222593"/>
              <a:ext cx="2101406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72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使用資料與分析方法</a:t>
              </a:r>
            </a:p>
          </p:txBody>
        </p:sp>
      </p:grpSp>
      <p:grpSp>
        <p:nvGrpSpPr>
          <p:cNvPr id="21" name="chapter-2"/>
          <p:cNvGrpSpPr/>
          <p:nvPr/>
        </p:nvGrpSpPr>
        <p:grpSpPr>
          <a:xfrm>
            <a:off x="594741" y="3892582"/>
            <a:ext cx="4338256" cy="1848612"/>
            <a:chOff x="594741" y="3892582"/>
            <a:chExt cx="4338256" cy="1848612"/>
          </a:xfrm>
        </p:grpSpPr>
        <p:sp>
          <p:nvSpPr>
            <p:cNvPr id="17" name="TextBox 17"/>
            <p:cNvSpPr/>
            <p:nvPr/>
          </p:nvSpPr>
          <p:spPr>
            <a:xfrm>
              <a:off x="594741" y="3892582"/>
              <a:ext cx="445103" cy="5720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920" b="1" dirty="0">
                  <a:solidFill>
                    <a:srgbClr val="B54836"/>
                  </a:solidFill>
                  <a:latin typeface="Times New Roman"/>
                  <a:ea typeface="Times New Roman"/>
                  <a:cs typeface="Times New Roman"/>
                </a:rPr>
                <a:t>03</a:t>
              </a:r>
            </a:p>
          </p:txBody>
        </p:sp>
        <p:sp>
          <p:nvSpPr>
            <p:cNvPr id="18" name="TextBox 18"/>
            <p:cNvSpPr/>
            <p:nvPr/>
          </p:nvSpPr>
          <p:spPr>
            <a:xfrm>
              <a:off x="1396746" y="3943350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255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網站實作</a:t>
              </a:r>
            </a:p>
          </p:txBody>
        </p:sp>
        <p:sp>
          <p:nvSpPr>
            <p:cNvPr id="19" name="TextBox 19"/>
            <p:cNvSpPr/>
            <p:nvPr/>
          </p:nvSpPr>
          <p:spPr>
            <a:xfrm>
              <a:off x="1399413" y="4492657"/>
              <a:ext cx="3533584" cy="7689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>
                <a:lnSpc>
                  <a:spcPts val="2936"/>
                </a:lnSpc>
              </a:pPr>
              <a:r>
                <a:rPr lang="zh-TW" sz="202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代打、換投與名單配置，</a:t>
              </a:r>
              <a:br>
                <a:rPr lang="zh-TW" sz="202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</a:br>
              <a:r>
                <a:rPr lang="zh-TW" sz="202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以及單日決策回放與展示。</a:t>
              </a:r>
            </a:p>
          </p:txBody>
        </p:sp>
        <p:sp>
          <p:nvSpPr>
            <p:cNvPr id="20" name="TextBox 20"/>
            <p:cNvSpPr/>
            <p:nvPr/>
          </p:nvSpPr>
          <p:spPr>
            <a:xfrm>
              <a:off x="1363028" y="5403818"/>
              <a:ext cx="227742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37910" tIns="32" rIns="0" bIns="0" anchor="t" anchorCtr="0">
              <a:noAutofit/>
            </a:bodyPr>
            <a:lstStyle/>
            <a:p>
              <a:pPr algn="l"/>
              <a:r>
                <a:rPr lang="zh-TW" sz="172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功能流程與操作展示</a:t>
              </a:r>
            </a:p>
          </p:txBody>
        </p:sp>
      </p:grpSp>
      <p:grpSp>
        <p:nvGrpSpPr>
          <p:cNvPr id="26" name="chapter-3"/>
          <p:cNvGrpSpPr/>
          <p:nvPr/>
        </p:nvGrpSpPr>
        <p:grpSpPr>
          <a:xfrm>
            <a:off x="6233541" y="3892582"/>
            <a:ext cx="4002976" cy="1848612"/>
            <a:chOff x="6233541" y="3892582"/>
            <a:chExt cx="4002976" cy="1848612"/>
          </a:xfrm>
        </p:grpSpPr>
        <p:sp>
          <p:nvSpPr>
            <p:cNvPr id="22" name="TextBox 22"/>
            <p:cNvSpPr/>
            <p:nvPr/>
          </p:nvSpPr>
          <p:spPr>
            <a:xfrm>
              <a:off x="6233541" y="3892582"/>
              <a:ext cx="445103" cy="5720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920" b="1" dirty="0">
                  <a:solidFill>
                    <a:srgbClr val="B54836"/>
                  </a:solidFill>
                  <a:latin typeface="Times New Roman"/>
                  <a:ea typeface="Times New Roman"/>
                  <a:cs typeface="Times New Roman"/>
                </a:rPr>
                <a:t>04</a:t>
              </a:r>
            </a:p>
          </p:txBody>
        </p:sp>
        <p:sp>
          <p:nvSpPr>
            <p:cNvPr id="23" name="TextBox 23"/>
            <p:cNvSpPr/>
            <p:nvPr/>
          </p:nvSpPr>
          <p:spPr>
            <a:xfrm>
              <a:off x="7035546" y="3943350"/>
              <a:ext cx="242887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255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後續規劃</a:t>
              </a:r>
            </a:p>
          </p:txBody>
        </p:sp>
        <p:sp>
          <p:nvSpPr>
            <p:cNvPr id="24" name="TextBox 24"/>
            <p:cNvSpPr/>
            <p:nvPr/>
          </p:nvSpPr>
          <p:spPr>
            <a:xfrm>
              <a:off x="6999922" y="4492657"/>
              <a:ext cx="3236595" cy="7689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38290" tIns="-32" rIns="0" bIns="0" anchor="t" anchorCtr="0">
              <a:noAutofit/>
            </a:bodyPr>
            <a:lstStyle/>
            <a:p>
              <a:pPr algn="l">
                <a:lnSpc>
                  <a:spcPts val="2936"/>
                </a:lnSpc>
              </a:pPr>
              <a:r>
                <a:rPr lang="zh-TW" sz="202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跨年資料與近況權重，</a:t>
              </a:r>
              <a:br>
                <a:rPr lang="zh-TW" sz="202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</a:br>
              <a:r>
                <a:rPr lang="zh-TW" sz="202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以及多局牛棚接續問題。</a:t>
              </a:r>
            </a:p>
          </p:txBody>
        </p:sp>
        <p:sp>
          <p:nvSpPr>
            <p:cNvPr id="25" name="TextBox 25"/>
            <p:cNvSpPr/>
            <p:nvPr/>
          </p:nvSpPr>
          <p:spPr>
            <a:xfrm>
              <a:off x="7001828" y="5403818"/>
              <a:ext cx="227742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37910" tIns="32" rIns="0" bIns="0" anchor="t" anchorCtr="0">
              <a:noAutofit/>
            </a:bodyPr>
            <a:lstStyle/>
            <a:p>
              <a:pPr algn="l"/>
              <a:r>
                <a:rPr lang="zh-TW" sz="172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具體開發與驗收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baseball"/>
          <p:cNvGrpSpPr/>
          <p:nvPr/>
        </p:nvGrpSpPr>
        <p:grpSpPr>
          <a:xfrm>
            <a:off x="8001000" y="1714500"/>
            <a:ext cx="3905250" cy="3905250"/>
            <a:chOff x="8001000" y="1714500"/>
            <a:chExt cx="3905250" cy="3905250"/>
          </a:xfrm>
        </p:grpSpPr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01000" y="1714500"/>
              <a:ext cx="3905250" cy="3905250"/>
            </a:xfrm>
            <a:prstGeom prst="rect">
              <a:avLst/>
            </a:prstGeom>
          </p:spPr>
        </p:pic>
      </p:grpSp>
      <p:grpSp>
        <p:nvGrpSpPr>
          <p:cNvPr id="7" name="chapter-content"/>
          <p:cNvGrpSpPr/>
          <p:nvPr/>
        </p:nvGrpSpPr>
        <p:grpSpPr>
          <a:xfrm>
            <a:off x="590550" y="673132"/>
            <a:ext cx="5852922" cy="4496562"/>
            <a:chOff x="590550" y="673132"/>
            <a:chExt cx="5852922" cy="4496562"/>
          </a:xfrm>
        </p:grpSpPr>
        <p:sp>
          <p:nvSpPr>
            <p:cNvPr id="3" name="TextBox 3"/>
            <p:cNvSpPr/>
            <p:nvPr/>
          </p:nvSpPr>
          <p:spPr>
            <a:xfrm>
              <a:off x="590550" y="673132"/>
              <a:ext cx="1295972" cy="1619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2668" rIns="0" bIns="0" anchor="t" anchorCtr="0">
              <a:noAutofit/>
            </a:bodyPr>
            <a:lstStyle/>
            <a:p>
              <a:pPr algn="l"/>
              <a:r>
                <a:rPr lang="zh-TW" sz="8400" b="1" dirty="0">
                  <a:solidFill>
                    <a:srgbClr val="B54836"/>
                  </a:solidFill>
                  <a:latin typeface="Times New Roman"/>
                  <a:ea typeface="Times New Roman"/>
                  <a:cs typeface="Times New Roman"/>
                </a:rPr>
                <a:t>01</a:t>
              </a:r>
            </a:p>
          </p:txBody>
        </p:sp>
        <p:sp>
          <p:nvSpPr>
            <p:cNvPr id="4" name="TextBox 4"/>
            <p:cNvSpPr/>
            <p:nvPr/>
          </p:nvSpPr>
          <p:spPr>
            <a:xfrm>
              <a:off x="591312" y="2632043"/>
              <a:ext cx="585216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6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問題與定位</a:t>
              </a:r>
            </a:p>
          </p:txBody>
        </p:sp>
        <p:sp>
          <p:nvSpPr>
            <p:cNvPr id="5" name="TextBox 5"/>
            <p:cNvSpPr/>
            <p:nvPr/>
          </p:nvSpPr>
          <p:spPr>
            <a:xfrm>
              <a:off x="598932" y="3565493"/>
              <a:ext cx="426186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210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棒球問題、目標使用者與應用創新</a:t>
              </a:r>
            </a:p>
          </p:txBody>
        </p:sp>
        <p:sp>
          <p:nvSpPr>
            <p:cNvPr id="6" name="TextBox 6"/>
            <p:cNvSpPr/>
            <p:nvPr/>
          </p:nvSpPr>
          <p:spPr>
            <a:xfrm>
              <a:off x="600837" y="4832318"/>
              <a:ext cx="2564511" cy="337376"/>
            </a:xfrm>
            <a:prstGeom prst="rect">
              <a:avLst/>
            </a:prstGeom>
            <a:noFill/>
            <a:ln>
              <a:noFill/>
            </a:ln>
          </p:spPr>
        </p:sp>
      </p:grpSp>
      <p:sp>
        <p:nvSpPr>
          <p:cNvPr id="10" name="TextBox 8"/>
          <p:cNvSpPr/>
          <p:nvPr/>
        </p:nvSpPr>
        <p:spPr>
          <a:xfrm>
            <a:off x="11373422" y="6445282"/>
            <a:ext cx="2158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793"/>
            <a:ext cx="5808726" cy="1063657"/>
            <a:chOff x="592836" y="250793"/>
            <a:chExt cx="5808726" cy="1063657"/>
          </a:xfrm>
        </p:grpSpPr>
        <p:sp>
          <p:nvSpPr>
            <p:cNvPr id="2" name="TextBox 2"/>
            <p:cNvSpPr/>
            <p:nvPr/>
          </p:nvSpPr>
          <p:spPr>
            <a:xfrm>
              <a:off x="601980" y="250793"/>
              <a:ext cx="5715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50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01　問題與定位｜情境示例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580872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3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八局落後一分，要讓誰上場？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grpSp>
        <p:nvGrpSpPr>
          <p:cNvPr id="16" name="base-context"/>
          <p:cNvGrpSpPr/>
          <p:nvPr/>
        </p:nvGrpSpPr>
        <p:grpSpPr>
          <a:xfrm>
            <a:off x="2525649" y="3971925"/>
            <a:ext cx="2282952" cy="2109311"/>
            <a:chOff x="2525649" y="3971925"/>
            <a:chExt cx="2282952" cy="2109311"/>
          </a:xfrm>
        </p:grpSpPr>
        <p:sp>
          <p:nvSpPr>
            <p:cNvPr id="9" name="Polygon 9"/>
            <p:cNvSpPr/>
            <p:nvPr/>
          </p:nvSpPr>
          <p:spPr>
            <a:xfrm>
              <a:off x="3009900" y="4057650"/>
              <a:ext cx="1314450" cy="1314450"/>
            </a:xfrm>
            <a:custGeom>
              <a:avLst/>
              <a:gdLst/>
              <a:ahLst/>
              <a:cxnLst/>
              <a:rect l="l" t="t" r="r" b="b"/>
              <a:pathLst>
                <a:path w="1314450" h="1314450">
                  <a:moveTo>
                    <a:pt x="657225" y="0"/>
                  </a:moveTo>
                  <a:lnTo>
                    <a:pt x="1314450" y="657225"/>
                  </a:lnTo>
                  <a:lnTo>
                    <a:pt x="657225" y="1314450"/>
                  </a:lnTo>
                  <a:lnTo>
                    <a:pt x="0" y="657225"/>
                  </a:lnTo>
                  <a:close/>
                </a:path>
              </a:pathLst>
            </a:custGeom>
            <a:solidFill>
              <a:srgbClr val="ECE5D9"/>
            </a:solidFill>
            <a:ln w="19050">
              <a:solidFill>
                <a:srgbClr val="18344A"/>
              </a:solidFill>
            </a:ln>
          </p:spPr>
        </p:sp>
        <p:sp>
          <p:nvSpPr>
            <p:cNvPr id="10" name="Polygon 10"/>
            <p:cNvSpPr/>
            <p:nvPr/>
          </p:nvSpPr>
          <p:spPr>
            <a:xfrm>
              <a:off x="3581400" y="3971925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0"/>
                  </a:moveTo>
                  <a:lnTo>
                    <a:pt x="171450" y="85725"/>
                  </a:lnTo>
                  <a:lnTo>
                    <a:pt x="85725" y="17145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B54836"/>
            </a:solidFill>
            <a:ln w="19050">
              <a:solidFill>
                <a:srgbClr val="18344A"/>
              </a:solidFill>
            </a:ln>
          </p:spPr>
        </p:sp>
        <p:sp>
          <p:nvSpPr>
            <p:cNvPr id="11" name="Polygon 11"/>
            <p:cNvSpPr/>
            <p:nvPr/>
          </p:nvSpPr>
          <p:spPr>
            <a:xfrm>
              <a:off x="4238625" y="4629150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0"/>
                  </a:moveTo>
                  <a:lnTo>
                    <a:pt x="171450" y="85725"/>
                  </a:lnTo>
                  <a:lnTo>
                    <a:pt x="85725" y="17145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8344A"/>
              </a:solidFill>
            </a:ln>
          </p:spPr>
        </p:sp>
        <p:sp>
          <p:nvSpPr>
            <p:cNvPr id="12" name="Polygon 12"/>
            <p:cNvSpPr/>
            <p:nvPr/>
          </p:nvSpPr>
          <p:spPr>
            <a:xfrm>
              <a:off x="3581400" y="5286375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0"/>
                  </a:moveTo>
                  <a:lnTo>
                    <a:pt x="171450" y="85725"/>
                  </a:lnTo>
                  <a:lnTo>
                    <a:pt x="85725" y="17145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8344A"/>
              </a:solidFill>
            </a:ln>
          </p:spPr>
        </p:sp>
        <p:sp>
          <p:nvSpPr>
            <p:cNvPr id="13" name="Polygon 13"/>
            <p:cNvSpPr/>
            <p:nvPr/>
          </p:nvSpPr>
          <p:spPr>
            <a:xfrm>
              <a:off x="2924175" y="4629150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85725" y="0"/>
                  </a:moveTo>
                  <a:lnTo>
                    <a:pt x="171450" y="85725"/>
                  </a:lnTo>
                  <a:lnTo>
                    <a:pt x="85725" y="17145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8344A"/>
              </a:solidFill>
            </a:ln>
          </p:spPr>
        </p:sp>
        <p:sp>
          <p:nvSpPr>
            <p:cNvPr id="14" name="Ellipse 14"/>
            <p:cNvSpPr/>
            <p:nvPr/>
          </p:nvSpPr>
          <p:spPr>
            <a:xfrm>
              <a:off x="3619500" y="4667250"/>
              <a:ext cx="95250" cy="95250"/>
            </a:xfrm>
            <a:prstGeom prst="ellipse">
              <a:avLst/>
            </a:prstGeom>
            <a:solidFill>
              <a:srgbClr val="18344A"/>
            </a:solidFill>
            <a:ln w="28575">
              <a:solidFill>
                <a:srgbClr val="18344A"/>
              </a:solidFill>
            </a:ln>
          </p:spPr>
        </p:sp>
        <p:sp>
          <p:nvSpPr>
            <p:cNvPr id="15" name="TextBox 15"/>
            <p:cNvSpPr/>
            <p:nvPr/>
          </p:nvSpPr>
          <p:spPr>
            <a:xfrm>
              <a:off x="2525649" y="5670518"/>
              <a:ext cx="228295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ctr"/>
              <a:r>
                <a:rPr lang="zh-TW" sz="21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一出局，二壘有人</a:t>
              </a:r>
            </a:p>
          </p:txBody>
        </p:sp>
      </p:grpSp>
      <p:grpSp>
        <p:nvGrpSpPr>
          <p:cNvPr id="20" name="選擇 A"/>
          <p:cNvGrpSpPr/>
          <p:nvPr/>
        </p:nvGrpSpPr>
        <p:grpSpPr>
          <a:xfrm>
            <a:off x="7415022" y="2047875"/>
            <a:ext cx="2744057" cy="1421607"/>
            <a:chOff x="7415022" y="2047875"/>
            <a:chExt cx="2744057" cy="1421607"/>
          </a:xfrm>
        </p:grpSpPr>
        <p:sp>
          <p:nvSpPr>
            <p:cNvPr id="17" name="TextBox 17"/>
            <p:cNvSpPr/>
            <p:nvPr/>
          </p:nvSpPr>
          <p:spPr>
            <a:xfrm>
              <a:off x="7419975" y="2047875"/>
              <a:ext cx="840867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1880" b="1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選擇 A</a:t>
              </a:r>
            </a:p>
          </p:txBody>
        </p:sp>
        <p:sp>
          <p:nvSpPr>
            <p:cNvPr id="18" name="TextBox 18"/>
            <p:cNvSpPr/>
            <p:nvPr/>
          </p:nvSpPr>
          <p:spPr>
            <a:xfrm>
              <a:off x="7415022" y="2457450"/>
              <a:ext cx="194729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285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林佳緯續打</a:t>
              </a:r>
            </a:p>
          </p:txBody>
        </p:sp>
        <p:sp>
          <p:nvSpPr>
            <p:cNvPr id="19" name="TextBox 19"/>
            <p:cNvSpPr/>
            <p:nvPr/>
          </p:nvSpPr>
          <p:spPr>
            <a:xfrm>
              <a:off x="7419213" y="3073432"/>
              <a:ext cx="273986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02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左打，面對左投魔力藍</a:t>
              </a:r>
            </a:p>
          </p:txBody>
        </p:sp>
      </p:grpSp>
      <p:grpSp>
        <p:nvGrpSpPr>
          <p:cNvPr id="24" name="選擇 B"/>
          <p:cNvGrpSpPr/>
          <p:nvPr/>
        </p:nvGrpSpPr>
        <p:grpSpPr>
          <a:xfrm>
            <a:off x="7415022" y="4200525"/>
            <a:ext cx="3015996" cy="1421607"/>
            <a:chOff x="7415022" y="4200525"/>
            <a:chExt cx="3015996" cy="1421607"/>
          </a:xfrm>
        </p:grpSpPr>
        <p:sp>
          <p:nvSpPr>
            <p:cNvPr id="21" name="TextBox 21"/>
            <p:cNvSpPr/>
            <p:nvPr/>
          </p:nvSpPr>
          <p:spPr>
            <a:xfrm>
              <a:off x="7419975" y="4200525"/>
              <a:ext cx="822960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1880" b="1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選擇 B</a:t>
              </a:r>
            </a:p>
          </p:txBody>
        </p:sp>
        <p:sp>
          <p:nvSpPr>
            <p:cNvPr id="22" name="TextBox 22"/>
            <p:cNvSpPr/>
            <p:nvPr/>
          </p:nvSpPr>
          <p:spPr>
            <a:xfrm>
              <a:off x="7415022" y="4610100"/>
              <a:ext cx="194729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285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胡金龍代打</a:t>
              </a:r>
            </a:p>
          </p:txBody>
        </p:sp>
        <p:sp>
          <p:nvSpPr>
            <p:cNvPr id="23" name="TextBox 23"/>
            <p:cNvSpPr/>
            <p:nvPr/>
          </p:nvSpPr>
          <p:spPr>
            <a:xfrm>
              <a:off x="7419213" y="5226082"/>
              <a:ext cx="3011805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02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右打，承接指定打擊棒次</a:t>
              </a:r>
            </a:p>
          </p:txBody>
        </p:sp>
      </p:grpSp>
      <p:sp>
        <p:nvSpPr>
          <p:cNvPr id="25" name="TextBox 9"/>
          <p:cNvSpPr txBox="1"/>
          <p:nvPr/>
        </p:nvSpPr>
        <p:spPr>
          <a:xfrm>
            <a:off x="596646" y="1997075"/>
            <a:ext cx="3588258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255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8 局上｜統一 1：2 富邦</a:t>
            </a:r>
          </a:p>
        </p:txBody>
      </p:sp>
      <p:sp>
        <p:nvSpPr>
          <p:cNvPr id="26" name="TextBox 10"/>
          <p:cNvSpPr txBox="1"/>
          <p:nvPr/>
        </p:nvSpPr>
        <p:spPr>
          <a:xfrm>
            <a:off x="598932" y="2651125"/>
            <a:ext cx="200025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TW" sz="210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面對左投魔力藍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793"/>
            <a:ext cx="7585710" cy="1063657"/>
            <a:chOff x="592836" y="250793"/>
            <a:chExt cx="7585710" cy="1063657"/>
          </a:xfrm>
        </p:grpSpPr>
        <p:sp>
          <p:nvSpPr>
            <p:cNvPr id="2" name="TextBox 2"/>
            <p:cNvSpPr/>
            <p:nvPr/>
          </p:nvSpPr>
          <p:spPr>
            <a:xfrm>
              <a:off x="601980" y="250793"/>
              <a:ext cx="26517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50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01　問題與定位｜目標使用者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758571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3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一般與球隊皆可評估，差別在人選限制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479530" y="6473857"/>
            <a:ext cx="10972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5</a:t>
            </a:r>
          </a:p>
        </p:txBody>
      </p:sp>
      <p:pic>
        <p:nvPicPr>
          <p:cNvPr id="1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804511"/>
            <a:ext cx="5417345" cy="1820228"/>
          </a:xfrm>
          <a:prstGeom prst="rect">
            <a:avLst/>
          </a:prstGeom>
        </p:spPr>
      </p:pic>
      <p:pic>
        <p:nvPicPr>
          <p:cNvPr id="7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071461"/>
            <a:ext cx="5417345" cy="1820228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8084058" y="1860550"/>
            <a:ext cx="1639824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一般使用者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086344" y="2406650"/>
            <a:ext cx="1857375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自由選人評估。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086344" y="2835275"/>
            <a:ext cx="2382393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亦可自訂九棒配置。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084058" y="4070350"/>
            <a:ext cx="670560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球隊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086344" y="4616450"/>
            <a:ext cx="2119884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依場上配置評估。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086344" y="5035550"/>
            <a:ext cx="2382393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候選排除場上球員。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086725" y="5467350"/>
            <a:ext cx="2802992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當日可用名單人工確認。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793"/>
            <a:ext cx="7141464" cy="1063657"/>
            <a:chOff x="592836" y="250793"/>
            <a:chExt cx="7141464" cy="1063657"/>
          </a:xfrm>
        </p:grpSpPr>
        <p:sp>
          <p:nvSpPr>
            <p:cNvPr id="2" name="TextBox 2"/>
            <p:cNvSpPr/>
            <p:nvPr/>
          </p:nvSpPr>
          <p:spPr>
            <a:xfrm>
              <a:off x="601980" y="250793"/>
              <a:ext cx="24498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50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01　問題與定位｜應用創新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714146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3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應用創新：固定局勢下的人選比較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479530" y="6473857"/>
            <a:ext cx="10972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6</a:t>
            </a:r>
          </a:p>
        </p:txBody>
      </p:sp>
      <p:grpSp>
        <p:nvGrpSpPr>
          <p:cNvPr id="13" name="application-0"/>
          <p:cNvGrpSpPr/>
          <p:nvPr/>
        </p:nvGrpSpPr>
        <p:grpSpPr>
          <a:xfrm>
            <a:off x="597789" y="1787557"/>
            <a:ext cx="9992487" cy="1062800"/>
            <a:chOff x="597789" y="1787557"/>
            <a:chExt cx="9992487" cy="1062800"/>
          </a:xfrm>
        </p:grpSpPr>
        <p:sp>
          <p:nvSpPr>
            <p:cNvPr id="7" name="TextBox 7"/>
            <p:cNvSpPr/>
            <p:nvPr/>
          </p:nvSpPr>
          <p:spPr>
            <a:xfrm>
              <a:off x="597789" y="1787557"/>
              <a:ext cx="1272921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320" b="1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情境比較</a:t>
              </a:r>
            </a:p>
          </p:txBody>
        </p:sp>
        <p:sp>
          <p:nvSpPr>
            <p:cNvPr id="8" name="TextBox 8"/>
            <p:cNvSpPr/>
            <p:nvPr/>
          </p:nvSpPr>
          <p:spPr>
            <a:xfrm>
              <a:off x="2590038" y="1825657"/>
              <a:ext cx="4000500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02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固定對手、局數與壘況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5629275" y="1943100"/>
              <a:ext cx="504825" cy="9525"/>
            </a:xfrm>
            <a:custGeom>
              <a:avLst/>
              <a:gdLst/>
              <a:ahLst/>
              <a:cxnLst/>
              <a:rect l="l" t="t" r="r" b="b"/>
              <a:pathLst>
                <a:path w="504825" h="9525">
                  <a:moveTo>
                    <a:pt x="0" y="0"/>
                  </a:moveTo>
                  <a:lnTo>
                    <a:pt x="504825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10" name="Polygon 10"/>
            <p:cNvSpPr/>
            <p:nvPr/>
          </p:nvSpPr>
          <p:spPr>
            <a:xfrm>
              <a:off x="6019800" y="187642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B54836"/>
            </a:solidFill>
            <a:ln>
              <a:noFill/>
            </a:ln>
          </p:spPr>
        </p:sp>
        <p:sp>
          <p:nvSpPr>
            <p:cNvPr id="11" name="TextBox 11"/>
            <p:cNvSpPr/>
            <p:nvPr/>
          </p:nvSpPr>
          <p:spPr>
            <a:xfrm>
              <a:off x="6589776" y="1800225"/>
              <a:ext cx="4000500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218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同一局勢下比較候選差距</a:t>
              </a:r>
            </a:p>
          </p:txBody>
        </p:sp>
        <p:sp>
          <p:nvSpPr>
            <p:cNvPr id="12" name="TextBox 12"/>
            <p:cNvSpPr/>
            <p:nvPr/>
          </p:nvSpPr>
          <p:spPr>
            <a:xfrm>
              <a:off x="2590038" y="2454307"/>
              <a:ext cx="4000500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02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結合能力、球路與左右投打。</a:t>
              </a:r>
            </a:p>
          </p:txBody>
        </p:sp>
      </p:grpSp>
      <p:grpSp>
        <p:nvGrpSpPr>
          <p:cNvPr id="20" name="application-1"/>
          <p:cNvGrpSpPr/>
          <p:nvPr/>
        </p:nvGrpSpPr>
        <p:grpSpPr>
          <a:xfrm>
            <a:off x="597789" y="3206782"/>
            <a:ext cx="9992487" cy="1062800"/>
            <a:chOff x="597789" y="3206782"/>
            <a:chExt cx="9992487" cy="1062800"/>
          </a:xfrm>
        </p:grpSpPr>
        <p:sp>
          <p:nvSpPr>
            <p:cNvPr id="14" name="TextBox 14"/>
            <p:cNvSpPr/>
            <p:nvPr/>
          </p:nvSpPr>
          <p:spPr>
            <a:xfrm>
              <a:off x="597789" y="3206782"/>
              <a:ext cx="1272921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320" b="1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名單連動</a:t>
              </a:r>
            </a:p>
          </p:txBody>
        </p:sp>
        <p:sp>
          <p:nvSpPr>
            <p:cNvPr id="15" name="TextBox 15"/>
            <p:cNvSpPr/>
            <p:nvPr/>
          </p:nvSpPr>
          <p:spPr>
            <a:xfrm>
              <a:off x="2590038" y="3244882"/>
              <a:ext cx="4000500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02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連動板凳、牛棚與守位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5629275" y="3362325"/>
              <a:ext cx="504825" cy="9525"/>
            </a:xfrm>
            <a:custGeom>
              <a:avLst/>
              <a:gdLst/>
              <a:ahLst/>
              <a:cxnLst/>
              <a:rect l="l" t="t" r="r" b="b"/>
              <a:pathLst>
                <a:path w="504825" h="9525">
                  <a:moveTo>
                    <a:pt x="0" y="0"/>
                  </a:moveTo>
                  <a:lnTo>
                    <a:pt x="504825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17" name="Polygon 17"/>
            <p:cNvSpPr/>
            <p:nvPr/>
          </p:nvSpPr>
          <p:spPr>
            <a:xfrm>
              <a:off x="6019800" y="3295650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B54836"/>
            </a:solidFill>
            <a:ln>
              <a:noFill/>
            </a:ln>
          </p:spPr>
        </p:sp>
        <p:sp>
          <p:nvSpPr>
            <p:cNvPr id="18" name="TextBox 18"/>
            <p:cNvSpPr/>
            <p:nvPr/>
          </p:nvSpPr>
          <p:spPr>
            <a:xfrm>
              <a:off x="6589776" y="3219450"/>
              <a:ext cx="4000500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218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人選比較連動名單配置</a:t>
              </a:r>
            </a:p>
          </p:txBody>
        </p:sp>
        <p:sp>
          <p:nvSpPr>
            <p:cNvPr id="19" name="TextBox 19"/>
            <p:cNvSpPr/>
            <p:nvPr/>
          </p:nvSpPr>
          <p:spPr>
            <a:xfrm>
              <a:off x="2590038" y="3873532"/>
              <a:ext cx="4000500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02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檢查今日可用人選與接守安排。</a:t>
              </a:r>
            </a:p>
          </p:txBody>
        </p:sp>
      </p:grpSp>
      <p:grpSp>
        <p:nvGrpSpPr>
          <p:cNvPr id="27" name="application-2"/>
          <p:cNvGrpSpPr/>
          <p:nvPr/>
        </p:nvGrpSpPr>
        <p:grpSpPr>
          <a:xfrm>
            <a:off x="597789" y="4626007"/>
            <a:ext cx="10061638" cy="1062800"/>
            <a:chOff x="597789" y="4626007"/>
            <a:chExt cx="10061638" cy="1062800"/>
          </a:xfrm>
        </p:grpSpPr>
        <p:sp>
          <p:nvSpPr>
            <p:cNvPr id="21" name="TextBox 21"/>
            <p:cNvSpPr/>
            <p:nvPr/>
          </p:nvSpPr>
          <p:spPr>
            <a:xfrm>
              <a:off x="597789" y="4626007"/>
              <a:ext cx="1272921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320" b="1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決策回放</a:t>
              </a:r>
            </a:p>
          </p:txBody>
        </p:sp>
        <p:sp>
          <p:nvSpPr>
            <p:cNvPr id="22" name="TextBox 22"/>
            <p:cNvSpPr/>
            <p:nvPr/>
          </p:nvSpPr>
          <p:spPr>
            <a:xfrm>
              <a:off x="2590038" y="4664107"/>
              <a:ext cx="1652206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02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分階段揭示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5629275" y="4781550"/>
              <a:ext cx="504825" cy="9525"/>
            </a:xfrm>
            <a:custGeom>
              <a:avLst/>
              <a:gdLst/>
              <a:ahLst/>
              <a:cxnLst/>
              <a:rect l="l" t="t" r="r" b="b"/>
              <a:pathLst>
                <a:path w="504825" h="9525">
                  <a:moveTo>
                    <a:pt x="0" y="0"/>
                  </a:moveTo>
                  <a:lnTo>
                    <a:pt x="504825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24" name="Polygon 24"/>
            <p:cNvSpPr/>
            <p:nvPr/>
          </p:nvSpPr>
          <p:spPr>
            <a:xfrm>
              <a:off x="6019800" y="471487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B54836"/>
            </a:solidFill>
            <a:ln>
              <a:noFill/>
            </a:ln>
          </p:spPr>
        </p:sp>
        <p:sp>
          <p:nvSpPr>
            <p:cNvPr id="25" name="TextBox 25"/>
            <p:cNvSpPr/>
            <p:nvPr/>
          </p:nvSpPr>
          <p:spPr>
            <a:xfrm>
              <a:off x="6551295" y="4638675"/>
              <a:ext cx="4108132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38481" tIns="0" rIns="0" bIns="0" anchor="t" anchorCtr="0">
              <a:noAutofit/>
            </a:bodyPr>
            <a:lstStyle/>
            <a:p>
              <a:pPr algn="l"/>
              <a:r>
                <a:rPr lang="zh-TW" sz="218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決策資訊與賽後結果分開呈現</a:t>
              </a:r>
            </a:p>
          </p:txBody>
        </p:sp>
        <p:sp>
          <p:nvSpPr>
            <p:cNvPr id="26" name="TextBox 26"/>
            <p:cNvSpPr/>
            <p:nvPr/>
          </p:nvSpPr>
          <p:spPr>
            <a:xfrm>
              <a:off x="2551748" y="5292757"/>
              <a:ext cx="4098608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38291" tIns="-32" rIns="0" bIns="0" anchor="t" anchorCtr="0">
              <a:noAutofit/>
            </a:bodyPr>
            <a:lstStyle/>
            <a:p>
              <a:pPr algn="l"/>
              <a:r>
                <a:rPr lang="zh-TW" sz="202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區分模型事前判讀與實際結果。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793"/>
            <a:ext cx="5808726" cy="1063657"/>
            <a:chOff x="592836" y="250793"/>
            <a:chExt cx="5808726" cy="1063657"/>
          </a:xfrm>
        </p:grpSpPr>
        <p:sp>
          <p:nvSpPr>
            <p:cNvPr id="2" name="TextBox 2"/>
            <p:cNvSpPr/>
            <p:nvPr/>
          </p:nvSpPr>
          <p:spPr>
            <a:xfrm>
              <a:off x="601980" y="250793"/>
              <a:ext cx="5715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50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01　問題與定位｜功能概覽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580872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3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對決評估、配置與單日回放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479530" y="6473857"/>
            <a:ext cx="10972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7</a:t>
            </a:r>
          </a:p>
        </p:txBody>
      </p:sp>
      <p:pic>
        <p:nvPicPr>
          <p:cNvPr id="17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746" y="1619250"/>
            <a:ext cx="7427232" cy="249555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598551" y="4400550"/>
            <a:ext cx="2076399" cy="4263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8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代打／換投評估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00075" y="4914900"/>
            <a:ext cx="2043735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固定對手與局勢，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00075" y="5314950"/>
            <a:ext cx="3056077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比較現任與最多四位候選。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370451" y="4400550"/>
            <a:ext cx="1782928" cy="4263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8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我方場上名單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371975" y="4914900"/>
            <a:ext cx="2043735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球場圖設定守位，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371975" y="5314950"/>
            <a:ext cx="2802992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棒次表安排九棒與投手。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142351" y="4400550"/>
            <a:ext cx="1195984" cy="4263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8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單日分析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143875" y="4914900"/>
            <a:ext cx="1790649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依指定比賽日，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143875" y="5314950"/>
            <a:ext cx="3056077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呈現賽前負荷與打席回放。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00837" y="6070600"/>
            <a:ext cx="5111547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rgbClr val="58616B"/>
                </a:solidFill>
                <a:latin typeface="Times New Roman"/>
                <a:ea typeface="DFKai-SB"/>
                <a:cs typeface="Times New Roman"/>
              </a:rPr>
              <a:t>單日分析使用固定歷史情境，不受目前名單影響。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baseball"/>
          <p:cNvGrpSpPr/>
          <p:nvPr/>
        </p:nvGrpSpPr>
        <p:grpSpPr>
          <a:xfrm>
            <a:off x="8001000" y="1714500"/>
            <a:ext cx="3905250" cy="3905250"/>
            <a:chOff x="8001000" y="1714500"/>
            <a:chExt cx="3905250" cy="3905250"/>
          </a:xfrm>
        </p:grpSpPr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01000" y="1714500"/>
              <a:ext cx="3905250" cy="3905250"/>
            </a:xfrm>
            <a:prstGeom prst="rect">
              <a:avLst/>
            </a:prstGeom>
          </p:spPr>
        </p:pic>
      </p:grpSp>
      <p:grpSp>
        <p:nvGrpSpPr>
          <p:cNvPr id="7" name="chapter-content"/>
          <p:cNvGrpSpPr/>
          <p:nvPr/>
        </p:nvGrpSpPr>
        <p:grpSpPr>
          <a:xfrm>
            <a:off x="590550" y="673132"/>
            <a:ext cx="5852922" cy="4496562"/>
            <a:chOff x="590550" y="673132"/>
            <a:chExt cx="5852922" cy="4496562"/>
          </a:xfrm>
        </p:grpSpPr>
        <p:sp>
          <p:nvSpPr>
            <p:cNvPr id="3" name="TextBox 3"/>
            <p:cNvSpPr/>
            <p:nvPr/>
          </p:nvSpPr>
          <p:spPr>
            <a:xfrm>
              <a:off x="590550" y="673132"/>
              <a:ext cx="1295972" cy="1619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2668" rIns="0" bIns="0" anchor="t" anchorCtr="0">
              <a:noAutofit/>
            </a:bodyPr>
            <a:lstStyle/>
            <a:p>
              <a:pPr algn="l"/>
              <a:r>
                <a:rPr lang="zh-TW" sz="8400" b="1" dirty="0">
                  <a:solidFill>
                    <a:srgbClr val="B54836"/>
                  </a:solidFill>
                  <a:latin typeface="Times New Roman"/>
                  <a:ea typeface="Times New Roman"/>
                  <a:cs typeface="Times New Roman"/>
                </a:rPr>
                <a:t>02</a:t>
              </a:r>
            </a:p>
          </p:txBody>
        </p:sp>
        <p:sp>
          <p:nvSpPr>
            <p:cNvPr id="4" name="TextBox 4"/>
            <p:cNvSpPr/>
            <p:nvPr/>
          </p:nvSpPr>
          <p:spPr>
            <a:xfrm>
              <a:off x="591312" y="2632043"/>
              <a:ext cx="585216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6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資料與方法</a:t>
              </a:r>
            </a:p>
          </p:txBody>
        </p:sp>
        <p:sp>
          <p:nvSpPr>
            <p:cNvPr id="5" name="TextBox 5"/>
            <p:cNvSpPr/>
            <p:nvPr/>
          </p:nvSpPr>
          <p:spPr>
            <a:xfrm>
              <a:off x="598932" y="3565493"/>
              <a:ext cx="39791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210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資料來源、估計方法與驗證界線</a:t>
              </a:r>
            </a:p>
          </p:txBody>
        </p:sp>
        <p:sp>
          <p:nvSpPr>
            <p:cNvPr id="6" name="TextBox 6"/>
            <p:cNvSpPr/>
            <p:nvPr/>
          </p:nvSpPr>
          <p:spPr>
            <a:xfrm>
              <a:off x="600837" y="4832318"/>
              <a:ext cx="2564511" cy="337376"/>
            </a:xfrm>
            <a:prstGeom prst="rect">
              <a:avLst/>
            </a:prstGeom>
            <a:noFill/>
            <a:ln>
              <a:noFill/>
            </a:ln>
          </p:spPr>
        </p:sp>
      </p:grpSp>
      <p:sp>
        <p:nvSpPr>
          <p:cNvPr id="10" name="TextBox 8"/>
          <p:cNvSpPr/>
          <p:nvPr/>
        </p:nvSpPr>
        <p:spPr>
          <a:xfrm>
            <a:off x="11373422" y="6445282"/>
            <a:ext cx="2158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793"/>
            <a:ext cx="8029956" cy="1063657"/>
            <a:chOff x="592836" y="250793"/>
            <a:chExt cx="8029956" cy="1063657"/>
          </a:xfrm>
        </p:grpSpPr>
        <p:sp>
          <p:nvSpPr>
            <p:cNvPr id="2" name="TextBox 2"/>
            <p:cNvSpPr/>
            <p:nvPr/>
          </p:nvSpPr>
          <p:spPr>
            <a:xfrm>
              <a:off x="601980" y="250793"/>
              <a:ext cx="24498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50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02　資料與方法｜使用資料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802995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3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三類資料，各自支援不同判斷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9</a:t>
            </a:r>
          </a:p>
        </p:txBody>
      </p:sp>
      <p:grpSp>
        <p:nvGrpSpPr>
          <p:cNvPr id="20" name="p09-source-0"/>
          <p:cNvGrpSpPr/>
          <p:nvPr/>
        </p:nvGrpSpPr>
        <p:grpSpPr>
          <a:xfrm>
            <a:off x="596646" y="1857375"/>
            <a:ext cx="3546729" cy="3190875"/>
            <a:chOff x="596646" y="1857375"/>
            <a:chExt cx="3546729" cy="3190875"/>
          </a:xfrm>
        </p:grpSpPr>
        <p:sp>
          <p:nvSpPr>
            <p:cNvPr id="11" name="Rectangle 11"/>
            <p:cNvSpPr/>
            <p:nvPr/>
          </p:nvSpPr>
          <p:spPr>
            <a:xfrm>
              <a:off x="647700" y="1952625"/>
              <a:ext cx="666750" cy="476250"/>
            </a:xfrm>
            <a:prstGeom prst="rect">
              <a:avLst/>
            </a:prstGeom>
            <a:noFill/>
            <a:ln w="9525">
              <a:solidFill>
                <a:srgbClr val="18344A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647700" y="1857375"/>
              <a:ext cx="666750" cy="190500"/>
            </a:xfrm>
            <a:prstGeom prst="ellipse">
              <a:avLst/>
            </a:prstGeom>
            <a:solidFill>
              <a:srgbClr val="F7F5EF"/>
            </a:solidFill>
            <a:ln w="28575">
              <a:solidFill>
                <a:srgbClr val="18344A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647700" y="2190750"/>
              <a:ext cx="666750" cy="371475"/>
            </a:xfrm>
            <a:custGeom>
              <a:avLst/>
              <a:gdLst/>
              <a:ahLst/>
              <a:cxnLst/>
              <a:rect l="l" t="t" r="r" b="b"/>
              <a:pathLst>
                <a:path w="666750" h="371475">
                  <a:moveTo>
                    <a:pt x="0" y="0"/>
                  </a:moveTo>
                  <a:cubicBezTo>
                    <a:pt x="142875" y="133350"/>
                    <a:pt x="523875" y="133350"/>
                    <a:pt x="666750" y="0"/>
                  </a:cubicBezTo>
                  <a:moveTo>
                    <a:pt x="0" y="238125"/>
                  </a:moveTo>
                  <a:cubicBezTo>
                    <a:pt x="142875" y="371475"/>
                    <a:pt x="523875" y="371475"/>
                    <a:pt x="666750" y="238125"/>
                  </a:cubicBezTo>
                </a:path>
              </a:pathLst>
            </a:custGeom>
            <a:noFill/>
            <a:ln w="28575">
              <a:solidFill>
                <a:srgbClr val="18344A"/>
              </a:solidFill>
            </a:ln>
          </p:spPr>
        </p:sp>
        <p:sp>
          <p:nvSpPr>
            <p:cNvPr id="14" name="TextBox 14"/>
            <p:cNvSpPr/>
            <p:nvPr/>
          </p:nvSpPr>
          <p:spPr>
            <a:xfrm>
              <a:off x="596646" y="2635282"/>
              <a:ext cx="165811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550" b="1" dirty="0">
                  <a:solidFill>
                    <a:srgbClr val="B54836"/>
                  </a:solidFill>
                  <a:latin typeface="Times New Roman"/>
                  <a:ea typeface="Times New Roman"/>
                  <a:cs typeface="Times New Roman"/>
                </a:rPr>
                <a:t>2024–2025</a:t>
              </a:r>
            </a:p>
          </p:txBody>
        </p:sp>
        <p:sp>
          <p:nvSpPr>
            <p:cNvPr id="15" name="TextBox 15"/>
            <p:cNvSpPr/>
            <p:nvPr/>
          </p:nvSpPr>
          <p:spPr>
            <a:xfrm>
              <a:off x="597408" y="3136868"/>
              <a:ext cx="173126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24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逐球與出賽</a:t>
              </a:r>
            </a:p>
          </p:txBody>
        </p:sp>
        <p:sp>
          <p:nvSpPr>
            <p:cNvPr id="16" name="TextBox 16"/>
            <p:cNvSpPr/>
            <p:nvPr/>
          </p:nvSpPr>
          <p:spPr>
            <a:xfrm>
              <a:off x="600837" y="3613118"/>
              <a:ext cx="1883283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en-US" sz="1720" dirty="0">
                  <a:solidFill>
                    <a:srgbClr val="58616B"/>
                  </a:solidFill>
                  <a:latin typeface="Times New Roman"/>
                  <a:ea typeface="Times New Roman"/>
                  <a:cs typeface="Times New Roman"/>
                </a:rPr>
                <a:t>Rebas · ODC-By</a:t>
              </a:r>
            </a:p>
          </p:txBody>
        </p:sp>
        <p:sp>
          <p:nvSpPr>
            <p:cNvPr id="17" name="TextBox 17"/>
            <p:cNvSpPr/>
            <p:nvPr/>
          </p:nvSpPr>
          <p:spPr>
            <a:xfrm>
              <a:off x="599694" y="4197382"/>
              <a:ext cx="251612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195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對決估計與投球負荷</a:t>
              </a:r>
            </a:p>
          </p:txBody>
        </p:sp>
        <p:sp>
          <p:nvSpPr>
            <p:cNvPr id="18" name="TextBox 18"/>
            <p:cNvSpPr/>
            <p:nvPr/>
          </p:nvSpPr>
          <p:spPr>
            <a:xfrm>
              <a:off x="601218" y="4673632"/>
              <a:ext cx="14249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165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背號僅供搜尋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4133850" y="2047875"/>
              <a:ext cx="9525" cy="3000375"/>
            </a:xfrm>
            <a:custGeom>
              <a:avLst/>
              <a:gdLst/>
              <a:ahLst/>
              <a:cxnLst/>
              <a:rect l="l" t="t" r="r" b="b"/>
              <a:pathLst>
                <a:path w="9525" h="3000375">
                  <a:moveTo>
                    <a:pt x="0" y="0"/>
                  </a:moveTo>
                  <a:lnTo>
                    <a:pt x="0" y="3000375"/>
                  </a:lnTo>
                </a:path>
              </a:pathLst>
            </a:custGeom>
            <a:noFill/>
            <a:ln w="19050">
              <a:solidFill>
                <a:srgbClr val="D7D1C5"/>
              </a:solidFill>
            </a:ln>
          </p:spPr>
        </p:sp>
      </p:grpSp>
      <p:grpSp>
        <p:nvGrpSpPr>
          <p:cNvPr id="32" name="p09-source-1"/>
          <p:cNvGrpSpPr/>
          <p:nvPr/>
        </p:nvGrpSpPr>
        <p:grpSpPr>
          <a:xfrm>
            <a:off x="4330446" y="1857375"/>
            <a:ext cx="3546729" cy="3190875"/>
            <a:chOff x="4330446" y="1857375"/>
            <a:chExt cx="3546729" cy="3190875"/>
          </a:xfrm>
        </p:grpSpPr>
        <p:sp>
          <p:nvSpPr>
            <p:cNvPr id="21" name="Polygon 21"/>
            <p:cNvSpPr/>
            <p:nvPr/>
          </p:nvSpPr>
          <p:spPr>
            <a:xfrm>
              <a:off x="4381500" y="1857375"/>
              <a:ext cx="666750" cy="666750"/>
            </a:xfrm>
            <a:custGeom>
              <a:avLst/>
              <a:gdLst/>
              <a:ahLst/>
              <a:cxnLst/>
              <a:rect l="l" t="t" r="r" b="b"/>
              <a:pathLst>
                <a:path w="666750" h="666750">
                  <a:moveTo>
                    <a:pt x="333375" y="0"/>
                  </a:moveTo>
                  <a:lnTo>
                    <a:pt x="666750" y="333375"/>
                  </a:lnTo>
                  <a:lnTo>
                    <a:pt x="333375" y="666750"/>
                  </a:lnTo>
                  <a:lnTo>
                    <a:pt x="0" y="333375"/>
                  </a:lnTo>
                  <a:close/>
                </a:path>
              </a:pathLst>
            </a:custGeom>
            <a:noFill/>
            <a:ln w="28575">
              <a:solidFill>
                <a:srgbClr val="18344A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4676775" y="1857375"/>
              <a:ext cx="76200" cy="76200"/>
            </a:xfrm>
            <a:prstGeom prst="ellipse">
              <a:avLst/>
            </a:prstGeom>
            <a:solidFill>
              <a:srgbClr val="F7F5EF"/>
            </a:solidFill>
            <a:ln w="19050">
              <a:solidFill>
                <a:srgbClr val="18344A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4972050" y="2152650"/>
              <a:ext cx="76200" cy="76200"/>
            </a:xfrm>
            <a:prstGeom prst="ellipse">
              <a:avLst/>
            </a:prstGeom>
            <a:solidFill>
              <a:srgbClr val="F7F5EF"/>
            </a:solidFill>
            <a:ln w="19050">
              <a:solidFill>
                <a:srgbClr val="18344A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4676775" y="2447925"/>
              <a:ext cx="76200" cy="76200"/>
            </a:xfrm>
            <a:prstGeom prst="ellipse">
              <a:avLst/>
            </a:prstGeom>
            <a:solidFill>
              <a:srgbClr val="F7F5EF"/>
            </a:solidFill>
            <a:ln w="19050">
              <a:solidFill>
                <a:srgbClr val="18344A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4381500" y="2152650"/>
              <a:ext cx="76200" cy="76200"/>
            </a:xfrm>
            <a:prstGeom prst="ellipse">
              <a:avLst/>
            </a:prstGeom>
            <a:solidFill>
              <a:srgbClr val="F7F5EF"/>
            </a:solidFill>
            <a:ln w="19050">
              <a:solidFill>
                <a:srgbClr val="18344A"/>
              </a:solidFill>
            </a:ln>
          </p:spPr>
        </p:sp>
        <p:sp>
          <p:nvSpPr>
            <p:cNvPr id="26" name="TextBox 26"/>
            <p:cNvSpPr/>
            <p:nvPr/>
          </p:nvSpPr>
          <p:spPr>
            <a:xfrm>
              <a:off x="4330446" y="2635282"/>
              <a:ext cx="165811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550" b="1" dirty="0">
                  <a:solidFill>
                    <a:srgbClr val="B54836"/>
                  </a:solidFill>
                  <a:latin typeface="Times New Roman"/>
                  <a:ea typeface="Times New Roman"/>
                  <a:cs typeface="Times New Roman"/>
                </a:rPr>
                <a:t>2023–2024</a:t>
              </a:r>
            </a:p>
          </p:txBody>
        </p:sp>
        <p:sp>
          <p:nvSpPr>
            <p:cNvPr id="27" name="TextBox 27"/>
            <p:cNvSpPr/>
            <p:nvPr/>
          </p:nvSpPr>
          <p:spPr>
            <a:xfrm>
              <a:off x="4331208" y="3136868"/>
              <a:ext cx="138988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24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歷年守位</a:t>
              </a:r>
            </a:p>
          </p:txBody>
        </p:sp>
        <p:sp>
          <p:nvSpPr>
            <p:cNvPr id="28" name="TextBox 28"/>
            <p:cNvSpPr/>
            <p:nvPr/>
          </p:nvSpPr>
          <p:spPr>
            <a:xfrm>
              <a:off x="4334637" y="3613118"/>
              <a:ext cx="131340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en-US" sz="1720" dirty="0">
                  <a:solidFill>
                    <a:srgbClr val="58616B"/>
                  </a:solidFill>
                  <a:latin typeface="Times New Roman"/>
                  <a:ea typeface="Times New Roman"/>
                  <a:cs typeface="Times New Roman"/>
                </a:rPr>
                <a:t>ldkrsi · MIT</a:t>
              </a:r>
            </a:p>
          </p:txBody>
        </p:sp>
        <p:sp>
          <p:nvSpPr>
            <p:cNvPr id="29" name="TextBox 29"/>
            <p:cNvSpPr/>
            <p:nvPr/>
          </p:nvSpPr>
          <p:spPr>
            <a:xfrm>
              <a:off x="4333494" y="4197382"/>
              <a:ext cx="251612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195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歷史接守能力推估</a:t>
              </a:r>
            </a:p>
          </p:txBody>
        </p:sp>
        <p:sp>
          <p:nvSpPr>
            <p:cNvPr id="30" name="TextBox 30"/>
            <p:cNvSpPr/>
            <p:nvPr/>
          </p:nvSpPr>
          <p:spPr>
            <a:xfrm>
              <a:off x="4335018" y="4673632"/>
              <a:ext cx="306781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165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歷史回放不使用2025整季守位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7867650" y="2047875"/>
              <a:ext cx="9525" cy="3000375"/>
            </a:xfrm>
            <a:custGeom>
              <a:avLst/>
              <a:gdLst/>
              <a:ahLst/>
              <a:cxnLst/>
              <a:rect l="l" t="t" r="r" b="b"/>
              <a:pathLst>
                <a:path w="9525" h="3000375">
                  <a:moveTo>
                    <a:pt x="0" y="0"/>
                  </a:moveTo>
                  <a:lnTo>
                    <a:pt x="0" y="3000375"/>
                  </a:lnTo>
                </a:path>
              </a:pathLst>
            </a:custGeom>
            <a:noFill/>
            <a:ln w="19050">
              <a:solidFill>
                <a:srgbClr val="D7D1C5"/>
              </a:solidFill>
            </a:ln>
          </p:spPr>
        </p:sp>
      </p:grpSp>
      <p:grpSp>
        <p:nvGrpSpPr>
          <p:cNvPr id="40" name="p09-source-2"/>
          <p:cNvGrpSpPr/>
          <p:nvPr/>
        </p:nvGrpSpPr>
        <p:grpSpPr>
          <a:xfrm>
            <a:off x="8064246" y="1885950"/>
            <a:ext cx="2602992" cy="3110389"/>
            <a:chOff x="8064246" y="1885950"/>
            <a:chExt cx="2602992" cy="3110389"/>
          </a:xfrm>
        </p:grpSpPr>
        <p:sp>
          <p:nvSpPr>
            <p:cNvPr id="33" name="Ellipse 33"/>
            <p:cNvSpPr/>
            <p:nvPr/>
          </p:nvSpPr>
          <p:spPr>
            <a:xfrm>
              <a:off x="8334375" y="1885950"/>
              <a:ext cx="228600" cy="228600"/>
            </a:xfrm>
            <a:prstGeom prst="ellipse">
              <a:avLst/>
            </a:prstGeom>
            <a:noFill/>
            <a:ln w="28575">
              <a:solidFill>
                <a:srgbClr val="18344A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8191500" y="2124075"/>
              <a:ext cx="514350" cy="381000"/>
            </a:xfrm>
            <a:custGeom>
              <a:avLst/>
              <a:gdLst/>
              <a:ahLst/>
              <a:cxnLst/>
              <a:rect l="l" t="t" r="r" b="b"/>
              <a:pathLst>
                <a:path w="514350" h="381000">
                  <a:moveTo>
                    <a:pt x="0" y="381000"/>
                  </a:moveTo>
                  <a:lnTo>
                    <a:pt x="0" y="228600"/>
                  </a:lnTo>
                  <a:cubicBezTo>
                    <a:pt x="0" y="0"/>
                    <a:pt x="514350" y="0"/>
                    <a:pt x="514350" y="228600"/>
                  </a:cubicBezTo>
                  <a:lnTo>
                    <a:pt x="514350" y="381000"/>
                  </a:lnTo>
                </a:path>
              </a:pathLst>
            </a:custGeom>
            <a:noFill/>
            <a:ln w="28575">
              <a:solidFill>
                <a:srgbClr val="18344A"/>
              </a:solidFill>
            </a:ln>
          </p:spPr>
        </p:sp>
        <p:sp>
          <p:nvSpPr>
            <p:cNvPr id="35" name="TextBox 35"/>
            <p:cNvSpPr/>
            <p:nvPr/>
          </p:nvSpPr>
          <p:spPr>
            <a:xfrm>
              <a:off x="8064246" y="2635282"/>
              <a:ext cx="7513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550" b="1" dirty="0">
                  <a:solidFill>
                    <a:srgbClr val="B54836"/>
                  </a:solidFill>
                  <a:latin typeface="Times New Roman"/>
                  <a:ea typeface="Times New Roman"/>
                  <a:cs typeface="Times New Roman"/>
                </a:rPr>
                <a:t>2025</a:t>
              </a:r>
            </a:p>
          </p:txBody>
        </p:sp>
        <p:sp>
          <p:nvSpPr>
            <p:cNvPr id="36" name="TextBox 36"/>
            <p:cNvSpPr/>
            <p:nvPr/>
          </p:nvSpPr>
          <p:spPr>
            <a:xfrm>
              <a:off x="8065008" y="3136868"/>
              <a:ext cx="241401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24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球員與整季守位</a:t>
              </a:r>
            </a:p>
          </p:txBody>
        </p:sp>
        <p:sp>
          <p:nvSpPr>
            <p:cNvPr id="37" name="TextBox 37"/>
            <p:cNvSpPr/>
            <p:nvPr/>
          </p:nvSpPr>
          <p:spPr>
            <a:xfrm>
              <a:off x="8068437" y="3613118"/>
              <a:ext cx="1813370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72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CPBL 官方資料</a:t>
              </a:r>
            </a:p>
          </p:txBody>
        </p:sp>
        <p:sp>
          <p:nvSpPr>
            <p:cNvPr id="38" name="TextBox 38"/>
            <p:cNvSpPr/>
            <p:nvPr/>
          </p:nvSpPr>
          <p:spPr>
            <a:xfrm>
              <a:off x="8067294" y="4197382"/>
              <a:ext cx="251612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195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球員辨識與季後情境</a:t>
              </a:r>
            </a:p>
          </p:txBody>
        </p:sp>
        <p:sp>
          <p:nvSpPr>
            <p:cNvPr id="39" name="TextBox 39"/>
            <p:cNvSpPr/>
            <p:nvPr/>
          </p:nvSpPr>
          <p:spPr>
            <a:xfrm>
              <a:off x="8068818" y="4673632"/>
              <a:ext cx="259842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165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整季紀錄不等於當日守位</a:t>
              </a:r>
            </a:p>
          </p:txBody>
        </p:sp>
      </p:grpSp>
      <p:grpSp>
        <p:nvGrpSpPr>
          <p:cNvPr id="43" name="p09-cutoff"/>
          <p:cNvGrpSpPr/>
          <p:nvPr/>
        </p:nvGrpSpPr>
        <p:grpSpPr>
          <a:xfrm>
            <a:off x="600075" y="5562600"/>
            <a:ext cx="10982325" cy="520065"/>
            <a:chOff x="600075" y="5562600"/>
            <a:chExt cx="10982325" cy="520065"/>
          </a:xfrm>
        </p:grpSpPr>
        <p:sp>
          <p:nvSpPr>
            <p:cNvPr id="41" name="Line 41"/>
            <p:cNvSpPr/>
            <p:nvPr/>
          </p:nvSpPr>
          <p:spPr>
            <a:xfrm>
              <a:off x="609600" y="5562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D7D1C5"/>
              </a:solidFill>
            </a:ln>
          </p:spPr>
        </p:sp>
        <p:sp>
          <p:nvSpPr>
            <p:cNvPr id="42" name="TextBox 42"/>
            <p:cNvSpPr/>
            <p:nvPr/>
          </p:nvSpPr>
          <p:spPr>
            <a:xfrm>
              <a:off x="600075" y="5715000"/>
              <a:ext cx="8041386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1880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歷史能力、名單與負荷只用當日前資料；逐球模型另列訓練截止日。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793"/>
            <a:ext cx="7141464" cy="1063657"/>
            <a:chOff x="592836" y="250793"/>
            <a:chExt cx="7141464" cy="1063657"/>
          </a:xfrm>
        </p:grpSpPr>
        <p:sp>
          <p:nvSpPr>
            <p:cNvPr id="2" name="TextBox 2"/>
            <p:cNvSpPr/>
            <p:nvPr/>
          </p:nvSpPr>
          <p:spPr>
            <a:xfrm>
              <a:off x="601980" y="250793"/>
              <a:ext cx="5715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50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02　資料與方法｜估計方法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714146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3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兩模型整合，換算人選差距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10</a:t>
            </a:r>
          </a:p>
        </p:txBody>
      </p:sp>
      <p:grpSp>
        <p:nvGrpSpPr>
          <p:cNvPr id="42" name="p10-pipeline"/>
          <p:cNvGrpSpPr/>
          <p:nvPr/>
        </p:nvGrpSpPr>
        <p:grpSpPr>
          <a:xfrm>
            <a:off x="598551" y="2038350"/>
            <a:ext cx="10589895" cy="3448050"/>
            <a:chOff x="598551" y="2038350"/>
            <a:chExt cx="10589895" cy="3448050"/>
          </a:xfrm>
        </p:grpSpPr>
        <p:sp>
          <p:nvSpPr>
            <p:cNvPr id="11" name="Rectangle 11"/>
            <p:cNvSpPr/>
            <p:nvPr/>
          </p:nvSpPr>
          <p:spPr>
            <a:xfrm>
              <a:off x="762000" y="3009900"/>
              <a:ext cx="666750" cy="476250"/>
            </a:xfrm>
            <a:prstGeom prst="rect">
              <a:avLst/>
            </a:prstGeom>
            <a:noFill/>
            <a:ln w="9525">
              <a:solidFill>
                <a:srgbClr val="18344A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762000" y="2914650"/>
              <a:ext cx="666750" cy="190500"/>
            </a:xfrm>
            <a:prstGeom prst="ellipse">
              <a:avLst/>
            </a:prstGeom>
            <a:solidFill>
              <a:srgbClr val="F7F5EF"/>
            </a:solidFill>
            <a:ln w="28575">
              <a:solidFill>
                <a:srgbClr val="18344A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762000" y="3248025"/>
              <a:ext cx="666750" cy="371475"/>
            </a:xfrm>
            <a:custGeom>
              <a:avLst/>
              <a:gdLst/>
              <a:ahLst/>
              <a:cxnLst/>
              <a:rect l="l" t="t" r="r" b="b"/>
              <a:pathLst>
                <a:path w="666750" h="371475">
                  <a:moveTo>
                    <a:pt x="0" y="0"/>
                  </a:moveTo>
                  <a:cubicBezTo>
                    <a:pt x="142875" y="133350"/>
                    <a:pt x="523875" y="133350"/>
                    <a:pt x="666750" y="0"/>
                  </a:cubicBezTo>
                  <a:moveTo>
                    <a:pt x="0" y="238125"/>
                  </a:moveTo>
                  <a:cubicBezTo>
                    <a:pt x="142875" y="371475"/>
                    <a:pt x="523875" y="371475"/>
                    <a:pt x="666750" y="238125"/>
                  </a:cubicBezTo>
                </a:path>
              </a:pathLst>
            </a:custGeom>
            <a:noFill/>
            <a:ln w="28575">
              <a:solidFill>
                <a:srgbClr val="18344A"/>
              </a:solidFill>
            </a:ln>
          </p:spPr>
        </p:sp>
        <p:sp>
          <p:nvSpPr>
            <p:cNvPr id="14" name="TextBox 14"/>
            <p:cNvSpPr/>
            <p:nvPr/>
          </p:nvSpPr>
          <p:spPr>
            <a:xfrm>
              <a:off x="598551" y="3752850"/>
              <a:ext cx="1572482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218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逐球與出賽</a:t>
              </a:r>
            </a:p>
          </p:txBody>
        </p:sp>
        <p:sp>
          <p:nvSpPr>
            <p:cNvPr id="15" name="TextBox 15"/>
            <p:cNvSpPr/>
            <p:nvPr/>
          </p:nvSpPr>
          <p:spPr>
            <a:xfrm>
              <a:off x="600837" y="4203668"/>
              <a:ext cx="1730121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72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固定對手與候選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333750" y="2038350"/>
              <a:ext cx="3714750" cy="1457325"/>
            </a:xfrm>
            <a:prstGeom prst="roundRect">
              <a:avLst>
                <a:gd name="adj" fmla="val 6536"/>
              </a:avLst>
            </a:prstGeom>
            <a:solidFill>
              <a:srgbClr val="FFFFFF"/>
            </a:solidFill>
            <a:ln w="9525">
              <a:solidFill>
                <a:srgbClr val="D7D1C5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3333750" y="4029075"/>
              <a:ext cx="3714750" cy="1457325"/>
            </a:xfrm>
            <a:prstGeom prst="roundRect">
              <a:avLst>
                <a:gd name="adj" fmla="val 6536"/>
              </a:avLst>
            </a:prstGeom>
            <a:solidFill>
              <a:srgbClr val="FFFFFF"/>
            </a:solidFill>
            <a:ln w="9525">
              <a:solidFill>
                <a:srgbClr val="D7D1C5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2190750" y="3648075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19" name="Polygon 19"/>
            <p:cNvSpPr/>
            <p:nvPr/>
          </p:nvSpPr>
          <p:spPr>
            <a:xfrm>
              <a:off x="2857500" y="35909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54836"/>
            </a:solidFill>
            <a:ln>
              <a:noFill/>
            </a:ln>
          </p:spPr>
        </p:sp>
        <p:sp>
          <p:nvSpPr>
            <p:cNvPr id="20" name="Line 20"/>
            <p:cNvSpPr/>
            <p:nvPr/>
          </p:nvSpPr>
          <p:spPr>
            <a:xfrm>
              <a:off x="2952750" y="2762250"/>
              <a:ext cx="9525" cy="2000250"/>
            </a:xfrm>
            <a:custGeom>
              <a:avLst/>
              <a:gdLst/>
              <a:ahLst/>
              <a:cxnLst/>
              <a:rect l="l" t="t" r="r" b="b"/>
              <a:pathLst>
                <a:path w="9525" h="2000250">
                  <a:moveTo>
                    <a:pt x="0" y="0"/>
                  </a:moveTo>
                  <a:lnTo>
                    <a:pt x="0" y="200025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2952750" y="27622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2952750" y="476250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23" name="TextBox 23"/>
            <p:cNvSpPr/>
            <p:nvPr/>
          </p:nvSpPr>
          <p:spPr>
            <a:xfrm>
              <a:off x="3560445" y="2178082"/>
              <a:ext cx="175622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25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部分池化 [1]</a:t>
              </a:r>
            </a:p>
          </p:txBody>
        </p:sp>
        <p:sp>
          <p:nvSpPr>
            <p:cNvPr id="24" name="TextBox 24"/>
            <p:cNvSpPr/>
            <p:nvPr/>
          </p:nvSpPr>
          <p:spPr>
            <a:xfrm>
              <a:off x="3562350" y="2657475"/>
              <a:ext cx="2693194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188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能力、左右投打與球路</a:t>
              </a:r>
            </a:p>
          </p:txBody>
        </p:sp>
        <p:sp>
          <p:nvSpPr>
            <p:cNvPr id="25" name="TextBox 25"/>
            <p:cNvSpPr/>
            <p:nvPr/>
          </p:nvSpPr>
          <p:spPr>
            <a:xfrm>
              <a:off x="3563112" y="3022568"/>
              <a:ext cx="246402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72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小樣本向整體基準收縮</a:t>
              </a:r>
            </a:p>
          </p:txBody>
        </p:sp>
        <p:sp>
          <p:nvSpPr>
            <p:cNvPr id="26" name="TextBox 26"/>
            <p:cNvSpPr/>
            <p:nvPr/>
          </p:nvSpPr>
          <p:spPr>
            <a:xfrm>
              <a:off x="3560445" y="4168807"/>
              <a:ext cx="162306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25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梯度提升樹</a:t>
              </a:r>
            </a:p>
          </p:txBody>
        </p:sp>
        <p:sp>
          <p:nvSpPr>
            <p:cNvPr id="27" name="TextBox 27"/>
            <p:cNvSpPr/>
            <p:nvPr/>
          </p:nvSpPr>
          <p:spPr>
            <a:xfrm>
              <a:off x="3562350" y="4638675"/>
              <a:ext cx="2425732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188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依歷史球路模擬對決</a:t>
              </a:r>
            </a:p>
          </p:txBody>
        </p:sp>
        <p:sp>
          <p:nvSpPr>
            <p:cNvPr id="28" name="TextBox 28"/>
            <p:cNvSpPr/>
            <p:nvPr/>
          </p:nvSpPr>
          <p:spPr>
            <a:xfrm>
              <a:off x="3563112" y="5003768"/>
              <a:ext cx="2708720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72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預測逐球結果並換算得分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7048500" y="2762250"/>
              <a:ext cx="495300" cy="9525"/>
            </a:xfrm>
            <a:custGeom>
              <a:avLst/>
              <a:gdLst/>
              <a:ahLst/>
              <a:cxnLst/>
              <a:rect l="l" t="t" r="r" b="b"/>
              <a:pathLst>
                <a:path w="495300" h="9525">
                  <a:moveTo>
                    <a:pt x="0" y="0"/>
                  </a:moveTo>
                  <a:lnTo>
                    <a:pt x="495300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7048500" y="4762500"/>
              <a:ext cx="495300" cy="9525"/>
            </a:xfrm>
            <a:custGeom>
              <a:avLst/>
              <a:gdLst/>
              <a:ahLst/>
              <a:cxnLst/>
              <a:rect l="l" t="t" r="r" b="b"/>
              <a:pathLst>
                <a:path w="495300" h="9525">
                  <a:moveTo>
                    <a:pt x="0" y="0"/>
                  </a:moveTo>
                  <a:lnTo>
                    <a:pt x="495300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7543800" y="2762250"/>
              <a:ext cx="9525" cy="2000250"/>
            </a:xfrm>
            <a:custGeom>
              <a:avLst/>
              <a:gdLst/>
              <a:ahLst/>
              <a:cxnLst/>
              <a:rect l="l" t="t" r="r" b="b"/>
              <a:pathLst>
                <a:path w="9525" h="2000250">
                  <a:moveTo>
                    <a:pt x="0" y="0"/>
                  </a:moveTo>
                  <a:lnTo>
                    <a:pt x="0" y="200025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7543800" y="375285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33" name="Polygon 33"/>
            <p:cNvSpPr/>
            <p:nvPr/>
          </p:nvSpPr>
          <p:spPr>
            <a:xfrm>
              <a:off x="7886700" y="36957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54836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8020050" y="3228975"/>
              <a:ext cx="1047750" cy="1047750"/>
            </a:xfrm>
            <a:prstGeom prst="ellipse">
              <a:avLst/>
            </a:prstGeom>
            <a:solidFill>
              <a:srgbClr val="F7F5EF"/>
            </a:solidFill>
            <a:ln w="28575">
              <a:solidFill>
                <a:srgbClr val="18344A"/>
              </a:solidFill>
            </a:ln>
          </p:spPr>
        </p:sp>
        <p:sp>
          <p:nvSpPr>
            <p:cNvPr id="35" name="TextBox 35"/>
            <p:cNvSpPr/>
            <p:nvPr/>
          </p:nvSpPr>
          <p:spPr>
            <a:xfrm>
              <a:off x="8222837" y="3429000"/>
              <a:ext cx="642271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95" bIns="0" anchor="t" anchorCtr="0">
              <a:noAutofit/>
            </a:bodyPr>
            <a:lstStyle/>
            <a:p>
              <a:pPr algn="ctr"/>
              <a:r>
                <a:rPr lang="zh-TW" sz="218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各半</a:t>
              </a:r>
            </a:p>
          </p:txBody>
        </p:sp>
        <p:sp>
          <p:nvSpPr>
            <p:cNvPr id="36" name="TextBox 36"/>
            <p:cNvSpPr/>
            <p:nvPr/>
          </p:nvSpPr>
          <p:spPr>
            <a:xfrm>
              <a:off x="8087868" y="3851243"/>
              <a:ext cx="91201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5" tIns="32" rIns="0" bIns="0" anchor="t" anchorCtr="0">
              <a:noAutofit/>
            </a:bodyPr>
            <a:lstStyle/>
            <a:p>
              <a:pPr algn="ctr"/>
              <a:r>
                <a:rPr lang="zh-TW" sz="1420" dirty="0">
                  <a:solidFill>
                    <a:srgbClr val="58616B"/>
                  </a:solidFill>
                  <a:latin typeface="Times New Roman"/>
                  <a:ea typeface="Times New Roman"/>
                  <a:cs typeface="Times New Roman"/>
                </a:rPr>
                <a:t>50% / 50%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9067800" y="3752850"/>
              <a:ext cx="485775" cy="9525"/>
            </a:xfrm>
            <a:custGeom>
              <a:avLst/>
              <a:gdLst/>
              <a:ahLst/>
              <a:cxnLst/>
              <a:rect l="l" t="t" r="r" b="b"/>
              <a:pathLst>
                <a:path w="485775" h="9525">
                  <a:moveTo>
                    <a:pt x="0" y="0"/>
                  </a:moveTo>
                  <a:lnTo>
                    <a:pt x="485775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38" name="Polygon 38"/>
            <p:cNvSpPr/>
            <p:nvPr/>
          </p:nvSpPr>
          <p:spPr>
            <a:xfrm>
              <a:off x="9553575" y="36957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54836"/>
            </a:solidFill>
            <a:ln>
              <a:noFill/>
            </a:ln>
          </p:spPr>
        </p:sp>
        <p:sp>
          <p:nvSpPr>
            <p:cNvPr id="39" name="TextBox 39"/>
            <p:cNvSpPr/>
            <p:nvPr/>
          </p:nvSpPr>
          <p:spPr>
            <a:xfrm>
              <a:off x="9799320" y="2959132"/>
              <a:ext cx="130302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25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得分估計</a:t>
              </a:r>
            </a:p>
          </p:txBody>
        </p:sp>
        <p:sp>
          <p:nvSpPr>
            <p:cNvPr id="40" name="TextBox 40"/>
            <p:cNvSpPr/>
            <p:nvPr/>
          </p:nvSpPr>
          <p:spPr>
            <a:xfrm>
              <a:off x="9801225" y="3467100"/>
              <a:ext cx="1356074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188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依局勢換算</a:t>
              </a:r>
            </a:p>
          </p:txBody>
        </p:sp>
        <p:sp>
          <p:nvSpPr>
            <p:cNvPr id="41" name="TextBox 41"/>
            <p:cNvSpPr/>
            <p:nvPr/>
          </p:nvSpPr>
          <p:spPr>
            <a:xfrm>
              <a:off x="9798558" y="3879818"/>
              <a:ext cx="138988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2400" b="1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人選差距</a:t>
              </a:r>
            </a:p>
          </p:txBody>
        </p:sp>
      </p:grpSp>
      <p:sp>
        <p:nvSpPr>
          <p:cNvPr id="7" name="TextBox 7"/>
          <p:cNvSpPr/>
          <p:nvPr/>
        </p:nvSpPr>
        <p:spPr>
          <a:xfrm>
            <a:off x="600456" y="5918168"/>
            <a:ext cx="462229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32" rIns="0" bIns="0" anchor="t" anchorCtr="0">
            <a:noAutofit/>
          </a:bodyPr>
          <a:lstStyle/>
          <a:p>
            <a:pPr algn="l"/>
            <a:r>
              <a:rPr lang="zh-TW" sz="1800" dirty="0">
                <a:solidFill>
                  <a:srgbClr val="58616B"/>
                </a:solidFill>
                <a:latin typeface="Times New Roman"/>
                <a:ea typeface="DFKai-SB"/>
                <a:cs typeface="Times New Roman"/>
              </a:rPr>
              <a:t>以截止日前資料估計，整合權重各半。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793"/>
            <a:ext cx="8474202" cy="1063657"/>
            <a:chOff x="592836" y="250793"/>
            <a:chExt cx="8474202" cy="1063657"/>
          </a:xfrm>
        </p:grpSpPr>
        <p:sp>
          <p:nvSpPr>
            <p:cNvPr id="2" name="TextBox 2"/>
            <p:cNvSpPr/>
            <p:nvPr/>
          </p:nvSpPr>
          <p:spPr>
            <a:xfrm>
              <a:off x="601980" y="250793"/>
              <a:ext cx="24498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50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02　資料與方法｜判讀方式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847420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3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三項指標，分開判讀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11</a:t>
            </a:r>
          </a:p>
        </p:txBody>
      </p:sp>
      <p:grpSp>
        <p:nvGrpSpPr>
          <p:cNvPr id="12" name="score-0"/>
          <p:cNvGrpSpPr/>
          <p:nvPr/>
        </p:nvGrpSpPr>
        <p:grpSpPr>
          <a:xfrm>
            <a:off x="598170" y="2025682"/>
            <a:ext cx="3107055" cy="2953417"/>
            <a:chOff x="598170" y="2025682"/>
            <a:chExt cx="3107055" cy="2953417"/>
          </a:xfrm>
        </p:grpSpPr>
        <p:sp>
          <p:nvSpPr>
            <p:cNvPr id="7" name="TextBox 7"/>
            <p:cNvSpPr/>
            <p:nvPr/>
          </p:nvSpPr>
          <p:spPr>
            <a:xfrm>
              <a:off x="598170" y="2025682"/>
              <a:ext cx="12344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25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比較基準</a:t>
              </a:r>
            </a:p>
          </p:txBody>
        </p:sp>
        <p:sp>
          <p:nvSpPr>
            <p:cNvPr id="8" name="TextBox 8"/>
            <p:cNvSpPr/>
            <p:nvPr/>
          </p:nvSpPr>
          <p:spPr>
            <a:xfrm>
              <a:off x="2167128" y="2686050"/>
              <a:ext cx="390144" cy="962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TW" sz="4950" b="1" dirty="0">
                  <a:solidFill>
                    <a:srgbClr val="18344A"/>
                  </a:solidFill>
                  <a:latin typeface="Times New Roman"/>
                  <a:ea typeface="Times New Roman"/>
                  <a:cs typeface="Times New Roman"/>
                </a:rPr>
                <a:t>0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990600" y="3733800"/>
              <a:ext cx="2714625" cy="9525"/>
            </a:xfrm>
            <a:custGeom>
              <a:avLst/>
              <a:gdLst/>
              <a:ahLst/>
              <a:cxnLst/>
              <a:rect l="l" t="t" r="r" b="b"/>
              <a:pathLst>
                <a:path w="2714625" h="9525">
                  <a:moveTo>
                    <a:pt x="0" y="0"/>
                  </a:moveTo>
                  <a:lnTo>
                    <a:pt x="2714625" y="0"/>
                  </a:lnTo>
                </a:path>
              </a:pathLst>
            </a:custGeom>
            <a:noFill/>
            <a:ln w="28575">
              <a:solidFill>
                <a:srgbClr val="D7D1C5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2362200" y="3543300"/>
              <a:ext cx="9525" cy="371475"/>
            </a:xfrm>
            <a:custGeom>
              <a:avLst/>
              <a:gdLst/>
              <a:ahLst/>
              <a:cxnLst/>
              <a:rect l="l" t="t" r="r" b="b"/>
              <a:pathLst>
                <a:path w="9525" h="371475">
                  <a:moveTo>
                    <a:pt x="0" y="0"/>
                  </a:moveTo>
                  <a:lnTo>
                    <a:pt x="0" y="371475"/>
                  </a:lnTo>
                </a:path>
              </a:pathLst>
            </a:custGeom>
            <a:noFill/>
            <a:ln w="38100">
              <a:solidFill>
                <a:srgbClr val="18344A"/>
              </a:solidFill>
            </a:ln>
          </p:spPr>
        </p:sp>
        <p:sp>
          <p:nvSpPr>
            <p:cNvPr id="11" name="TextBox 11"/>
            <p:cNvSpPr/>
            <p:nvPr/>
          </p:nvSpPr>
          <p:spPr>
            <a:xfrm>
              <a:off x="599694" y="4238625"/>
              <a:ext cx="2991612" cy="7404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現任固定為 0。</a:t>
              </a:r>
              <a:br>
                <a:rPr lang="zh-TW" sz="195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</a:br>
              <a:r>
                <a:rPr lang="zh-TW" sz="195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對手與局勢保持一致。</a:t>
              </a:r>
            </a:p>
          </p:txBody>
        </p:sp>
      </p:grpSp>
      <p:grpSp>
        <p:nvGrpSpPr>
          <p:cNvPr id="18" name="score-1"/>
          <p:cNvGrpSpPr/>
          <p:nvPr/>
        </p:nvGrpSpPr>
        <p:grpSpPr>
          <a:xfrm>
            <a:off x="4295775" y="2025682"/>
            <a:ext cx="3404235" cy="3355943"/>
            <a:chOff x="4295775" y="2025682"/>
            <a:chExt cx="3404235" cy="3355943"/>
          </a:xfrm>
        </p:grpSpPr>
        <p:sp>
          <p:nvSpPr>
            <p:cNvPr id="13" name="TextBox 13"/>
            <p:cNvSpPr/>
            <p:nvPr/>
          </p:nvSpPr>
          <p:spPr>
            <a:xfrm>
              <a:off x="4331970" y="2025682"/>
              <a:ext cx="323850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25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勝率換算差距</a:t>
              </a:r>
            </a:p>
          </p:txBody>
        </p:sp>
        <p:sp>
          <p:nvSpPr>
            <p:cNvPr id="14" name="TextBox 14"/>
            <p:cNvSpPr/>
            <p:nvPr/>
          </p:nvSpPr>
          <p:spPr>
            <a:xfrm>
              <a:off x="5260276" y="2686050"/>
              <a:ext cx="1671447" cy="962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TW" sz="4950" b="1" dirty="0">
                  <a:solidFill>
                    <a:srgbClr val="237A53"/>
                  </a:solidFill>
                  <a:latin typeface="Times New Roman"/>
                  <a:ea typeface="Times New Roman"/>
                  <a:cs typeface="Times New Roman"/>
                </a:rPr>
                <a:t>+1.06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4724400" y="3733800"/>
              <a:ext cx="2714625" cy="9525"/>
            </a:xfrm>
            <a:custGeom>
              <a:avLst/>
              <a:gdLst/>
              <a:ahLst/>
              <a:cxnLst/>
              <a:rect l="l" t="t" r="r" b="b"/>
              <a:pathLst>
                <a:path w="2714625" h="9525">
                  <a:moveTo>
                    <a:pt x="0" y="0"/>
                  </a:moveTo>
                  <a:lnTo>
                    <a:pt x="2714625" y="0"/>
                  </a:lnTo>
                </a:path>
              </a:pathLst>
            </a:custGeom>
            <a:noFill/>
            <a:ln w="28575">
              <a:solidFill>
                <a:srgbClr val="D7D1C5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6096000" y="3629025"/>
              <a:ext cx="1047750" cy="190500"/>
            </a:xfrm>
            <a:prstGeom prst="roundRect">
              <a:avLst>
                <a:gd name="adj" fmla="val 15000"/>
              </a:avLst>
            </a:prstGeom>
            <a:solidFill>
              <a:srgbClr val="237A53"/>
            </a:solidFill>
            <a:ln>
              <a:noFill/>
            </a:ln>
          </p:spPr>
        </p:sp>
        <p:sp>
          <p:nvSpPr>
            <p:cNvPr id="17" name="TextBox 17"/>
            <p:cNvSpPr/>
            <p:nvPr/>
          </p:nvSpPr>
          <p:spPr>
            <a:xfrm>
              <a:off x="4295775" y="4238625"/>
              <a:ext cx="3404235" cy="1143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37719" tIns="-12700" rIns="0" bIns="0" anchor="t" anchorCtr="0">
              <a:noAutofit/>
            </a:bodyPr>
            <a:lstStyle/>
            <a:p>
              <a:pPr algn="l">
                <a:lnSpc>
                  <a:spcPts val="2850"/>
                </a:lnSpc>
              </a:pPr>
              <a:r>
                <a:rPr lang="zh-TW" sz="195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正值表示估計較有利。</a:t>
              </a:r>
              <a:br>
                <a:rPr lang="zh-TW" sz="195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</a:br>
              <a:r>
                <a:rPr lang="zh-TW" sz="195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百分點，非實測勝率增幅。</a:t>
              </a:r>
            </a:p>
          </p:txBody>
        </p:sp>
      </p:grpSp>
      <p:grpSp>
        <p:nvGrpSpPr>
          <p:cNvPr id="25" name="score-2"/>
          <p:cNvGrpSpPr/>
          <p:nvPr/>
        </p:nvGrpSpPr>
        <p:grpSpPr>
          <a:xfrm>
            <a:off x="8065770" y="2025682"/>
            <a:ext cx="3240786" cy="2953417"/>
            <a:chOff x="8065770" y="2025682"/>
            <a:chExt cx="3240786" cy="2953417"/>
          </a:xfrm>
        </p:grpSpPr>
        <p:sp>
          <p:nvSpPr>
            <p:cNvPr id="19" name="TextBox 19"/>
            <p:cNvSpPr/>
            <p:nvPr/>
          </p:nvSpPr>
          <p:spPr>
            <a:xfrm>
              <a:off x="8065770" y="2025682"/>
              <a:ext cx="12344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25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價值分數</a:t>
              </a:r>
            </a:p>
          </p:txBody>
        </p:sp>
        <p:sp>
          <p:nvSpPr>
            <p:cNvPr id="20" name="TextBox 20"/>
            <p:cNvSpPr/>
            <p:nvPr/>
          </p:nvSpPr>
          <p:spPr>
            <a:xfrm>
              <a:off x="8930640" y="2686050"/>
              <a:ext cx="1798320" cy="962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TW" sz="4950" b="1" dirty="0">
                  <a:solidFill>
                    <a:srgbClr val="18344A"/>
                  </a:solidFill>
                  <a:latin typeface="Times New Roman"/>
                  <a:ea typeface="Times New Roman"/>
                  <a:cs typeface="Times New Roman"/>
                </a:rPr>
                <a:t>1–100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458200" y="3733800"/>
              <a:ext cx="2714625" cy="9525"/>
            </a:xfrm>
            <a:custGeom>
              <a:avLst/>
              <a:gdLst/>
              <a:ahLst/>
              <a:cxnLst/>
              <a:rect l="l" t="t" r="r" b="b"/>
              <a:pathLst>
                <a:path w="2714625" h="9525">
                  <a:moveTo>
                    <a:pt x="0" y="0"/>
                  </a:moveTo>
                  <a:lnTo>
                    <a:pt x="2714625" y="0"/>
                  </a:lnTo>
                </a:path>
              </a:pathLst>
            </a:custGeom>
            <a:noFill/>
            <a:ln w="28575">
              <a:solidFill>
                <a:srgbClr val="D7D1C5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8743950" y="3619500"/>
              <a:ext cx="9525" cy="238125"/>
            </a:xfrm>
            <a:custGeom>
              <a:avLst/>
              <a:gdLst/>
              <a:ahLst/>
              <a:cxnLst/>
              <a:rect l="l" t="t" r="r" b="b"/>
              <a:pathLst>
                <a:path w="9525" h="238125">
                  <a:moveTo>
                    <a:pt x="0" y="0"/>
                  </a:moveTo>
                  <a:lnTo>
                    <a:pt x="0" y="238125"/>
                  </a:lnTo>
                </a:path>
              </a:pathLst>
            </a:custGeom>
            <a:noFill/>
            <a:ln w="28575">
              <a:solidFill>
                <a:srgbClr val="18344A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10934700" y="3619500"/>
              <a:ext cx="9525" cy="238125"/>
            </a:xfrm>
            <a:custGeom>
              <a:avLst/>
              <a:gdLst/>
              <a:ahLst/>
              <a:cxnLst/>
              <a:rect l="l" t="t" r="r" b="b"/>
              <a:pathLst>
                <a:path w="9525" h="238125">
                  <a:moveTo>
                    <a:pt x="0" y="0"/>
                  </a:moveTo>
                  <a:lnTo>
                    <a:pt x="0" y="238125"/>
                  </a:lnTo>
                </a:path>
              </a:pathLst>
            </a:custGeom>
            <a:noFill/>
            <a:ln w="28575">
              <a:solidFill>
                <a:srgbClr val="18344A"/>
              </a:solidFill>
            </a:ln>
          </p:spPr>
        </p:sp>
        <p:sp>
          <p:nvSpPr>
            <p:cNvPr id="24" name="TextBox 24"/>
            <p:cNvSpPr/>
            <p:nvPr/>
          </p:nvSpPr>
          <p:spPr>
            <a:xfrm>
              <a:off x="8067294" y="4238625"/>
              <a:ext cx="3239262" cy="7404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2828"/>
                </a:lnSpc>
              </a:pPr>
              <a:r>
                <a:rPr lang="zh-TW" sz="195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同角色的相對百分位。</a:t>
              </a:r>
              <a:br>
                <a:rPr lang="zh-TW" sz="195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</a:br>
              <a:r>
                <a:rPr lang="zh-TW" sz="195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分數不是成功率。</a:t>
              </a:r>
            </a:p>
          </p:txBody>
        </p:sp>
      </p:grpSp>
      <p:grpSp>
        <p:nvGrpSpPr>
          <p:cNvPr id="48" name="p11-error-limit"/>
          <p:cNvGrpSpPr/>
          <p:nvPr/>
        </p:nvGrpSpPr>
        <p:grpSpPr>
          <a:xfrm>
            <a:off x="600075" y="5857875"/>
            <a:ext cx="10982325" cy="510540"/>
            <a:chOff x="600075" y="5857875"/>
            <a:chExt cx="10982325" cy="510540"/>
          </a:xfrm>
        </p:grpSpPr>
        <p:sp>
          <p:nvSpPr>
            <p:cNvPr id="46" name="Line 46"/>
            <p:cNvSpPr/>
            <p:nvPr/>
          </p:nvSpPr>
          <p:spPr>
            <a:xfrm>
              <a:off x="609600" y="58578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D7D1C5"/>
              </a:solidFill>
            </a:ln>
          </p:spPr>
        </p:sp>
        <p:sp>
          <p:nvSpPr>
            <p:cNvPr id="47" name="TextBox 47"/>
            <p:cNvSpPr/>
            <p:nvPr/>
          </p:nvSpPr>
          <p:spPr>
            <a:xfrm>
              <a:off x="600075" y="6000750"/>
              <a:ext cx="6436900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188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誤差細線僅涵蓋階層式近似誤差，不是完整集成區間。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793"/>
            <a:ext cx="7141464" cy="1063657"/>
            <a:chOff x="592836" y="250793"/>
            <a:chExt cx="7141464" cy="1063657"/>
          </a:xfrm>
        </p:grpSpPr>
        <p:sp>
          <p:nvSpPr>
            <p:cNvPr id="2" name="TextBox 2"/>
            <p:cNvSpPr/>
            <p:nvPr/>
          </p:nvSpPr>
          <p:spPr>
            <a:xfrm>
              <a:off x="601980" y="250793"/>
              <a:ext cx="24498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50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02　資料與方法｜驗證範圍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714146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3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模型驗證：預測誤差與數值一致性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12</a:t>
            </a:r>
          </a:p>
        </p:txBody>
      </p:sp>
      <p:grpSp>
        <p:nvGrpSpPr>
          <p:cNvPr id="26" name="p12-effect"/>
          <p:cNvGrpSpPr/>
          <p:nvPr/>
        </p:nvGrpSpPr>
        <p:grpSpPr>
          <a:xfrm>
            <a:off x="590550" y="1835182"/>
            <a:ext cx="6648450" cy="4129850"/>
            <a:chOff x="590550" y="1835182"/>
            <a:chExt cx="6648450" cy="4129850"/>
          </a:xfrm>
        </p:grpSpPr>
        <p:sp>
          <p:nvSpPr>
            <p:cNvPr id="11" name="TextBox 11"/>
            <p:cNvSpPr/>
            <p:nvPr/>
          </p:nvSpPr>
          <p:spPr>
            <a:xfrm>
              <a:off x="599313" y="1835182"/>
              <a:ext cx="2103692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02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9–10 月回溯檢查</a:t>
              </a:r>
            </a:p>
          </p:txBody>
        </p:sp>
        <p:sp>
          <p:nvSpPr>
            <p:cNvPr id="12" name="TextBox 12"/>
            <p:cNvSpPr/>
            <p:nvPr/>
          </p:nvSpPr>
          <p:spPr>
            <a:xfrm>
              <a:off x="590550" y="2286000"/>
              <a:ext cx="1974342" cy="9620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4950" b="1" dirty="0">
                  <a:solidFill>
                    <a:srgbClr val="18344A"/>
                  </a:solidFill>
                  <a:latin typeface="Times New Roman"/>
                  <a:ea typeface="Times New Roman"/>
                  <a:cs typeface="Times New Roman"/>
                </a:rPr>
                <a:t>0.19%</a:t>
              </a:r>
            </a:p>
          </p:txBody>
        </p:sp>
        <p:sp>
          <p:nvSpPr>
            <p:cNvPr id="13" name="TextBox 13"/>
            <p:cNvSpPr/>
            <p:nvPr/>
          </p:nvSpPr>
          <p:spPr>
            <a:xfrm>
              <a:off x="2847594" y="2597182"/>
              <a:ext cx="196138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195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相對聯盟基準的</a:t>
              </a:r>
            </a:p>
          </p:txBody>
        </p:sp>
        <p:sp>
          <p:nvSpPr>
            <p:cNvPr id="14" name="TextBox 14"/>
            <p:cNvSpPr/>
            <p:nvPr/>
          </p:nvSpPr>
          <p:spPr>
            <a:xfrm>
              <a:off x="2847594" y="2978182"/>
              <a:ext cx="285750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195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得分預測誤差減少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1000125" y="4191000"/>
              <a:ext cx="6238875" cy="9525"/>
            </a:xfrm>
            <a:custGeom>
              <a:avLst/>
              <a:gdLst/>
              <a:ahLst/>
              <a:cxnLst/>
              <a:rect l="l" t="t" r="r" b="b"/>
              <a:pathLst>
                <a:path w="6238875" h="9525">
                  <a:moveTo>
                    <a:pt x="0" y="0"/>
                  </a:moveTo>
                  <a:lnTo>
                    <a:pt x="6238875" y="0"/>
                  </a:lnTo>
                </a:path>
              </a:pathLst>
            </a:custGeom>
            <a:noFill/>
            <a:ln w="28575">
              <a:solidFill>
                <a:srgbClr val="D7D1C5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3079718" y="3705225"/>
              <a:ext cx="9525" cy="885825"/>
            </a:xfrm>
            <a:custGeom>
              <a:avLst/>
              <a:gdLst/>
              <a:ahLst/>
              <a:cxnLst/>
              <a:rect l="l" t="t" r="r" b="b"/>
              <a:pathLst>
                <a:path w="9525" h="885825">
                  <a:moveTo>
                    <a:pt x="0" y="0"/>
                  </a:moveTo>
                  <a:lnTo>
                    <a:pt x="0" y="885825"/>
                  </a:lnTo>
                </a:path>
              </a:pathLst>
            </a:custGeom>
            <a:noFill/>
            <a:ln w="19050">
              <a:solidFill>
                <a:srgbClr val="58616B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2148773" y="4057650"/>
              <a:ext cx="4180125" cy="9525"/>
            </a:xfrm>
            <a:custGeom>
              <a:avLst/>
              <a:gdLst/>
              <a:ahLst/>
              <a:cxnLst/>
              <a:rect l="l" t="t" r="r" b="b"/>
              <a:pathLst>
                <a:path w="4180125" h="9525">
                  <a:moveTo>
                    <a:pt x="0" y="0"/>
                  </a:moveTo>
                  <a:lnTo>
                    <a:pt x="4180125" y="0"/>
                  </a:lnTo>
                </a:path>
              </a:pathLst>
            </a:custGeom>
            <a:noFill/>
            <a:ln w="57150">
              <a:solidFill>
                <a:srgbClr val="B54836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2148773" y="3914775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6328898" y="3914775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4115960" y="3981450"/>
              <a:ext cx="152400" cy="152400"/>
            </a:xfrm>
            <a:prstGeom prst="ellipse">
              <a:avLst/>
            </a:prstGeom>
            <a:solidFill>
              <a:srgbClr val="B54836"/>
            </a:solidFill>
            <a:ln w="9525">
              <a:solidFill>
                <a:srgbClr val="B54836"/>
              </a:solidFill>
            </a:ln>
          </p:spPr>
        </p:sp>
        <p:sp>
          <p:nvSpPr>
            <p:cNvPr id="21" name="TextBox 21"/>
            <p:cNvSpPr/>
            <p:nvPr/>
          </p:nvSpPr>
          <p:spPr>
            <a:xfrm>
              <a:off x="1718481" y="4638675"/>
              <a:ext cx="860584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TW" sz="1880" dirty="0">
                  <a:solidFill>
                    <a:srgbClr val="58616B"/>
                  </a:solidFill>
                  <a:latin typeface="Times New Roman"/>
                  <a:ea typeface="Times New Roman"/>
                  <a:cs typeface="Times New Roman"/>
                </a:rPr>
                <a:t>−0.16%</a:t>
              </a:r>
            </a:p>
          </p:txBody>
        </p:sp>
        <p:sp>
          <p:nvSpPr>
            <p:cNvPr id="22" name="TextBox 22"/>
            <p:cNvSpPr/>
            <p:nvPr/>
          </p:nvSpPr>
          <p:spPr>
            <a:xfrm>
              <a:off x="3003328" y="4638675"/>
              <a:ext cx="152781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TW" sz="1880" dirty="0">
                  <a:solidFill>
                    <a:srgbClr val="58616B"/>
                  </a:solidFill>
                  <a:latin typeface="Times New Roman"/>
                  <a:ea typeface="Times New Roman"/>
                  <a:cs typeface="Times New Roman"/>
                </a:rPr>
                <a:t>0</a:t>
              </a:r>
            </a:p>
          </p:txBody>
        </p:sp>
        <p:sp>
          <p:nvSpPr>
            <p:cNvPr id="23" name="TextBox 23"/>
            <p:cNvSpPr/>
            <p:nvPr/>
          </p:nvSpPr>
          <p:spPr>
            <a:xfrm>
              <a:off x="5898607" y="4638675"/>
              <a:ext cx="860584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TW" sz="1880" dirty="0">
                  <a:solidFill>
                    <a:srgbClr val="58616B"/>
                  </a:solidFill>
                  <a:latin typeface="Times New Roman"/>
                  <a:ea typeface="Times New Roman"/>
                  <a:cs typeface="Times New Roman"/>
                </a:rPr>
                <a:t>+0.55%</a:t>
              </a:r>
            </a:p>
          </p:txBody>
        </p:sp>
        <p:sp>
          <p:nvSpPr>
            <p:cNvPr id="24" name="TextBox 24"/>
            <p:cNvSpPr/>
            <p:nvPr/>
          </p:nvSpPr>
          <p:spPr>
            <a:xfrm>
              <a:off x="597408" y="5089493"/>
              <a:ext cx="2840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2400" b="1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95% 改善區間跨零</a:t>
              </a:r>
            </a:p>
          </p:txBody>
        </p:sp>
        <p:sp>
          <p:nvSpPr>
            <p:cNvPr id="25" name="TextBox 25"/>
            <p:cNvSpPr/>
            <p:nvPr/>
          </p:nvSpPr>
          <p:spPr>
            <a:xfrm>
              <a:off x="599313" y="5568982"/>
              <a:ext cx="5192458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02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區間跨零，尚不能確認優於聯盟基準。</a:t>
              </a:r>
            </a:p>
          </p:txBody>
        </p:sp>
      </p:grpSp>
      <p:grpSp>
        <p:nvGrpSpPr>
          <p:cNvPr id="36" name="p12-evidence"/>
          <p:cNvGrpSpPr/>
          <p:nvPr/>
        </p:nvGrpSpPr>
        <p:grpSpPr>
          <a:xfrm>
            <a:off x="7991475" y="1809750"/>
            <a:ext cx="3590925" cy="4143375"/>
            <a:chOff x="7991475" y="1809750"/>
            <a:chExt cx="3590925" cy="4143375"/>
          </a:xfrm>
        </p:grpSpPr>
        <p:sp>
          <p:nvSpPr>
            <p:cNvPr id="27" name="Line 27"/>
            <p:cNvSpPr/>
            <p:nvPr/>
          </p:nvSpPr>
          <p:spPr>
            <a:xfrm>
              <a:off x="7991475" y="1809750"/>
              <a:ext cx="9525" cy="4143375"/>
            </a:xfrm>
            <a:custGeom>
              <a:avLst/>
              <a:gdLst/>
              <a:ahLst/>
              <a:cxnLst/>
              <a:rect l="l" t="t" r="r" b="b"/>
              <a:pathLst>
                <a:path w="9525" h="4143375">
                  <a:moveTo>
                    <a:pt x="0" y="0"/>
                  </a:moveTo>
                  <a:lnTo>
                    <a:pt x="0" y="4143375"/>
                  </a:lnTo>
                </a:path>
              </a:pathLst>
            </a:custGeom>
            <a:noFill/>
            <a:ln w="19050">
              <a:solidFill>
                <a:srgbClr val="D7D1C5"/>
              </a:solidFill>
            </a:ln>
          </p:spPr>
        </p:sp>
        <p:sp>
          <p:nvSpPr>
            <p:cNvPr id="28" name="TextBox 28"/>
            <p:cNvSpPr/>
            <p:nvPr/>
          </p:nvSpPr>
          <p:spPr>
            <a:xfrm>
              <a:off x="8238363" y="1882807"/>
              <a:ext cx="1457230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02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數值一致性</a:t>
              </a:r>
            </a:p>
          </p:txBody>
        </p:sp>
        <p:sp>
          <p:nvSpPr>
            <p:cNvPr id="29" name="TextBox 29"/>
            <p:cNvSpPr/>
            <p:nvPr/>
          </p:nvSpPr>
          <p:spPr>
            <a:xfrm>
              <a:off x="8229981" y="2336768"/>
              <a:ext cx="1476851" cy="7197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68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452 組</a:t>
              </a:r>
            </a:p>
          </p:txBody>
        </p:sp>
        <p:sp>
          <p:nvSpPr>
            <p:cNvPr id="30" name="TextBox 30"/>
            <p:cNvSpPr/>
            <p:nvPr/>
          </p:nvSpPr>
          <p:spPr>
            <a:xfrm>
              <a:off x="8239506" y="2993993"/>
              <a:ext cx="227495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80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226 打席 × 攻守雙向</a:t>
              </a:r>
            </a:p>
          </p:txBody>
        </p:sp>
        <p:sp>
          <p:nvSpPr>
            <p:cNvPr id="31" name="TextBox 31"/>
            <p:cNvSpPr/>
            <p:nvPr/>
          </p:nvSpPr>
          <p:spPr>
            <a:xfrm>
              <a:off x="8239506" y="3355943"/>
              <a:ext cx="23225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80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通過網站與重算對照</a:t>
              </a:r>
            </a:p>
          </p:txBody>
        </p:sp>
        <p:sp>
          <p:nvSpPr>
            <p:cNvPr id="32" name="Line 32"/>
            <p:cNvSpPr/>
            <p:nvPr/>
          </p:nvSpPr>
          <p:spPr>
            <a:xfrm>
              <a:off x="8248650" y="3952875"/>
              <a:ext cx="3333750" cy="9525"/>
            </a:xfrm>
            <a:custGeom>
              <a:avLst/>
              <a:gdLst/>
              <a:ahLst/>
              <a:cxnLst/>
              <a:rect l="l" t="t" r="r" b="b"/>
              <a:pathLst>
                <a:path w="3333750" h="9525">
                  <a:moveTo>
                    <a:pt x="0" y="0"/>
                  </a:moveTo>
                  <a:lnTo>
                    <a:pt x="3333750" y="0"/>
                  </a:lnTo>
                </a:path>
              </a:pathLst>
            </a:custGeom>
            <a:noFill/>
            <a:ln w="19050">
              <a:solidFill>
                <a:srgbClr val="D7D1C5"/>
              </a:solidFill>
            </a:ln>
          </p:spPr>
        </p:sp>
        <p:sp>
          <p:nvSpPr>
            <p:cNvPr id="33" name="TextBox 33"/>
            <p:cNvSpPr/>
            <p:nvPr/>
          </p:nvSpPr>
          <p:spPr>
            <a:xfrm>
              <a:off x="8238363" y="4121182"/>
              <a:ext cx="1169860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02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實務效益</a:t>
              </a:r>
            </a:p>
          </p:txBody>
        </p:sp>
        <p:sp>
          <p:nvSpPr>
            <p:cNvPr id="34" name="TextBox 34"/>
            <p:cNvSpPr/>
            <p:nvPr/>
          </p:nvSpPr>
          <p:spPr>
            <a:xfrm>
              <a:off x="8236839" y="4540282"/>
              <a:ext cx="2003584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320" b="1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待現場試用</a:t>
              </a:r>
            </a:p>
          </p:txBody>
        </p:sp>
        <p:sp>
          <p:nvSpPr>
            <p:cNvPr id="35" name="TextBox 35"/>
            <p:cNvSpPr/>
            <p:nvPr/>
          </p:nvSpPr>
          <p:spPr>
            <a:xfrm>
              <a:off x="8239506" y="5022818"/>
              <a:ext cx="233505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80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數值一致 ≠ 調度有效</a:t>
              </a:r>
            </a:p>
          </p:txBody>
        </p:sp>
      </p:grpSp>
      <p:grpSp>
        <p:nvGrpSpPr>
          <p:cNvPr id="38" name="p12-detail"/>
          <p:cNvGrpSpPr/>
          <p:nvPr/>
        </p:nvGrpSpPr>
        <p:grpSpPr>
          <a:xfrm>
            <a:off x="601218" y="6169057"/>
            <a:ext cx="6176772" cy="322707"/>
            <a:chOff x="601218" y="6169057"/>
            <a:chExt cx="6176772" cy="322707"/>
          </a:xfrm>
        </p:grpSpPr>
        <p:sp>
          <p:nvSpPr>
            <p:cNvPr id="37" name="TextBox 37"/>
            <p:cNvSpPr/>
            <p:nvPr/>
          </p:nvSpPr>
          <p:spPr>
            <a:xfrm>
              <a:off x="601218" y="6169057"/>
              <a:ext cx="617677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165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5,396 打席／72 場；MSE：現行 0.225575、基準 0.225998。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793"/>
            <a:ext cx="10972800" cy="1063657"/>
            <a:chOff x="592836" y="250793"/>
            <a:chExt cx="10972800" cy="1063657"/>
          </a:xfrm>
        </p:grpSpPr>
        <p:sp>
          <p:nvSpPr>
            <p:cNvPr id="2" name="TextBox 2"/>
            <p:cNvSpPr/>
            <p:nvPr/>
          </p:nvSpPr>
          <p:spPr>
            <a:xfrm>
              <a:off x="601980" y="250793"/>
              <a:ext cx="5715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50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02　資料與方法｜樣本分流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1097280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3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續投結果比較：只納入實際續投打席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13</a:t>
            </a:r>
          </a:p>
        </p:txBody>
      </p:sp>
      <p:grpSp>
        <p:nvGrpSpPr>
          <p:cNvPr id="42" name="sample-flow"/>
          <p:cNvGrpSpPr/>
          <p:nvPr/>
        </p:nvGrpSpPr>
        <p:grpSpPr>
          <a:xfrm>
            <a:off x="609600" y="1866900"/>
            <a:ext cx="10098739" cy="3750501"/>
            <a:chOff x="609600" y="1866900"/>
            <a:chExt cx="10098739" cy="3750501"/>
          </a:xfrm>
        </p:grpSpPr>
        <p:sp>
          <p:nvSpPr>
            <p:cNvPr id="11" name="Rectangle 11"/>
            <p:cNvSpPr/>
            <p:nvPr/>
          </p:nvSpPr>
          <p:spPr>
            <a:xfrm>
              <a:off x="609600" y="2238375"/>
              <a:ext cx="2590800" cy="1666875"/>
            </a:xfrm>
            <a:prstGeom prst="rect">
              <a:avLst/>
            </a:prstGeom>
            <a:solidFill>
              <a:srgbClr val="ECE5D9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89813" y="2378075"/>
              <a:ext cx="1924101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02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可評估換投決策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81050" y="2705100"/>
              <a:ext cx="1856994" cy="9048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4650" b="1" dirty="0">
                  <a:solidFill>
                    <a:srgbClr val="18344A"/>
                  </a:solidFill>
                  <a:latin typeface="Times New Roman"/>
                  <a:ea typeface="Times New Roman"/>
                  <a:cs typeface="Times New Roman"/>
                </a:rPr>
                <a:t>11,868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90956" y="3489325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依實際調度分流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3200400" y="3048000"/>
              <a:ext cx="438150" cy="9525"/>
            </a:xfrm>
            <a:custGeom>
              <a:avLst/>
              <a:gdLst/>
              <a:ahLst/>
              <a:cxnLst/>
              <a:rect l="l" t="t" r="r" b="b"/>
              <a:pathLst>
                <a:path w="438150" h="9525">
                  <a:moveTo>
                    <a:pt x="0" y="0"/>
                  </a:moveTo>
                  <a:lnTo>
                    <a:pt x="438150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3638550" y="2476500"/>
              <a:ext cx="9525" cy="2286000"/>
            </a:xfrm>
            <a:custGeom>
              <a:avLst/>
              <a:gdLst/>
              <a:ahLst/>
              <a:cxnLst/>
              <a:rect l="l" t="t" r="r" b="b"/>
              <a:pathLst>
                <a:path w="9525" h="2286000">
                  <a:moveTo>
                    <a:pt x="0" y="0"/>
                  </a:moveTo>
                  <a:lnTo>
                    <a:pt x="0" y="228600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3638550" y="2476500"/>
              <a:ext cx="361950" cy="9525"/>
            </a:xfrm>
            <a:custGeom>
              <a:avLst/>
              <a:gdLst/>
              <a:ahLst/>
              <a:cxnLst/>
              <a:rect l="l" t="t" r="r" b="b"/>
              <a:pathLst>
                <a:path w="361950" h="9525">
                  <a:moveTo>
                    <a:pt x="0" y="0"/>
                  </a:moveTo>
                  <a:lnTo>
                    <a:pt x="361950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18" name="Polygon 18"/>
            <p:cNvSpPr/>
            <p:nvPr/>
          </p:nvSpPr>
          <p:spPr>
            <a:xfrm>
              <a:off x="4000500" y="241935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54836"/>
            </a:solidFill>
            <a:ln>
              <a:noFill/>
            </a:ln>
          </p:spPr>
        </p:sp>
        <p:sp>
          <p:nvSpPr>
            <p:cNvPr id="19" name="Line 19"/>
            <p:cNvSpPr/>
            <p:nvPr/>
          </p:nvSpPr>
          <p:spPr>
            <a:xfrm>
              <a:off x="3638550" y="4762500"/>
              <a:ext cx="361950" cy="9525"/>
            </a:xfrm>
            <a:custGeom>
              <a:avLst/>
              <a:gdLst/>
              <a:ahLst/>
              <a:cxnLst/>
              <a:rect l="l" t="t" r="r" b="b"/>
              <a:pathLst>
                <a:path w="361950" h="9525">
                  <a:moveTo>
                    <a:pt x="0" y="0"/>
                  </a:moveTo>
                  <a:lnTo>
                    <a:pt x="361950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20" name="Polygon 20"/>
            <p:cNvSpPr/>
            <p:nvPr/>
          </p:nvSpPr>
          <p:spPr>
            <a:xfrm>
              <a:off x="4000500" y="470535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54836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4095750" y="1866900"/>
              <a:ext cx="2857500" cy="14287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4095750" y="1866900"/>
              <a:ext cx="47625" cy="1428750"/>
            </a:xfrm>
            <a:prstGeom prst="rect">
              <a:avLst/>
            </a:prstGeom>
            <a:solidFill>
              <a:srgbClr val="24764D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294251" y="1990725"/>
              <a:ext cx="1195984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實際續投</a:t>
              </a:r>
            </a:p>
          </p:txBody>
        </p:sp>
        <p:sp>
          <p:nvSpPr>
            <p:cNvPr id="24" name="TextBox 24"/>
            <p:cNvSpPr/>
            <p:nvPr/>
          </p:nvSpPr>
          <p:spPr>
            <a:xfrm>
              <a:off x="4286250" y="2371725"/>
              <a:ext cx="1526286" cy="9048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4650" b="1" dirty="0">
                  <a:solidFill>
                    <a:srgbClr val="24764D"/>
                  </a:solidFill>
                  <a:latin typeface="Times New Roman"/>
                  <a:ea typeface="Times New Roman"/>
                  <a:cs typeface="Times New Roman"/>
                </a:rPr>
                <a:t>9,686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095750" y="4105275"/>
              <a:ext cx="2857500" cy="1409700"/>
            </a:xfrm>
            <a:prstGeom prst="rect">
              <a:avLst/>
            </a:prstGeom>
            <a:solidFill>
              <a:srgbClr val="ECE5D9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295013" y="4225925"/>
              <a:ext cx="1108304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020" b="1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實際換投</a:t>
              </a:r>
            </a:p>
          </p:txBody>
        </p:sp>
        <p:sp>
          <p:nvSpPr>
            <p:cNvPr id="27" name="TextBox 27"/>
            <p:cNvSpPr/>
            <p:nvPr/>
          </p:nvSpPr>
          <p:spPr>
            <a:xfrm>
              <a:off x="4287012" y="4546568"/>
              <a:ext cx="118872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600" b="1" dirty="0">
                  <a:solidFill>
                    <a:srgbClr val="58616B"/>
                  </a:solidFill>
                  <a:latin typeface="Times New Roman"/>
                  <a:ea typeface="Times New Roman"/>
                  <a:cs typeface="Times New Roman"/>
                </a:rPr>
                <a:t>2,182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296537" y="5146675"/>
              <a:ext cx="210144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72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不列入右側結果比較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6953250" y="2571750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noFill/>
            <a:ln w="28575">
              <a:solidFill>
                <a:srgbClr val="24764D"/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7486650" y="2324100"/>
              <a:ext cx="9525" cy="1752600"/>
            </a:xfrm>
            <a:custGeom>
              <a:avLst/>
              <a:gdLst/>
              <a:ahLst/>
              <a:cxnLst/>
              <a:rect l="l" t="t" r="r" b="b"/>
              <a:pathLst>
                <a:path w="9525" h="1752600">
                  <a:moveTo>
                    <a:pt x="0" y="0"/>
                  </a:moveTo>
                  <a:lnTo>
                    <a:pt x="0" y="1752600"/>
                  </a:lnTo>
                </a:path>
              </a:pathLst>
            </a:custGeom>
            <a:noFill/>
            <a:ln w="28575">
              <a:solidFill>
                <a:srgbClr val="24764D"/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7486650" y="232410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28575">
              <a:solidFill>
                <a:srgbClr val="24764D"/>
              </a:solidFill>
            </a:ln>
          </p:spPr>
        </p:sp>
        <p:sp>
          <p:nvSpPr>
            <p:cNvPr id="32" name="Polygon 32"/>
            <p:cNvSpPr/>
            <p:nvPr/>
          </p:nvSpPr>
          <p:spPr>
            <a:xfrm>
              <a:off x="7810500" y="226695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24764D"/>
            </a:solidFill>
            <a:ln>
              <a:noFill/>
            </a:ln>
          </p:spPr>
        </p:sp>
        <p:sp>
          <p:nvSpPr>
            <p:cNvPr id="33" name="Line 33"/>
            <p:cNvSpPr/>
            <p:nvPr/>
          </p:nvSpPr>
          <p:spPr>
            <a:xfrm>
              <a:off x="7486650" y="407670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28575">
              <a:solidFill>
                <a:srgbClr val="24764D"/>
              </a:solidFill>
            </a:ln>
          </p:spPr>
        </p:sp>
        <p:sp>
          <p:nvSpPr>
            <p:cNvPr id="34" name="Polygon 34"/>
            <p:cNvSpPr/>
            <p:nvPr/>
          </p:nvSpPr>
          <p:spPr>
            <a:xfrm>
              <a:off x="7810500" y="401955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24764D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085201" y="1895475"/>
              <a:ext cx="1782928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系統建議換投</a:t>
              </a:r>
            </a:p>
          </p:txBody>
        </p:sp>
        <p:sp>
          <p:nvSpPr>
            <p:cNvPr id="36" name="TextBox 36"/>
            <p:cNvSpPr/>
            <p:nvPr/>
          </p:nvSpPr>
          <p:spPr>
            <a:xfrm>
              <a:off x="8077200" y="2305050"/>
              <a:ext cx="1430274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4350" b="1" dirty="0">
                  <a:solidFill>
                    <a:srgbClr val="B54836"/>
                  </a:solidFill>
                  <a:latin typeface="Times New Roman"/>
                  <a:ea typeface="Times New Roman"/>
                  <a:cs typeface="Times New Roman"/>
                </a:rPr>
                <a:t>1,912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087106" y="302260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實際仍續投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085201" y="3657600"/>
              <a:ext cx="2076399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8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系統未建議換投</a:t>
              </a:r>
            </a:p>
          </p:txBody>
        </p:sp>
        <p:sp>
          <p:nvSpPr>
            <p:cNvPr id="39" name="TextBox 39"/>
            <p:cNvSpPr/>
            <p:nvPr/>
          </p:nvSpPr>
          <p:spPr>
            <a:xfrm>
              <a:off x="8077200" y="4067175"/>
              <a:ext cx="1430274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4350" b="1" dirty="0">
                  <a:solidFill>
                    <a:srgbClr val="18344A"/>
                  </a:solidFill>
                  <a:latin typeface="Times New Roman"/>
                  <a:ea typeface="Times New Roman"/>
                  <a:cs typeface="Times New Roman"/>
                </a:rPr>
                <a:t>7,769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087106" y="4784725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實際仍續投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087487" y="5280025"/>
              <a:ext cx="262085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72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續投結果：單打席 RE24</a:t>
              </a:r>
            </a:p>
          </p:txBody>
        </p:sp>
      </p:grpSp>
      <p:grpSp>
        <p:nvGrpSpPr>
          <p:cNvPr id="45" name="sample-definition"/>
          <p:cNvGrpSpPr/>
          <p:nvPr/>
        </p:nvGrpSpPr>
        <p:grpSpPr>
          <a:xfrm>
            <a:off x="600456" y="5727700"/>
            <a:ext cx="7635907" cy="737394"/>
            <a:chOff x="600456" y="5727700"/>
            <a:chExt cx="7635907" cy="737394"/>
          </a:xfrm>
        </p:grpSpPr>
        <p:sp>
          <p:nvSpPr>
            <p:cNvPr id="43" name="TextBox 43"/>
            <p:cNvSpPr txBox="1"/>
            <p:nvPr/>
          </p:nvSpPr>
          <p:spPr>
            <a:xfrm>
              <a:off x="600456" y="5727700"/>
              <a:ext cx="67848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2025 第 6 局起：11,962 次評估；94 次因無可用候選而未納入。</a:t>
              </a:r>
            </a:p>
          </p:txBody>
        </p:sp>
        <p:sp>
          <p:nvSpPr>
            <p:cNvPr id="44" name="TextBox 44"/>
            <p:cNvSpPr/>
            <p:nvPr/>
          </p:nvSpPr>
          <p:spPr>
            <a:xfrm>
              <a:off x="600837" y="6127718"/>
              <a:ext cx="7635526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72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門檻：差距 ≥ 1 百分點；其中 5 筆打席中換人另列，9,681 筆比較 RE24。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793"/>
            <a:ext cx="10972800" cy="1063657"/>
            <a:chOff x="592836" y="250793"/>
            <a:chExt cx="10972800" cy="1063657"/>
          </a:xfrm>
        </p:grpSpPr>
        <p:sp>
          <p:nvSpPr>
            <p:cNvPr id="2" name="TextBox 2"/>
            <p:cNvSpPr/>
            <p:nvPr/>
          </p:nvSpPr>
          <p:spPr>
            <a:xfrm>
              <a:off x="601980" y="250793"/>
              <a:ext cx="5715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50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02　資料與方法｜續投結果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1097280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3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實際續投時，提示組的進攻方 RE24 較高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14</a:t>
            </a:r>
          </a:p>
        </p:txBody>
      </p:sp>
      <p:grpSp>
        <p:nvGrpSpPr>
          <p:cNvPr id="9" name="result-context"/>
          <p:cNvGrpSpPr/>
          <p:nvPr/>
        </p:nvGrpSpPr>
        <p:grpSpPr>
          <a:xfrm>
            <a:off x="598551" y="1743075"/>
            <a:ext cx="10002393" cy="816388"/>
            <a:chOff x="598551" y="1743075"/>
            <a:chExt cx="10002393" cy="816388"/>
          </a:xfrm>
        </p:grpSpPr>
        <p:sp>
          <p:nvSpPr>
            <p:cNvPr id="7" name="TextBox 7"/>
            <p:cNvSpPr/>
            <p:nvPr/>
          </p:nvSpPr>
          <p:spPr>
            <a:xfrm>
              <a:off x="598551" y="1743075"/>
              <a:ext cx="7441978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218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實際續投：建議換投 1,912／未建議換投 7,769</a:t>
              </a:r>
            </a:p>
          </p:txBody>
        </p:sp>
        <p:sp>
          <p:nvSpPr>
            <p:cNvPr id="8" name="TextBox 8"/>
            <p:cNvSpPr/>
            <p:nvPr/>
          </p:nvSpPr>
          <p:spPr>
            <a:xfrm>
              <a:off x="599694" y="2178082"/>
              <a:ext cx="1000125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195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進攻方 RE24 平均差；數值越高，防守方越不利。</a:t>
              </a:r>
            </a:p>
          </p:txBody>
        </p:sp>
      </p:grpSp>
      <p:grpSp>
        <p:nvGrpSpPr>
          <p:cNvPr id="19" name="interval"/>
          <p:cNvGrpSpPr/>
          <p:nvPr/>
        </p:nvGrpSpPr>
        <p:grpSpPr>
          <a:xfrm>
            <a:off x="990410" y="3181350"/>
            <a:ext cx="6291262" cy="1358265"/>
            <a:chOff x="990410" y="3181350"/>
            <a:chExt cx="6291262" cy="1358265"/>
          </a:xfrm>
        </p:grpSpPr>
        <p:sp>
          <p:nvSpPr>
            <p:cNvPr id="10" name="Line 10"/>
            <p:cNvSpPr/>
            <p:nvPr/>
          </p:nvSpPr>
          <p:spPr>
            <a:xfrm>
              <a:off x="1066800" y="3924300"/>
              <a:ext cx="5895975" cy="9525"/>
            </a:xfrm>
            <a:custGeom>
              <a:avLst/>
              <a:gdLst/>
              <a:ahLst/>
              <a:cxnLst/>
              <a:rect l="l" t="t" r="r" b="b"/>
              <a:pathLst>
                <a:path w="5895975" h="9525">
                  <a:moveTo>
                    <a:pt x="0" y="0"/>
                  </a:moveTo>
                  <a:lnTo>
                    <a:pt x="5895975" y="0"/>
                  </a:lnTo>
                </a:path>
              </a:pathLst>
            </a:custGeom>
            <a:noFill/>
            <a:ln w="19050">
              <a:solidFill>
                <a:srgbClr val="D7D1C5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1066800" y="3181350"/>
              <a:ext cx="9525" cy="1038225"/>
            </a:xfrm>
            <a:custGeom>
              <a:avLst/>
              <a:gdLst/>
              <a:ahLst/>
              <a:cxnLst/>
              <a:rect l="l" t="t" r="r" b="b"/>
              <a:pathLst>
                <a:path w="9525" h="1038225">
                  <a:moveTo>
                    <a:pt x="0" y="0"/>
                  </a:moveTo>
                  <a:lnTo>
                    <a:pt x="0" y="1038225"/>
                  </a:lnTo>
                </a:path>
              </a:pathLst>
            </a:custGeom>
            <a:noFill/>
            <a:ln w="19050">
              <a:solidFill>
                <a:srgbClr val="58616B"/>
              </a:solidFill>
              <a:custDash>
                <a:ds d="350000" sp="350000"/>
              </a:custDash>
            </a:ln>
          </p:spPr>
        </p:sp>
        <p:sp>
          <p:nvSpPr>
            <p:cNvPr id="12" name="Line 12"/>
            <p:cNvSpPr/>
            <p:nvPr/>
          </p:nvSpPr>
          <p:spPr>
            <a:xfrm>
              <a:off x="2098596" y="3600450"/>
              <a:ext cx="3684984" cy="9525"/>
            </a:xfrm>
            <a:custGeom>
              <a:avLst/>
              <a:gdLst/>
              <a:ahLst/>
              <a:cxnLst/>
              <a:rect l="l" t="t" r="r" b="b"/>
              <a:pathLst>
                <a:path w="3684984" h="9525">
                  <a:moveTo>
                    <a:pt x="0" y="0"/>
                  </a:moveTo>
                  <a:lnTo>
                    <a:pt x="3684984" y="0"/>
                  </a:lnTo>
                </a:path>
              </a:pathLst>
            </a:custGeom>
            <a:noFill/>
            <a:ln w="47625">
              <a:solidFill>
                <a:srgbClr val="B54836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2098596" y="3467100"/>
              <a:ext cx="9525" cy="266700"/>
            </a:xfrm>
            <a:custGeom>
              <a:avLst/>
              <a:gdLst/>
              <a:ahLst/>
              <a:cxnLst/>
              <a:rect l="l" t="t" r="r" b="b"/>
              <a:pathLst>
                <a:path w="9525" h="266700">
                  <a:moveTo>
                    <a:pt x="0" y="0"/>
                  </a:moveTo>
                  <a:lnTo>
                    <a:pt x="0" y="26670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5783580" y="3467100"/>
              <a:ext cx="9525" cy="266700"/>
            </a:xfrm>
            <a:custGeom>
              <a:avLst/>
              <a:gdLst/>
              <a:ahLst/>
              <a:cxnLst/>
              <a:rect l="l" t="t" r="r" b="b"/>
              <a:pathLst>
                <a:path w="9525" h="266700">
                  <a:moveTo>
                    <a:pt x="0" y="0"/>
                  </a:moveTo>
                  <a:lnTo>
                    <a:pt x="0" y="26670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3938588" y="3524250"/>
              <a:ext cx="152400" cy="152400"/>
            </a:xfrm>
            <a:prstGeom prst="ellipse">
              <a:avLst/>
            </a:prstGeom>
            <a:solidFill>
              <a:srgbClr val="B54836"/>
            </a:solidFill>
            <a:ln w="28575">
              <a:solidFill>
                <a:srgbClr val="B54836"/>
              </a:solidFill>
            </a:ln>
          </p:spPr>
        </p:sp>
        <p:sp>
          <p:nvSpPr>
            <p:cNvPr id="16" name="TextBox 16"/>
            <p:cNvSpPr/>
            <p:nvPr/>
          </p:nvSpPr>
          <p:spPr>
            <a:xfrm>
              <a:off x="990410" y="4171950"/>
              <a:ext cx="152781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TW" sz="1880" dirty="0">
                  <a:solidFill>
                    <a:srgbClr val="58616B"/>
                  </a:solidFill>
                  <a:latin typeface="Times New Roman"/>
                  <a:ea typeface="Times New Roman"/>
                  <a:cs typeface="Times New Roman"/>
                </a:rPr>
                <a:t>0</a:t>
              </a:r>
            </a:p>
          </p:txBody>
        </p:sp>
        <p:sp>
          <p:nvSpPr>
            <p:cNvPr id="17" name="TextBox 17"/>
            <p:cNvSpPr/>
            <p:nvPr/>
          </p:nvSpPr>
          <p:spPr>
            <a:xfrm>
              <a:off x="3695890" y="4171950"/>
              <a:ext cx="637794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TW" sz="1880" dirty="0">
                  <a:solidFill>
                    <a:srgbClr val="58616B"/>
                  </a:solidFill>
                  <a:latin typeface="Times New Roman"/>
                  <a:ea typeface="Times New Roman"/>
                  <a:cs typeface="Times New Roman"/>
                </a:rPr>
                <a:t>+0.04</a:t>
              </a:r>
            </a:p>
          </p:txBody>
        </p:sp>
        <p:sp>
          <p:nvSpPr>
            <p:cNvPr id="18" name="TextBox 18"/>
            <p:cNvSpPr/>
            <p:nvPr/>
          </p:nvSpPr>
          <p:spPr>
            <a:xfrm>
              <a:off x="6643878" y="4171950"/>
              <a:ext cx="637794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TW" sz="1880" dirty="0">
                  <a:solidFill>
                    <a:srgbClr val="58616B"/>
                  </a:solidFill>
                  <a:latin typeface="Times New Roman"/>
                  <a:ea typeface="Times New Roman"/>
                  <a:cs typeface="Times New Roman"/>
                </a:rPr>
                <a:t>+0.08</a:t>
              </a:r>
            </a:p>
          </p:txBody>
        </p:sp>
      </p:grpSp>
      <p:grpSp>
        <p:nvGrpSpPr>
          <p:cNvPr id="22" name="result-number"/>
          <p:cNvGrpSpPr/>
          <p:nvPr/>
        </p:nvGrpSpPr>
        <p:grpSpPr>
          <a:xfrm>
            <a:off x="7924800" y="2841593"/>
            <a:ext cx="2690527" cy="1347121"/>
            <a:chOff x="7924800" y="2841593"/>
            <a:chExt cx="2690527" cy="1347121"/>
          </a:xfrm>
        </p:grpSpPr>
        <p:sp>
          <p:nvSpPr>
            <p:cNvPr id="20" name="TextBox 20"/>
            <p:cNvSpPr/>
            <p:nvPr/>
          </p:nvSpPr>
          <p:spPr>
            <a:xfrm>
              <a:off x="7924800" y="2841593"/>
              <a:ext cx="2115693" cy="1005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5180" b="1" dirty="0">
                  <a:solidFill>
                    <a:srgbClr val="B54836"/>
                  </a:solidFill>
                  <a:latin typeface="Times New Roman"/>
                  <a:ea typeface="Times New Roman"/>
                  <a:cs typeface="Times New Roman"/>
                </a:rPr>
                <a:t>+0.040</a:t>
              </a:r>
            </a:p>
          </p:txBody>
        </p:sp>
        <p:sp>
          <p:nvSpPr>
            <p:cNvPr id="21" name="TextBox 21"/>
            <p:cNvSpPr/>
            <p:nvPr/>
          </p:nvSpPr>
          <p:spPr>
            <a:xfrm>
              <a:off x="7932801" y="3762375"/>
              <a:ext cx="2682526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218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分／打席（RE24）</a:t>
              </a:r>
            </a:p>
          </p:txBody>
        </p:sp>
      </p:grpSp>
      <p:grpSp>
        <p:nvGrpSpPr>
          <p:cNvPr id="26" name="interval-interpretation"/>
          <p:cNvGrpSpPr/>
          <p:nvPr/>
        </p:nvGrpSpPr>
        <p:grpSpPr>
          <a:xfrm>
            <a:off x="599313" y="4768882"/>
            <a:ext cx="7632954" cy="1234630"/>
            <a:chOff x="599313" y="4768882"/>
            <a:chExt cx="7632954" cy="1234630"/>
          </a:xfrm>
        </p:grpSpPr>
        <p:sp>
          <p:nvSpPr>
            <p:cNvPr id="23" name="TextBox 23"/>
            <p:cNvSpPr/>
            <p:nvPr/>
          </p:nvSpPr>
          <p:spPr>
            <a:xfrm>
              <a:off x="599313" y="4768882"/>
              <a:ext cx="5766149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02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95% 比賽重抽樣：+0.014 至 +0.064 分／打席</a:t>
              </a:r>
            </a:p>
          </p:txBody>
        </p:sp>
        <p:sp>
          <p:nvSpPr>
            <p:cNvPr id="24" name="TextBox 24"/>
            <p:cNvSpPr/>
            <p:nvPr/>
          </p:nvSpPr>
          <p:spPr>
            <a:xfrm>
              <a:off x="599694" y="5187982"/>
              <a:ext cx="763257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1950" dirty="0">
                  <a:solidFill>
                    <a:srgbClr val="1D2934"/>
                  </a:solidFill>
                  <a:latin typeface="Times New Roman"/>
                  <a:ea typeface="DFKai-SB"/>
                  <a:cs typeface="Times New Roman"/>
                </a:rPr>
                <a:t>比賽重抽樣 2,000 次；觀察差異不證明換投效益。</a:t>
              </a:r>
            </a:p>
          </p:txBody>
        </p:sp>
        <p:sp>
          <p:nvSpPr>
            <p:cNvPr id="25" name="TextBox 25"/>
            <p:cNvSpPr/>
            <p:nvPr/>
          </p:nvSpPr>
          <p:spPr>
            <a:xfrm>
              <a:off x="600456" y="5651468"/>
              <a:ext cx="73467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80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RE24＝本打席得分＋前後預期得分變化。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baseball"/>
          <p:cNvGrpSpPr/>
          <p:nvPr/>
        </p:nvGrpSpPr>
        <p:grpSpPr>
          <a:xfrm>
            <a:off x="8001000" y="1714500"/>
            <a:ext cx="3905250" cy="3905250"/>
            <a:chOff x="8001000" y="1714500"/>
            <a:chExt cx="3905250" cy="3905250"/>
          </a:xfrm>
        </p:grpSpPr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01000" y="1714500"/>
              <a:ext cx="3905250" cy="3905250"/>
            </a:xfrm>
            <a:prstGeom prst="rect">
              <a:avLst/>
            </a:prstGeom>
          </p:spPr>
        </p:pic>
      </p:grpSp>
      <p:grpSp>
        <p:nvGrpSpPr>
          <p:cNvPr id="7" name="chapter-content"/>
          <p:cNvGrpSpPr/>
          <p:nvPr/>
        </p:nvGrpSpPr>
        <p:grpSpPr>
          <a:xfrm>
            <a:off x="561022" y="673132"/>
            <a:ext cx="5397818" cy="4496562"/>
            <a:chOff x="561022" y="673132"/>
            <a:chExt cx="5397818" cy="4496562"/>
          </a:xfrm>
        </p:grpSpPr>
        <p:sp>
          <p:nvSpPr>
            <p:cNvPr id="3" name="TextBox 3"/>
            <p:cNvSpPr/>
            <p:nvPr/>
          </p:nvSpPr>
          <p:spPr>
            <a:xfrm>
              <a:off x="590550" y="673132"/>
              <a:ext cx="1295972" cy="1619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2668" rIns="0" bIns="0" anchor="t" anchorCtr="0">
              <a:noAutofit/>
            </a:bodyPr>
            <a:lstStyle/>
            <a:p>
              <a:pPr algn="l"/>
              <a:r>
                <a:rPr lang="zh-TW" sz="8400" b="1" dirty="0">
                  <a:solidFill>
                    <a:srgbClr val="B54836"/>
                  </a:solidFill>
                  <a:latin typeface="Times New Roman"/>
                  <a:ea typeface="Times New Roman"/>
                  <a:cs typeface="Times New Roman"/>
                </a:rPr>
                <a:t>03</a:t>
              </a:r>
            </a:p>
          </p:txBody>
        </p:sp>
        <p:sp>
          <p:nvSpPr>
            <p:cNvPr id="4" name="TextBox 4"/>
            <p:cNvSpPr/>
            <p:nvPr/>
          </p:nvSpPr>
          <p:spPr>
            <a:xfrm>
              <a:off x="591312" y="2632043"/>
              <a:ext cx="536752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6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網站實作</a:t>
              </a:r>
            </a:p>
          </p:txBody>
        </p:sp>
        <p:sp>
          <p:nvSpPr>
            <p:cNvPr id="5" name="TextBox 5"/>
            <p:cNvSpPr/>
            <p:nvPr/>
          </p:nvSpPr>
          <p:spPr>
            <a:xfrm>
              <a:off x="561022" y="3565493"/>
              <a:ext cx="455676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37910" tIns="32" rIns="0" bIns="0" anchor="t" anchorCtr="0">
              <a:noAutofit/>
            </a:bodyPr>
            <a:lstStyle/>
            <a:p>
              <a:pPr algn="l"/>
              <a:r>
                <a:rPr lang="zh-CN" sz="210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設定局勢、比較人選、判讀結果</a:t>
              </a:r>
            </a:p>
          </p:txBody>
        </p:sp>
        <p:sp>
          <p:nvSpPr>
            <p:cNvPr id="6" name="TextBox 6"/>
            <p:cNvSpPr/>
            <p:nvPr/>
          </p:nvSpPr>
          <p:spPr>
            <a:xfrm>
              <a:off x="600837" y="4832318"/>
              <a:ext cx="2564511" cy="337376"/>
            </a:xfrm>
            <a:prstGeom prst="rect">
              <a:avLst/>
            </a:prstGeom>
            <a:noFill/>
            <a:ln>
              <a:noFill/>
            </a:ln>
          </p:spPr>
        </p:sp>
      </p:grpSp>
      <p:sp>
        <p:nvSpPr>
          <p:cNvPr id="10" name="TextBox 8"/>
          <p:cNvSpPr/>
          <p:nvPr/>
        </p:nvSpPr>
        <p:spPr>
          <a:xfrm>
            <a:off x="11373422" y="6445282"/>
            <a:ext cx="2158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793"/>
            <a:ext cx="7585710" cy="1063657"/>
            <a:chOff x="592836" y="250793"/>
            <a:chExt cx="7585710" cy="1063657"/>
          </a:xfrm>
        </p:grpSpPr>
        <p:sp>
          <p:nvSpPr>
            <p:cNvPr id="2" name="TextBox 2"/>
            <p:cNvSpPr/>
            <p:nvPr/>
          </p:nvSpPr>
          <p:spPr>
            <a:xfrm>
              <a:off x="601980" y="250793"/>
              <a:ext cx="5715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03　網站實作｜選擇入口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758571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33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先選擇使用方式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16</a:t>
            </a:r>
          </a:p>
        </p:txBody>
      </p:sp>
      <p:pic>
        <p:nvPicPr>
          <p:cNvPr id="12" name="Imag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028" y="1676400"/>
            <a:ext cx="8079241" cy="2714625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597408" y="4518025"/>
            <a:ext cx="1639824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一般使用者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00075" y="5029200"/>
            <a:ext cx="2549906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直接選擇投打與候選。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00075" y="5400675"/>
            <a:ext cx="2802992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從換打／換投評估開始。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369308" y="4518025"/>
            <a:ext cx="670560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球隊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371975" y="5029200"/>
            <a:ext cx="2296820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先安排守位與棒次。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371975" y="5400675"/>
            <a:ext cx="2549906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套用名單後進行評估。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141208" y="4518025"/>
            <a:ext cx="1316736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單日分析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143875" y="5029200"/>
            <a:ext cx="2802992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從歷史比賽與打席進入。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143875" y="5400675"/>
            <a:ext cx="3309163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查看決策前估計及實際結果。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00837" y="5975350"/>
            <a:ext cx="4880000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rgbClr val="58616B"/>
                </a:solidFill>
                <a:latin typeface="Times New Roman"/>
                <a:ea typeface="DFKai-SB"/>
                <a:cs typeface="Times New Roman"/>
              </a:rPr>
              <a:t>先完成一般／球隊的比較流程，再看單日回放。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793"/>
            <a:ext cx="6697218" cy="1063657"/>
            <a:chOff x="592836" y="250793"/>
            <a:chExt cx="6697218" cy="1063657"/>
          </a:xfrm>
        </p:grpSpPr>
        <p:sp>
          <p:nvSpPr>
            <p:cNvPr id="2" name="TextBox 2"/>
            <p:cNvSpPr/>
            <p:nvPr/>
          </p:nvSpPr>
          <p:spPr>
            <a:xfrm>
              <a:off x="601980" y="250793"/>
              <a:ext cx="5715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03　網站實作｜設定局勢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669721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33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局勢設定：建立同一個比較情境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17</a:t>
            </a:r>
          </a:p>
        </p:txBody>
      </p:sp>
      <p:pic>
        <p:nvPicPr>
          <p:cNvPr id="7" name="Imag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225" y="1933575"/>
            <a:ext cx="4762500" cy="3858389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6943344" y="1758950"/>
            <a:ext cx="1332357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58616B"/>
                </a:solidFill>
                <a:latin typeface="Times New Roman"/>
                <a:ea typeface="DFKai-SB"/>
                <a:cs typeface="Times New Roman"/>
              </a:rPr>
              <a:t>攻守與球隊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940296" y="2143125"/>
            <a:ext cx="1399032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我方進攻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941058" y="2584450"/>
            <a:ext cx="1639824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統一對富邦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943344" y="3235325"/>
            <a:ext cx="1332357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58616B"/>
                </a:solidFill>
                <a:latin typeface="Times New Roman"/>
                <a:ea typeface="DFKai-SB"/>
                <a:cs typeface="Times New Roman"/>
              </a:rPr>
              <a:t>局數與出局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940296" y="3597275"/>
            <a:ext cx="2286381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8 局上，1 出局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943344" y="4273550"/>
            <a:ext cx="1332357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58616B"/>
                </a:solidFill>
                <a:latin typeface="Times New Roman"/>
                <a:ea typeface="DFKai-SB"/>
                <a:cs typeface="Times New Roman"/>
              </a:rPr>
              <a:t>壘包與比分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941058" y="4660900"/>
            <a:ext cx="1316736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二壘有人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941058" y="5089525"/>
            <a:ext cx="1420368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比分 1：2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00837" y="6070600"/>
            <a:ext cx="5111547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rgbClr val="58616B"/>
                </a:solidFill>
                <a:latin typeface="Times New Roman"/>
                <a:ea typeface="DFKai-SB"/>
                <a:cs typeface="Times New Roman"/>
              </a:rPr>
              <a:t>同一局勢下比較人選，才看得出換人的相對差距。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793"/>
            <a:ext cx="10972800" cy="1063657"/>
            <a:chOff x="592836" y="250793"/>
            <a:chExt cx="10972800" cy="1063657"/>
          </a:xfrm>
        </p:grpSpPr>
        <p:sp>
          <p:nvSpPr>
            <p:cNvPr id="2" name="TextBox 2"/>
            <p:cNvSpPr/>
            <p:nvPr/>
          </p:nvSpPr>
          <p:spPr>
            <a:xfrm>
              <a:off x="601980" y="250793"/>
              <a:ext cx="5715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50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03　網站實作｜選擇人選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1097280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33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一般使用者：直接挑選候選人選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18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00456" y="1498600"/>
            <a:ext cx="98755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8616B"/>
                </a:solidFill>
                <a:latin typeface="Times New Roman"/>
                <a:ea typeface="DFKai-SB"/>
                <a:cs typeface="Times New Roman"/>
              </a:rPr>
              <a:t>投打設定</a:t>
            </a:r>
          </a:p>
        </p:txBody>
      </p:sp>
      <p:pic>
        <p:nvPicPr>
          <p:cNvPr id="8" name="Imag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694" y="1819275"/>
            <a:ext cx="4405310" cy="2095499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600456" y="3917950"/>
            <a:ext cx="14721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8616B"/>
                </a:solidFill>
                <a:latin typeface="Times New Roman"/>
                <a:ea typeface="DFKai-SB"/>
                <a:cs typeface="Times New Roman"/>
              </a:rPr>
              <a:t>今日可用名單</a:t>
            </a:r>
          </a:p>
        </p:txBody>
      </p:sp>
      <p:pic>
        <p:nvPicPr>
          <p:cNvPr id="10" name="Imag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8694" y="4219575"/>
            <a:ext cx="4976812" cy="176772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7223379" y="1733550"/>
            <a:ext cx="250292" cy="60236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80" b="1" dirty="0">
                <a:solidFill>
                  <a:srgbClr val="B54836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733157" y="1860550"/>
            <a:ext cx="1717548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選擇對方投手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734300" y="2314575"/>
            <a:ext cx="1790649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魔力藍，左投。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223379" y="3076575"/>
            <a:ext cx="250292" cy="60236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80" b="1" dirty="0">
                <a:solidFill>
                  <a:srgbClr val="B54836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733157" y="3203575"/>
            <a:ext cx="228295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選打者與目前守位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734300" y="3657600"/>
            <a:ext cx="2296820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林佳緯，指定打擊。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223379" y="4419600"/>
            <a:ext cx="250292" cy="60236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80" b="1" dirty="0">
                <a:solidFill>
                  <a:srgbClr val="B54836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733157" y="4546600"/>
            <a:ext cx="228295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勾選可用板凳野手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734300" y="5000625"/>
            <a:ext cx="3070403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評估後再挑最多 4 人比較。</a:t>
            </a:r>
          </a:p>
        </p:txBody>
      </p:sp>
      <p:pic>
        <p:nvPicPr>
          <p:cNvPr id="21" name="Image 2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0" y="5562981"/>
            <a:ext cx="3760736" cy="637413"/>
          </a:xfrm>
          <a:prstGeom prst="rect">
            <a:avLst/>
          </a:prstGeom>
        </p:spPr>
      </p:pic>
      <p:sp>
        <p:nvSpPr>
          <p:cNvPr id="22" name="TextBox 22"/>
          <p:cNvSpPr txBox="1"/>
          <p:nvPr/>
        </p:nvSpPr>
        <p:spPr>
          <a:xfrm>
            <a:off x="7230618" y="6283325"/>
            <a:ext cx="268224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58616B"/>
                </a:solidFill>
                <a:latin typeface="Times New Roman"/>
                <a:ea typeface="DFKai-SB"/>
                <a:cs typeface="Times New Roman"/>
              </a:rPr>
              <a:t>出賽資格仍由使用者確認。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793"/>
            <a:ext cx="7141464" cy="1063657"/>
            <a:chOff x="592836" y="250793"/>
            <a:chExt cx="7141464" cy="1063657"/>
          </a:xfrm>
        </p:grpSpPr>
        <p:sp>
          <p:nvSpPr>
            <p:cNvPr id="2" name="TextBox 2"/>
            <p:cNvSpPr/>
            <p:nvPr/>
          </p:nvSpPr>
          <p:spPr>
            <a:xfrm>
              <a:off x="601980" y="250793"/>
              <a:ext cx="5715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50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03　網站實作｜選擇人選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714146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33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球隊模式：套用守位與可用名單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19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98932" y="1565275"/>
            <a:ext cx="2848356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B54836"/>
                </a:solidFill>
                <a:latin typeface="Times New Roman"/>
                <a:ea typeface="DFKai-SB"/>
                <a:cs typeface="Times New Roman"/>
              </a:rPr>
              <a:t>球隊的另一條設定路徑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97789" y="2025650"/>
            <a:ext cx="2209851" cy="4547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32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安排守位與棒次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50939" y="2025650"/>
            <a:ext cx="1897532" cy="4547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32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勾選可用牛棚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99694" y="2501900"/>
            <a:ext cx="316992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點選守位，更換場上球員。</a:t>
            </a:r>
          </a:p>
        </p:txBody>
      </p:sp>
      <p:pic>
        <p:nvPicPr>
          <p:cNvPr id="12" name="Imag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053906"/>
            <a:ext cx="4294154" cy="1273969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598551" y="4591050"/>
            <a:ext cx="2663342" cy="4263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8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以棒次表調整順序。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99313" y="5064125"/>
            <a:ext cx="3059132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九棒含 DH，投手另設。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99313" y="5483225"/>
            <a:ext cx="2196033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完成後套用配置。</a:t>
            </a:r>
          </a:p>
        </p:txBody>
      </p:sp>
      <p:pic>
        <p:nvPicPr>
          <p:cNvPr id="16" name="Imag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5226" y="2476500"/>
            <a:ext cx="4719344" cy="3790949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600837" y="6070600"/>
            <a:ext cx="5343093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rgbClr val="58616B"/>
                </a:solidFill>
                <a:latin typeface="Times New Roman"/>
                <a:ea typeface="DFKai-SB"/>
                <a:cs typeface="Times New Roman"/>
              </a:rPr>
              <a:t>圖為操作區局部；套用配置後回到換打／換投評估。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793"/>
            <a:ext cx="10972800" cy="1063657"/>
            <a:chOff x="592836" y="250793"/>
            <a:chExt cx="10972800" cy="1063657"/>
          </a:xfrm>
        </p:grpSpPr>
        <p:sp>
          <p:nvSpPr>
            <p:cNvPr id="2" name="TextBox 2"/>
            <p:cNvSpPr/>
            <p:nvPr/>
          </p:nvSpPr>
          <p:spPr>
            <a:xfrm>
              <a:off x="601980" y="250793"/>
              <a:ext cx="5715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50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03　網站實作｜判讀結果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1097280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33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代打結果：先看差距，再看接守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20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99694" y="1577975"/>
            <a:ext cx="7237419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58616B"/>
                </a:solidFill>
                <a:latin typeface="Times New Roman"/>
                <a:ea typeface="DFKai-SB"/>
                <a:cs typeface="Times New Roman"/>
              </a:rPr>
              <a:t>林佳緯（DH）對魔力藍；8 局上、1 出局、二壘有人、1：2。</a:t>
            </a:r>
          </a:p>
        </p:txBody>
      </p:sp>
      <p:grpSp>
        <p:nvGrpSpPr>
          <p:cNvPr id="16" name="Image 8"/>
          <p:cNvGrpSpPr/>
          <p:nvPr/>
        </p:nvGrpSpPr>
        <p:grpSpPr>
          <a:xfrm>
            <a:off x="609600" y="2076640"/>
            <a:ext cx="9879806" cy="2469952"/>
            <a:chOff x="609600" y="2076640"/>
            <a:chExt cx="9879806" cy="2469952"/>
          </a:xfrm>
        </p:grpSpPr>
        <p:pic>
          <p:nvPicPr>
            <p:cNvPr id="11" name="Image 1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9600" y="2076640"/>
              <a:ext cx="9879806" cy="2469952"/>
            </a:xfrm>
            <a:prstGeom prst="rect">
              <a:avLst/>
            </a:prstGeom>
          </p:spPr>
        </p:pic>
      </p:grpSp>
      <p:sp>
        <p:nvSpPr>
          <p:cNvPr id="9" name="TextBox 9"/>
          <p:cNvSpPr/>
          <p:nvPr/>
        </p:nvSpPr>
        <p:spPr>
          <a:xfrm>
            <a:off x="590550" y="4806982"/>
            <a:ext cx="1720977" cy="990600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l"/>
            <a:r>
              <a:rPr lang="zh-TW" sz="5100" b="1" dirty="0">
                <a:solidFill>
                  <a:srgbClr val="146747"/>
                </a:solidFill>
                <a:latin typeface="Times New Roman"/>
                <a:ea typeface="Times New Roman"/>
                <a:cs typeface="Times New Roman"/>
              </a:rPr>
              <a:t>+1.06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98551" y="5610225"/>
            <a:ext cx="1489456" cy="4263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80" dirty="0">
                <a:solidFill>
                  <a:srgbClr val="146747"/>
                </a:solidFill>
                <a:latin typeface="Times New Roman"/>
                <a:ea typeface="DFKai-SB"/>
                <a:cs typeface="Times New Roman"/>
              </a:rPr>
              <a:t>估計百分點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370070" y="4816475"/>
            <a:ext cx="4503420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現任為 0，比較候選的相對差距。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70832" y="5280025"/>
            <a:ext cx="3836315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本例胡金龍承接原 DH 棒次。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371594" y="5692775"/>
            <a:ext cx="316992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58616B"/>
                </a:solidFill>
                <a:latin typeface="Times New Roman"/>
                <a:ea typeface="DFKai-SB"/>
                <a:cs typeface="Times New Roman"/>
              </a:rPr>
              <a:t>仍須確認當日可上場資格。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00837" y="6070600"/>
            <a:ext cx="3953815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rgbClr val="58616B"/>
                </a:solidFill>
                <a:latin typeface="Times New Roman"/>
                <a:ea typeface="DFKai-SB"/>
                <a:cs typeface="Times New Roman"/>
              </a:rPr>
              <a:t>估計較有利不等於已實現的勝率提升。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793"/>
            <a:ext cx="9212770" cy="1063657"/>
            <a:chOff x="592836" y="250793"/>
            <a:chExt cx="9212770" cy="1063657"/>
          </a:xfrm>
        </p:grpSpPr>
        <p:sp>
          <p:nvSpPr>
            <p:cNvPr id="2" name="TextBox 2"/>
            <p:cNvSpPr/>
            <p:nvPr/>
          </p:nvSpPr>
          <p:spPr>
            <a:xfrm>
              <a:off x="601980" y="250793"/>
              <a:ext cx="5715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03　網站實作｜判讀結果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921277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33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換投結果：評估接下來三棒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21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00075" y="1590675"/>
            <a:ext cx="7668920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58616B"/>
                </a:solidFill>
                <a:latin typeface="Times New Roman"/>
                <a:ea typeface="DFKai-SB"/>
                <a:cs typeface="Times New Roman"/>
              </a:rPr>
              <a:t>切換我方防守：魔神龍 95 球；8 局上、2 出局、二三壘有人、0：0。</a:t>
            </a:r>
          </a:p>
        </p:txBody>
      </p:sp>
      <p:grpSp>
        <p:nvGrpSpPr>
          <p:cNvPr id="16" name="Image 8"/>
          <p:cNvGrpSpPr/>
          <p:nvPr/>
        </p:nvGrpSpPr>
        <p:grpSpPr>
          <a:xfrm>
            <a:off x="615029" y="2066925"/>
            <a:ext cx="10062210" cy="2515552"/>
            <a:chOff x="615029" y="2066925"/>
            <a:chExt cx="10062210" cy="2515552"/>
          </a:xfrm>
        </p:grpSpPr>
        <p:pic>
          <p:nvPicPr>
            <p:cNvPr id="11" name="Image 1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5029" y="2066925"/>
              <a:ext cx="10062210" cy="2515552"/>
            </a:xfrm>
            <a:prstGeom prst="rect">
              <a:avLst/>
            </a:prstGeom>
          </p:spPr>
        </p:pic>
      </p:grpSp>
      <p:sp>
        <p:nvSpPr>
          <p:cNvPr id="9" name="TextBox 9"/>
          <p:cNvSpPr/>
          <p:nvPr/>
        </p:nvSpPr>
        <p:spPr>
          <a:xfrm>
            <a:off x="590550" y="4806982"/>
            <a:ext cx="1720977" cy="990600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l"/>
            <a:r>
              <a:rPr lang="zh-TW" sz="5100" b="1" dirty="0">
                <a:solidFill>
                  <a:srgbClr val="146747"/>
                </a:solidFill>
                <a:latin typeface="Times New Roman"/>
                <a:ea typeface="Times New Roman"/>
                <a:cs typeface="Times New Roman"/>
              </a:rPr>
              <a:t>+2.88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00075" y="5648325"/>
            <a:ext cx="3309163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146747"/>
                </a:solidFill>
                <a:latin typeface="Times New Roman"/>
                <a:ea typeface="DFKai-SB"/>
                <a:cs typeface="Times New Roman"/>
              </a:rPr>
              <a:t>朱承洋相對現任的估計百分點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227320" y="4797425"/>
            <a:ext cx="3960495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設定後三棒，再看換投差距。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228844" y="5264150"/>
            <a:ext cx="3957447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郭天信、李凱威、吉力吉撈．鞏冠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228844" y="5692775"/>
            <a:ext cx="3957447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把原投手本場球數納入疲勞估計。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00837" y="6070600"/>
            <a:ext cx="4648454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rgbClr val="58616B"/>
                </a:solidFill>
                <a:latin typeface="Times New Roman"/>
                <a:ea typeface="DFKai-SB"/>
                <a:cs typeface="Times New Roman"/>
              </a:rPr>
              <a:t>這是接下來三棒的比較，不是整場換投收益。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793"/>
            <a:ext cx="10972800" cy="1063657"/>
            <a:chOff x="592836" y="250793"/>
            <a:chExt cx="10972800" cy="1063657"/>
          </a:xfrm>
        </p:grpSpPr>
        <p:sp>
          <p:nvSpPr>
            <p:cNvPr id="2" name="TextBox 2"/>
            <p:cNvSpPr/>
            <p:nvPr/>
          </p:nvSpPr>
          <p:spPr>
            <a:xfrm>
              <a:off x="601980" y="250793"/>
              <a:ext cx="5715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50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03　網站實作｜結果補充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1097280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33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候選細節：接守與配球資訊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22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98932" y="1584325"/>
            <a:ext cx="482727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58616B"/>
                </a:solidFill>
                <a:latin typeface="Times New Roman"/>
                <a:ea typeface="DFKai-SB"/>
                <a:cs typeface="Times New Roman"/>
              </a:rPr>
              <a:t>需要更深入判讀時，再查看補充資訊。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97408" y="2108200"/>
            <a:ext cx="1316736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接守安排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00075" y="2562225"/>
            <a:ext cx="2802992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58616B"/>
                </a:solidFill>
                <a:latin typeface="Times New Roman"/>
                <a:ea typeface="DFKai-SB"/>
                <a:cs typeface="Times New Roman"/>
              </a:rPr>
              <a:t>代打王念好後的歷史示例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99694" y="3092450"/>
            <a:ext cx="54483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58616B"/>
                </a:solidFill>
                <a:latin typeface="Times New Roman"/>
                <a:ea typeface="DFKai-SB"/>
                <a:cs typeface="Times New Roman"/>
              </a:rPr>
              <a:t>球員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657094" y="3092450"/>
            <a:ext cx="54483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58616B"/>
                </a:solidFill>
                <a:latin typeface="Times New Roman"/>
                <a:ea typeface="DFKai-SB"/>
                <a:cs typeface="Times New Roman"/>
              </a:rPr>
              <a:t>目前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90644" y="3092450"/>
            <a:ext cx="544830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58616B"/>
                </a:solidFill>
                <a:latin typeface="Times New Roman"/>
                <a:ea typeface="DFKai-SB"/>
                <a:cs typeface="Times New Roman"/>
              </a:rPr>
              <a:t>備案</a:t>
            </a:r>
          </a:p>
        </p:txBody>
      </p:sp>
      <p:sp>
        <p:nvSpPr>
          <p:cNvPr id="14" name="Line 14"/>
          <p:cNvSpPr/>
          <p:nvPr/>
        </p:nvSpPr>
        <p:spPr>
          <a:xfrm>
            <a:off x="609600" y="3514725"/>
            <a:ext cx="5105400" cy="9525"/>
          </a:xfrm>
          <a:custGeom>
            <a:avLst/>
            <a:gdLst/>
            <a:ahLst/>
            <a:cxnLst/>
            <a:rect l="l" t="t" r="r" b="b"/>
            <a:pathLst>
              <a:path w="5105400" h="9525">
                <a:moveTo>
                  <a:pt x="0" y="0"/>
                </a:moveTo>
                <a:lnTo>
                  <a:pt x="5105400" y="0"/>
                </a:lnTo>
              </a:path>
            </a:pathLst>
          </a:custGeom>
          <a:noFill/>
          <a:ln w="19050">
            <a:solidFill>
              <a:srgbClr val="D7D1C5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597408" y="3651250"/>
            <a:ext cx="993648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林澤彬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655951" y="3676650"/>
            <a:ext cx="609041" cy="4263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8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板凳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389501" y="3676650"/>
            <a:ext cx="609041" cy="4263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8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游擊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97408" y="4251325"/>
            <a:ext cx="993648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張育成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655951" y="4276725"/>
            <a:ext cx="609041" cy="4263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8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游擊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389501" y="4276725"/>
            <a:ext cx="609041" cy="4263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8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一壘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97408" y="4851400"/>
            <a:ext cx="993648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林岳谷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655951" y="4876800"/>
            <a:ext cx="565957" cy="4263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80" dirty="0">
                <a:solidFill>
                  <a:srgbClr val="18344A"/>
                </a:solidFill>
                <a:latin typeface="Times New Roman"/>
                <a:ea typeface="Times New Roman"/>
                <a:cs typeface="Times New Roman"/>
              </a:rPr>
              <a:t>DH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389501" y="4876800"/>
            <a:ext cx="1247033" cy="4263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8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保留 DH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99694" y="5483225"/>
            <a:ext cx="3694938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B54836"/>
                </a:solidFill>
                <a:latin typeface="Times New Roman"/>
                <a:ea typeface="DFKai-SB"/>
                <a:cs typeface="Times New Roman"/>
              </a:rPr>
              <a:t>需人工確認，未納入正式推薦。</a:t>
            </a:r>
          </a:p>
        </p:txBody>
      </p:sp>
      <p:sp>
        <p:nvSpPr>
          <p:cNvPr id="25" name="Line 25"/>
          <p:cNvSpPr/>
          <p:nvPr/>
        </p:nvSpPr>
        <p:spPr>
          <a:xfrm>
            <a:off x="6143625" y="2238375"/>
            <a:ext cx="9525" cy="3667125"/>
          </a:xfrm>
          <a:custGeom>
            <a:avLst/>
            <a:gdLst/>
            <a:ahLst/>
            <a:cxnLst/>
            <a:rect l="l" t="t" r="r" b="b"/>
            <a:pathLst>
              <a:path w="9525" h="3667125">
                <a:moveTo>
                  <a:pt x="0" y="0"/>
                </a:moveTo>
                <a:lnTo>
                  <a:pt x="0" y="3667125"/>
                </a:lnTo>
              </a:path>
            </a:pathLst>
          </a:custGeom>
          <a:noFill/>
          <a:ln w="19050">
            <a:solidFill>
              <a:srgbClr val="D7D1C5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6560058" y="2108200"/>
            <a:ext cx="1962912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賽前配球變化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562725" y="2562225"/>
            <a:ext cx="2839077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58616B"/>
                </a:solidFill>
                <a:latin typeface="Times New Roman"/>
                <a:ea typeface="DFKai-SB"/>
                <a:cs typeface="Times New Roman"/>
              </a:rPr>
              <a:t>魔力藍對右打，9/15 賽前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561582" y="3117850"/>
            <a:ext cx="58674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速球</a:t>
            </a:r>
          </a:p>
        </p:txBody>
      </p:sp>
      <p:sp>
        <p:nvSpPr>
          <p:cNvPr id="29" name="Rectangle 29"/>
          <p:cNvSpPr/>
          <p:nvPr/>
        </p:nvSpPr>
        <p:spPr>
          <a:xfrm>
            <a:off x="8143875" y="3448050"/>
            <a:ext cx="1254919" cy="180975"/>
          </a:xfrm>
          <a:prstGeom prst="rect">
            <a:avLst/>
          </a:prstGeom>
          <a:solidFill>
            <a:srgbClr val="6C7F92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10868406" y="3394075"/>
            <a:ext cx="67961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dirty="0">
                <a:solidFill>
                  <a:srgbClr val="18344A"/>
                </a:solidFill>
                <a:latin typeface="Times New Roman"/>
                <a:ea typeface="Times New Roman"/>
                <a:cs typeface="Times New Roman"/>
              </a:rPr>
              <a:t>52.7%</a:t>
            </a:r>
          </a:p>
        </p:txBody>
      </p:sp>
      <p:sp>
        <p:nvSpPr>
          <p:cNvPr id="31" name="Rectangle 31"/>
          <p:cNvSpPr/>
          <p:nvPr/>
        </p:nvSpPr>
        <p:spPr>
          <a:xfrm>
            <a:off x="8143875" y="3838575"/>
            <a:ext cx="985838" cy="180975"/>
          </a:xfrm>
          <a:prstGeom prst="rect">
            <a:avLst/>
          </a:prstGeom>
          <a:solidFill>
            <a:srgbClr val="2742B5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10868406" y="3784600"/>
            <a:ext cx="67961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dirty="0">
                <a:solidFill>
                  <a:srgbClr val="18344A"/>
                </a:solidFill>
                <a:latin typeface="Times New Roman"/>
                <a:ea typeface="Times New Roman"/>
                <a:cs typeface="Times New Roman"/>
              </a:rPr>
              <a:t>41.4%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561582" y="4270375"/>
            <a:ext cx="115214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低落球群</a:t>
            </a:r>
          </a:p>
        </p:txBody>
      </p:sp>
      <p:sp>
        <p:nvSpPr>
          <p:cNvPr id="34" name="Rectangle 34"/>
          <p:cNvSpPr/>
          <p:nvPr/>
        </p:nvSpPr>
        <p:spPr>
          <a:xfrm>
            <a:off x="8143875" y="4600575"/>
            <a:ext cx="431006" cy="180975"/>
          </a:xfrm>
          <a:prstGeom prst="rect">
            <a:avLst/>
          </a:prstGeom>
          <a:solidFill>
            <a:srgbClr val="6C7F92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10868406" y="4546600"/>
            <a:ext cx="67961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dirty="0">
                <a:solidFill>
                  <a:srgbClr val="18344A"/>
                </a:solidFill>
                <a:latin typeface="Times New Roman"/>
                <a:ea typeface="Times New Roman"/>
                <a:cs typeface="Times New Roman"/>
              </a:rPr>
              <a:t>18.1%</a:t>
            </a:r>
          </a:p>
        </p:txBody>
      </p:sp>
      <p:sp>
        <p:nvSpPr>
          <p:cNvPr id="36" name="Rectangle 36"/>
          <p:cNvSpPr/>
          <p:nvPr/>
        </p:nvSpPr>
        <p:spPr>
          <a:xfrm>
            <a:off x="8143875" y="4991100"/>
            <a:ext cx="807244" cy="180975"/>
          </a:xfrm>
          <a:prstGeom prst="rect">
            <a:avLst/>
          </a:prstGeom>
          <a:solidFill>
            <a:srgbClr val="2742B5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10868406" y="4937125"/>
            <a:ext cx="67961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dirty="0">
                <a:solidFill>
                  <a:srgbClr val="18344A"/>
                </a:solidFill>
                <a:latin typeface="Times New Roman"/>
                <a:ea typeface="Times New Roman"/>
                <a:cs typeface="Times New Roman"/>
              </a:rPr>
              <a:t>33.9%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563106" y="5384800"/>
            <a:ext cx="332384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上：基準 10 場　下：近期 5 場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563868" y="5711825"/>
            <a:ext cx="312648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58616B"/>
                </a:solidFill>
                <a:latin typeface="Times New Roman"/>
                <a:ea typeface="DFKai-SB"/>
                <a:cs typeface="Times New Roman"/>
              </a:rPr>
              <a:t>按球數與左右打調整後的占比。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00837" y="6070600"/>
            <a:ext cx="7195464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rgbClr val="58616B"/>
                </a:solidFill>
                <a:latin typeface="Times New Roman"/>
                <a:ea typeface="DFKai-SB"/>
                <a:cs typeface="Times New Roman"/>
              </a:rPr>
              <a:t>展開接守方案，或選擇投手與配球觀察條件；這些資訊輔助結果判讀。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793"/>
            <a:ext cx="8029956" cy="1063657"/>
            <a:chOff x="592836" y="250793"/>
            <a:chExt cx="8029956" cy="1063657"/>
          </a:xfrm>
        </p:grpSpPr>
        <p:sp>
          <p:nvSpPr>
            <p:cNvPr id="2" name="TextBox 2"/>
            <p:cNvSpPr/>
            <p:nvPr/>
          </p:nvSpPr>
          <p:spPr>
            <a:xfrm>
              <a:off x="601980" y="250793"/>
              <a:ext cx="5715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03　網站實作｜單日回放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802995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33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單日分析：依序選比賽與打席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23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95122" y="1549400"/>
            <a:ext cx="231648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850" b="1" dirty="0">
                <a:solidFill>
                  <a:srgbClr val="B54836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93851" y="1638300"/>
            <a:ext cx="1782928" cy="4263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8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切換單日分析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00075" y="2124075"/>
            <a:ext cx="2296820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使用固定歷史情境。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367022" y="1549400"/>
            <a:ext cx="231648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850" b="1" dirty="0">
                <a:solidFill>
                  <a:srgbClr val="B54836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865751" y="1638300"/>
            <a:ext cx="1782928" cy="4263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8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選擇觀察球隊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71975" y="2124075"/>
            <a:ext cx="2549906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台鋼雄鷹對富邦悍將。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138922" y="1549400"/>
            <a:ext cx="231648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850" b="1" dirty="0">
                <a:solidFill>
                  <a:srgbClr val="B54836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637651" y="1638300"/>
            <a:ext cx="1782928" cy="4263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8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點選決策打席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143875" y="2124075"/>
            <a:ext cx="2043735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六局下，江承諺。</a:t>
            </a:r>
          </a:p>
        </p:txBody>
      </p:sp>
      <p:pic>
        <p:nvPicPr>
          <p:cNvPr id="17" name="Imag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652" y="2628900"/>
            <a:ext cx="3267958" cy="15240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6560820" y="3035300"/>
            <a:ext cx="2446020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選到同場比賽後，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560058" y="3470275"/>
            <a:ext cx="3255264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找到六局下的江承諺。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99694" y="4321175"/>
            <a:ext cx="4219956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dirty="0">
                <a:solidFill>
                  <a:srgbClr val="58616B"/>
                </a:solidFill>
                <a:latin typeface="Times New Roman"/>
                <a:ea typeface="DFKai-SB"/>
                <a:cs typeface="Times New Roman"/>
              </a:rPr>
              <a:t>點選下方時間列，開啟該打席評估。</a:t>
            </a:r>
          </a:p>
        </p:txBody>
      </p:sp>
      <p:grpSp>
        <p:nvGrpSpPr>
          <p:cNvPr id="35" name="Image 21"/>
          <p:cNvGrpSpPr/>
          <p:nvPr/>
        </p:nvGrpSpPr>
        <p:grpSpPr>
          <a:xfrm>
            <a:off x="948880" y="4752975"/>
            <a:ext cx="9643396" cy="960609"/>
            <a:chOff x="948880" y="4752975"/>
            <a:chExt cx="9643396" cy="960609"/>
          </a:xfrm>
        </p:grpSpPr>
        <p:pic>
          <p:nvPicPr>
            <p:cNvPr id="34" name="Image 3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48880" y="4752975"/>
              <a:ext cx="9643396" cy="960609"/>
            </a:xfrm>
            <a:prstGeom prst="rect">
              <a:avLst/>
            </a:prstGeom>
          </p:spPr>
        </p:pic>
      </p:grpSp>
      <p:sp>
        <p:nvSpPr>
          <p:cNvPr id="22" name="TextBox 22"/>
          <p:cNvSpPr txBox="1"/>
          <p:nvPr/>
        </p:nvSpPr>
        <p:spPr>
          <a:xfrm>
            <a:off x="600837" y="6070600"/>
            <a:ext cx="6033860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rgbClr val="58616B"/>
                </a:solidFill>
                <a:latin typeface="Times New Roman"/>
                <a:ea typeface="DFKai-SB"/>
                <a:cs typeface="Times New Roman"/>
              </a:rPr>
              <a:t>2025/09/20 三場共 226 打席可回放；6 局起查看換人提示。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793"/>
            <a:ext cx="10972800" cy="1063657"/>
            <a:chOff x="592836" y="250793"/>
            <a:chExt cx="10972800" cy="1063657"/>
          </a:xfrm>
        </p:grpSpPr>
        <p:sp>
          <p:nvSpPr>
            <p:cNvPr id="2" name="TextBox 2"/>
            <p:cNvSpPr/>
            <p:nvPr/>
          </p:nvSpPr>
          <p:spPr>
            <a:xfrm>
              <a:off x="601980" y="250793"/>
              <a:ext cx="5715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03　網站實作｜單日回放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1097280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33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決策前：以原投手比較換投人選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24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98551" y="1571625"/>
            <a:ext cx="5011115" cy="4263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80" dirty="0">
                <a:solidFill>
                  <a:srgbClr val="58616B"/>
                </a:solidFill>
                <a:latin typeface="Times New Roman"/>
                <a:ea typeface="DFKai-SB"/>
                <a:cs typeface="Times New Roman"/>
              </a:rPr>
              <a:t>沿用上一頁同一打席，切換換投評估。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99694" y="2330450"/>
            <a:ext cx="1069848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B54836"/>
                </a:solidFill>
                <a:latin typeface="Times New Roman"/>
                <a:ea typeface="DFKai-SB"/>
                <a:cs typeface="Times New Roman"/>
              </a:rPr>
              <a:t>比較基準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93217" y="2692400"/>
            <a:ext cx="2200148" cy="63074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22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江承諺續投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98551" y="3286125"/>
            <a:ext cx="1954581" cy="4263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8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本場已投 89 球</a:t>
            </a:r>
          </a:p>
        </p:txBody>
      </p:sp>
      <p:sp>
        <p:nvSpPr>
          <p:cNvPr id="12" name="Line 12"/>
          <p:cNvSpPr/>
          <p:nvPr/>
        </p:nvSpPr>
        <p:spPr>
          <a:xfrm>
            <a:off x="4667250" y="2933700"/>
            <a:ext cx="1857375" cy="9525"/>
          </a:xfrm>
          <a:custGeom>
            <a:avLst/>
            <a:gdLst/>
            <a:ahLst/>
            <a:cxnLst/>
            <a:rect l="l" t="t" r="r" b="b"/>
            <a:pathLst>
              <a:path w="1857375" h="9525">
                <a:moveTo>
                  <a:pt x="0" y="0"/>
                </a:moveTo>
                <a:lnTo>
                  <a:pt x="1857375" y="0"/>
                </a:lnTo>
              </a:path>
            </a:pathLst>
          </a:custGeom>
          <a:noFill/>
          <a:ln w="28575">
            <a:solidFill>
              <a:srgbClr val="B54836"/>
            </a:solidFill>
          </a:ln>
        </p:spPr>
      </p:sp>
      <p:sp>
        <p:nvSpPr>
          <p:cNvPr id="13" name="Polygon 13"/>
          <p:cNvSpPr/>
          <p:nvPr/>
        </p:nvSpPr>
        <p:spPr>
          <a:xfrm>
            <a:off x="6381750" y="2867025"/>
            <a:ext cx="142875" cy="133350"/>
          </a:xfrm>
          <a:custGeom>
            <a:avLst/>
            <a:gdLst/>
            <a:ahLst/>
            <a:cxnLst/>
            <a:rect l="l" t="t" r="r" b="b"/>
            <a:pathLst>
              <a:path w="142875" h="133350">
                <a:moveTo>
                  <a:pt x="142875" y="66675"/>
                </a:moveTo>
                <a:lnTo>
                  <a:pt x="0" y="0"/>
                </a:lnTo>
                <a:lnTo>
                  <a:pt x="0" y="133350"/>
                </a:lnTo>
                <a:close/>
              </a:path>
            </a:pathLst>
          </a:custGeom>
          <a:solidFill>
            <a:srgbClr val="B54836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7229094" y="2330450"/>
            <a:ext cx="1069848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B54836"/>
                </a:solidFill>
                <a:latin typeface="Times New Roman"/>
                <a:ea typeface="DFKai-SB"/>
                <a:cs typeface="Times New Roman"/>
              </a:rPr>
              <a:t>模型候選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222617" y="2692400"/>
            <a:ext cx="1333195" cy="63074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22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林詩翔</a:t>
            </a:r>
          </a:p>
        </p:txBody>
      </p:sp>
      <p:sp>
        <p:nvSpPr>
          <p:cNvPr id="16" name="TextBox 16"/>
          <p:cNvSpPr/>
          <p:nvPr/>
        </p:nvSpPr>
        <p:spPr>
          <a:xfrm>
            <a:off x="7224141" y="3225832"/>
            <a:ext cx="2276284" cy="572072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l"/>
            <a:r>
              <a:rPr lang="zh-TW" sz="2920" b="1" dirty="0">
                <a:solidFill>
                  <a:srgbClr val="146747"/>
                </a:solidFill>
                <a:latin typeface="Times New Roman"/>
                <a:ea typeface="DFKai-SB"/>
                <a:cs typeface="Times New Roman"/>
              </a:rPr>
              <a:t>+1.07 百分點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98551" y="4019550"/>
            <a:ext cx="3837229" cy="4263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8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接著展開「揭示實際調度」。</a:t>
            </a:r>
          </a:p>
        </p:txBody>
      </p:sp>
      <p:pic>
        <p:nvPicPr>
          <p:cNvPr id="18" name="Imag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717256"/>
            <a:ext cx="10953205" cy="118872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600837" y="6070600"/>
            <a:ext cx="5574640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rgbClr val="58616B"/>
                </a:solidFill>
                <a:latin typeface="Times New Roman"/>
                <a:ea typeface="DFKai-SB"/>
                <a:cs typeface="Times New Roman"/>
              </a:rPr>
              <a:t>先看事前估計；實際換誰與打席結果留到下一步揭示。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793"/>
            <a:ext cx="10972800" cy="1063657"/>
            <a:chOff x="592836" y="250793"/>
            <a:chExt cx="10972800" cy="1063657"/>
          </a:xfrm>
        </p:grpSpPr>
        <p:sp>
          <p:nvSpPr>
            <p:cNvPr id="2" name="TextBox 2"/>
            <p:cNvSpPr/>
            <p:nvPr/>
          </p:nvSpPr>
          <p:spPr>
            <a:xfrm>
              <a:off x="601980" y="250793"/>
              <a:ext cx="5715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03　網站實作｜單日回放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1097280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33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決策後：再揭示實際調度與結果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25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99313" y="1597025"/>
            <a:ext cx="7362749" cy="396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20" dirty="0">
                <a:solidFill>
                  <a:srgbClr val="58616B"/>
                </a:solidFill>
                <a:latin typeface="Times New Roman"/>
                <a:ea typeface="DFKai-SB"/>
                <a:cs typeface="Times New Roman"/>
              </a:rPr>
              <a:t>依序展開「揭示實際調度」，再看「揭示這個打席的結果」。</a:t>
            </a:r>
          </a:p>
        </p:txBody>
      </p:sp>
      <p:pic>
        <p:nvPicPr>
          <p:cNvPr id="8" name="Imag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192655"/>
            <a:ext cx="10057437" cy="246888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599694" y="4902200"/>
            <a:ext cx="1069848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B54836"/>
                </a:solidFill>
                <a:latin typeface="Times New Roman"/>
                <a:ea typeface="DFKai-SB"/>
                <a:cs typeface="Times New Roman"/>
              </a:rPr>
              <a:t>實際調度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96265" y="5302250"/>
            <a:ext cx="1790192" cy="5133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62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王躍霖上場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371594" y="4902200"/>
            <a:ext cx="1069848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B54836"/>
                </a:solidFill>
                <a:latin typeface="Times New Roman"/>
                <a:ea typeface="DFKai-SB"/>
                <a:cs typeface="Times New Roman"/>
              </a:rPr>
              <a:t>打席結果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68165" y="5302250"/>
            <a:ext cx="2142896" cy="5133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62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陳真二壘安打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143494" y="4902200"/>
            <a:ext cx="1677304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B54836"/>
                </a:solidFill>
                <a:latin typeface="Times New Roman"/>
                <a:ea typeface="DFKai-SB"/>
                <a:cs typeface="Times New Roman"/>
              </a:rPr>
              <a:t>進攻方 WPA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140065" y="5302250"/>
            <a:ext cx="2042467" cy="5133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62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+2.20 百分點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00837" y="6070600"/>
            <a:ext cx="7195464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dirty="0">
                <a:solidFill>
                  <a:srgbClr val="58616B"/>
                </a:solidFill>
                <a:latin typeface="Times New Roman"/>
                <a:ea typeface="DFKai-SB"/>
                <a:cs typeface="Times New Roman"/>
              </a:rPr>
              <a:t>事前候選與實際換人分開對照；單一打席不能證明另一種調度的收益。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age-header"/>
          <p:cNvGrpSpPr/>
          <p:nvPr/>
        </p:nvGrpSpPr>
        <p:grpSpPr>
          <a:xfrm>
            <a:off x="601980" y="266700"/>
            <a:ext cx="10980420" cy="1047750"/>
            <a:chOff x="601980" y="266700"/>
            <a:chExt cx="10980420" cy="1047750"/>
          </a:xfrm>
        </p:grpSpPr>
        <p:sp>
          <p:nvSpPr>
            <p:cNvPr id="2" name="TextBox 2"/>
            <p:cNvSpPr/>
            <p:nvPr/>
          </p:nvSpPr>
          <p:spPr>
            <a:xfrm>
              <a:off x="601980" y="266700"/>
              <a:ext cx="5715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2700" rIns="0" bIns="0" anchor="t" anchorCtr="0">
              <a:noAutofit/>
            </a:bodyPr>
            <a:lstStyle/>
            <a:p>
              <a:pPr algn="l"/>
              <a:r>
                <a:rPr lang="zh-CN" sz="150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03　網站實作｜操作順序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609600" y="571500"/>
              <a:ext cx="10972800" cy="666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22225" rIns="0" bIns="0" anchor="t" anchorCtr="0">
              <a:noAutofit/>
            </a:bodyPr>
            <a:lstStyle/>
            <a:p>
              <a:pPr algn="l"/>
              <a:r>
                <a:rPr lang="zh-CN" sz="33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從設定到結果，完成一次比較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73422" y="6445282"/>
            <a:ext cx="2158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26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97408" y="1651000"/>
            <a:ext cx="2609088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B54836"/>
                </a:solidFill>
                <a:latin typeface="Times New Roman"/>
                <a:ea typeface="DFKai-SB"/>
                <a:cs typeface="Times New Roman"/>
              </a:rPr>
              <a:t>一般使用者／球隊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90550" y="2146300"/>
            <a:ext cx="315468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900" b="1" dirty="0">
                <a:solidFill>
                  <a:srgbClr val="B54836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43965" y="2292350"/>
            <a:ext cx="1437488" cy="5133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62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設定局勢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00075" y="2886075"/>
            <a:ext cx="2802992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攻守、球隊、局數與壘況</a:t>
            </a:r>
          </a:p>
        </p:txBody>
      </p:sp>
      <p:sp>
        <p:nvSpPr>
          <p:cNvPr id="16" name="Line 16"/>
          <p:cNvSpPr/>
          <p:nvPr/>
        </p:nvSpPr>
        <p:spPr>
          <a:xfrm>
            <a:off x="3371850" y="2524125"/>
            <a:ext cx="619125" cy="9525"/>
          </a:xfrm>
          <a:custGeom>
            <a:avLst/>
            <a:gdLst/>
            <a:ahLst/>
            <a:cxnLst/>
            <a:rect l="l" t="t" r="r" b="b"/>
            <a:pathLst>
              <a:path w="619125" h="9525">
                <a:moveTo>
                  <a:pt x="0" y="0"/>
                </a:moveTo>
                <a:lnTo>
                  <a:pt x="619125" y="0"/>
                </a:lnTo>
              </a:path>
            </a:pathLst>
          </a:custGeom>
          <a:noFill/>
          <a:ln w="28575">
            <a:solidFill>
              <a:srgbClr val="B54836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4362450" y="2146300"/>
            <a:ext cx="315468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900" b="1" dirty="0">
                <a:solidFill>
                  <a:srgbClr val="B54836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015865" y="2292350"/>
            <a:ext cx="1790192" cy="5133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62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選人並評估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371975" y="2886075"/>
            <a:ext cx="2802992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手動選人或套用球隊名單</a:t>
            </a:r>
          </a:p>
        </p:txBody>
      </p:sp>
      <p:sp>
        <p:nvSpPr>
          <p:cNvPr id="20" name="Line 20"/>
          <p:cNvSpPr/>
          <p:nvPr/>
        </p:nvSpPr>
        <p:spPr>
          <a:xfrm>
            <a:off x="7143750" y="2524125"/>
            <a:ext cx="619125" cy="9525"/>
          </a:xfrm>
          <a:custGeom>
            <a:avLst/>
            <a:gdLst/>
            <a:ahLst/>
            <a:cxnLst/>
            <a:rect l="l" t="t" r="r" b="b"/>
            <a:pathLst>
              <a:path w="619125" h="9525">
                <a:moveTo>
                  <a:pt x="0" y="0"/>
                </a:moveTo>
                <a:lnTo>
                  <a:pt x="619125" y="0"/>
                </a:lnTo>
              </a:path>
            </a:pathLst>
          </a:custGeom>
          <a:noFill/>
          <a:ln w="28575">
            <a:solidFill>
              <a:srgbClr val="B54836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8134350" y="2146300"/>
            <a:ext cx="315468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900" b="1" dirty="0">
                <a:solidFill>
                  <a:srgbClr val="B54836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787765" y="2292350"/>
            <a:ext cx="1437488" cy="5133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62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判讀結果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143875" y="2886075"/>
            <a:ext cx="3056077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看差距，再確認接守與資格</a:t>
            </a:r>
          </a:p>
        </p:txBody>
      </p:sp>
      <p:sp>
        <p:nvSpPr>
          <p:cNvPr id="24" name="Line 24"/>
          <p:cNvSpPr/>
          <p:nvPr/>
        </p:nvSpPr>
        <p:spPr>
          <a:xfrm>
            <a:off x="609600" y="37338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rgbClr val="D7D1C5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597408" y="4070350"/>
            <a:ext cx="1316736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B54836"/>
                </a:solidFill>
                <a:latin typeface="Times New Roman"/>
                <a:ea typeface="DFKai-SB"/>
                <a:cs typeface="Times New Roman"/>
              </a:rPr>
              <a:t>單日分析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90550" y="4565650"/>
            <a:ext cx="315468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900" b="1" dirty="0">
                <a:solidFill>
                  <a:srgbClr val="B54836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43965" y="4711700"/>
            <a:ext cx="1437488" cy="5133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62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找到打席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00075" y="5314950"/>
            <a:ext cx="3056077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選球隊，點選歷史決策時點</a:t>
            </a:r>
          </a:p>
        </p:txBody>
      </p:sp>
      <p:sp>
        <p:nvSpPr>
          <p:cNvPr id="29" name="Line 29"/>
          <p:cNvSpPr/>
          <p:nvPr/>
        </p:nvSpPr>
        <p:spPr>
          <a:xfrm>
            <a:off x="3371850" y="4943475"/>
            <a:ext cx="619125" cy="9525"/>
          </a:xfrm>
          <a:custGeom>
            <a:avLst/>
            <a:gdLst/>
            <a:ahLst/>
            <a:cxnLst/>
            <a:rect l="l" t="t" r="r" b="b"/>
            <a:pathLst>
              <a:path w="619125" h="9525">
                <a:moveTo>
                  <a:pt x="0" y="0"/>
                </a:moveTo>
                <a:lnTo>
                  <a:pt x="619125" y="0"/>
                </a:lnTo>
              </a:path>
            </a:pathLst>
          </a:custGeom>
          <a:noFill/>
          <a:ln w="28575">
            <a:solidFill>
              <a:srgbClr val="B54836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4362450" y="4565650"/>
            <a:ext cx="315468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900" b="1" dirty="0">
                <a:solidFill>
                  <a:srgbClr val="B54836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015865" y="4711700"/>
            <a:ext cx="1437488" cy="5133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62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先看估計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371975" y="5314950"/>
            <a:ext cx="2802992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固定事前基準，比較候選</a:t>
            </a:r>
          </a:p>
        </p:txBody>
      </p:sp>
      <p:sp>
        <p:nvSpPr>
          <p:cNvPr id="33" name="Line 33"/>
          <p:cNvSpPr/>
          <p:nvPr/>
        </p:nvSpPr>
        <p:spPr>
          <a:xfrm>
            <a:off x="7143750" y="4943475"/>
            <a:ext cx="619125" cy="9525"/>
          </a:xfrm>
          <a:custGeom>
            <a:avLst/>
            <a:gdLst/>
            <a:ahLst/>
            <a:cxnLst/>
            <a:rect l="l" t="t" r="r" b="b"/>
            <a:pathLst>
              <a:path w="619125" h="9525">
                <a:moveTo>
                  <a:pt x="0" y="0"/>
                </a:moveTo>
                <a:lnTo>
                  <a:pt x="619125" y="0"/>
                </a:lnTo>
              </a:path>
            </a:pathLst>
          </a:custGeom>
          <a:noFill/>
          <a:ln w="28575">
            <a:solidFill>
              <a:srgbClr val="B54836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8134350" y="4565650"/>
            <a:ext cx="315468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900" b="1" dirty="0">
                <a:solidFill>
                  <a:srgbClr val="B54836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787765" y="4711700"/>
            <a:ext cx="1790192" cy="5133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62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再揭示結果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143875" y="5314950"/>
            <a:ext cx="2802992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80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對照實際調度與打席結果</a:t>
            </a:r>
          </a:p>
        </p:txBody>
      </p:sp>
      <p:grpSp>
        <p:nvGrpSpPr>
          <p:cNvPr id="10" name="movie-frame"/>
          <p:cNvGrpSpPr/>
          <p:nvPr/>
        </p:nvGrpSpPr>
        <p:grpSpPr>
          <a:xfrm>
            <a:off x="1447800" y="1314450"/>
            <a:ext cx="9296400" cy="5229225"/>
            <a:chOff x="1447800" y="1314450"/>
            <a:chExt cx="9296400" cy="5229225"/>
          </a:xfrm>
        </p:grpSpPr>
      </p:grp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baseball"/>
          <p:cNvGrpSpPr/>
          <p:nvPr/>
        </p:nvGrpSpPr>
        <p:grpSpPr>
          <a:xfrm>
            <a:off x="8001000" y="1714500"/>
            <a:ext cx="3905250" cy="3905250"/>
            <a:chOff x="8001000" y="1714500"/>
            <a:chExt cx="3905250" cy="3905250"/>
          </a:xfrm>
        </p:grpSpPr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01000" y="1714500"/>
              <a:ext cx="3905250" cy="3905250"/>
            </a:xfrm>
            <a:prstGeom prst="rect">
              <a:avLst/>
            </a:prstGeom>
          </p:spPr>
        </p:pic>
      </p:grpSp>
      <p:grpSp>
        <p:nvGrpSpPr>
          <p:cNvPr id="7" name="chapter-content"/>
          <p:cNvGrpSpPr/>
          <p:nvPr/>
        </p:nvGrpSpPr>
        <p:grpSpPr>
          <a:xfrm>
            <a:off x="590550" y="673132"/>
            <a:ext cx="7143750" cy="4496562"/>
            <a:chOff x="590550" y="673132"/>
            <a:chExt cx="7143750" cy="4496562"/>
          </a:xfrm>
        </p:grpSpPr>
        <p:sp>
          <p:nvSpPr>
            <p:cNvPr id="3" name="TextBox 3"/>
            <p:cNvSpPr/>
            <p:nvPr/>
          </p:nvSpPr>
          <p:spPr>
            <a:xfrm>
              <a:off x="590550" y="673132"/>
              <a:ext cx="1295972" cy="1619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12668" rIns="0" bIns="0" anchor="t" anchorCtr="0">
              <a:noAutofit/>
            </a:bodyPr>
            <a:lstStyle/>
            <a:p>
              <a:pPr algn="l"/>
              <a:r>
                <a:rPr lang="zh-TW" sz="8400" b="1" dirty="0">
                  <a:solidFill>
                    <a:srgbClr val="B54836"/>
                  </a:solidFill>
                  <a:latin typeface="Times New Roman"/>
                  <a:ea typeface="Times New Roman"/>
                  <a:cs typeface="Times New Roman"/>
                </a:rPr>
                <a:t>04</a:t>
              </a:r>
            </a:p>
          </p:txBody>
        </p:sp>
        <p:sp>
          <p:nvSpPr>
            <p:cNvPr id="4" name="TextBox 4"/>
            <p:cNvSpPr/>
            <p:nvPr/>
          </p:nvSpPr>
          <p:spPr>
            <a:xfrm>
              <a:off x="591312" y="2632043"/>
              <a:ext cx="633679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6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後續規劃</a:t>
              </a:r>
            </a:p>
          </p:txBody>
        </p:sp>
        <p:sp>
          <p:nvSpPr>
            <p:cNvPr id="5" name="TextBox 5"/>
            <p:cNvSpPr/>
            <p:nvPr/>
          </p:nvSpPr>
          <p:spPr>
            <a:xfrm>
              <a:off x="590550" y="3562350"/>
              <a:ext cx="7143750" cy="4762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8382" tIns="3175" rIns="0" bIns="0" anchor="t" anchorCtr="0">
              <a:noAutofit/>
            </a:bodyPr>
            <a:lstStyle/>
            <a:p>
              <a:pPr algn="l"/>
              <a:r>
                <a:rPr lang="zh-TW" sz="210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跨年資料、近況權重與牛棚接續</a:t>
              </a:r>
            </a:p>
          </p:txBody>
        </p:sp>
        <p:sp>
          <p:nvSpPr>
            <p:cNvPr id="6" name="TextBox 6"/>
            <p:cNvSpPr/>
            <p:nvPr/>
          </p:nvSpPr>
          <p:spPr>
            <a:xfrm>
              <a:off x="600837" y="4832318"/>
              <a:ext cx="2564511" cy="337376"/>
            </a:xfrm>
            <a:prstGeom prst="rect">
              <a:avLst/>
            </a:prstGeom>
            <a:noFill/>
            <a:ln>
              <a:noFill/>
            </a:ln>
          </p:spPr>
        </p:sp>
      </p:grpSp>
      <p:sp>
        <p:nvSpPr>
          <p:cNvPr id="10" name="TextBox 8"/>
          <p:cNvSpPr/>
          <p:nvPr/>
        </p:nvSpPr>
        <p:spPr>
          <a:xfrm>
            <a:off x="11373422" y="6445282"/>
            <a:ext cx="2158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793"/>
            <a:ext cx="10972800" cy="1063657"/>
            <a:chOff x="592836" y="250793"/>
            <a:chExt cx="10972800" cy="1063657"/>
          </a:xfrm>
        </p:grpSpPr>
        <p:sp>
          <p:nvSpPr>
            <p:cNvPr id="2" name="TextBox 2"/>
            <p:cNvSpPr/>
            <p:nvPr/>
          </p:nvSpPr>
          <p:spPr>
            <a:xfrm>
              <a:off x="601980" y="250793"/>
              <a:ext cx="5715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50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04　後續規劃｜跨年資料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1097280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3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換隊或跨季後，球員資料怎麼接續？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28</a:t>
            </a:r>
          </a:p>
        </p:txBody>
      </p:sp>
      <p:grpSp>
        <p:nvGrpSpPr>
          <p:cNvPr id="12" name="identity-problem"/>
          <p:cNvGrpSpPr/>
          <p:nvPr/>
        </p:nvGrpSpPr>
        <p:grpSpPr>
          <a:xfrm>
            <a:off x="598170" y="1644650"/>
            <a:ext cx="6989445" cy="440055"/>
            <a:chOff x="598170" y="1644650"/>
            <a:chExt cx="6989445" cy="440055"/>
          </a:xfrm>
        </p:grpSpPr>
        <p:sp>
          <p:nvSpPr>
            <p:cNvPr id="11" name="TextBox 11"/>
            <p:cNvSpPr txBox="1"/>
            <p:nvPr/>
          </p:nvSpPr>
          <p:spPr>
            <a:xfrm>
              <a:off x="598170" y="1644650"/>
              <a:ext cx="698944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轉隊、登錄姓名變動，可能讓同一球員的紀錄斷開。</a:t>
              </a:r>
            </a:p>
          </p:txBody>
        </p:sp>
      </p:grpSp>
      <p:grpSp>
        <p:nvGrpSpPr>
          <p:cNvPr id="25" name="identity-bridge"/>
          <p:cNvGrpSpPr/>
          <p:nvPr/>
        </p:nvGrpSpPr>
        <p:grpSpPr>
          <a:xfrm>
            <a:off x="988822" y="2524125"/>
            <a:ext cx="10042906" cy="2232724"/>
            <a:chOff x="988822" y="2524125"/>
            <a:chExt cx="10042906" cy="2232724"/>
          </a:xfrm>
        </p:grpSpPr>
        <p:sp>
          <p:nvSpPr>
            <p:cNvPr id="13" name="TextBox 13"/>
            <p:cNvSpPr txBox="1"/>
            <p:nvPr/>
          </p:nvSpPr>
          <p:spPr>
            <a:xfrm>
              <a:off x="1095756" y="2524125"/>
              <a:ext cx="1275588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4350" b="1" dirty="0">
                  <a:solidFill>
                    <a:srgbClr val="18344A"/>
                  </a:solidFill>
                  <a:latin typeface="Times New Roman"/>
                  <a:ea typeface="Times New Roman"/>
                  <a:cs typeface="Times New Roman"/>
                </a:rPr>
                <a:t>2025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88822" y="3371850"/>
              <a:ext cx="1489456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18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原球隊紀錄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3162300" y="3152775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16" name="Polygon 16"/>
            <p:cNvSpPr/>
            <p:nvPr/>
          </p:nvSpPr>
          <p:spPr>
            <a:xfrm>
              <a:off x="4305300" y="30956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54836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610100" y="2647950"/>
              <a:ext cx="2952750" cy="1285875"/>
            </a:xfrm>
            <a:prstGeom prst="rect">
              <a:avLst/>
            </a:prstGeom>
            <a:solidFill>
              <a:srgbClr val="ECE5D9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910803" y="2774950"/>
              <a:ext cx="235134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30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同一球員 ID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260391" y="3397250"/>
              <a:ext cx="1652168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02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跨年身分對照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7772400" y="3152775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21" name="Polygon 21"/>
            <p:cNvSpPr/>
            <p:nvPr/>
          </p:nvSpPr>
          <p:spPr>
            <a:xfrm>
              <a:off x="8915400" y="30956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54836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649206" y="2524125"/>
              <a:ext cx="1275588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4350" b="1" dirty="0">
                  <a:solidFill>
                    <a:srgbClr val="B54836"/>
                  </a:solidFill>
                  <a:latin typeface="Times New Roman"/>
                  <a:ea typeface="Times New Roman"/>
                  <a:cs typeface="Times New Roman"/>
                </a:rPr>
                <a:t>2026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542272" y="3371850"/>
              <a:ext cx="1489456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18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新球隊紀錄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639162" y="4302125"/>
              <a:ext cx="6894627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32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出賽、投球負荷與對決資料，沿同一條歷程累積。</a:t>
              </a:r>
            </a:p>
          </p:txBody>
        </p:sp>
      </p:grpSp>
      <p:grpSp>
        <p:nvGrpSpPr>
          <p:cNvPr id="28" name="identity-direction"/>
          <p:cNvGrpSpPr/>
          <p:nvPr/>
        </p:nvGrpSpPr>
        <p:grpSpPr>
          <a:xfrm>
            <a:off x="597789" y="5130832"/>
            <a:ext cx="7519226" cy="828008"/>
            <a:chOff x="597789" y="5130832"/>
            <a:chExt cx="7519226" cy="828008"/>
          </a:xfrm>
        </p:grpSpPr>
        <p:sp>
          <p:nvSpPr>
            <p:cNvPr id="26" name="TextBox 26"/>
            <p:cNvSpPr/>
            <p:nvPr/>
          </p:nvSpPr>
          <p:spPr>
            <a:xfrm>
              <a:off x="597789" y="5130832"/>
              <a:ext cx="751922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32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既有年度已按 ID 串接，下一步驗收新球季。</a:t>
              </a:r>
            </a:p>
          </p:txBody>
        </p:sp>
        <p:sp>
          <p:nvSpPr>
            <p:cNvPr id="27" name="TextBox 27"/>
            <p:cNvSpPr/>
            <p:nvPr/>
          </p:nvSpPr>
          <p:spPr>
            <a:xfrm>
              <a:off x="600075" y="5591175"/>
              <a:ext cx="5080730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188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驗收：跨隊紀錄接續，重複與缺漏可追查。</a:t>
              </a:r>
            </a:p>
          </p:txBody>
        </p:sp>
      </p:grpSp>
      <p:grpSp>
        <p:nvGrpSpPr>
          <p:cNvPr id="30" name="identity-state"/>
          <p:cNvGrpSpPr/>
          <p:nvPr/>
        </p:nvGrpSpPr>
        <p:grpSpPr>
          <a:xfrm>
            <a:off x="600075" y="6143625"/>
            <a:ext cx="6260211" cy="367665"/>
            <a:chOff x="600075" y="6143625"/>
            <a:chExt cx="6260211" cy="367665"/>
          </a:xfrm>
        </p:grpSpPr>
        <p:sp>
          <p:nvSpPr>
            <p:cNvPr id="29" name="TextBox 29"/>
            <p:cNvSpPr/>
            <p:nvPr/>
          </p:nvSpPr>
          <p:spPr>
            <a:xfrm>
              <a:off x="600075" y="6143625"/>
              <a:ext cx="6260211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188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2024–2025 身分串接已完成；2026 資料尚未接入。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2836" y="250793"/>
            <a:ext cx="10972800" cy="1063657"/>
            <a:chOff x="592836" y="250793"/>
            <a:chExt cx="10972800" cy="1063657"/>
          </a:xfrm>
        </p:grpSpPr>
        <p:sp>
          <p:nvSpPr>
            <p:cNvPr id="2" name="TextBox 2"/>
            <p:cNvSpPr/>
            <p:nvPr/>
          </p:nvSpPr>
          <p:spPr>
            <a:xfrm>
              <a:off x="601980" y="250793"/>
              <a:ext cx="5715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50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04　後續規劃｜近況更新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92836" y="593693"/>
              <a:ext cx="1097280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3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近況改變，長短期表現怎麼取捨？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29</a:t>
            </a:r>
          </a:p>
        </p:txBody>
      </p:sp>
      <p:grpSp>
        <p:nvGrpSpPr>
          <p:cNvPr id="12" name="recency-question"/>
          <p:cNvGrpSpPr/>
          <p:nvPr/>
        </p:nvGrpSpPr>
        <p:grpSpPr>
          <a:xfrm>
            <a:off x="598170" y="1654175"/>
            <a:ext cx="6686550" cy="440055"/>
            <a:chOff x="598170" y="1654175"/>
            <a:chExt cx="6686550" cy="440055"/>
          </a:xfrm>
        </p:grpSpPr>
        <p:sp>
          <p:nvSpPr>
            <p:cNvPr id="11" name="TextBox 11"/>
            <p:cNvSpPr txBox="1"/>
            <p:nvPr/>
          </p:nvSpPr>
          <p:spPr>
            <a:xfrm>
              <a:off x="598170" y="1654175"/>
              <a:ext cx="668655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近期幾場的好壞，何時足以改變原本的能力估計？</a:t>
              </a:r>
            </a:p>
          </p:txBody>
        </p:sp>
      </p:grpSp>
      <p:grpSp>
        <p:nvGrpSpPr>
          <p:cNvPr id="25" name="recency-illustration"/>
          <p:cNvGrpSpPr/>
          <p:nvPr/>
        </p:nvGrpSpPr>
        <p:grpSpPr>
          <a:xfrm>
            <a:off x="599694" y="2451100"/>
            <a:ext cx="10439781" cy="1613281"/>
            <a:chOff x="599694" y="2451100"/>
            <a:chExt cx="10439781" cy="1613281"/>
          </a:xfrm>
        </p:grpSpPr>
        <p:sp>
          <p:nvSpPr>
            <p:cNvPr id="13" name="TextBox 13"/>
            <p:cNvSpPr txBox="1"/>
            <p:nvPr/>
          </p:nvSpPr>
          <p:spPr>
            <a:xfrm>
              <a:off x="600456" y="2451100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權重概念示意，非現行計算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09600" y="2886075"/>
              <a:ext cx="1285875" cy="638175"/>
            </a:xfrm>
            <a:prstGeom prst="rect">
              <a:avLst/>
            </a:prstGeom>
            <a:solidFill>
              <a:srgbClr val="E9E3D7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2133600" y="2886075"/>
              <a:ext cx="1285875" cy="638175"/>
            </a:xfrm>
            <a:prstGeom prst="rect">
              <a:avLst/>
            </a:prstGeom>
            <a:solidFill>
              <a:srgbClr val="D8DDE0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3657600" y="2886075"/>
              <a:ext cx="1285875" cy="638175"/>
            </a:xfrm>
            <a:prstGeom prst="rect">
              <a:avLst/>
            </a:prstGeom>
            <a:solidFill>
              <a:srgbClr val="B6C3C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181600" y="2886075"/>
              <a:ext cx="1285875" cy="638175"/>
            </a:xfrm>
            <a:prstGeom prst="rect">
              <a:avLst/>
            </a:prstGeom>
            <a:solidFill>
              <a:srgbClr val="8C9FA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6705600" y="2886075"/>
              <a:ext cx="1285875" cy="638175"/>
            </a:xfrm>
            <a:prstGeom prst="rect">
              <a:avLst/>
            </a:prstGeom>
            <a:solidFill>
              <a:srgbClr val="607E8F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8229600" y="2886075"/>
              <a:ext cx="1285875" cy="638175"/>
            </a:xfrm>
            <a:prstGeom prst="rect">
              <a:avLst/>
            </a:prstGeom>
            <a:solidFill>
              <a:srgbClr val="36576D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9753600" y="2886075"/>
              <a:ext cx="1285875" cy="638175"/>
            </a:xfrm>
            <a:prstGeom prst="rect">
              <a:avLst/>
            </a:prstGeom>
            <a:solidFill>
              <a:srgbClr val="18344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99694" y="3683000"/>
              <a:ext cx="133235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較舊的比賽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2876550" y="3800475"/>
              <a:ext cx="6610350" cy="9525"/>
            </a:xfrm>
            <a:custGeom>
              <a:avLst/>
              <a:gdLst/>
              <a:ahLst/>
              <a:cxnLst/>
              <a:rect l="l" t="t" r="r" b="b"/>
              <a:pathLst>
                <a:path w="6610350" h="9525">
                  <a:moveTo>
                    <a:pt x="0" y="0"/>
                  </a:moveTo>
                  <a:lnTo>
                    <a:pt x="6610350" y="0"/>
                  </a:lnTo>
                </a:path>
              </a:pathLst>
            </a:custGeom>
            <a:noFill/>
            <a:ln w="28575">
              <a:solidFill>
                <a:srgbClr val="B54836"/>
              </a:solidFill>
            </a:ln>
          </p:spPr>
        </p:sp>
        <p:sp>
          <p:nvSpPr>
            <p:cNvPr id="23" name="Polygon 23"/>
            <p:cNvSpPr/>
            <p:nvPr/>
          </p:nvSpPr>
          <p:spPr>
            <a:xfrm>
              <a:off x="9486900" y="37433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B5483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896094" y="3683000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近期比賽</a:t>
              </a:r>
            </a:p>
          </p:txBody>
        </p:sp>
      </p:grpSp>
      <p:grpSp>
        <p:nvGrpSpPr>
          <p:cNvPr id="28" name="long-term-evidence"/>
          <p:cNvGrpSpPr/>
          <p:nvPr/>
        </p:nvGrpSpPr>
        <p:grpSpPr>
          <a:xfrm>
            <a:off x="597789" y="4397375"/>
            <a:ext cx="4373016" cy="948500"/>
            <a:chOff x="597789" y="4397375"/>
            <a:chExt cx="4373016" cy="948500"/>
          </a:xfrm>
        </p:grpSpPr>
        <p:sp>
          <p:nvSpPr>
            <p:cNvPr id="26" name="TextBox 26"/>
            <p:cNvSpPr txBox="1"/>
            <p:nvPr/>
          </p:nvSpPr>
          <p:spPr>
            <a:xfrm>
              <a:off x="597789" y="4397375"/>
              <a:ext cx="3459124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長期能力：保留穩定基準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99313" y="4949825"/>
              <a:ext cx="4371492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02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樣本少時，避免幾場表現主導估計。</a:t>
              </a:r>
            </a:p>
          </p:txBody>
        </p:sp>
      </p:grpSp>
      <p:grpSp>
        <p:nvGrpSpPr>
          <p:cNvPr id="31" name="short-term-evidence"/>
          <p:cNvGrpSpPr/>
          <p:nvPr/>
        </p:nvGrpSpPr>
        <p:grpSpPr>
          <a:xfrm>
            <a:off x="6236589" y="4397375"/>
            <a:ext cx="4373023" cy="948532"/>
            <a:chOff x="6236589" y="4397375"/>
            <a:chExt cx="4373023" cy="948532"/>
          </a:xfrm>
        </p:grpSpPr>
        <p:sp>
          <p:nvSpPr>
            <p:cNvPr id="29" name="TextBox 29"/>
            <p:cNvSpPr txBox="1"/>
            <p:nvPr/>
          </p:nvSpPr>
          <p:spPr>
            <a:xfrm>
              <a:off x="6236589" y="4397375"/>
              <a:ext cx="4083761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32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短期狀態：檢查更新是否有用</a:t>
              </a:r>
            </a:p>
          </p:txBody>
        </p:sp>
        <p:sp>
          <p:nvSpPr>
            <p:cNvPr id="30" name="TextBox 30"/>
            <p:cNvSpPr/>
            <p:nvPr/>
          </p:nvSpPr>
          <p:spPr>
            <a:xfrm>
              <a:off x="6238113" y="4949857"/>
              <a:ext cx="4371499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TW" sz="202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以後續月份比較固定與衰減權重。</a:t>
              </a:r>
            </a:p>
          </p:txBody>
        </p:sp>
      </p:grpSp>
      <p:grpSp>
        <p:nvGrpSpPr>
          <p:cNvPr id="34" name="recency-state"/>
          <p:cNvGrpSpPr/>
          <p:nvPr/>
        </p:nvGrpSpPr>
        <p:grpSpPr>
          <a:xfrm>
            <a:off x="600075" y="6029325"/>
            <a:ext cx="10982325" cy="462915"/>
            <a:chOff x="600075" y="6029325"/>
            <a:chExt cx="10982325" cy="462915"/>
          </a:xfrm>
        </p:grpSpPr>
        <p:sp>
          <p:nvSpPr>
            <p:cNvPr id="32" name="Line 32"/>
            <p:cNvSpPr/>
            <p:nvPr/>
          </p:nvSpPr>
          <p:spPr>
            <a:xfrm>
              <a:off x="609600" y="60293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rgbClr val="D7D1C5"/>
              </a:solidFill>
            </a:ln>
          </p:spPr>
        </p:sp>
        <p:sp>
          <p:nvSpPr>
            <p:cNvPr id="33" name="TextBox 33"/>
            <p:cNvSpPr/>
            <p:nvPr/>
          </p:nvSpPr>
          <p:spPr>
            <a:xfrm>
              <a:off x="600075" y="6124575"/>
              <a:ext cx="5840063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188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驗收誤差與排序穩定性，通過前維持固定權重。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54355" y="250793"/>
            <a:ext cx="10972800" cy="1063657"/>
            <a:chOff x="554355" y="250793"/>
            <a:chExt cx="10972800" cy="1063657"/>
          </a:xfrm>
        </p:grpSpPr>
        <p:sp>
          <p:nvSpPr>
            <p:cNvPr id="2" name="TextBox 2"/>
            <p:cNvSpPr/>
            <p:nvPr/>
          </p:nvSpPr>
          <p:spPr>
            <a:xfrm>
              <a:off x="601980" y="250793"/>
              <a:ext cx="5715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150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04　後續規劃｜牛棚接續</a:t>
              </a:r>
            </a:p>
          </p:txBody>
        </p:sp>
        <p:sp>
          <p:nvSpPr>
            <p:cNvPr id="3" name="TextBox 3"/>
            <p:cNvSpPr/>
            <p:nvPr/>
          </p:nvSpPr>
          <p:spPr>
            <a:xfrm>
              <a:off x="554355" y="593693"/>
              <a:ext cx="1097280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38481" tIns="32" rIns="0" bIns="0" anchor="t" anchorCtr="0">
              <a:noAutofit/>
            </a:bodyPr>
            <a:lstStyle/>
            <a:p>
              <a:pPr algn="l"/>
              <a:r>
                <a:rPr lang="zh-TW" sz="33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現在換投，後面幾局還有人可用嗎？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266825"/>
              <a:ext cx="3429000" cy="47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</p:grpSp>
      <p:sp>
        <p:nvSpPr>
          <p:cNvPr id="6" name="TextBox 6"/>
          <p:cNvSpPr/>
          <p:nvPr/>
        </p:nvSpPr>
        <p:spPr>
          <a:xfrm>
            <a:off x="11383518" y="6473857"/>
            <a:ext cx="20574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30</a:t>
            </a:r>
          </a:p>
        </p:txBody>
      </p:sp>
      <p:grpSp>
        <p:nvGrpSpPr>
          <p:cNvPr id="12" name="bullpen-gap"/>
          <p:cNvGrpSpPr/>
          <p:nvPr/>
        </p:nvGrpSpPr>
        <p:grpSpPr>
          <a:xfrm>
            <a:off x="598170" y="1663700"/>
            <a:ext cx="6686550" cy="440055"/>
            <a:chOff x="598170" y="1663700"/>
            <a:chExt cx="6686550" cy="440055"/>
          </a:xfrm>
        </p:grpSpPr>
        <p:sp>
          <p:nvSpPr>
            <p:cNvPr id="11" name="TextBox 11"/>
            <p:cNvSpPr txBox="1"/>
            <p:nvPr/>
          </p:nvSpPr>
          <p:spPr>
            <a:xfrm>
              <a:off x="598170" y="1663700"/>
              <a:ext cx="668655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現行只估計接下來三棒，尚未比較多局牛棚接續。</a:t>
              </a:r>
            </a:p>
          </p:txBody>
        </p:sp>
      </p:grpSp>
      <p:grpSp>
        <p:nvGrpSpPr>
          <p:cNvPr id="39" name="bullpen-sequences"/>
          <p:cNvGrpSpPr/>
          <p:nvPr/>
        </p:nvGrpSpPr>
        <p:grpSpPr>
          <a:xfrm>
            <a:off x="596646" y="2403475"/>
            <a:ext cx="10357104" cy="2831084"/>
            <a:chOff x="596646" y="2403475"/>
            <a:chExt cx="10357104" cy="2831084"/>
          </a:xfrm>
        </p:grpSpPr>
        <p:sp>
          <p:nvSpPr>
            <p:cNvPr id="13" name="TextBox 13"/>
            <p:cNvSpPr txBox="1"/>
            <p:nvPr/>
          </p:nvSpPr>
          <p:spPr>
            <a:xfrm>
              <a:off x="600075" y="2419350"/>
              <a:ext cx="1537564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8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出場順序示意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510278" y="2403475"/>
              <a:ext cx="8854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1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第 7 局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177278" y="2403475"/>
              <a:ext cx="8854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1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第 8 局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844278" y="2403475"/>
              <a:ext cx="8854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21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第 9 局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96646" y="3244850"/>
              <a:ext cx="114066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55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先用 A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286250" y="3009900"/>
              <a:ext cx="1333500" cy="809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704812" y="3114675"/>
              <a:ext cx="496375" cy="7197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680" b="1" dirty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rPr>
                <a:t>A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953250" y="3009900"/>
              <a:ext cx="1333500" cy="809625"/>
            </a:xfrm>
            <a:prstGeom prst="rect">
              <a:avLst/>
            </a:prstGeom>
            <a:solidFill>
              <a:srgbClr val="18344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389355" y="3114675"/>
              <a:ext cx="461290" cy="7197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680" b="1" dirty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rPr>
                <a:t>B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9620250" y="3009900"/>
              <a:ext cx="1333500" cy="809625"/>
            </a:xfrm>
            <a:prstGeom prst="rect">
              <a:avLst/>
            </a:prstGeom>
            <a:solidFill>
              <a:srgbClr val="9A6118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038812" y="3114675"/>
              <a:ext cx="496375" cy="7197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680" b="1" dirty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rPr>
                <a:t>C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5810250" y="3419475"/>
              <a:ext cx="857250" cy="9525"/>
            </a:xfrm>
            <a:custGeom>
              <a:avLst/>
              <a:gdLst/>
              <a:ahLst/>
              <a:cxnLst/>
              <a:rect l="l" t="t" r="r" b="b"/>
              <a:pathLst>
                <a:path w="857250" h="9525">
                  <a:moveTo>
                    <a:pt x="0" y="0"/>
                  </a:moveTo>
                  <a:lnTo>
                    <a:pt x="857250" y="0"/>
                  </a:lnTo>
                </a:path>
              </a:pathLst>
            </a:custGeom>
            <a:noFill/>
            <a:ln w="28575">
              <a:solidFill>
                <a:srgbClr val="18344A"/>
              </a:solidFill>
            </a:ln>
          </p:spPr>
        </p:sp>
        <p:sp>
          <p:nvSpPr>
            <p:cNvPr id="25" name="Polygon 25"/>
            <p:cNvSpPr/>
            <p:nvPr/>
          </p:nvSpPr>
          <p:spPr>
            <a:xfrm>
              <a:off x="6667500" y="33623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18344A"/>
            </a:solidFill>
            <a:ln>
              <a:noFill/>
            </a:ln>
          </p:spPr>
        </p:sp>
        <p:sp>
          <p:nvSpPr>
            <p:cNvPr id="26" name="Line 26"/>
            <p:cNvSpPr/>
            <p:nvPr/>
          </p:nvSpPr>
          <p:spPr>
            <a:xfrm>
              <a:off x="8477250" y="3419475"/>
              <a:ext cx="857250" cy="9525"/>
            </a:xfrm>
            <a:custGeom>
              <a:avLst/>
              <a:gdLst/>
              <a:ahLst/>
              <a:cxnLst/>
              <a:rect l="l" t="t" r="r" b="b"/>
              <a:pathLst>
                <a:path w="857250" h="9525">
                  <a:moveTo>
                    <a:pt x="0" y="0"/>
                  </a:moveTo>
                  <a:lnTo>
                    <a:pt x="857250" y="0"/>
                  </a:lnTo>
                </a:path>
              </a:pathLst>
            </a:custGeom>
            <a:noFill/>
            <a:ln w="28575">
              <a:solidFill>
                <a:srgbClr val="18344A"/>
              </a:solidFill>
            </a:ln>
          </p:spPr>
        </p:sp>
        <p:sp>
          <p:nvSpPr>
            <p:cNvPr id="27" name="Polygon 27"/>
            <p:cNvSpPr/>
            <p:nvPr/>
          </p:nvSpPr>
          <p:spPr>
            <a:xfrm>
              <a:off x="9334500" y="33623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18344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96646" y="4645025"/>
              <a:ext cx="114066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55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保留 A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286250" y="4410075"/>
              <a:ext cx="1333500" cy="809625"/>
            </a:xfrm>
            <a:prstGeom prst="rect">
              <a:avLst/>
            </a:prstGeom>
            <a:solidFill>
              <a:srgbClr val="18344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722355" y="4514850"/>
              <a:ext cx="461290" cy="7197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680" b="1" dirty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rPr>
                <a:t>B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953250" y="4410075"/>
              <a:ext cx="1333500" cy="809625"/>
            </a:xfrm>
            <a:prstGeom prst="rect">
              <a:avLst/>
            </a:prstGeom>
            <a:solidFill>
              <a:srgbClr val="9A611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371812" y="4514850"/>
              <a:ext cx="496375" cy="7197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680" b="1" dirty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rPr>
                <a:t>C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9620250" y="4410075"/>
              <a:ext cx="1333500" cy="809625"/>
            </a:xfrm>
            <a:prstGeom prst="rect">
              <a:avLst/>
            </a:prstGeom>
            <a:solidFill>
              <a:srgbClr val="B54836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0038812" y="4514850"/>
              <a:ext cx="496375" cy="7197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680" b="1" dirty="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</a:rPr>
                <a:t>A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5810250" y="4819650"/>
              <a:ext cx="857250" cy="9525"/>
            </a:xfrm>
            <a:custGeom>
              <a:avLst/>
              <a:gdLst/>
              <a:ahLst/>
              <a:cxnLst/>
              <a:rect l="l" t="t" r="r" b="b"/>
              <a:pathLst>
                <a:path w="857250" h="9525">
                  <a:moveTo>
                    <a:pt x="0" y="0"/>
                  </a:moveTo>
                  <a:lnTo>
                    <a:pt x="857250" y="0"/>
                  </a:lnTo>
                </a:path>
              </a:pathLst>
            </a:custGeom>
            <a:noFill/>
            <a:ln w="28575">
              <a:solidFill>
                <a:srgbClr val="18344A"/>
              </a:solidFill>
            </a:ln>
          </p:spPr>
        </p:sp>
        <p:sp>
          <p:nvSpPr>
            <p:cNvPr id="36" name="Polygon 36"/>
            <p:cNvSpPr/>
            <p:nvPr/>
          </p:nvSpPr>
          <p:spPr>
            <a:xfrm>
              <a:off x="6667500" y="47625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18344A"/>
            </a:solidFill>
            <a:ln>
              <a:noFill/>
            </a:ln>
          </p:spPr>
        </p:sp>
        <p:sp>
          <p:nvSpPr>
            <p:cNvPr id="37" name="Line 37"/>
            <p:cNvSpPr/>
            <p:nvPr/>
          </p:nvSpPr>
          <p:spPr>
            <a:xfrm>
              <a:off x="8477250" y="4819650"/>
              <a:ext cx="857250" cy="9525"/>
            </a:xfrm>
            <a:custGeom>
              <a:avLst/>
              <a:gdLst/>
              <a:ahLst/>
              <a:cxnLst/>
              <a:rect l="l" t="t" r="r" b="b"/>
              <a:pathLst>
                <a:path w="857250" h="9525">
                  <a:moveTo>
                    <a:pt x="0" y="0"/>
                  </a:moveTo>
                  <a:lnTo>
                    <a:pt x="857250" y="0"/>
                  </a:lnTo>
                </a:path>
              </a:pathLst>
            </a:custGeom>
            <a:noFill/>
            <a:ln w="28575">
              <a:solidFill>
                <a:srgbClr val="18344A"/>
              </a:solidFill>
            </a:ln>
          </p:spPr>
        </p:sp>
        <p:sp>
          <p:nvSpPr>
            <p:cNvPr id="38" name="Polygon 38"/>
            <p:cNvSpPr/>
            <p:nvPr/>
          </p:nvSpPr>
          <p:spPr>
            <a:xfrm>
              <a:off x="9334500" y="47625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95250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18344A"/>
            </a:solidFill>
            <a:ln>
              <a:noFill/>
            </a:ln>
          </p:spPr>
        </p:sp>
      </p:grpSp>
      <p:grpSp>
        <p:nvGrpSpPr>
          <p:cNvPr id="42" name="bullpen-direction"/>
          <p:cNvGrpSpPr/>
          <p:nvPr/>
        </p:nvGrpSpPr>
        <p:grpSpPr>
          <a:xfrm>
            <a:off x="596646" y="5657850"/>
            <a:ext cx="8110823" cy="862965"/>
            <a:chOff x="596646" y="5657850"/>
            <a:chExt cx="8110823" cy="862965"/>
          </a:xfrm>
        </p:grpSpPr>
        <p:sp>
          <p:nvSpPr>
            <p:cNvPr id="40" name="TextBox 40"/>
            <p:cNvSpPr/>
            <p:nvPr/>
          </p:nvSpPr>
          <p:spPr>
            <a:xfrm>
              <a:off x="596646" y="5657850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255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比較出場順序、各局人選與剩餘牛棚。</a:t>
              </a:r>
            </a:p>
          </p:txBody>
        </p:sp>
        <p:sp>
          <p:nvSpPr>
            <p:cNvPr id="41" name="TextBox 41"/>
            <p:cNvSpPr/>
            <p:nvPr/>
          </p:nvSpPr>
          <p:spPr>
            <a:xfrm>
              <a:off x="600075" y="6153150"/>
              <a:ext cx="8107394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TW" sz="1880" dirty="0">
                  <a:solidFill>
                    <a:srgbClr val="58616B"/>
                  </a:solidFill>
                  <a:latin typeface="Times New Roman"/>
                  <a:ea typeface="DFKai-SB"/>
                  <a:cs typeface="Times New Roman"/>
                </a:rPr>
                <a:t>限制：可用名單與預計投球數。A／B／C 為不同後援投手示意。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/>
          <p:nvPr/>
        </p:nvSpPr>
        <p:spPr>
          <a:xfrm>
            <a:off x="601980" y="266700"/>
            <a:ext cx="822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12700" rIns="0" bIns="0" anchor="t" anchorCtr="0">
            <a:noAutofit/>
          </a:bodyPr>
          <a:lstStyle/>
          <a:p>
            <a:pPr algn="l"/>
            <a:r>
              <a:rPr lang="zh-TW" sz="1500" dirty="0">
                <a:solidFill>
                  <a:srgbClr val="B54836"/>
                </a:solidFill>
                <a:latin typeface="Times New Roman"/>
                <a:ea typeface="DFKai-SB"/>
                <a:cs typeface="Times New Roman"/>
              </a:rPr>
              <a:t>研究依據</a:t>
            </a:r>
          </a:p>
        </p:txBody>
      </p:sp>
      <p:sp>
        <p:nvSpPr>
          <p:cNvPr id="3" name="TextBox 3"/>
          <p:cNvSpPr/>
          <p:nvPr/>
        </p:nvSpPr>
        <p:spPr>
          <a:xfrm>
            <a:off x="609600" y="571500"/>
            <a:ext cx="10972800" cy="666750"/>
          </a:xfrm>
          <a:prstGeom prst="rect">
            <a:avLst/>
          </a:prstGeom>
          <a:noFill/>
          <a:ln>
            <a:noFill/>
          </a:ln>
        </p:spPr>
        <p:txBody>
          <a:bodyPr wrap="none" lIns="0" tIns="22225" rIns="0" bIns="0" anchor="t" anchorCtr="0">
            <a:noAutofit/>
          </a:bodyPr>
          <a:lstStyle/>
          <a:p>
            <a:pPr algn="l"/>
            <a:r>
              <a:rPr lang="zh-TW" sz="330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對決估計與預測評估的研究依據</a:t>
            </a:r>
          </a:p>
        </p:txBody>
      </p:sp>
      <p:sp>
        <p:nvSpPr>
          <p:cNvPr id="4" name="Rectangle 4"/>
          <p:cNvSpPr/>
          <p:nvPr/>
        </p:nvSpPr>
        <p:spPr>
          <a:xfrm>
            <a:off x="609600" y="1266825"/>
            <a:ext cx="3429000" cy="47625"/>
          </a:xfrm>
          <a:prstGeom prst="rect">
            <a:avLst/>
          </a:prstGeom>
          <a:solidFill>
            <a:srgbClr val="B54836"/>
          </a:solidFill>
          <a:ln>
            <a:noFill/>
          </a:ln>
        </p:spPr>
      </p:sp>
      <p:sp>
        <p:nvSpPr>
          <p:cNvPr id="5" name="TextBox 5"/>
          <p:cNvSpPr/>
          <p:nvPr/>
        </p:nvSpPr>
        <p:spPr>
          <a:xfrm>
            <a:off x="11373422" y="6445282"/>
            <a:ext cx="20897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-6858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31</a:t>
            </a:r>
          </a:p>
        </p:txBody>
      </p:sp>
      <p:sp>
        <p:nvSpPr>
          <p:cNvPr id="6" name="TextBox 6"/>
          <p:cNvSpPr/>
          <p:nvPr/>
        </p:nvSpPr>
        <p:spPr>
          <a:xfrm>
            <a:off x="600075" y="1571625"/>
            <a:ext cx="7219379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TW" sz="188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[1] Efron &amp; Morris（1975）｜JASA 70(350), 311–319</a:t>
            </a:r>
          </a:p>
        </p:txBody>
      </p:sp>
      <p:sp>
        <p:nvSpPr>
          <p:cNvPr id="7" name="TextBox 7"/>
          <p:cNvSpPr/>
          <p:nvPr/>
        </p:nvSpPr>
        <p:spPr>
          <a:xfrm>
            <a:off x="601599" y="1952625"/>
            <a:ext cx="7000970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en-US" sz="158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Data Analysis Using Stein’s Estimator and its Generalizations</a:t>
            </a:r>
          </a:p>
        </p:txBody>
      </p:sp>
      <p:sp>
        <p:nvSpPr>
          <p:cNvPr id="8" name="TextBox 8"/>
          <p:cNvSpPr/>
          <p:nvPr/>
        </p:nvSpPr>
        <p:spPr>
          <a:xfrm>
            <a:off x="600456" y="2289143"/>
            <a:ext cx="670988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32" rIns="0" bIns="0" anchor="t" anchorCtr="0">
            <a:noAutofit/>
          </a:bodyPr>
          <a:lstStyle/>
          <a:p>
            <a:pPr algn="l"/>
            <a:r>
              <a:rPr lang="zh-TW" sz="1800" dirty="0">
                <a:solidFill>
                  <a:srgbClr val="1D2934"/>
                </a:solidFill>
                <a:latin typeface="Times New Roman"/>
                <a:ea typeface="DFKai-SB"/>
                <a:cs typeface="Times New Roman"/>
              </a:rPr>
              <a:t>小樣本估計向整體收縮，作為部分池化的研究依據。</a:t>
            </a:r>
          </a:p>
        </p:txBody>
      </p:sp>
      <p:sp>
        <p:nvSpPr>
          <p:cNvPr id="9" name="TextBox 9">
            <a:hlinkClick r:id="rId2"/>
          </p:cNvPr>
          <p:cNvSpPr/>
          <p:nvPr/>
        </p:nvSpPr>
        <p:spPr>
          <a:xfrm>
            <a:off x="602361" y="2679668"/>
            <a:ext cx="435730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32" rIns="0" bIns="0" anchor="t" anchorCtr="0">
            <a:noAutofit/>
          </a:bodyPr>
          <a:lstStyle/>
          <a:p>
            <a:pPr algn="l"/>
            <a:r>
              <a:rPr lang="en-US" sz="1420" dirty="0">
                <a:solidFill>
                  <a:srgbClr val="B54836"/>
                </a:solidFill>
                <a:latin typeface="Times New Roman"/>
                <a:ea typeface="Times New Roman"/>
                <a:cs typeface="Times New Roman"/>
              </a:rPr>
              <a:t>DOI: 10.1080/01621459.1975.10479864</a:t>
            </a:r>
          </a:p>
        </p:txBody>
      </p:sp>
      <p:sp>
        <p:nvSpPr>
          <p:cNvPr id="10" name="Line 10"/>
          <p:cNvSpPr/>
          <p:nvPr/>
        </p:nvSpPr>
        <p:spPr>
          <a:xfrm>
            <a:off x="609600" y="30099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rgbClr val="D7D1C5"/>
            </a:solidFill>
          </a:ln>
        </p:spPr>
      </p:sp>
      <p:sp>
        <p:nvSpPr>
          <p:cNvPr id="11" name="TextBox 11"/>
          <p:cNvSpPr/>
          <p:nvPr/>
        </p:nvSpPr>
        <p:spPr>
          <a:xfrm>
            <a:off x="600075" y="3038475"/>
            <a:ext cx="7362730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TW" sz="188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[2] Efron（1979）｜The Annals of Statistics 7(1), 1–26</a:t>
            </a:r>
          </a:p>
        </p:txBody>
      </p:sp>
      <p:sp>
        <p:nvSpPr>
          <p:cNvPr id="12" name="TextBox 12"/>
          <p:cNvSpPr/>
          <p:nvPr/>
        </p:nvSpPr>
        <p:spPr>
          <a:xfrm>
            <a:off x="601599" y="3419475"/>
            <a:ext cx="5705284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en-US" sz="158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Bootstrap Methods: Another Look at the Jackknife</a:t>
            </a:r>
          </a:p>
        </p:txBody>
      </p:sp>
      <p:sp>
        <p:nvSpPr>
          <p:cNvPr id="13" name="TextBox 13"/>
          <p:cNvSpPr/>
          <p:nvPr/>
        </p:nvSpPr>
        <p:spPr>
          <a:xfrm>
            <a:off x="600456" y="3755993"/>
            <a:ext cx="700068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32" rIns="0" bIns="0" anchor="t" anchorCtr="0">
            <a:noAutofit/>
          </a:bodyPr>
          <a:lstStyle/>
          <a:p>
            <a:pPr algn="l"/>
            <a:r>
              <a:rPr lang="zh-TW" sz="1800" dirty="0">
                <a:solidFill>
                  <a:srgbClr val="1D2934"/>
                </a:solidFill>
                <a:latin typeface="Times New Roman"/>
                <a:ea typeface="DFKai-SB"/>
                <a:cs typeface="Times New Roman"/>
              </a:rPr>
              <a:t>以比賽重抽樣描述變動；觀察區間不代表換人收益。</a:t>
            </a:r>
          </a:p>
        </p:txBody>
      </p:sp>
      <p:sp>
        <p:nvSpPr>
          <p:cNvPr id="14" name="TextBox 14">
            <a:hlinkClick r:id="rId3"/>
          </p:cNvPr>
          <p:cNvSpPr/>
          <p:nvPr/>
        </p:nvSpPr>
        <p:spPr>
          <a:xfrm>
            <a:off x="602361" y="4146518"/>
            <a:ext cx="3243929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32" rIns="0" bIns="0" anchor="t" anchorCtr="0">
            <a:noAutofit/>
          </a:bodyPr>
          <a:lstStyle/>
          <a:p>
            <a:pPr algn="l"/>
            <a:r>
              <a:rPr lang="en-US" sz="1420" dirty="0">
                <a:solidFill>
                  <a:srgbClr val="B54836"/>
                </a:solidFill>
                <a:latin typeface="Times New Roman"/>
                <a:ea typeface="Times New Roman"/>
                <a:cs typeface="Times New Roman"/>
              </a:rPr>
              <a:t>DOI: 10.1214/aos/1176344552</a:t>
            </a:r>
          </a:p>
        </p:txBody>
      </p:sp>
      <p:sp>
        <p:nvSpPr>
          <p:cNvPr id="15" name="Line 15"/>
          <p:cNvSpPr/>
          <p:nvPr/>
        </p:nvSpPr>
        <p:spPr>
          <a:xfrm>
            <a:off x="609600" y="44767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rgbClr val="D7D1C5"/>
            </a:solidFill>
          </a:ln>
        </p:spPr>
      </p:sp>
      <p:sp>
        <p:nvSpPr>
          <p:cNvPr id="16" name="TextBox 16"/>
          <p:cNvSpPr/>
          <p:nvPr/>
        </p:nvSpPr>
        <p:spPr>
          <a:xfrm>
            <a:off x="600075" y="4505325"/>
            <a:ext cx="7953375" cy="367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TW" sz="1880" b="1" dirty="0">
                <a:solidFill>
                  <a:srgbClr val="18344A"/>
                </a:solidFill>
                <a:latin typeface="Times New Roman"/>
                <a:ea typeface="DFKai-SB"/>
                <a:cs typeface="Times New Roman"/>
              </a:rPr>
              <a:t>[3] Gneiting &amp; Raftery（2007）｜JASA 102(477), 359–378</a:t>
            </a:r>
          </a:p>
        </p:txBody>
      </p:sp>
      <p:sp>
        <p:nvSpPr>
          <p:cNvPr id="17" name="TextBox 17"/>
          <p:cNvSpPr/>
          <p:nvPr/>
        </p:nvSpPr>
        <p:spPr>
          <a:xfrm>
            <a:off x="601599" y="4886325"/>
            <a:ext cx="6432994" cy="3089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en-US" sz="158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Strictly Proper Scoring Rules, Prediction, and Estimation</a:t>
            </a:r>
          </a:p>
        </p:txBody>
      </p:sp>
      <p:sp>
        <p:nvSpPr>
          <p:cNvPr id="18" name="TextBox 18"/>
          <p:cNvSpPr/>
          <p:nvPr/>
        </p:nvSpPr>
        <p:spPr>
          <a:xfrm>
            <a:off x="600456" y="5222843"/>
            <a:ext cx="785745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32" rIns="0" bIns="0" anchor="t" anchorCtr="0">
            <a:noAutofit/>
          </a:bodyPr>
          <a:lstStyle/>
          <a:p>
            <a:pPr algn="l"/>
            <a:r>
              <a:rPr lang="zh-TW" sz="1800" dirty="0">
                <a:solidFill>
                  <a:srgbClr val="1D2934"/>
                </a:solidFill>
                <a:latin typeface="Times New Roman"/>
                <a:ea typeface="DFKai-SB"/>
                <a:cs typeface="Times New Roman"/>
              </a:rPr>
              <a:t>RE24 以 MSE 比較；逐球機率另驗證，不混用指標。</a:t>
            </a:r>
          </a:p>
        </p:txBody>
      </p:sp>
      <p:sp>
        <p:nvSpPr>
          <p:cNvPr id="19" name="TextBox 19">
            <a:hlinkClick r:id="rId4"/>
          </p:cNvPr>
          <p:cNvSpPr/>
          <p:nvPr/>
        </p:nvSpPr>
        <p:spPr>
          <a:xfrm>
            <a:off x="602361" y="5613368"/>
            <a:ext cx="3953066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32" rIns="0" bIns="0" anchor="t" anchorCtr="0">
            <a:noAutofit/>
          </a:bodyPr>
          <a:lstStyle/>
          <a:p>
            <a:pPr algn="l"/>
            <a:r>
              <a:rPr lang="en-US" sz="1420" dirty="0">
                <a:solidFill>
                  <a:srgbClr val="B54836"/>
                </a:solidFill>
                <a:latin typeface="Times New Roman"/>
                <a:ea typeface="Times New Roman"/>
                <a:cs typeface="Times New Roman"/>
              </a:rPr>
              <a:t>DOI: 10.1198/016214506000001437</a:t>
            </a:r>
          </a:p>
        </p:txBody>
      </p:sp>
      <p:sp>
        <p:nvSpPr>
          <p:cNvPr id="20" name="Line 20"/>
          <p:cNvSpPr/>
          <p:nvPr/>
        </p:nvSpPr>
        <p:spPr>
          <a:xfrm>
            <a:off x="609600" y="59436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19050">
            <a:solidFill>
              <a:srgbClr val="D7D1C5"/>
            </a:solidFill>
          </a:ln>
        </p:spPr>
      </p:sp>
      <p:sp>
        <p:nvSpPr>
          <p:cNvPr id="21" name="TextBox 21"/>
          <p:cNvSpPr/>
          <p:nvPr/>
        </p:nvSpPr>
        <p:spPr>
          <a:xfrm>
            <a:off x="601980" y="5981700"/>
            <a:ext cx="7082790" cy="29337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closing"/>
          <p:cNvGrpSpPr/>
          <p:nvPr/>
        </p:nvGrpSpPr>
        <p:grpSpPr>
          <a:xfrm>
            <a:off x="590550" y="1390650"/>
            <a:ext cx="6553200" cy="2114550"/>
            <a:chOff x="590550" y="1390650"/>
            <a:chExt cx="6553200" cy="2114550"/>
          </a:xfrm>
        </p:grpSpPr>
        <p:sp>
          <p:nvSpPr>
            <p:cNvPr id="2" name="TextBox 2"/>
            <p:cNvSpPr/>
            <p:nvPr/>
          </p:nvSpPr>
          <p:spPr>
            <a:xfrm>
              <a:off x="590550" y="1390650"/>
              <a:ext cx="6553200" cy="21145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>
                <a:lnSpc>
                  <a:spcPts val="7950"/>
                </a:lnSpc>
              </a:pPr>
              <a:r>
                <a:rPr lang="zh-TW" sz="57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換人之前，</a:t>
              </a:r>
              <a:br>
                <a:rPr lang="zh-TW" sz="57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</a:br>
              <a:r>
                <a:rPr lang="zh-TW" sz="5700" b="1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先看清差距與代價。</a:t>
              </a:r>
            </a:p>
          </p:txBody>
        </p:sp>
      </p:grpSp>
      <p:grpSp>
        <p:nvGrpSpPr>
          <p:cNvPr id="6" name="team"/>
          <p:cNvGrpSpPr/>
          <p:nvPr/>
        </p:nvGrpSpPr>
        <p:grpSpPr>
          <a:xfrm>
            <a:off x="592836" y="3822668"/>
            <a:ext cx="6197346" cy="1134618"/>
            <a:chOff x="592836" y="3822668"/>
            <a:chExt cx="6197346" cy="1134618"/>
          </a:xfrm>
        </p:grpSpPr>
        <p:sp>
          <p:nvSpPr>
            <p:cNvPr id="4" name="TextBox 4"/>
            <p:cNvSpPr/>
            <p:nvPr/>
          </p:nvSpPr>
          <p:spPr>
            <a:xfrm>
              <a:off x="592836" y="3822668"/>
              <a:ext cx="619125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TW" sz="3200" b="1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一球兩面 | 臨場用人決策</a:t>
              </a:r>
            </a:p>
          </p:txBody>
        </p:sp>
        <p:sp>
          <p:nvSpPr>
            <p:cNvPr id="5" name="TextBox 5"/>
            <p:cNvSpPr/>
            <p:nvPr/>
          </p:nvSpPr>
          <p:spPr>
            <a:xfrm>
              <a:off x="598932" y="4546568"/>
              <a:ext cx="6191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88932" rIns="0" bIns="0" anchor="t" anchorCtr="0">
              <a:noAutofit/>
            </a:bodyPr>
            <a:lstStyle/>
            <a:p>
              <a:pPr algn="l"/>
              <a:r>
                <a:rPr lang="zh-TW" sz="1720" dirty="0">
                  <a:solidFill>
                    <a:srgbClr val="18344A"/>
                  </a:solidFill>
                  <a:latin typeface="Times New Roman"/>
                  <a:ea typeface="DFKai-SB"/>
                  <a:cs typeface="Times New Roman"/>
                </a:rPr>
                <a:t>蘇櫟、陳信安</a:t>
              </a:r>
            </a:p>
          </p:txBody>
        </p:sp>
      </p:grpSp>
      <p:grpSp>
        <p:nvGrpSpPr>
          <p:cNvPr id="8" name="baseball"/>
          <p:cNvGrpSpPr/>
          <p:nvPr/>
        </p:nvGrpSpPr>
        <p:grpSpPr>
          <a:xfrm>
            <a:off x="8858250" y="2095500"/>
            <a:ext cx="2762250" cy="2762250"/>
            <a:chOff x="8858250" y="2095500"/>
            <a:chExt cx="2762250" cy="2762250"/>
          </a:xfrm>
        </p:grpSpPr>
        <p:pic>
          <p:nvPicPr>
            <p:cNvPr id="15" name="Image 1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58250" y="2095500"/>
              <a:ext cx="2762250" cy="2762250"/>
            </a:xfrm>
            <a:prstGeom prst="rect">
              <a:avLst/>
            </a:prstGeom>
          </p:spPr>
        </p:pic>
      </p:grpSp>
      <p:sp>
        <p:nvSpPr>
          <p:cNvPr id="12" name="TextBox 12"/>
          <p:cNvSpPr/>
          <p:nvPr/>
        </p:nvSpPr>
        <p:spPr>
          <a:xfrm>
            <a:off x="11375612" y="6445282"/>
            <a:ext cx="21364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-32" rIns="0" bIns="0" anchor="t" anchorCtr="0">
            <a:noAutofit/>
          </a:bodyPr>
          <a:lstStyle/>
          <a:p>
            <a:pPr algn="r"/>
            <a:r>
              <a:rPr lang="zh-TW" sz="1350" dirty="0">
                <a:solidFill>
                  <a:srgbClr val="58616B"/>
                </a:solidFill>
                <a:latin typeface="Times New Roman"/>
                <a:ea typeface="Times New Roman"/>
                <a:cs typeface="Times New Roman"/>
              </a:rPr>
              <a:t>32</a:t>
            </a:r>
          </a:p>
        </p:txBody>
      </p:sp>
      <p:grpSp>
        <p:nvGrpSpPr>
          <p:cNvPr id="13" name="visible-project-urls"/>
          <p:cNvGrpSpPr/>
          <p:nvPr/>
        </p:nvGrpSpPr>
        <p:grpSpPr>
          <a:xfrm>
            <a:off x="2673477" y="5502307"/>
            <a:ext cx="6845046" cy="829056"/>
            <a:chOff x="2673477" y="5502307"/>
            <a:chExt cx="6845046" cy="829056"/>
          </a:xfrm>
        </p:grpSpPr>
        <p:sp>
          <p:nvSpPr>
            <p:cNvPr id="10" name="TextBox 10">
              <a:hlinkClick r:id="rId3"/>
            </p:cNvPr>
            <p:cNvSpPr/>
            <p:nvPr/>
          </p:nvSpPr>
          <p:spPr>
            <a:xfrm>
              <a:off x="2999708" y="5502307"/>
              <a:ext cx="61925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ctr"/>
              <a:r>
                <a:rPr lang="zh-TW" sz="195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網站 https://da-xiong-chen.github.io/baseball_project/</a:t>
              </a:r>
            </a:p>
          </p:txBody>
        </p:sp>
        <p:sp>
          <p:nvSpPr>
            <p:cNvPr id="11" name="TextBox 11">
              <a:hlinkClick r:id="rId4"/>
            </p:cNvPr>
            <p:cNvSpPr/>
            <p:nvPr/>
          </p:nvSpPr>
          <p:spPr>
            <a:xfrm>
              <a:off x="2673477" y="5949982"/>
              <a:ext cx="684504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ctr"/>
              <a:r>
                <a:rPr lang="zh-TW" sz="1950" dirty="0">
                  <a:solidFill>
                    <a:srgbClr val="B54836"/>
                  </a:solidFill>
                  <a:latin typeface="Times New Roman"/>
                  <a:ea typeface="DFKai-SB"/>
                  <a:cs typeface="Times New Roman"/>
                </a:rPr>
                <a:t>原始碼 https://github.com/Da-Xiong-Chen/baseball_project</a:t>
              </a:r>
            </a:p>
          </p:txBody>
        </p:sp>
      </p:grpSp>
      <p:pic>
        <p:nvPicPr>
          <p:cNvPr id="7" name="圖片 6">
            <a:extLst>
              <a:ext uri="{FF2B5EF4-FFF2-40B4-BE49-F238E27FC236}">
                <a16:creationId id="{27E10D67-1E64-BFA4-72DD-E54492EEB9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5882" y="5188172"/>
            <a:ext cx="1355720" cy="13557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aseball_competition_polished19">
  <a:themeElements>
    <a:clrScheme name="baseball_competition_polished19">
      <a:dk1>
        <a:srgbClr val="1D2934"/>
      </a:dk1>
      <a:lt1>
        <a:srgbClr val="F7F5EF"/>
      </a:lt1>
      <a:dk2>
        <a:srgbClr val="1F497D"/>
      </a:dk2>
      <a:lt2>
        <a:srgbClr val="ECE5D9"/>
      </a:lt2>
      <a:accent1>
        <a:srgbClr val="18344A"/>
      </a:accent1>
      <a:accent2>
        <a:srgbClr val="B54836"/>
      </a:accent2>
      <a:accent3>
        <a:srgbClr val="9A6118"/>
      </a:accent3>
      <a:accent4>
        <a:srgbClr val="18344A"/>
      </a:accent4>
      <a:accent5>
        <a:srgbClr val="58616B"/>
      </a:accent5>
      <a:accent6>
        <a:srgbClr val="D7D1C5"/>
      </a:accent6>
      <a:hlink>
        <a:srgbClr val="B54836"/>
      </a:hlink>
      <a:folHlink>
        <a:srgbClr val="9A6118"/>
      </a:folHlink>
    </a:clrScheme>
    <a:fontScheme name="baseball_competition_polished19">
      <a:majorFont>
        <a:latin typeface="Times New Roman"/>
        <a:ea typeface="標楷體"/>
        <a:cs typeface="Times New Roman"/>
        <a:font script="Jpan" typeface="標楷體"/>
        <a:font script="Hang" typeface="標楷體"/>
        <a:font script="Hans" typeface="標楷體"/>
        <a:font script="Hant" typeface="標楷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標楷體"/>
        <a:cs typeface="Times New Roman"/>
        <a:font script="Jpan" typeface="標楷體"/>
        <a:font script="Hang" typeface="標楷體"/>
        <a:font script="Hans" typeface="標楷體"/>
        <a:font script="Hant" typeface="標楷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aseball_competition_polished19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2618</Words>
  <Application>Microsoft Office PowerPoint</Application>
  <PresentationFormat>寬螢幕</PresentationFormat>
  <Paragraphs>381</Paragraphs>
  <Slides>32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32</vt:i4>
      </vt:variant>
    </vt:vector>
  </HeadingPairs>
  <TitlesOfParts>
    <vt:vector size="35" baseType="lpstr">
      <vt:lpstr>Arial</vt:lpstr>
      <vt:lpstr>Times New Roman</vt:lpstr>
      <vt:lpstr>baseball_competition_polished19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subject/>
  <dc:creator/>
  <cp:keywords/>
  <dc:description/>
  <cp:lastModifiedBy>user</cp:lastModifiedBy>
  <cp:revision>6</cp:revision>
  <dcterms:created xsi:type="dcterms:W3CDTF">2026-10-15T13:31:12Z</dcterms:created>
  <dcterms:modified xsi:type="dcterms:W3CDTF">2026-10-23T13:53:25Z</dcterms:modified>
  <cp:category/>
  <cp:contentStatus/>
  <dc:language>zh-TW</dc:language>
</cp:coreProperties>
</file>