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a69731a2453d3d2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4920234" cy="1063625"/>
            <a:chOff x="592836" y="250825"/>
            <a:chExt cx="492023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從換人情境，到網站實作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1" name="agenda-0"/>
          <p:cNvGrpSpPr/>
          <p:nvPr/>
        </p:nvGrpSpPr>
        <p:grpSpPr>
          <a:xfrm>
            <a:off x="609600" y="1889125"/>
            <a:ext cx="5181600" cy="1092200"/>
            <a:chOff x="609600" y="1889125"/>
            <a:chExt cx="5181600" cy="1092200"/>
          </a:xfrm>
        </p:grpSpPr>
        <p:sp>
          <p:nvSpPr>
            <p:cNvPr id="7" name="TextBox 7"/>
            <p:cNvSpPr txBox="1"/>
            <p:nvPr/>
          </p:nvSpPr>
          <p:spPr>
            <a:xfrm>
              <a:off x="641985" y="188912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4658" y="1927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棒球問題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57325" y="2438400"/>
              <a:ext cx="381533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關鍵打席，如何比較續打與換人？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9718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16" name="agenda-1"/>
          <p:cNvGrpSpPr/>
          <p:nvPr/>
        </p:nvGrpSpPr>
        <p:grpSpPr>
          <a:xfrm>
            <a:off x="609600" y="3327400"/>
            <a:ext cx="5181600" cy="1092200"/>
            <a:chOff x="609600" y="3327400"/>
            <a:chExt cx="5181600" cy="1092200"/>
          </a:xfrm>
        </p:grpSpPr>
        <p:sp>
          <p:nvSpPr>
            <p:cNvPr id="12" name="TextBox 12"/>
            <p:cNvSpPr txBox="1"/>
            <p:nvPr/>
          </p:nvSpPr>
          <p:spPr>
            <a:xfrm>
              <a:off x="641985" y="332740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4658" y="33655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使用者與情境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7325" y="387667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球隊調度討論與球迷情境模擬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410075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21" name="agenda-2"/>
          <p:cNvGrpSpPr/>
          <p:nvPr/>
        </p:nvGrpSpPr>
        <p:grpSpPr>
          <a:xfrm>
            <a:off x="609600" y="4765675"/>
            <a:ext cx="5181600" cy="1092200"/>
            <a:chOff x="609600" y="4765675"/>
            <a:chExt cx="5181600" cy="1092200"/>
          </a:xfrm>
        </p:grpSpPr>
        <p:sp>
          <p:nvSpPr>
            <p:cNvPr id="17" name="TextBox 17"/>
            <p:cNvSpPr txBox="1"/>
            <p:nvPr/>
          </p:nvSpPr>
          <p:spPr>
            <a:xfrm>
              <a:off x="641985" y="476567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4658" y="48037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使用資料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7325" y="53149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逐球、出賽紀錄與守位資訊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5848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26" name="agenda-3"/>
          <p:cNvGrpSpPr/>
          <p:nvPr/>
        </p:nvGrpSpPr>
        <p:grpSpPr>
          <a:xfrm>
            <a:off x="6248400" y="1889125"/>
            <a:ext cx="5181600" cy="1092200"/>
            <a:chOff x="6248400" y="1889125"/>
            <a:chExt cx="5181600" cy="1092200"/>
          </a:xfrm>
        </p:grpSpPr>
        <p:sp>
          <p:nvSpPr>
            <p:cNvPr id="22" name="TextBox 22"/>
            <p:cNvSpPr txBox="1"/>
            <p:nvPr/>
          </p:nvSpPr>
          <p:spPr>
            <a:xfrm>
              <a:off x="6280785" y="188912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3458" y="1927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分析方法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6125" y="24384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能力估計、回測與研究依據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248400" y="29718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31" name="agenda-4"/>
          <p:cNvGrpSpPr/>
          <p:nvPr/>
        </p:nvGrpSpPr>
        <p:grpSpPr>
          <a:xfrm>
            <a:off x="6248400" y="3327400"/>
            <a:ext cx="5181600" cy="1092200"/>
            <a:chOff x="6248400" y="3327400"/>
            <a:chExt cx="5181600" cy="1092200"/>
          </a:xfrm>
        </p:grpSpPr>
        <p:sp>
          <p:nvSpPr>
            <p:cNvPr id="27" name="TextBox 27"/>
            <p:cNvSpPr txBox="1"/>
            <p:nvPr/>
          </p:nvSpPr>
          <p:spPr>
            <a:xfrm>
              <a:off x="6280785" y="332740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458" y="33655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6125" y="387667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代打、換投、名單與單日分析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4410075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36" name="agenda-5"/>
          <p:cNvGrpSpPr/>
          <p:nvPr/>
        </p:nvGrpSpPr>
        <p:grpSpPr>
          <a:xfrm>
            <a:off x="6248400" y="4765675"/>
            <a:ext cx="5181600" cy="1092200"/>
            <a:chOff x="6248400" y="4765675"/>
            <a:chExt cx="5181600" cy="1092200"/>
          </a:xfrm>
        </p:grpSpPr>
        <p:sp>
          <p:nvSpPr>
            <p:cNvPr id="32" name="TextBox 32"/>
            <p:cNvSpPr txBox="1"/>
            <p:nvPr/>
          </p:nvSpPr>
          <p:spPr>
            <a:xfrm>
              <a:off x="6280785" y="476567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3458" y="48037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成果與開發規劃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6125" y="53149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網站現況、試用與資料更新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48400" y="5848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780404"/>
            <a:ext cx="6191250" cy="1811291"/>
            <a:chOff x="609600" y="1780404"/>
            <a:chExt cx="6191250" cy="18112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80404"/>
              <a:ext cx="6191250" cy="1811291"/>
            </a:xfrm>
            <a:prstGeom prst="rect">
              <a:avLst/>
            </a:prstGeom>
          </p:spPr>
        </p:pic>
      </p:grpSp>
      <p:grpSp>
        <p:nvGrpSpPr>
          <p:cNvPr id="16" name="diamond-context"/>
          <p:cNvGrpSpPr/>
          <p:nvPr/>
        </p:nvGrpSpPr>
        <p:grpSpPr>
          <a:xfrm>
            <a:off x="2525649" y="3819525"/>
            <a:ext cx="2282952" cy="2280793"/>
            <a:chOff x="2525649" y="3819525"/>
            <a:chExt cx="2282952" cy="2280793"/>
          </a:xfrm>
        </p:grpSpPr>
        <p:sp>
          <p:nvSpPr>
            <p:cNvPr id="9" name="Polygon 9"/>
            <p:cNvSpPr/>
            <p:nvPr/>
          </p:nvSpPr>
          <p:spPr>
            <a:xfrm>
              <a:off x="2905125" y="390525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lnTo>
                    <a:pt x="1524000" y="762000"/>
                  </a:lnTo>
                  <a:lnTo>
                    <a:pt x="762000" y="1524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819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343400" y="4581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343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819400" y="4581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196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5649" y="56896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5" name="選擇 A"/>
          <p:cNvGrpSpPr/>
          <p:nvPr/>
        </p:nvGrpSpPr>
        <p:grpSpPr>
          <a:xfrm>
            <a:off x="7419594" y="1831975"/>
            <a:ext cx="2755392" cy="1546606"/>
            <a:chOff x="7419594" y="1831975"/>
            <a:chExt cx="2755392" cy="1546606"/>
          </a:xfrm>
        </p:grpSpPr>
        <p:sp>
          <p:nvSpPr>
            <p:cNvPr id="17" name="Ellipse 17"/>
            <p:cNvSpPr/>
            <p:nvPr/>
          </p:nvSpPr>
          <p:spPr>
            <a:xfrm>
              <a:off x="7670006" y="2107406"/>
              <a:ext cx="185738" cy="18573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62875" y="229314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608094" y="2429351"/>
              <a:ext cx="309562" cy="9525"/>
            </a:xfrm>
            <a:custGeom>
              <a:avLst/>
              <a:gdLst/>
              <a:ahLst/>
              <a:cxnLst/>
              <a:rect l="l" t="t" r="r" b="b"/>
              <a:pathLst>
                <a:path w="309562" h="9525">
                  <a:moveTo>
                    <a:pt x="0" y="0"/>
                  </a:moveTo>
                  <a:lnTo>
                    <a:pt x="309562" y="0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14285" y="260270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148590" y="0"/>
                  </a:moveTo>
                  <a:lnTo>
                    <a:pt x="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762875" y="260270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0" y="0"/>
                  </a:moveTo>
                  <a:lnTo>
                    <a:pt x="14859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34756" y="1831975"/>
              <a:ext cx="80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0184" y="2193925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19594" y="29972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34" name="選擇 B"/>
          <p:cNvGrpSpPr/>
          <p:nvPr/>
        </p:nvGrpSpPr>
        <p:grpSpPr>
          <a:xfrm>
            <a:off x="7419594" y="4089400"/>
            <a:ext cx="2907411" cy="1546606"/>
            <a:chOff x="7419594" y="4089400"/>
            <a:chExt cx="2907411" cy="1546606"/>
          </a:xfrm>
        </p:grpSpPr>
        <p:sp>
          <p:nvSpPr>
            <p:cNvPr id="26" name="Ellipse 26"/>
            <p:cNvSpPr/>
            <p:nvPr/>
          </p:nvSpPr>
          <p:spPr>
            <a:xfrm>
              <a:off x="7670006" y="4364831"/>
              <a:ext cx="185738" cy="18573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762875" y="4550569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608094" y="4686776"/>
              <a:ext cx="309562" cy="9525"/>
            </a:xfrm>
            <a:custGeom>
              <a:avLst/>
              <a:gdLst/>
              <a:ahLst/>
              <a:cxnLst/>
              <a:rect l="l" t="t" r="r" b="b"/>
              <a:pathLst>
                <a:path w="309562" h="9525">
                  <a:moveTo>
                    <a:pt x="0" y="0"/>
                  </a:moveTo>
                  <a:lnTo>
                    <a:pt x="309562" y="0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614285" y="4860131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148590" y="0"/>
                  </a:moveTo>
                  <a:lnTo>
                    <a:pt x="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762875" y="4860131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0" y="0"/>
                  </a:moveTo>
                  <a:lnTo>
                    <a:pt x="14859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4756" y="4089400"/>
              <a:ext cx="788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0184" y="4451350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9594" y="52546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兩種使用方式，都能評估與安排場上名單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26" name="user-flow-0"/>
          <p:cNvGrpSpPr/>
          <p:nvPr/>
        </p:nvGrpSpPr>
        <p:grpSpPr>
          <a:xfrm>
            <a:off x="609600" y="1809750"/>
            <a:ext cx="5334000" cy="4114800"/>
            <a:chOff x="609600" y="1809750"/>
            <a:chExt cx="5334000" cy="4114800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5334000" cy="41148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88219" y="2140744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66800" y="2297906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5831" y="2413159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" y="255984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" y="255984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12189" y="19970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7913" y="2692400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直接評估，也可先設定九棒。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38200" y="3343275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2797" y="337185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07795" y="33210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選投打組合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19175" y="373380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38200" y="4210050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2797" y="4238625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07795" y="418782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設定局勢與候選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19175" y="460057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38200" y="5076825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2797" y="510540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07795" y="505460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比較差距與提醒</a:t>
              </a:r>
            </a:p>
          </p:txBody>
        </p:sp>
      </p:grpSp>
      <p:grpSp>
        <p:nvGrpSpPr>
          <p:cNvPr id="46" name="user-flow-1"/>
          <p:cNvGrpSpPr/>
          <p:nvPr/>
        </p:nvGrpSpPr>
        <p:grpSpPr>
          <a:xfrm>
            <a:off x="6248400" y="1809750"/>
            <a:ext cx="5334000" cy="4114800"/>
            <a:chOff x="6248400" y="1809750"/>
            <a:chExt cx="5334000" cy="4114800"/>
          </a:xfrm>
        </p:grpSpPr>
        <p:sp>
          <p:nvSpPr>
            <p:cNvPr id="27" name="Rectangle 27"/>
            <p:cNvSpPr/>
            <p:nvPr/>
          </p:nvSpPr>
          <p:spPr>
            <a:xfrm>
              <a:off x="6248400" y="1809750"/>
              <a:ext cx="5334000" cy="41148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627019" y="2140744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705600" y="2297906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574631" y="2413159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579870" y="255984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705600" y="255984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50989" y="1997075"/>
              <a:ext cx="28344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球隊分析員與教練團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6713" y="2692400"/>
              <a:ext cx="32837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先確認九棒、守位與投手。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3343275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1597" y="337185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6595" y="33210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套用場上名單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657975" y="373380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77000" y="4210050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1597" y="4238625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6595" y="418782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勾選板凳與牛棚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57975" y="460057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77000" y="5076825"/>
              <a:ext cx="361950" cy="3619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1597" y="510540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6595" y="50546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比較可用人選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把投打數據，放進同一個換人情境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fld>
          </a:p>
        </p:txBody>
      </p:sp>
      <p:grpSp>
        <p:nvGrpSpPr>
          <p:cNvPr id="26" name="inputs"/>
          <p:cNvGrpSpPr/>
          <p:nvPr/>
        </p:nvGrpSpPr>
        <p:grpSpPr>
          <a:xfrm>
            <a:off x="800100" y="1819275"/>
            <a:ext cx="4963693" cy="3409950"/>
            <a:chOff x="800100" y="1819275"/>
            <a:chExt cx="4963693" cy="3409950"/>
          </a:xfrm>
        </p:grpSpPr>
        <p:sp>
          <p:nvSpPr>
            <p:cNvPr id="7" name="Polygon 7"/>
            <p:cNvSpPr/>
            <p:nvPr/>
          </p:nvSpPr>
          <p:spPr>
            <a:xfrm>
              <a:off x="1047750" y="1905000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666750" y="0"/>
                  </a:moveTo>
                  <a:lnTo>
                    <a:pt x="1333500" y="666750"/>
                  </a:lnTo>
                  <a:lnTo>
                    <a:pt x="666750" y="133350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1628775" y="18192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295525" y="24860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1628775" y="3152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962025" y="24860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666875" y="25241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50820" y="203517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局勢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51963" y="250190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局數、比分、出局與壘況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3800475"/>
              <a:ext cx="18097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62025" y="40100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209675" y="4057650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62025" y="42957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209675" y="4343400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962025" y="45815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209675" y="4629150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62025" y="48672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09675" y="4914900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50820" y="36830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可用人選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51963" y="415925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板凳、牛棚與接守安排</a:t>
              </a:r>
            </a:p>
          </p:txBody>
        </p:sp>
      </p:grpSp>
      <p:grpSp>
        <p:nvGrpSpPr>
          <p:cNvPr id="36" name="same-condition"/>
          <p:cNvGrpSpPr/>
          <p:nvPr/>
        </p:nvGrpSpPr>
        <p:grpSpPr>
          <a:xfrm>
            <a:off x="6096000" y="1762125"/>
            <a:ext cx="5486400" cy="4143375"/>
            <a:chOff x="6096000" y="1762125"/>
            <a:chExt cx="5486400" cy="4143375"/>
          </a:xfrm>
        </p:grpSpPr>
        <p:sp>
          <p:nvSpPr>
            <p:cNvPr id="27" name="Rectangle 27"/>
            <p:cNvSpPr/>
            <p:nvPr/>
          </p:nvSpPr>
          <p:spPr>
            <a:xfrm>
              <a:off x="6096000" y="1762125"/>
              <a:ext cx="5486400" cy="4143375"/>
            </a:xfrm>
            <a:prstGeom prst="roundRect">
              <a:avLst>
                <a:gd name="adj" fmla="val 2759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6562725" y="2266950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762000"/>
                  </a:moveTo>
                  <a:lnTo>
                    <a:pt x="457200" y="0"/>
                  </a:lnTo>
                </a:path>
              </a:pathLst>
            </a:custGeom>
            <a:noFill/>
            <a:ln w="123825">
              <a:solidFill>
                <a:srgbClr val="B5483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477000" y="3009900"/>
              <a:ext cx="123825" cy="142875"/>
            </a:xfrm>
            <a:custGeom>
              <a:avLst/>
              <a:gdLst/>
              <a:ahLst/>
              <a:cxnLst/>
              <a:rect l="l" t="t" r="r" b="b"/>
              <a:pathLst>
                <a:path w="123825" h="142875">
                  <a:moveTo>
                    <a:pt x="0" y="142875"/>
                  </a:moveTo>
                  <a:lnTo>
                    <a:pt x="123825" y="0"/>
                  </a:lnTo>
                </a:path>
              </a:pathLst>
            </a:custGeom>
            <a:noFill/>
            <a:ln w="57150">
              <a:solidFill>
                <a:srgbClr val="18344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16927" y="2038350"/>
              <a:ext cx="2028292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加入投打能力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19213" y="256857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球路適性、左右投打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29375" y="3219450"/>
              <a:ext cx="4810125" cy="9525"/>
            </a:xfrm>
            <a:custGeom>
              <a:avLst/>
              <a:gdLst/>
              <a:ahLst/>
              <a:cxnLst/>
              <a:rect l="l" t="t" r="r" b="b"/>
              <a:pathLst>
                <a:path w="4810125" h="9525">
                  <a:moveTo>
                    <a:pt x="0" y="0"/>
                  </a:moveTo>
                  <a:lnTo>
                    <a:pt x="481012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6708" y="34417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固定同一對手與局勢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7851" y="4038600"/>
              <a:ext cx="295681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比較現任與候選差多少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7851" y="4657725"/>
              <a:ext cx="35437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再確認名單與守位能否銜接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918448" cy="1063625"/>
            <a:chOff x="592836" y="250825"/>
            <a:chExt cx="891844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9184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應用創新：把個人成績，變成當下的換人比較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fld>
          </a:p>
        </p:txBody>
      </p:sp>
      <p:grpSp>
        <p:nvGrpSpPr>
          <p:cNvPr id="28" name="innovation-0"/>
          <p:cNvGrpSpPr/>
          <p:nvPr/>
        </p:nvGrpSpPr>
        <p:grpSpPr>
          <a:xfrm>
            <a:off x="597789" y="1758950"/>
            <a:ext cx="8791004" cy="1304290"/>
            <a:chOff x="597789" y="1758950"/>
            <a:chExt cx="8791004" cy="1304290"/>
          </a:xfrm>
        </p:grpSpPr>
        <p:sp>
          <p:nvSpPr>
            <p:cNvPr id="7" name="TextBox 7"/>
            <p:cNvSpPr txBox="1"/>
            <p:nvPr/>
          </p:nvSpPr>
          <p:spPr>
            <a:xfrm>
              <a:off x="597789" y="17589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情境比較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088481" y="1926431"/>
              <a:ext cx="128588" cy="12858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152775" y="2055019"/>
              <a:ext cx="9525" cy="214312"/>
            </a:xfrm>
            <a:custGeom>
              <a:avLst/>
              <a:gdLst/>
              <a:ahLst/>
              <a:cxnLst/>
              <a:rect l="l" t="t" r="r" b="b"/>
              <a:pathLst>
                <a:path w="9525" h="214312">
                  <a:moveTo>
                    <a:pt x="0" y="0"/>
                  </a:moveTo>
                  <a:lnTo>
                    <a:pt x="0" y="214312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045619" y="2149316"/>
              <a:ext cx="214312" cy="9525"/>
            </a:xfrm>
            <a:custGeom>
              <a:avLst/>
              <a:gdLst/>
              <a:ahLst/>
              <a:cxnLst/>
              <a:rect l="l" t="t" r="r" b="b"/>
              <a:pathLst>
                <a:path w="214312" h="9525">
                  <a:moveTo>
                    <a:pt x="0" y="0"/>
                  </a:moveTo>
                  <a:lnTo>
                    <a:pt x="214312" y="0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049905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102870" y="0"/>
                  </a:moveTo>
                  <a:lnTo>
                    <a:pt x="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152775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0" y="0"/>
                  </a:moveTo>
                  <a:lnTo>
                    <a:pt x="10287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60331" y="1926431"/>
              <a:ext cx="128588" cy="12858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524625" y="2055019"/>
              <a:ext cx="9525" cy="214312"/>
            </a:xfrm>
            <a:custGeom>
              <a:avLst/>
              <a:gdLst/>
              <a:ahLst/>
              <a:cxnLst/>
              <a:rect l="l" t="t" r="r" b="b"/>
              <a:pathLst>
                <a:path w="9525" h="214312">
                  <a:moveTo>
                    <a:pt x="0" y="0"/>
                  </a:moveTo>
                  <a:lnTo>
                    <a:pt x="0" y="214312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417469" y="2149316"/>
              <a:ext cx="214312" cy="9525"/>
            </a:xfrm>
            <a:custGeom>
              <a:avLst/>
              <a:gdLst/>
              <a:ahLst/>
              <a:cxnLst/>
              <a:rect l="l" t="t" r="r" b="b"/>
              <a:pathLst>
                <a:path w="214312" h="9525">
                  <a:moveTo>
                    <a:pt x="0" y="0"/>
                  </a:moveTo>
                  <a:lnTo>
                    <a:pt x="214312" y="0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421755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102870" y="0"/>
                  </a:moveTo>
                  <a:lnTo>
                    <a:pt x="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524625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0" y="0"/>
                  </a:moveTo>
                  <a:lnTo>
                    <a:pt x="10287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965156" y="1926431"/>
              <a:ext cx="128588" cy="12858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29450" y="2055019"/>
              <a:ext cx="9525" cy="214312"/>
            </a:xfrm>
            <a:custGeom>
              <a:avLst/>
              <a:gdLst/>
              <a:ahLst/>
              <a:cxnLst/>
              <a:rect l="l" t="t" r="r" b="b"/>
              <a:pathLst>
                <a:path w="9525" h="214312">
                  <a:moveTo>
                    <a:pt x="0" y="0"/>
                  </a:moveTo>
                  <a:lnTo>
                    <a:pt x="0" y="214312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922294" y="2149316"/>
              <a:ext cx="214312" cy="9525"/>
            </a:xfrm>
            <a:custGeom>
              <a:avLst/>
              <a:gdLst/>
              <a:ahLst/>
              <a:cxnLst/>
              <a:rect l="l" t="t" r="r" b="b"/>
              <a:pathLst>
                <a:path w="214312" h="9525">
                  <a:moveTo>
                    <a:pt x="0" y="0"/>
                  </a:moveTo>
                  <a:lnTo>
                    <a:pt x="214312" y="0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926580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102870" y="0"/>
                  </a:moveTo>
                  <a:lnTo>
                    <a:pt x="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029450" y="2269331"/>
              <a:ext cx="102870" cy="128588"/>
            </a:xfrm>
            <a:custGeom>
              <a:avLst/>
              <a:gdLst/>
              <a:ahLst/>
              <a:cxnLst/>
              <a:rect l="l" t="t" r="r" b="b"/>
              <a:pathLst>
                <a:path w="102870" h="128588">
                  <a:moveTo>
                    <a:pt x="0" y="0"/>
                  </a:moveTo>
                  <a:lnTo>
                    <a:pt x="102870" y="128588"/>
                  </a:lnTo>
                </a:path>
              </a:pathLst>
            </a:custGeom>
            <a:noFill/>
            <a:ln w="17145">
              <a:solidFill>
                <a:srgbClr val="18344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84473" y="19685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個人成績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248275" y="21336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5629275" y="2066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51458" y="19304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14876" y="2695575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固定對手與局勢，只替換候選。</a:t>
              </a:r>
            </a:p>
          </p:txBody>
        </p:sp>
      </p:grpSp>
      <p:grpSp>
        <p:nvGrpSpPr>
          <p:cNvPr id="46" name="innovation-1"/>
          <p:cNvGrpSpPr/>
          <p:nvPr/>
        </p:nvGrpSpPr>
        <p:grpSpPr>
          <a:xfrm>
            <a:off x="597789" y="3152775"/>
            <a:ext cx="9093898" cy="1358265"/>
            <a:chOff x="597789" y="3152775"/>
            <a:chExt cx="9093898" cy="1358265"/>
          </a:xfrm>
        </p:grpSpPr>
        <p:sp>
          <p:nvSpPr>
            <p:cNvPr id="29" name="TextBox 29"/>
            <p:cNvSpPr txBox="1"/>
            <p:nvPr/>
          </p:nvSpPr>
          <p:spPr>
            <a:xfrm>
              <a:off x="597789" y="3206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名單連動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733675" y="3248025"/>
              <a:ext cx="10477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895600" y="34575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143250" y="350520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895600" y="37433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143250" y="379095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429375" y="323850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352425" y="0"/>
                  </a:moveTo>
                  <a:lnTo>
                    <a:pt x="704850" y="352425"/>
                  </a:lnTo>
                  <a:lnTo>
                    <a:pt x="352425" y="70485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696075" y="3152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048500" y="35052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6696075" y="38576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343650" y="35052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734175" y="35433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84473" y="34163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能力排序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248275" y="35814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5629275" y="35147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8562" y="337820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守位與可用名單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41419" y="414337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比較時一起確認接守與替補。</a:t>
              </a:r>
            </a:p>
          </p:txBody>
        </p:sp>
      </p:grpSp>
      <p:grpSp>
        <p:nvGrpSpPr>
          <p:cNvPr id="59" name="innovation-2"/>
          <p:cNvGrpSpPr/>
          <p:nvPr/>
        </p:nvGrpSpPr>
        <p:grpSpPr>
          <a:xfrm>
            <a:off x="597789" y="4654550"/>
            <a:ext cx="8791004" cy="1304290"/>
            <a:chOff x="597789" y="4654550"/>
            <a:chExt cx="8791004" cy="1304290"/>
          </a:xfrm>
        </p:grpSpPr>
        <p:sp>
          <p:nvSpPr>
            <p:cNvPr id="47" name="TextBox 47"/>
            <p:cNvSpPr txBox="1"/>
            <p:nvPr/>
          </p:nvSpPr>
          <p:spPr>
            <a:xfrm>
              <a:off x="597789" y="46545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決策回放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2790825" y="4676775"/>
              <a:ext cx="723900" cy="7239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152775" y="48101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3152775" y="5038725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0"/>
                  </a:moveTo>
                  <a:lnTo>
                    <a:pt x="190500" y="1143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419850" y="4676775"/>
              <a:ext cx="723900" cy="7239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781800" y="48101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781800" y="5038725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0"/>
                  </a:moveTo>
                  <a:lnTo>
                    <a:pt x="190500" y="1143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684473" y="48641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賽後結果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248275" y="50292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5629275" y="49625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51458" y="48260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決策前資訊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61790" y="5591175"/>
              <a:ext cx="40684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分開看模型估計、建議與實際結果。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fld>
          </a:p>
        </p:txBody>
      </p:sp>
      <p:grpSp>
        <p:nvGrpSpPr>
          <p:cNvPr id="16" name="entry-0"/>
          <p:cNvGrpSpPr/>
          <p:nvPr/>
        </p:nvGrpSpPr>
        <p:grpSpPr>
          <a:xfrm>
            <a:off x="597789" y="2131219"/>
            <a:ext cx="3100578" cy="2949384"/>
            <a:chOff x="597789" y="2131219"/>
            <a:chExt cx="3100578" cy="2949384"/>
          </a:xfrm>
        </p:grpSpPr>
        <p:sp>
          <p:nvSpPr>
            <p:cNvPr id="7" name="Ellipse 7"/>
            <p:cNvSpPr/>
            <p:nvPr/>
          </p:nvSpPr>
          <p:spPr>
            <a:xfrm>
              <a:off x="1788319" y="2131219"/>
              <a:ext cx="214312" cy="21431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895475" y="2345531"/>
              <a:ext cx="9525" cy="357188"/>
            </a:xfrm>
            <a:custGeom>
              <a:avLst/>
              <a:gdLst/>
              <a:ahLst/>
              <a:cxnLst/>
              <a:rect l="l" t="t" r="r" b="b"/>
              <a:pathLst>
                <a:path w="9525" h="357188">
                  <a:moveTo>
                    <a:pt x="0" y="0"/>
                  </a:moveTo>
                  <a:lnTo>
                    <a:pt x="0" y="357188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6881" y="2502694"/>
              <a:ext cx="357188" cy="9525"/>
            </a:xfrm>
            <a:custGeom>
              <a:avLst/>
              <a:gdLst/>
              <a:ahLst/>
              <a:cxnLst/>
              <a:rect l="l" t="t" r="r" b="b"/>
              <a:pathLst>
                <a:path w="357188" h="9525">
                  <a:moveTo>
                    <a:pt x="0" y="0"/>
                  </a:moveTo>
                  <a:lnTo>
                    <a:pt x="357188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24025" y="2702719"/>
              <a:ext cx="171450" cy="214312"/>
            </a:xfrm>
            <a:custGeom>
              <a:avLst/>
              <a:gdLst/>
              <a:ahLst/>
              <a:cxnLst/>
              <a:rect l="l" t="t" r="r" b="b"/>
              <a:pathLst>
                <a:path w="171450" h="214312">
                  <a:moveTo>
                    <a:pt x="171450" y="0"/>
                  </a:moveTo>
                  <a:lnTo>
                    <a:pt x="0" y="214312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895475" y="2702719"/>
              <a:ext cx="171450" cy="214312"/>
            </a:xfrm>
            <a:custGeom>
              <a:avLst/>
              <a:gdLst/>
              <a:ahLst/>
              <a:cxnLst/>
              <a:rect l="l" t="t" r="r" b="b"/>
              <a:pathLst>
                <a:path w="171450" h="214312">
                  <a:moveTo>
                    <a:pt x="0" y="0"/>
                  </a:moveTo>
                  <a:lnTo>
                    <a:pt x="171450" y="214312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381250" y="2333625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762000"/>
                  </a:moveTo>
                  <a:lnTo>
                    <a:pt x="457200" y="0"/>
                  </a:lnTo>
                </a:path>
              </a:pathLst>
            </a:custGeom>
            <a:noFill/>
            <a:ln w="1238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295525" y="3076575"/>
              <a:ext cx="123825" cy="142875"/>
            </a:xfrm>
            <a:custGeom>
              <a:avLst/>
              <a:gdLst/>
              <a:ahLst/>
              <a:cxnLst/>
              <a:rect l="l" t="t" r="r" b="b"/>
              <a:pathLst>
                <a:path w="123825" h="142875">
                  <a:moveTo>
                    <a:pt x="0" y="142875"/>
                  </a:moveTo>
                  <a:lnTo>
                    <a:pt x="123825" y="0"/>
                  </a:lnTo>
                </a:path>
              </a:pathLst>
            </a:custGeom>
            <a:noFill/>
            <a:ln w="57150">
              <a:solidFill>
                <a:srgbClr val="18344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7789" y="376872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代打／換投評估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313" y="43116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25" name="entry-1"/>
          <p:cNvGrpSpPr/>
          <p:nvPr/>
        </p:nvGrpSpPr>
        <p:grpSpPr>
          <a:xfrm>
            <a:off x="4331589" y="1895475"/>
            <a:ext cx="2844038" cy="3185128"/>
            <a:chOff x="4331589" y="1895475"/>
            <a:chExt cx="2844038" cy="3185128"/>
          </a:xfrm>
        </p:grpSpPr>
        <p:sp>
          <p:nvSpPr>
            <p:cNvPr id="17" name="Polygon 17"/>
            <p:cNvSpPr/>
            <p:nvPr/>
          </p:nvSpPr>
          <p:spPr>
            <a:xfrm>
              <a:off x="5410200" y="19812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1371600" y="685800"/>
                  </a:lnTo>
                  <a:lnTo>
                    <a:pt x="685800" y="13716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010275" y="18954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696075" y="25812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010275" y="3267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324475" y="25812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048375" y="26193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31589" y="376872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3113" y="431165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31" name="entry-2"/>
          <p:cNvGrpSpPr/>
          <p:nvPr/>
        </p:nvGrpSpPr>
        <p:grpSpPr>
          <a:xfrm>
            <a:off x="8065389" y="2305050"/>
            <a:ext cx="2844038" cy="2775553"/>
            <a:chOff x="8065389" y="2305050"/>
            <a:chExt cx="2844038" cy="2775553"/>
          </a:xfrm>
        </p:grpSpPr>
        <p:sp>
          <p:nvSpPr>
            <p:cNvPr id="26" name="Ellipse 26"/>
            <p:cNvSpPr/>
            <p:nvPr/>
          </p:nvSpPr>
          <p:spPr>
            <a:xfrm>
              <a:off x="9467850" y="2305050"/>
              <a:ext cx="723900" cy="7239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829800" y="24384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829800" y="26670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0"/>
                  </a:moveTo>
                  <a:lnTo>
                    <a:pt x="190500" y="1143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65389" y="376872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6913" y="431165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回到賽季中特定一天，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看賽前負荷與打席回放。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32" name="Rectangle 32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8294" y="566420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單日分析是獨立入口，不受一般使用者／球隊模式限制。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逐球、守位與球員對照，各自有清楚用途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fld>
          </a:p>
        </p:txBody>
      </p:sp>
      <p:grpSp>
        <p:nvGrpSpPr>
          <p:cNvPr id="16" name="data-0"/>
          <p:cNvGrpSpPr/>
          <p:nvPr/>
        </p:nvGrpSpPr>
        <p:grpSpPr>
          <a:xfrm>
            <a:off x="597789" y="1778000"/>
            <a:ext cx="2965933" cy="3112453"/>
            <a:chOff x="597789" y="1778000"/>
            <a:chExt cx="2965933" cy="3112453"/>
          </a:xfrm>
        </p:grpSpPr>
        <p:sp>
          <p:nvSpPr>
            <p:cNvPr id="7" name="Rectangle 7"/>
            <p:cNvSpPr/>
            <p:nvPr/>
          </p:nvSpPr>
          <p:spPr>
            <a:xfrm>
              <a:off x="657225" y="1790700"/>
              <a:ext cx="1143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" y="2000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66800" y="204787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19150" y="2286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23336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55114" y="1778000"/>
              <a:ext cx="150860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7789" y="2825750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075" y="3314700"/>
              <a:ext cx="205838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Rebas · ODC-By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075" y="3832225"/>
              <a:ext cx="264541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球種、投打側、逐球結果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打席局勢與投球負荷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用於能力估計與情境比較</a:t>
              </a:r>
            </a:p>
          </p:txBody>
        </p:sp>
      </p:grpSp>
      <p:grpSp>
        <p:nvGrpSpPr>
          <p:cNvPr id="26" name="data-1"/>
          <p:cNvGrpSpPr/>
          <p:nvPr/>
        </p:nvGrpSpPr>
        <p:grpSpPr>
          <a:xfrm>
            <a:off x="4331589" y="1778000"/>
            <a:ext cx="2965933" cy="3112453"/>
            <a:chOff x="4331589" y="1778000"/>
            <a:chExt cx="2965933" cy="3112453"/>
          </a:xfrm>
        </p:grpSpPr>
        <p:sp>
          <p:nvSpPr>
            <p:cNvPr id="17" name="Rectangle 17"/>
            <p:cNvSpPr/>
            <p:nvPr/>
          </p:nvSpPr>
          <p:spPr>
            <a:xfrm>
              <a:off x="4391025" y="1790700"/>
              <a:ext cx="1143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552950" y="2000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800600" y="204787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52950" y="2286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800600" y="23336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88914" y="1778000"/>
              <a:ext cx="150860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31589" y="2825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3875" y="3314700"/>
              <a:ext cx="172953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3875" y="3832225"/>
              <a:ext cx="264541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各守位出賽紀錄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歷史回放用既往守位經驗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不讀入 2025 整季守位</a:t>
              </a:r>
            </a:p>
          </p:txBody>
        </p:sp>
      </p:grpSp>
      <p:grpSp>
        <p:nvGrpSpPr>
          <p:cNvPr id="36" name="data-2"/>
          <p:cNvGrpSpPr/>
          <p:nvPr/>
        </p:nvGrpSpPr>
        <p:grpSpPr>
          <a:xfrm>
            <a:off x="8065389" y="1778000"/>
            <a:ext cx="3111798" cy="3112453"/>
            <a:chOff x="8065389" y="1778000"/>
            <a:chExt cx="3111798" cy="3112453"/>
          </a:xfrm>
        </p:grpSpPr>
        <p:sp>
          <p:nvSpPr>
            <p:cNvPr id="27" name="Rectangle 27"/>
            <p:cNvSpPr/>
            <p:nvPr/>
          </p:nvSpPr>
          <p:spPr>
            <a:xfrm>
              <a:off x="8124825" y="1790700"/>
              <a:ext cx="1143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286750" y="2000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34400" y="204787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286750" y="2286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534400" y="23336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22714" y="1778000"/>
              <a:ext cx="68361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65389" y="282575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球員與守位對照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675" y="3314700"/>
              <a:ext cx="192468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67675" y="3832225"/>
              <a:ext cx="3109512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整季守位用於季後情境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球員編號連至官方資料頁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背號取自 Rebas，僅搜尋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37" name="Rectangle 37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8294" y="5664200"/>
              <a:ext cx="842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歷史回放：能力、名單與負荷只用當日前資訊；模型另列訓練截止日期。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先估計對決，再換算當下的勝率差距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fld>
          </a:p>
        </p:txBody>
      </p:sp>
      <p:grpSp>
        <p:nvGrpSpPr>
          <p:cNvPr id="15" name="input"/>
          <p:cNvGrpSpPr/>
          <p:nvPr/>
        </p:nvGrpSpPr>
        <p:grpSpPr>
          <a:xfrm>
            <a:off x="598551" y="3005138"/>
            <a:ext cx="2076399" cy="1821751"/>
            <a:chOff x="598551" y="3005138"/>
            <a:chExt cx="2076399" cy="1821751"/>
          </a:xfrm>
        </p:grpSpPr>
        <p:sp>
          <p:nvSpPr>
            <p:cNvPr id="7" name="Ellipse 7"/>
            <p:cNvSpPr/>
            <p:nvPr/>
          </p:nvSpPr>
          <p:spPr>
            <a:xfrm>
              <a:off x="1042988" y="3005138"/>
              <a:ext cx="200025" cy="200025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3205162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76312" y="3351848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82980" y="35385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160020" y="0"/>
                  </a:moveTo>
                  <a:lnTo>
                    <a:pt x="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5385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0" y="0"/>
                  </a:moveTo>
                  <a:lnTo>
                    <a:pt x="16002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895475" y="3143250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762000"/>
                  </a:moveTo>
                  <a:lnTo>
                    <a:pt x="457200" y="0"/>
                  </a:lnTo>
                </a:path>
              </a:pathLst>
            </a:custGeom>
            <a:noFill/>
            <a:ln w="1238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809750" y="3886200"/>
              <a:ext cx="123825" cy="142875"/>
            </a:xfrm>
            <a:custGeom>
              <a:avLst/>
              <a:gdLst/>
              <a:ahLst/>
              <a:cxnLst/>
              <a:rect l="l" t="t" r="r" b="b"/>
              <a:pathLst>
                <a:path w="123825" h="142875">
                  <a:moveTo>
                    <a:pt x="0" y="142875"/>
                  </a:moveTo>
                  <a:lnTo>
                    <a:pt x="123825" y="0"/>
                  </a:lnTo>
                </a:path>
              </a:pathLst>
            </a:custGeom>
            <a:noFill/>
            <a:ln w="57150">
              <a:solidFill>
                <a:srgbClr val="18344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551" y="440055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同一投手與候選</a:t>
              </a:r>
            </a:p>
          </p:txBody>
        </p:sp>
      </p:grpSp>
      <p:grpSp>
        <p:nvGrpSpPr>
          <p:cNvPr id="19" name="method-182"/>
          <p:cNvGrpSpPr/>
          <p:nvPr/>
        </p:nvGrpSpPr>
        <p:grpSpPr>
          <a:xfrm>
            <a:off x="3524250" y="1733550"/>
            <a:ext cx="4695825" cy="1857375"/>
            <a:chOff x="3524250" y="1733550"/>
            <a:chExt cx="4695825" cy="1857375"/>
          </a:xfrm>
        </p:grpSpPr>
        <p:sp>
          <p:nvSpPr>
            <p:cNvPr id="16" name="Rectangle 16"/>
            <p:cNvSpPr/>
            <p:nvPr/>
          </p:nvSpPr>
          <p:spPr>
            <a:xfrm>
              <a:off x="3524250" y="1733550"/>
              <a:ext cx="4695825" cy="1857375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50183" y="1908175"/>
              <a:ext cx="18001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部分池化 [1]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52850" y="2470150"/>
              <a:ext cx="336169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綜合能力、左右投打與球路適性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小樣本向整體基準收縮</a:t>
              </a:r>
            </a:p>
          </p:txBody>
        </p:sp>
      </p:grpSp>
      <p:grpSp>
        <p:nvGrpSpPr>
          <p:cNvPr id="23" name="method-415"/>
          <p:cNvGrpSpPr/>
          <p:nvPr/>
        </p:nvGrpSpPr>
        <p:grpSpPr>
          <a:xfrm>
            <a:off x="3524250" y="3952875"/>
            <a:ext cx="4695825" cy="1857375"/>
            <a:chOff x="3524250" y="3952875"/>
            <a:chExt cx="4695825" cy="1857375"/>
          </a:xfrm>
        </p:grpSpPr>
        <p:sp>
          <p:nvSpPr>
            <p:cNvPr id="20" name="Rectangle 20"/>
            <p:cNvSpPr/>
            <p:nvPr/>
          </p:nvSpPr>
          <p:spPr>
            <a:xfrm>
              <a:off x="3524250" y="3952875"/>
              <a:ext cx="4695825" cy="1857375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50183" y="41275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梯度提升樹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2850" y="4689475"/>
              <a:ext cx="312293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沿用投手歷史投球，替換打者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預測逐球結果，再換算得分</a:t>
              </a:r>
            </a:p>
          </p:txBody>
        </p:sp>
      </p:grpSp>
      <p:grpSp>
        <p:nvGrpSpPr>
          <p:cNvPr id="26" name="output"/>
          <p:cNvGrpSpPr/>
          <p:nvPr/>
        </p:nvGrpSpPr>
        <p:grpSpPr>
          <a:xfrm>
            <a:off x="9055989" y="3082925"/>
            <a:ext cx="1925625" cy="958025"/>
            <a:chOff x="9055989" y="3082925"/>
            <a:chExt cx="1925625" cy="958025"/>
          </a:xfrm>
        </p:grpSpPr>
        <p:sp>
          <p:nvSpPr>
            <p:cNvPr id="24" name="TextBox 24"/>
            <p:cNvSpPr txBox="1"/>
            <p:nvPr/>
          </p:nvSpPr>
          <p:spPr>
            <a:xfrm>
              <a:off x="9055989" y="308292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整合得分估計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57513" y="36449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依局勢換算差距</a:t>
              </a:r>
            </a:p>
          </p:txBody>
        </p:sp>
      </p:grpSp>
      <p:grpSp>
        <p:nvGrpSpPr>
          <p:cNvPr id="36" name="method-links"/>
          <p:cNvGrpSpPr/>
          <p:nvPr/>
        </p:nvGrpSpPr>
        <p:grpSpPr>
          <a:xfrm>
            <a:off x="3124200" y="2647950"/>
            <a:ext cx="5715000" cy="2219325"/>
            <a:chOff x="3124200" y="2647950"/>
            <a:chExt cx="5715000" cy="2219325"/>
          </a:xfrm>
        </p:grpSpPr>
        <p:sp>
          <p:nvSpPr>
            <p:cNvPr id="27" name="Line 27"/>
            <p:cNvSpPr/>
            <p:nvPr/>
          </p:nvSpPr>
          <p:spPr>
            <a:xfrm>
              <a:off x="3124200" y="37623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333750" y="26479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333750" y="26479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333750" y="4857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286750" y="2647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572500" y="26479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286750" y="4857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572500" y="37623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8724900" y="3695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9" name="takeaway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37" name="Rectangle 37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8294" y="5711825"/>
              <a:ext cx="817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[1] 小樣本估計的研究依據見第 37 頁；預測與實際結果仍需分開解讀。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fld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50"/>
            <a:ext cx="3107055" cy="2953449"/>
            <a:chOff x="598170" y="2025650"/>
            <a:chExt cx="3107055" cy="2953449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候選與同一位現任相比。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331970" y="2025650"/>
            <a:ext cx="3240786" cy="2953449"/>
            <a:chOff x="4331970" y="2025650"/>
            <a:chExt cx="3240786" cy="2953449"/>
          </a:xfrm>
        </p:grpSpPr>
        <p:sp>
          <p:nvSpPr>
            <p:cNvPr id="13" name="TextBox 13"/>
            <p:cNvSpPr txBox="1"/>
            <p:nvPr/>
          </p:nvSpPr>
          <p:spPr>
            <a:xfrm>
              <a:off x="43319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0278" y="2686050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34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依局勢換算的估計差距。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單位：百分點，非成效保證。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50"/>
            <a:ext cx="3240786" cy="2953449"/>
            <a:chOff x="8065770" y="2025650"/>
            <a:chExt cx="3240786" cy="2953449"/>
          </a:xfrm>
        </p:grpSpPr>
        <p:sp>
          <p:nvSpPr>
            <p:cNvPr id="19" name="TextBox 19"/>
            <p:cNvSpPr txBox="1"/>
            <p:nvPr/>
          </p:nvSpPr>
          <p:spPr>
            <a:xfrm>
              <a:off x="80657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同一比較池內的相對排名。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不是安打率或換人成功機率。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26" name="Rectangle 26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8294" y="5711825"/>
              <a:ext cx="6022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逐球機率以 log loss 評估 [3]；方法依據見第 37 頁。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32"/>
            <a:ext cx="1304068" cy="264033"/>
            <a:chOff x="602742" y="177832"/>
            <a:chExt cx="1304068" cy="264033"/>
          </a:xfrm>
        </p:grpSpPr>
        <p:sp>
          <p:nvSpPr>
            <p:cNvPr id="2" name="TextBox 2"/>
            <p:cNvSpPr/>
            <p:nvPr/>
          </p:nvSpPr>
          <p:spPr>
            <a:xfrm>
              <a:off x="602742" y="177832"/>
              <a:ext cx="130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568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609600" y="571500"/>
            <a:ext cx="10972800" cy="666750"/>
            <a:chOff x="609600" y="571500"/>
            <a:chExt cx="10972800" cy="666750"/>
          </a:xfrm>
        </p:grpSpPr>
        <p:sp>
          <p:nvSpPr>
            <p:cNvPr id="4" name="TextBox 4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換投提示，能否辨識續投風險？</a:t>
              </a:r>
            </a:p>
          </p:txBody>
        </p:sp>
      </p:grpSp>
      <p:sp>
        <p:nvSpPr>
          <p:cNvPr id="28" name="TextBox 28"/>
          <p:cNvSpPr/>
          <p:nvPr/>
        </p:nvSpPr>
        <p:spPr>
          <a:xfrm>
            <a:off x="11365992" y="6445282"/>
            <a:ext cx="213646" cy="264033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grpSp>
        <p:nvGrpSpPr>
          <p:cNvPr id="11" name="backtest-scope"/>
          <p:cNvGrpSpPr/>
          <p:nvPr/>
        </p:nvGrpSpPr>
        <p:grpSpPr>
          <a:xfrm>
            <a:off x="609600" y="1524000"/>
            <a:ext cx="10972800" cy="784860"/>
            <a:chOff x="609600" y="1524000"/>
            <a:chExt cx="10972800" cy="784860"/>
          </a:xfrm>
        </p:grpSpPr>
        <p:sp>
          <p:nvSpPr>
            <p:cNvPr id="9" name="TextBox 9"/>
            <p:cNvSpPr/>
            <p:nvPr/>
          </p:nvSpPr>
          <p:spPr>
            <a:xfrm>
              <a:off x="609600" y="152400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0005" rIns="0" bIns="0" anchor="t" anchorCtr="0">
              <a:no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例行賽第 6 局起｜11,868 個換投決策點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609600" y="1943100"/>
              <a:ext cx="10972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每個打席前評估一次；候選差距達 1 百分點視為系統建議。</a:t>
              </a:r>
            </a:p>
          </p:txBody>
        </p:sp>
      </p:grpSp>
      <p:grpSp>
        <p:nvGrpSpPr>
          <p:cNvPr id="24" name="backtest-comparison"/>
          <p:cNvGrpSpPr/>
          <p:nvPr/>
        </p:nvGrpSpPr>
        <p:grpSpPr>
          <a:xfrm>
            <a:off x="609600" y="2552700"/>
            <a:ext cx="10972800" cy="2268855"/>
            <a:chOff x="609600" y="2552700"/>
            <a:chExt cx="10972800" cy="2268855"/>
          </a:xfrm>
        </p:grpSpPr>
        <p:sp>
          <p:nvSpPr>
            <p:cNvPr id="12" name="TextBox 12"/>
            <p:cNvSpPr/>
            <p:nvPr/>
          </p:nvSpPr>
          <p:spPr>
            <a:xfrm>
              <a:off x="609600" y="2552700"/>
              <a:ext cx="1097280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/>
              <a:r>
                <a:rPr lang="zh-TW" sz="1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實際未換投時，比較「建議換」與「不建議換」兩組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609600" y="2971800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續投打席的得分價值（RE24）差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90600" y="37719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25040" y="338137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3274314" y="3648075"/>
              <a:ext cx="3147822" cy="9525"/>
            </a:xfrm>
            <a:custGeom>
              <a:avLst/>
              <a:gdLst/>
              <a:ahLst/>
              <a:cxnLst/>
              <a:rect l="l" t="t" r="r" b="b"/>
              <a:pathLst>
                <a:path w="3147822" h="9525">
                  <a:moveTo>
                    <a:pt x="0" y="0"/>
                  </a:moveTo>
                  <a:lnTo>
                    <a:pt x="3147822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4314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422136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793361" y="3562350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2072640" y="4086225"/>
              <a:ext cx="9509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541520" y="4086225"/>
              <a:ext cx="7040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010400" y="4086225"/>
              <a:ext cx="457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9600" y="4486275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95% 區間 [2]：+0.017 ～ +0.068；高於 0 表示「建議換投」組的續投風險較高。</a:t>
              </a:r>
            </a:p>
          </p:txBody>
        </p:sp>
      </p:grpSp>
      <p:grpSp>
        <p:nvGrpSpPr>
          <p:cNvPr id="27" name="backtest-result"/>
          <p:cNvGrpSpPr/>
          <p:nvPr/>
        </p:nvGrpSpPr>
        <p:grpSpPr>
          <a:xfrm>
            <a:off x="8001000" y="2667000"/>
            <a:ext cx="3581400" cy="1720215"/>
            <a:chOff x="8001000" y="2667000"/>
            <a:chExt cx="3581400" cy="1720215"/>
          </a:xfrm>
        </p:grpSpPr>
        <p:sp>
          <p:nvSpPr>
            <p:cNvPr id="25" name="TextBox 25"/>
            <p:cNvSpPr/>
            <p:nvPr/>
          </p:nvSpPr>
          <p:spPr>
            <a:xfrm>
              <a:off x="8001000" y="2667000"/>
              <a:ext cx="358140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4140" rIns="0" bIns="0" anchor="t" anchorCtr="0">
              <a:noAutofit/>
            </a:bodyPr>
            <a:lstStyle/>
            <a:p>
              <a:pPr algn="l"/>
              <a:r>
                <a:rPr lang="zh-TW" sz="4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8001000" y="3562350"/>
              <a:ext cx="3581400" cy="8248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>
                <a:lnSpc>
                  <a:spcPts val="3375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打席得分價值差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防守方越高越不利</a:t>
              </a:r>
            </a:p>
          </p:txBody>
        </p:sp>
      </p:grpSp>
      <p:grpSp>
        <p:nvGrpSpPr>
          <p:cNvPr id="31" name="backtest-limits"/>
          <p:cNvGrpSpPr/>
          <p:nvPr/>
        </p:nvGrpSpPr>
        <p:grpSpPr>
          <a:xfrm>
            <a:off x="609600" y="5124450"/>
            <a:ext cx="10972800" cy="1173480"/>
            <a:chOff x="609600" y="5124450"/>
            <a:chExt cx="10972800" cy="1173480"/>
          </a:xfrm>
        </p:grpSpPr>
        <p:sp>
          <p:nvSpPr>
            <p:cNvPr id="29" name="TextBox 29"/>
            <p:cNvSpPr/>
            <p:nvPr/>
          </p:nvSpPr>
          <p:spPr>
            <a:xfrm>
              <a:off x="609600" y="512445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2705" rIns="0" bIns="0" anchor="t" anchorCtr="0">
              <a:noAutofit/>
            </a:bodyPr>
            <a:lstStyle/>
            <a:p>
              <a:pPr algn="l"/>
              <a:r>
                <a:rPr lang="zh-TW" sz="1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換投有風險線索；代打差異仍不明顯。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09600" y="5638800"/>
              <a:ext cx="10972800" cy="659130"/>
            </a:xfrm>
            <a:prstGeom prst="rect">
              <a:avLst/>
            </a:prstGeom>
            <a:noFill/>
            <a:ln>
              <a:noFill/>
            </a:ln>
          </p:spPr>
        </p:sp>
      </p:grpSp>
      <p:grpSp>
        <p:nvGrpSpPr>
          <p:cNvPr id="32" name="observed-samples"/>
          <p:cNvGrpSpPr/>
          <p:nvPr/>
        </p:nvGrpSpPr>
        <p:grpSpPr>
          <a:xfrm>
            <a:off x="601218" y="4911757"/>
            <a:ext cx="7247877" cy="322707"/>
            <a:chOff x="601218" y="4911757"/>
            <a:chExt cx="7247877" cy="322707"/>
          </a:xfrm>
        </p:grpSpPr>
        <p:sp>
          <p:nvSpPr>
            <p:cNvPr id="33" name="TextBox 14"/>
            <p:cNvSpPr/>
            <p:nvPr/>
          </p:nvSpPr>
          <p:spPr>
            <a:xfrm>
              <a:off x="601218" y="4911757"/>
              <a:ext cx="7247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續投組樣本：建議換投 1,954 打席；未建議換投 7,730 打席。</a:t>
              </a:r>
            </a:p>
          </p:txBody>
        </p:sp>
      </p:grpSp>
      <p:grpSp>
        <p:nvGrpSpPr>
          <p:cNvPr id="34" name="correct-page-number"/>
          <p:cNvGrpSpPr/>
          <p:nvPr/>
        </p:nvGrpSpPr>
        <p:grpSpPr>
          <a:xfrm>
            <a:off x="11373422" y="6445282"/>
            <a:ext cx="208979" cy="264033"/>
            <a:chOff x="11373422" y="6445282"/>
            <a:chExt cx="208979" cy="264033"/>
          </a:xfrm>
        </p:grpSpPr>
        <p:sp>
          <p:nvSpPr>
            <p:cNvPr id="35" name="TextBox 16"/>
            <p:cNvSpPr/>
            <p:nvPr/>
          </p:nvSpPr>
          <p:spPr>
            <a:xfrm>
              <a:off x="11373422" y="6445282"/>
              <a:ext cx="208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-6858" bIns="0" anchor="t" anchorCtr="0">
              <a:noAutofit/>
            </a:bodyPr>
            <a:lstStyle/>
            <a:p>
              <a:pPr algn="r"/>
              <a:r>
                <a:rPr lang="zh-TW" sz="13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13</a:t>
              </a:r>
            </a:p>
          </p:txBody>
        </p:sp>
      </p:grpSp>
      <p:grpSp>
        <p:nvGrpSpPr>
          <p:cNvPr id="36" name="observational-boundary"/>
          <p:cNvGrpSpPr/>
          <p:nvPr/>
        </p:nvGrpSpPr>
        <p:grpSpPr>
          <a:xfrm>
            <a:off x="600075" y="5581650"/>
            <a:ext cx="5489486" cy="367665"/>
            <a:chOff x="600075" y="5581650"/>
            <a:chExt cx="5489486" cy="367665"/>
          </a:xfrm>
        </p:grpSpPr>
        <p:sp>
          <p:nvSpPr>
            <p:cNvPr id="37" name="TextBox 16"/>
            <p:cNvSpPr/>
            <p:nvPr/>
          </p:nvSpPr>
          <p:spPr>
            <a:xfrm>
              <a:off x="600075" y="5581650"/>
              <a:ext cx="54894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觀察性比較，不能推論換人的因果效益。</a:t>
              </a:r>
            </a:p>
          </p:txBody>
        </p:sp>
      </p:grpSp>
      <p:grpSp>
        <p:nvGrpSpPr>
          <p:cNvPr id="48" name="re24-meaning"/>
          <p:cNvGrpSpPr/>
          <p:nvPr/>
        </p:nvGrpSpPr>
        <p:grpSpPr>
          <a:xfrm>
            <a:off x="2934919" y="6045232"/>
            <a:ext cx="6322162" cy="322707"/>
            <a:chOff x="2934919" y="6045232"/>
            <a:chExt cx="6322162" cy="322707"/>
          </a:xfrm>
        </p:grpSpPr>
        <p:sp>
          <p:nvSpPr>
            <p:cNvPr id="47" name="TextBox 47"/>
            <p:cNvSpPr/>
            <p:nvPr/>
          </p:nvSpPr>
          <p:spPr>
            <a:xfrm>
              <a:off x="2934919" y="6045232"/>
              <a:ext cx="6322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RE24：本打席得分，加上打席前後的預期得分變化。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368290" cy="4496562"/>
            <a:chOff x="590550" y="673132"/>
            <a:chExt cx="536829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相同評估工具，名單限制依使用方式調整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fld>
          </a:p>
        </p:txBody>
      </p:sp>
      <p:grpSp>
        <p:nvGrpSpPr>
          <p:cNvPr id="22" name="mode-0"/>
          <p:cNvGrpSpPr/>
          <p:nvPr/>
        </p:nvGrpSpPr>
        <p:grpSpPr>
          <a:xfrm>
            <a:off x="826008" y="2009775"/>
            <a:ext cx="4546092" cy="3253232"/>
            <a:chOff x="826008" y="2009775"/>
            <a:chExt cx="4546092" cy="3253232"/>
          </a:xfrm>
        </p:grpSpPr>
        <p:sp>
          <p:nvSpPr>
            <p:cNvPr id="7" name="Polygon 7"/>
            <p:cNvSpPr/>
            <p:nvPr/>
          </p:nvSpPr>
          <p:spPr>
            <a:xfrm>
              <a:off x="1133475" y="2095500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5" y="0"/>
                  </a:moveTo>
                  <a:lnTo>
                    <a:pt x="1238250" y="619125"/>
                  </a:lnTo>
                  <a:lnTo>
                    <a:pt x="619125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1666875" y="2009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286000" y="2628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1666875" y="32480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47750" y="2628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704975" y="2667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95600" y="2143125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057525" y="23526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305175" y="240030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057525" y="26384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305175" y="26860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057525" y="29241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05175" y="297180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6008" y="36322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7913" y="4121150"/>
              <a:ext cx="3612134" cy="11418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不需先設定名單即可評估。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可安排九棒，也可選其他球員。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適合自由模擬投打組合。</a:t>
              </a:r>
            </a:p>
          </p:txBody>
        </p:sp>
      </p:grpSp>
      <p:grpSp>
        <p:nvGrpSpPr>
          <p:cNvPr id="38" name="mode-1"/>
          <p:cNvGrpSpPr/>
          <p:nvPr/>
        </p:nvGrpSpPr>
        <p:grpSpPr>
          <a:xfrm>
            <a:off x="6464808" y="2009775"/>
            <a:ext cx="4546092" cy="3253232"/>
            <a:chOff x="6464808" y="2009775"/>
            <a:chExt cx="4546092" cy="3253232"/>
          </a:xfrm>
        </p:grpSpPr>
        <p:sp>
          <p:nvSpPr>
            <p:cNvPr id="23" name="Polygon 23"/>
            <p:cNvSpPr/>
            <p:nvPr/>
          </p:nvSpPr>
          <p:spPr>
            <a:xfrm>
              <a:off x="6772275" y="2095500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5" y="0"/>
                  </a:moveTo>
                  <a:lnTo>
                    <a:pt x="1238250" y="619125"/>
                  </a:lnTo>
                  <a:lnTo>
                    <a:pt x="619125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7305675" y="2009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924800" y="2628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7305675" y="32480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686550" y="2628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343775" y="2667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34400" y="2143125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696325" y="23526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943975" y="240030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96325" y="26384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943975" y="26860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696325" y="29241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943975" y="297180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4808" y="36322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713" y="4121150"/>
              <a:ext cx="3868674" cy="11418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現任依配置；替補排除場上人員。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今日板凳與牛棚仍需人工勾選。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39" name="Rectangle 39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8294" y="5711825"/>
              <a:ext cx="64190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一般使用者與球隊皆可使用獨立的「2025 單日分析」。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網站實作｜代打情境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只替換候選打者，其餘條件保持相同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fld>
          </a:p>
        </p:txBody>
      </p:sp>
      <p:grpSp>
        <p:nvGrpSpPr>
          <p:cNvPr id="15" name="condition-0"/>
          <p:cNvGrpSpPr/>
          <p:nvPr/>
        </p:nvGrpSpPr>
        <p:grpSpPr>
          <a:xfrm>
            <a:off x="596265" y="1822450"/>
            <a:ext cx="1889760" cy="3047175"/>
            <a:chOff x="596265" y="1822450"/>
            <a:chExt cx="1889760" cy="3047175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822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對方投手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2181225" y="2438400"/>
              <a:ext cx="228600" cy="2286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295525" y="2667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105025" y="283464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112645" y="3048000"/>
              <a:ext cx="182880" cy="228600"/>
            </a:xfrm>
            <a:custGeom>
              <a:avLst/>
              <a:gdLst/>
              <a:ahLst/>
              <a:cxnLst/>
              <a:rect l="l" t="t" r="r" b="b"/>
              <a:pathLst>
                <a:path w="182880" h="228600">
                  <a:moveTo>
                    <a:pt x="182880" y="0"/>
                  </a:moveTo>
                  <a:lnTo>
                    <a:pt x="0" y="2286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295525" y="3048000"/>
              <a:ext cx="182880" cy="228600"/>
            </a:xfrm>
            <a:custGeom>
              <a:avLst/>
              <a:gdLst/>
              <a:ahLst/>
              <a:cxnLst/>
              <a:rect l="l" t="t" r="r" b="b"/>
              <a:pathLst>
                <a:path w="182880" h="228600">
                  <a:moveTo>
                    <a:pt x="0" y="0"/>
                  </a:moveTo>
                  <a:lnTo>
                    <a:pt x="182880" y="2286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6265" y="3921125"/>
              <a:ext cx="1084783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313" y="4473575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左投</a:t>
              </a:r>
            </a:p>
          </p:txBody>
        </p:sp>
      </p:grpSp>
      <p:grpSp>
        <p:nvGrpSpPr>
          <p:cNvPr id="25" name="condition-1"/>
          <p:cNvGrpSpPr/>
          <p:nvPr/>
        </p:nvGrpSpPr>
        <p:grpSpPr>
          <a:xfrm>
            <a:off x="4330065" y="1822450"/>
            <a:ext cx="2423160" cy="3047175"/>
            <a:chOff x="4330065" y="1822450"/>
            <a:chExt cx="2423160" cy="3047175"/>
          </a:xfrm>
        </p:grpSpPr>
        <p:sp>
          <p:nvSpPr>
            <p:cNvPr id="16" name="TextBox 16"/>
            <p:cNvSpPr txBox="1"/>
            <p:nvPr/>
          </p:nvSpPr>
          <p:spPr>
            <a:xfrm>
              <a:off x="4332732" y="18224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局勢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5448300" y="2447925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lnTo>
                    <a:pt x="1219200" y="609600"/>
                  </a:lnTo>
                  <a:lnTo>
                    <a:pt x="609600" y="12192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972175" y="23622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581775" y="29718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5972175" y="35814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362575" y="29718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010275" y="30099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30065" y="3921125"/>
              <a:ext cx="208965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8 局上・1：2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3113" y="4473575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34" name="condition-2"/>
          <p:cNvGrpSpPr/>
          <p:nvPr/>
        </p:nvGrpSpPr>
        <p:grpSpPr>
          <a:xfrm>
            <a:off x="8063865" y="1822450"/>
            <a:ext cx="1927149" cy="3047175"/>
            <a:chOff x="8063865" y="1822450"/>
            <a:chExt cx="1927149" cy="3047175"/>
          </a:xfrm>
        </p:grpSpPr>
        <p:sp>
          <p:nvSpPr>
            <p:cNvPr id="26" name="TextBox 26"/>
            <p:cNvSpPr txBox="1"/>
            <p:nvPr/>
          </p:nvSpPr>
          <p:spPr>
            <a:xfrm>
              <a:off x="8066532" y="1822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現任打者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9648825" y="2438400"/>
              <a:ext cx="228600" cy="2286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763125" y="2667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572625" y="283464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80245" y="3048000"/>
              <a:ext cx="182880" cy="228600"/>
            </a:xfrm>
            <a:custGeom>
              <a:avLst/>
              <a:gdLst/>
              <a:ahLst/>
              <a:cxnLst/>
              <a:rect l="l" t="t" r="r" b="b"/>
              <a:pathLst>
                <a:path w="182880" h="228600">
                  <a:moveTo>
                    <a:pt x="182880" y="0"/>
                  </a:moveTo>
                  <a:lnTo>
                    <a:pt x="0" y="2286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763125" y="3048000"/>
              <a:ext cx="182880" cy="228600"/>
            </a:xfrm>
            <a:custGeom>
              <a:avLst/>
              <a:gdLst/>
              <a:ahLst/>
              <a:cxnLst/>
              <a:rect l="l" t="t" r="r" b="b"/>
              <a:pathLst>
                <a:path w="182880" h="228600">
                  <a:moveTo>
                    <a:pt x="0" y="0"/>
                  </a:moveTo>
                  <a:lnTo>
                    <a:pt x="182880" y="228600"/>
                  </a:lnTo>
                </a:path>
              </a:pathLst>
            </a:custGeom>
            <a:noFill/>
            <a:ln w="30480">
              <a:solidFill>
                <a:srgbClr val="1834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63865" y="3921125"/>
              <a:ext cx="1084783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66913" y="44735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左打，指定打擊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609600" y="5505450"/>
            <a:ext cx="10972800" cy="704850"/>
            <a:chOff x="609600" y="5505450"/>
            <a:chExt cx="10972800" cy="704850"/>
          </a:xfrm>
        </p:grpSpPr>
        <p:sp>
          <p:nvSpPr>
            <p:cNvPr id="35" name="Rectangle 35"/>
            <p:cNvSpPr/>
            <p:nvPr/>
          </p:nvSpPr>
          <p:spPr>
            <a:xfrm>
              <a:off x="609600" y="55054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294" y="5597525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只改候選：林佳緯續打，或由胡金龍／陳鏞基／楊竣翔代打。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胡金龍的估計差距最大，仍要確認接守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fld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4967859" cy="381381"/>
            <a:chOff x="599694" y="1644650"/>
            <a:chExt cx="4967859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49678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基準：林佳緯｜統一對富邦｜8 局上・1：2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52334"/>
            <a:ext cx="11277600" cy="1762831"/>
            <a:chOff x="457200" y="2452334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52334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736086" cy="1191324"/>
            <a:chOff x="6227445" y="4826000"/>
            <a:chExt cx="373608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8969" y="52768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本例不需額外安排接守人選。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網站實作｜換投比較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fld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6696456" cy="381381"/>
            <a:chOff x="599694" y="1644650"/>
            <a:chExt cx="669645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275298"/>
            <a:ext cx="11277600" cy="2116904"/>
            <a:chOff x="457200" y="2275298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75298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983736" cy="1191324"/>
            <a:chOff x="6227445" y="4826000"/>
            <a:chExt cx="398373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一起比較接下來三棒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8969" y="5276850"/>
              <a:ext cx="39822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含本場球數調整，未模擬後續換局。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190346" y="1524000"/>
            <a:ext cx="5791758" cy="4762500"/>
            <a:chOff x="1190346" y="1524000"/>
            <a:chExt cx="5791758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346" y="1524000"/>
              <a:ext cx="5791758" cy="4762500"/>
            </a:xfrm>
            <a:prstGeom prst="rect">
              <a:avLst/>
            </a:prstGeom>
          </p:spPr>
        </p:pic>
      </p:grpSp>
      <p:grpSp>
        <p:nvGrpSpPr>
          <p:cNvPr id="11" name="note-826-236"/>
          <p:cNvGrpSpPr/>
          <p:nvPr/>
        </p:nvGrpSpPr>
        <p:grpSpPr>
          <a:xfrm>
            <a:off x="7856220" y="1968500"/>
            <a:ext cx="2669804" cy="1191324"/>
            <a:chOff x="7856220" y="1968500"/>
            <a:chExt cx="2669804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9685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守備配置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419350"/>
              <a:ext cx="2668280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另設場上投手。</a:t>
              </a:r>
            </a:p>
          </p:txBody>
        </p:sp>
      </p:grpSp>
      <p:grpSp>
        <p:nvGrpSpPr>
          <p:cNvPr id="14" name="note-826-444"/>
          <p:cNvGrpSpPr/>
          <p:nvPr/>
        </p:nvGrpSpPr>
        <p:grpSpPr>
          <a:xfrm>
            <a:off x="7856220" y="3949700"/>
            <a:ext cx="2993136" cy="1191324"/>
            <a:chOff x="7856220" y="3949700"/>
            <a:chExt cx="2993136" cy="1191324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9497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互換守位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44005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依序點兩個位置，可復原；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套用後更新評估。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767560" y="1524000"/>
            <a:ext cx="6637330" cy="4762500"/>
            <a:chOff x="767560" y="1524000"/>
            <a:chExt cx="6637330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60" y="1524000"/>
              <a:ext cx="6637330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2646426" cy="857631"/>
            <a:chOff x="7856220" y="1806575"/>
            <a:chExt cx="2646426" cy="857631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選擇球員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828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點姓名，搜尋或改選。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調整棒次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用上下箭頭或互換棒次。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確認九棒與守位後生效。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把常用牛棚存成群組，再確認今日可用人選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137204" y="1524000"/>
            <a:ext cx="5898043" cy="4762500"/>
            <a:chOff x="1137204" y="1524000"/>
            <a:chExt cx="5898043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7204" y="1524000"/>
              <a:ext cx="5898043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3240786" cy="1191324"/>
            <a:chOff x="7856220" y="1806575"/>
            <a:chExt cx="3240786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群組範本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574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勝投組／敗投組／自訂義群組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可修改，並非官方分組。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保存在此網站與瀏覽器。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仍需核對今日可用資格。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魔力藍對右打：低落類增加，速球類減少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fld>
          </a:p>
        </p:txBody>
      </p:sp>
      <p:grpSp>
        <p:nvGrpSpPr>
          <p:cNvPr id="16" name="mix-0"/>
          <p:cNvGrpSpPr/>
          <p:nvPr/>
        </p:nvGrpSpPr>
        <p:grpSpPr>
          <a:xfrm>
            <a:off x="597027" y="1952625"/>
            <a:ext cx="4989474" cy="2343912"/>
            <a:chOff x="597027" y="1952625"/>
            <a:chExt cx="4989474" cy="2343912"/>
          </a:xfrm>
        </p:grpSpPr>
        <p:sp>
          <p:nvSpPr>
            <p:cNvPr id="7" name="TextBox 7"/>
            <p:cNvSpPr txBox="1"/>
            <p:nvPr/>
          </p:nvSpPr>
          <p:spPr>
            <a:xfrm>
              <a:off x="5970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低落類球種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906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590675" y="2781300"/>
              <a:ext cx="531495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674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18%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906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90675" y="3829050"/>
              <a:ext cx="1003935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74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34%</a:t>
              </a:r>
            </a:p>
          </p:txBody>
        </p:sp>
      </p:grpSp>
      <p:grpSp>
        <p:nvGrpSpPr>
          <p:cNvPr id="26" name="mix-1"/>
          <p:cNvGrpSpPr/>
          <p:nvPr/>
        </p:nvGrpSpPr>
        <p:grpSpPr>
          <a:xfrm>
            <a:off x="6235827" y="1952625"/>
            <a:ext cx="4989474" cy="2343912"/>
            <a:chOff x="6235827" y="1952625"/>
            <a:chExt cx="4989474" cy="2343912"/>
          </a:xfrm>
        </p:grpSpPr>
        <p:sp>
          <p:nvSpPr>
            <p:cNvPr id="17" name="TextBox 17"/>
            <p:cNvSpPr txBox="1"/>
            <p:nvPr/>
          </p:nvSpPr>
          <p:spPr>
            <a:xfrm>
              <a:off x="62358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速球類球種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84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294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29475" y="2781300"/>
              <a:ext cx="1564958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62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53%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84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294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29475" y="3829050"/>
              <a:ext cx="1210628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62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41%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7" name="Rectangle 27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8294" y="5664200"/>
              <a:ext cx="71967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魔力藍對右打：之前 10 場・428 球，對照最近 5 場・258 球。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網站依相同左右打條件，比較兩段配球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030897" y="1562100"/>
            <a:ext cx="10130206" cy="4667250"/>
            <a:chOff x="1030897" y="1562100"/>
            <a:chExt cx="10130206" cy="4667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897" y="1562100"/>
              <a:ext cx="10130206" cy="4667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9212770" cy="1063625"/>
            <a:chOff x="592836" y="250825"/>
            <a:chExt cx="921277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2025/09/20：六隊三場，226 打席皆可攻守比較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fld>
          </a:p>
        </p:txBody>
      </p:sp>
      <p:grpSp>
        <p:nvGrpSpPr>
          <p:cNvPr id="10" name="day-total"/>
          <p:cNvGrpSpPr/>
          <p:nvPr/>
        </p:nvGrpSpPr>
        <p:grpSpPr>
          <a:xfrm>
            <a:off x="590550" y="1714500"/>
            <a:ext cx="6973545" cy="1447800"/>
            <a:chOff x="590550" y="1714500"/>
            <a:chExt cx="6973545" cy="144780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714500"/>
              <a:ext cx="1638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3784" y="1860550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個打席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6451" y="2419350"/>
              <a:ext cx="471764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每個打席都能切換代打與換投評估。</a:t>
              </a:r>
            </a:p>
          </p:txBody>
        </p:sp>
      </p:grpSp>
      <p:grpSp>
        <p:nvGrpSpPr>
          <p:cNvPr id="21" name="game-0"/>
          <p:cNvGrpSpPr/>
          <p:nvPr/>
        </p:nvGrpSpPr>
        <p:grpSpPr>
          <a:xfrm>
            <a:off x="590550" y="3492500"/>
            <a:ext cx="3305175" cy="2228215"/>
            <a:chOff x="590550" y="3492500"/>
            <a:chExt cx="3305175" cy="2228215"/>
          </a:xfrm>
        </p:grpSpPr>
        <p:sp>
          <p:nvSpPr>
            <p:cNvPr id="11" name="Polygon 11"/>
            <p:cNvSpPr/>
            <p:nvPr/>
          </p:nvSpPr>
          <p:spPr>
            <a:xfrm>
              <a:off x="3048000" y="3619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762000" y="381000"/>
                  </a:lnTo>
                  <a:lnTo>
                    <a:pt x="38100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343275" y="3533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7242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343275" y="4295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9622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381375" y="39528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8170" y="3492500"/>
              <a:ext cx="1679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0550" y="4219575"/>
              <a:ext cx="74218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70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89913" y="4587875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打席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075" y="5353050"/>
              <a:ext cx="104403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2025-340</a:t>
              </a:r>
            </a:p>
          </p:txBody>
        </p:sp>
      </p:grpSp>
      <p:grpSp>
        <p:nvGrpSpPr>
          <p:cNvPr id="32" name="game-1"/>
          <p:cNvGrpSpPr/>
          <p:nvPr/>
        </p:nvGrpSpPr>
        <p:grpSpPr>
          <a:xfrm>
            <a:off x="4324350" y="3492500"/>
            <a:ext cx="3305175" cy="2228215"/>
            <a:chOff x="4324350" y="3492500"/>
            <a:chExt cx="3305175" cy="2228215"/>
          </a:xfrm>
        </p:grpSpPr>
        <p:sp>
          <p:nvSpPr>
            <p:cNvPr id="22" name="Polygon 22"/>
            <p:cNvSpPr/>
            <p:nvPr/>
          </p:nvSpPr>
          <p:spPr>
            <a:xfrm>
              <a:off x="6781800" y="3619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762000" y="381000"/>
                  </a:lnTo>
                  <a:lnTo>
                    <a:pt x="38100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7077075" y="3533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74580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77075" y="4295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6960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115175" y="39528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31970" y="3492500"/>
              <a:ext cx="1679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4350" y="4219575"/>
              <a:ext cx="74218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74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3713" y="4587875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打席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875" y="5353050"/>
              <a:ext cx="104403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2025-341</a:t>
              </a:r>
            </a:p>
          </p:txBody>
        </p:sp>
      </p:grpSp>
      <p:grpSp>
        <p:nvGrpSpPr>
          <p:cNvPr id="43" name="game-2"/>
          <p:cNvGrpSpPr/>
          <p:nvPr/>
        </p:nvGrpSpPr>
        <p:grpSpPr>
          <a:xfrm>
            <a:off x="8058150" y="3492500"/>
            <a:ext cx="3305175" cy="2228215"/>
            <a:chOff x="8058150" y="3492500"/>
            <a:chExt cx="3305175" cy="2228215"/>
          </a:xfrm>
        </p:grpSpPr>
        <p:sp>
          <p:nvSpPr>
            <p:cNvPr id="33" name="Polygon 33"/>
            <p:cNvSpPr/>
            <p:nvPr/>
          </p:nvSpPr>
          <p:spPr>
            <a:xfrm>
              <a:off x="10515600" y="3619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762000" y="381000"/>
                  </a:lnTo>
                  <a:lnTo>
                    <a:pt x="38100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10810875" y="3533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111918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10810875" y="4295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429875" y="39147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848975" y="39528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65770" y="3492500"/>
              <a:ext cx="1679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58150" y="4219575"/>
              <a:ext cx="74218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82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57513" y="4587875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打席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7675" y="5353050"/>
              <a:ext cx="104403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2025-342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同一打席，代打與換投各有比較基準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3942098"/>
            <a:ext cx="10972800" cy="2088479"/>
            <a:chOff x="609600" y="3942098"/>
            <a:chExt cx="10972800" cy="208847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942098"/>
              <a:ext cx="10972800" cy="2088479"/>
            </a:xfrm>
            <a:prstGeom prst="rect">
              <a:avLst/>
            </a:prstGeom>
          </p:spPr>
        </p:pic>
      </p:grpSp>
      <p:grpSp>
        <p:nvGrpSpPr>
          <p:cNvPr id="17" name="baseline-0"/>
          <p:cNvGrpSpPr/>
          <p:nvPr/>
        </p:nvGrpSpPr>
        <p:grpSpPr>
          <a:xfrm>
            <a:off x="597789" y="1797050"/>
            <a:ext cx="3718128" cy="1443800"/>
            <a:chOff x="597789" y="1797050"/>
            <a:chExt cx="3718128" cy="1443800"/>
          </a:xfrm>
        </p:grpSpPr>
        <p:sp>
          <p:nvSpPr>
            <p:cNvPr id="9" name="TextBox 9"/>
            <p:cNvSpPr txBox="1"/>
            <p:nvPr/>
          </p:nvSpPr>
          <p:spPr>
            <a:xfrm>
              <a:off x="597789" y="1797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92969" y="2359819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71550" y="2516981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40581" y="2632234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4582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7155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03807" y="23368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陳傑憲或候選打者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4188" y="2844800"/>
              <a:ext cx="28117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對照：實際投手 王志煊</a:t>
              </a:r>
            </a:p>
          </p:txBody>
        </p:sp>
      </p:grpSp>
      <p:grpSp>
        <p:nvGrpSpPr>
          <p:cNvPr id="26" name="baseline-1"/>
          <p:cNvGrpSpPr/>
          <p:nvPr/>
        </p:nvGrpSpPr>
        <p:grpSpPr>
          <a:xfrm>
            <a:off x="6236589" y="1797050"/>
            <a:ext cx="3918229" cy="1443800"/>
            <a:chOff x="6236589" y="1797050"/>
            <a:chExt cx="3918229" cy="1443800"/>
          </a:xfrm>
        </p:grpSpPr>
        <p:sp>
          <p:nvSpPr>
            <p:cNvPr id="18" name="TextBox 18"/>
            <p:cNvSpPr txBox="1"/>
            <p:nvPr/>
          </p:nvSpPr>
          <p:spPr>
            <a:xfrm>
              <a:off x="6236589" y="1797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31769" y="2359819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610350" y="2516981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479381" y="2632234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8462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61035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42607" y="2336800"/>
              <a:ext cx="26403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原投手 林子崴若續投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42988" y="284480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對照：王志煊等牛棚候選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只拿當時已知資訊，結果留在打席結束後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fld>
          </a:p>
        </p:txBody>
      </p:sp>
      <p:grpSp>
        <p:nvGrpSpPr>
          <p:cNvPr id="19" name="time-boundary"/>
          <p:cNvGrpSpPr/>
          <p:nvPr/>
        </p:nvGrpSpPr>
        <p:grpSpPr>
          <a:xfrm>
            <a:off x="609600" y="1857375"/>
            <a:ext cx="10972800" cy="2114550"/>
            <a:chOff x="609600" y="1857375"/>
            <a:chExt cx="10972800" cy="2114550"/>
          </a:xfrm>
        </p:grpSpPr>
        <p:sp>
          <p:nvSpPr>
            <p:cNvPr id="7" name="Rectangle 7"/>
            <p:cNvSpPr/>
            <p:nvPr/>
          </p:nvSpPr>
          <p:spPr>
            <a:xfrm>
              <a:off x="609600" y="1857375"/>
              <a:ext cx="7229475" cy="2114550"/>
            </a:xfrm>
            <a:prstGeom prst="roundRect">
              <a:avLst>
                <a:gd name="adj" fmla="val 540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153400" y="1857375"/>
              <a:ext cx="34290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762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24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104" y="2073275"/>
              <a:ext cx="44529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883" y="3181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逐球模型訓練截止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153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0037" y="2073275"/>
              <a:ext cx="13174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797" y="318135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725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8143" y="20732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25" y="3181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實際調度與結果</a:t>
              </a:r>
            </a:p>
          </p:txBody>
        </p:sp>
      </p:grpSp>
      <p:grpSp>
        <p:nvGrpSpPr>
          <p:cNvPr id="24" name="known-and-outcomes"/>
          <p:cNvGrpSpPr/>
          <p:nvPr/>
        </p:nvGrpSpPr>
        <p:grpSpPr>
          <a:xfrm>
            <a:off x="597789" y="4349750"/>
            <a:ext cx="10384028" cy="1273778"/>
            <a:chOff x="597789" y="4349750"/>
            <a:chExt cx="10384028" cy="1273778"/>
          </a:xfrm>
        </p:grpSpPr>
        <p:sp>
          <p:nvSpPr>
            <p:cNvPr id="20" name="TextBox 20"/>
            <p:cNvSpPr txBox="1"/>
            <p:nvPr/>
          </p:nvSpPr>
          <p:spPr>
            <a:xfrm>
              <a:off x="59778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決策輸入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313" y="4854575"/>
              <a:ext cx="463829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同日結果不進能力估計；負荷截於賽前。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853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判讀界線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0063" y="4854575"/>
              <a:ext cx="43817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局起，差距達 1 百分點標示建議。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單日結果不是準確率，也非因果證據。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回到同一個打席，分開看建議與結果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054073" y="1628775"/>
            <a:ext cx="10083854" cy="3048000"/>
            <a:chOff x="1054073" y="1628775"/>
            <a:chExt cx="1008385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073" y="1628775"/>
              <a:ext cx="10083854" cy="3048000"/>
            </a:xfrm>
            <a:prstGeom prst="rect">
              <a:avLst/>
            </a:prstGeom>
          </p:spPr>
        </p:pic>
      </p:grpSp>
      <p:grpSp>
        <p:nvGrpSpPr>
          <p:cNvPr id="12" name="result-0"/>
          <p:cNvGrpSpPr/>
          <p:nvPr/>
        </p:nvGrpSpPr>
        <p:grpSpPr>
          <a:xfrm>
            <a:off x="597027" y="4959350"/>
            <a:ext cx="1960245" cy="1282319"/>
            <a:chOff x="597027" y="4959350"/>
            <a:chExt cx="1960245" cy="1282319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027" y="5353050"/>
              <a:ext cx="193322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5889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result-1"/>
          <p:cNvGrpSpPr/>
          <p:nvPr/>
        </p:nvGrpSpPr>
        <p:grpSpPr>
          <a:xfrm>
            <a:off x="4330827" y="4959350"/>
            <a:ext cx="2458593" cy="1282319"/>
            <a:chOff x="4330827" y="4959350"/>
            <a:chExt cx="2458593" cy="1282319"/>
          </a:xfrm>
        </p:grpSpPr>
        <p:sp>
          <p:nvSpPr>
            <p:cNvPr id="13" name="TextBox 13"/>
            <p:cNvSpPr txBox="1"/>
            <p:nvPr/>
          </p:nvSpPr>
          <p:spPr>
            <a:xfrm>
              <a:off x="43334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8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5889625"/>
              <a:ext cx="2455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result-2"/>
          <p:cNvGrpSpPr/>
          <p:nvPr/>
        </p:nvGrpSpPr>
        <p:grpSpPr>
          <a:xfrm>
            <a:off x="8064627" y="4959350"/>
            <a:ext cx="2202561" cy="1282319"/>
            <a:chOff x="8064627" y="4959350"/>
            <a:chExt cx="2202561" cy="1282319"/>
          </a:xfrm>
        </p:grpSpPr>
        <p:sp>
          <p:nvSpPr>
            <p:cNvPr id="17" name="TextBox 17"/>
            <p:cNvSpPr txBox="1"/>
            <p:nvPr/>
          </p:nvSpPr>
          <p:spPr>
            <a:xfrm>
              <a:off x="80672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46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8056" y="58896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fld>
          </a:p>
        </p:txBody>
      </p:sp>
      <p:grpSp>
        <p:nvGrpSpPr>
          <p:cNvPr id="8" name="load-date"/>
          <p:cNvGrpSpPr/>
          <p:nvPr/>
        </p:nvGrpSpPr>
        <p:grpSpPr>
          <a:xfrm>
            <a:off x="598170" y="1730375"/>
            <a:ext cx="3378214" cy="440055"/>
            <a:chOff x="598170" y="1730375"/>
            <a:chExt cx="3378214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1730375"/>
              <a:ext cx="33782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陳冠宇｜2025/09/20 賽前</a:t>
              </a:r>
            </a:p>
          </p:txBody>
        </p:sp>
      </p:grpSp>
      <p:grpSp>
        <p:nvGrpSpPr>
          <p:cNvPr id="15" name="calendar-0"/>
          <p:cNvGrpSpPr/>
          <p:nvPr/>
        </p:nvGrpSpPr>
        <p:grpSpPr>
          <a:xfrm>
            <a:off x="609600" y="2428875"/>
            <a:ext cx="3505200" cy="2962275"/>
            <a:chOff x="609600" y="2428875"/>
            <a:chExt cx="3505200" cy="2962275"/>
          </a:xfrm>
        </p:grpSpPr>
        <p:sp>
          <p:nvSpPr>
            <p:cNvPr id="9" name="Rectangle 9"/>
            <p:cNvSpPr/>
            <p:nvPr/>
          </p:nvSpPr>
          <p:spPr>
            <a:xfrm>
              <a:off x="609600" y="2428875"/>
              <a:ext cx="3505200" cy="2962275"/>
            </a:xfrm>
            <a:prstGeom prst="roundRect">
              <a:avLst>
                <a:gd name="adj" fmla="val 3859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428875"/>
              <a:ext cx="3505200" cy="581025"/>
            </a:xfrm>
            <a:prstGeom prst="roundRect">
              <a:avLst>
                <a:gd name="adj" fmla="val 1967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6063" y="2524125"/>
              <a:ext cx="65227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7532" y="32893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294" y="384492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近三天累計用球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4378325"/>
              <a:ext cx="144399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17 球</a:t>
              </a:r>
            </a:p>
          </p:txBody>
        </p:sp>
      </p:grpSp>
      <p:grpSp>
        <p:nvGrpSpPr>
          <p:cNvPr id="22" name="calendar-1"/>
          <p:cNvGrpSpPr/>
          <p:nvPr/>
        </p:nvGrpSpPr>
        <p:grpSpPr>
          <a:xfrm>
            <a:off x="4343400" y="2428875"/>
            <a:ext cx="3505200" cy="2962275"/>
            <a:chOff x="4343400" y="2428875"/>
            <a:chExt cx="3505200" cy="2962275"/>
          </a:xfrm>
        </p:grpSpPr>
        <p:sp>
          <p:nvSpPr>
            <p:cNvPr id="16" name="Rectangle 16"/>
            <p:cNvSpPr/>
            <p:nvPr/>
          </p:nvSpPr>
          <p:spPr>
            <a:xfrm>
              <a:off x="4343400" y="2428875"/>
              <a:ext cx="3505200" cy="2962275"/>
            </a:xfrm>
            <a:prstGeom prst="roundRect">
              <a:avLst>
                <a:gd name="adj" fmla="val 3859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43400" y="2428875"/>
              <a:ext cx="3505200" cy="581025"/>
            </a:xfrm>
            <a:prstGeom prst="roundRect">
              <a:avLst>
                <a:gd name="adj" fmla="val 1967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9863" y="2524125"/>
              <a:ext cx="65227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1332" y="32893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完整休息一天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2094" y="38449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賽前連續出賽天數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2950" y="4378325"/>
              <a:ext cx="11239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 天</a:t>
              </a:r>
            </a:p>
          </p:txBody>
        </p:sp>
      </p:grpSp>
      <p:grpSp>
        <p:nvGrpSpPr>
          <p:cNvPr id="29" name="calendar-2"/>
          <p:cNvGrpSpPr/>
          <p:nvPr/>
        </p:nvGrpSpPr>
        <p:grpSpPr>
          <a:xfrm>
            <a:off x="8077200" y="2428875"/>
            <a:ext cx="3505200" cy="2962275"/>
            <a:chOff x="8077200" y="2428875"/>
            <a:chExt cx="3505200" cy="2962275"/>
          </a:xfrm>
        </p:grpSpPr>
        <p:sp>
          <p:nvSpPr>
            <p:cNvPr id="23" name="Rectangle 23"/>
            <p:cNvSpPr/>
            <p:nvPr/>
          </p:nvSpPr>
          <p:spPr>
            <a:xfrm>
              <a:off x="8077200" y="2428875"/>
              <a:ext cx="3505200" cy="2962275"/>
            </a:xfrm>
            <a:prstGeom prst="roundRect">
              <a:avLst>
                <a:gd name="adj" fmla="val 3859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77200" y="2428875"/>
              <a:ext cx="3505200" cy="581025"/>
            </a:xfrm>
            <a:prstGeom prst="roundRect">
              <a:avLst>
                <a:gd name="adj" fmla="val 1967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25711" y="2524125"/>
              <a:ext cx="1408178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5132" y="32893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準備今天的換投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5894" y="3844925"/>
              <a:ext cx="14859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 14 天出賽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86750" y="4378325"/>
              <a:ext cx="11239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4 場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0" name="Rectangle 30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8294" y="572135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休息與負荷提供調度參考，仍需由球隊確認當日狀態。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先固定條件，再比較人選，最後檢查提醒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fld>
          </a:p>
        </p:txBody>
      </p:sp>
      <p:grpSp>
        <p:nvGrpSpPr>
          <p:cNvPr id="15" name="workflow-0"/>
          <p:cNvGrpSpPr/>
          <p:nvPr/>
        </p:nvGrpSpPr>
        <p:grpSpPr>
          <a:xfrm>
            <a:off x="597408" y="2085975"/>
            <a:ext cx="2844419" cy="3051778"/>
            <a:chOff x="597408" y="2085975"/>
            <a:chExt cx="2844419" cy="3051778"/>
          </a:xfrm>
        </p:grpSpPr>
        <p:sp>
          <p:nvSpPr>
            <p:cNvPr id="7" name="Polygon 7"/>
            <p:cNvSpPr/>
            <p:nvPr/>
          </p:nvSpPr>
          <p:spPr>
            <a:xfrm>
              <a:off x="1695450" y="2171700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666750" y="0"/>
                  </a:moveTo>
                  <a:lnTo>
                    <a:pt x="1333500" y="666750"/>
                  </a:lnTo>
                  <a:lnTo>
                    <a:pt x="666750" y="133350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2276475" y="20859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943225" y="27527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276475" y="34194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609725" y="27527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314575" y="27908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3794125"/>
              <a:ext cx="1810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設定局勢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313" y="436880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球隊、投打人選、比分、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局數、出局與壘況。</a:t>
              </a:r>
            </a:p>
          </p:txBody>
        </p:sp>
      </p:grpSp>
      <p:grpSp>
        <p:nvGrpSpPr>
          <p:cNvPr id="28" name="workflow-1"/>
          <p:cNvGrpSpPr/>
          <p:nvPr/>
        </p:nvGrpSpPr>
        <p:grpSpPr>
          <a:xfrm>
            <a:off x="4331208" y="2205038"/>
            <a:ext cx="2587879" cy="2932715"/>
            <a:chOff x="4331208" y="2205038"/>
            <a:chExt cx="2587879" cy="2932715"/>
          </a:xfrm>
        </p:grpSpPr>
        <p:sp>
          <p:nvSpPr>
            <p:cNvPr id="16" name="Ellipse 16"/>
            <p:cNvSpPr/>
            <p:nvPr/>
          </p:nvSpPr>
          <p:spPr>
            <a:xfrm>
              <a:off x="5529262" y="2205038"/>
              <a:ext cx="200025" cy="200025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629275" y="2405062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462588" y="2551748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469255" y="27384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160020" y="0"/>
                  </a:moveTo>
                  <a:lnTo>
                    <a:pt x="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629275" y="27384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0" y="0"/>
                  </a:moveTo>
                  <a:lnTo>
                    <a:pt x="16002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81762" y="2205038"/>
              <a:ext cx="200025" cy="200025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581775" y="2405062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415088" y="2551748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421755" y="27384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160020" y="0"/>
                  </a:moveTo>
                  <a:lnTo>
                    <a:pt x="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581775" y="2738438"/>
              <a:ext cx="160020" cy="200025"/>
            </a:xfrm>
            <a:custGeom>
              <a:avLst/>
              <a:gdLst/>
              <a:ahLst/>
              <a:cxnLst/>
              <a:rect l="l" t="t" r="r" b="b"/>
              <a:pathLst>
                <a:path w="160020" h="200025">
                  <a:moveTo>
                    <a:pt x="0" y="0"/>
                  </a:moveTo>
                  <a:lnTo>
                    <a:pt x="160020" y="200025"/>
                  </a:lnTo>
                </a:path>
              </a:pathLst>
            </a:custGeom>
            <a:noFill/>
            <a:ln w="26670">
              <a:solidFill>
                <a:srgbClr val="1834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31208" y="3794125"/>
              <a:ext cx="1810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比較人選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3113" y="4368800"/>
              <a:ext cx="258597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先看相對現任的差距，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最多選四人檢視比較。</a:t>
              </a:r>
            </a:p>
          </p:txBody>
        </p:sp>
      </p:grpSp>
      <p:grpSp>
        <p:nvGrpSpPr>
          <p:cNvPr id="40" name="workflow-2"/>
          <p:cNvGrpSpPr/>
          <p:nvPr/>
        </p:nvGrpSpPr>
        <p:grpSpPr>
          <a:xfrm>
            <a:off x="8065008" y="2190750"/>
            <a:ext cx="3100959" cy="2947003"/>
            <a:chOff x="8065008" y="2190750"/>
            <a:chExt cx="3100959" cy="2947003"/>
          </a:xfrm>
        </p:grpSpPr>
        <p:sp>
          <p:nvSpPr>
            <p:cNvPr id="29" name="Rectangle 29"/>
            <p:cNvSpPr/>
            <p:nvPr/>
          </p:nvSpPr>
          <p:spPr>
            <a:xfrm>
              <a:off x="8934450" y="2190750"/>
              <a:ext cx="18097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096375" y="24003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344025" y="2447925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096375" y="26860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9344025" y="2733675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096375" y="29718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344025" y="3019425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096375" y="32575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344025" y="3305175"/>
              <a:ext cx="1228725" cy="9525"/>
            </a:xfrm>
            <a:custGeom>
              <a:avLst/>
              <a:gdLst/>
              <a:ahLst/>
              <a:cxnLst/>
              <a:rect l="l" t="t" r="r" b="b"/>
              <a:pathLst>
                <a:path w="1228725" h="9525">
                  <a:moveTo>
                    <a:pt x="0" y="0"/>
                  </a:moveTo>
                  <a:lnTo>
                    <a:pt x="1228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65008" y="3794125"/>
              <a:ext cx="1810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核對限制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66913" y="43688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確認接守、今日可用名單，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留意模型分歧與資料量。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差距之外，三種提醒都要一起看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fld>
          </a:p>
        </p:txBody>
      </p:sp>
      <p:grpSp>
        <p:nvGrpSpPr>
          <p:cNvPr id="15" name="caution-0"/>
          <p:cNvGrpSpPr/>
          <p:nvPr/>
        </p:nvGrpSpPr>
        <p:grpSpPr>
          <a:xfrm>
            <a:off x="597408" y="2057400"/>
            <a:ext cx="2844419" cy="3137503"/>
            <a:chOff x="597408" y="2057400"/>
            <a:chExt cx="2844419" cy="3137503"/>
          </a:xfrm>
        </p:grpSpPr>
        <p:sp>
          <p:nvSpPr>
            <p:cNvPr id="7" name="Polygon 7"/>
            <p:cNvSpPr/>
            <p:nvPr/>
          </p:nvSpPr>
          <p:spPr>
            <a:xfrm>
              <a:off x="1743075" y="2143125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5" y="0"/>
                  </a:moveTo>
                  <a:lnTo>
                    <a:pt x="1238250" y="619125"/>
                  </a:lnTo>
                  <a:lnTo>
                    <a:pt x="619125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2276475" y="20574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895600" y="2676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276475" y="32956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657350" y="26765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314575" y="27146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38512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接守需求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313" y="442595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代打後能否接守原位置？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是否還要調整其他守備？</a:t>
              </a:r>
            </a:p>
          </p:txBody>
        </p:sp>
      </p:grpSp>
      <p:grpSp>
        <p:nvGrpSpPr>
          <p:cNvPr id="23" name="caution-1"/>
          <p:cNvGrpSpPr/>
          <p:nvPr/>
        </p:nvGrpSpPr>
        <p:grpSpPr>
          <a:xfrm>
            <a:off x="4331208" y="2368550"/>
            <a:ext cx="3115081" cy="2826353"/>
            <a:chOff x="4331208" y="2368550"/>
            <a:chExt cx="3115081" cy="2826353"/>
          </a:xfrm>
        </p:grpSpPr>
        <p:sp>
          <p:nvSpPr>
            <p:cNvPr id="16" name="Line 16"/>
            <p:cNvSpPr/>
            <p:nvPr/>
          </p:nvSpPr>
          <p:spPr>
            <a:xfrm>
              <a:off x="5105400" y="2524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515100" y="2457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5581650" y="30003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5581650" y="2933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84517" y="2368550"/>
              <a:ext cx="261772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1208" y="38512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模型分歧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3113" y="442595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兩種估計的方向不同時，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不宜只看單一分數決定。</a:t>
              </a:r>
            </a:p>
          </p:txBody>
        </p:sp>
      </p:grpSp>
      <p:grpSp>
        <p:nvGrpSpPr>
          <p:cNvPr id="31" name="caution-2"/>
          <p:cNvGrpSpPr/>
          <p:nvPr/>
        </p:nvGrpSpPr>
        <p:grpSpPr>
          <a:xfrm>
            <a:off x="8065008" y="2571750"/>
            <a:ext cx="3100959" cy="2623153"/>
            <a:chOff x="8065008" y="2571750"/>
            <a:chExt cx="3100959" cy="2623153"/>
          </a:xfrm>
        </p:grpSpPr>
        <p:sp>
          <p:nvSpPr>
            <p:cNvPr id="24" name="Ellipse 24"/>
            <p:cNvSpPr/>
            <p:nvPr/>
          </p:nvSpPr>
          <p:spPr>
            <a:xfrm>
              <a:off x="8553450" y="2571750"/>
              <a:ext cx="285750" cy="2857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077325" y="2571750"/>
              <a:ext cx="285750" cy="2857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01200" y="2571750"/>
              <a:ext cx="285750" cy="285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125075" y="2571750"/>
              <a:ext cx="285750" cy="285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648950" y="2571750"/>
              <a:ext cx="285750" cy="285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65008" y="38512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資料有限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6913" y="44259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樣本少時較倚賴整體基準，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仍須核對球員當日狀態。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r>
          </a:p>
        </p:txBody>
      </p:sp>
      <p:grpSp>
        <p:nvGrpSpPr>
          <p:cNvPr id="8" name="play-instruction"/>
          <p:cNvGrpSpPr/>
          <p:nvPr/>
        </p:nvGrpSpPr>
        <p:grpSpPr>
          <a:xfrm>
            <a:off x="10051256" y="263557"/>
            <a:ext cx="1539526" cy="322707"/>
            <a:chOff x="10051256" y="263557"/>
            <a:chExt cx="1539526" cy="322707"/>
          </a:xfrm>
        </p:grpSpPr>
        <p:sp>
          <p:nvSpPr>
            <p:cNvPr id="7" name="TextBox 7"/>
            <p:cNvSpPr/>
            <p:nvPr/>
          </p:nvSpPr>
          <p:spPr>
            <a:xfrm>
              <a:off x="10051256" y="263557"/>
              <a:ext cx="153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點選影片播放 ▶</a:t>
              </a:r>
            </a:p>
          </p:txBody>
        </p:sp>
      </p:grp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84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已完成網站：評估、名單與單日回放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33</a:t>
            </a:fld>
          </a:p>
        </p:txBody>
      </p:sp>
      <p:grpSp>
        <p:nvGrpSpPr>
          <p:cNvPr id="19" name="completed-0"/>
          <p:cNvGrpSpPr/>
          <p:nvPr/>
        </p:nvGrpSpPr>
        <p:grpSpPr>
          <a:xfrm>
            <a:off x="597789" y="2088356"/>
            <a:ext cx="3311449" cy="2622709"/>
            <a:chOff x="597789" y="2088356"/>
            <a:chExt cx="3311449" cy="2622709"/>
          </a:xfrm>
        </p:grpSpPr>
        <p:sp>
          <p:nvSpPr>
            <p:cNvPr id="7" name="Ellipse 7"/>
            <p:cNvSpPr/>
            <p:nvPr/>
          </p:nvSpPr>
          <p:spPr>
            <a:xfrm>
              <a:off x="1564481" y="2088356"/>
              <a:ext cx="185738" cy="18573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657350" y="227409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02569" y="2410301"/>
              <a:ext cx="309562" cy="9525"/>
            </a:xfrm>
            <a:custGeom>
              <a:avLst/>
              <a:gdLst/>
              <a:ahLst/>
              <a:cxnLst/>
              <a:rect l="l" t="t" r="r" b="b"/>
              <a:pathLst>
                <a:path w="309562" h="9525">
                  <a:moveTo>
                    <a:pt x="0" y="0"/>
                  </a:moveTo>
                  <a:lnTo>
                    <a:pt x="309562" y="0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08760" y="258365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148590" y="0"/>
                  </a:moveTo>
                  <a:lnTo>
                    <a:pt x="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657350" y="258365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0" y="0"/>
                  </a:moveTo>
                  <a:lnTo>
                    <a:pt x="14859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802731" y="2088356"/>
              <a:ext cx="185738" cy="185738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895600" y="227409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740819" y="2410301"/>
              <a:ext cx="309562" cy="9525"/>
            </a:xfrm>
            <a:custGeom>
              <a:avLst/>
              <a:gdLst/>
              <a:ahLst/>
              <a:cxnLst/>
              <a:rect l="l" t="t" r="r" b="b"/>
              <a:pathLst>
                <a:path w="309562" h="9525">
                  <a:moveTo>
                    <a:pt x="0" y="0"/>
                  </a:moveTo>
                  <a:lnTo>
                    <a:pt x="309562" y="0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747010" y="258365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148590" y="0"/>
                  </a:moveTo>
                  <a:lnTo>
                    <a:pt x="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895600" y="2583656"/>
              <a:ext cx="148590" cy="185738"/>
            </a:xfrm>
            <a:custGeom>
              <a:avLst/>
              <a:gdLst/>
              <a:ahLst/>
              <a:cxnLst/>
              <a:rect l="l" t="t" r="r" b="b"/>
              <a:pathLst>
                <a:path w="148590" h="185738">
                  <a:moveTo>
                    <a:pt x="0" y="0"/>
                  </a:moveTo>
                  <a:lnTo>
                    <a:pt x="148590" y="185738"/>
                  </a:lnTo>
                </a:path>
              </a:pathLst>
            </a:custGeom>
            <a:noFill/>
            <a:ln w="24765">
              <a:solidFill>
                <a:srgbClr val="18344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789" y="380682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投打候選比較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075" y="4343400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代打／換投，同一局勢比較。</a:t>
              </a:r>
            </a:p>
          </p:txBody>
        </p:sp>
      </p:grpSp>
      <p:grpSp>
        <p:nvGrpSpPr>
          <p:cNvPr id="28" name="completed-1"/>
          <p:cNvGrpSpPr/>
          <p:nvPr/>
        </p:nvGrpSpPr>
        <p:grpSpPr>
          <a:xfrm>
            <a:off x="4331589" y="2019300"/>
            <a:ext cx="2805278" cy="2691765"/>
            <a:chOff x="4331589" y="2019300"/>
            <a:chExt cx="2805278" cy="2691765"/>
          </a:xfrm>
        </p:grpSpPr>
        <p:sp>
          <p:nvSpPr>
            <p:cNvPr id="20" name="Polygon 20"/>
            <p:cNvSpPr/>
            <p:nvPr/>
          </p:nvSpPr>
          <p:spPr>
            <a:xfrm>
              <a:off x="5429250" y="2105025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666750" y="0"/>
                  </a:moveTo>
                  <a:lnTo>
                    <a:pt x="1333500" y="666750"/>
                  </a:lnTo>
                  <a:lnTo>
                    <a:pt x="666750" y="133350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010275" y="20193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6677025" y="26860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010275" y="33528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343525" y="26860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048375" y="27241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31589" y="380682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場上名單與群組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3875" y="4343400"/>
              <a:ext cx="28029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九棒、守位與常用牛棚。</a:t>
              </a:r>
            </a:p>
          </p:txBody>
        </p:sp>
      </p:grpSp>
      <p:grpSp>
        <p:nvGrpSpPr>
          <p:cNvPr id="34" name="completed-2"/>
          <p:cNvGrpSpPr/>
          <p:nvPr/>
        </p:nvGrpSpPr>
        <p:grpSpPr>
          <a:xfrm>
            <a:off x="8065389" y="2409825"/>
            <a:ext cx="2767076" cy="2301240"/>
            <a:chOff x="8065389" y="2409825"/>
            <a:chExt cx="2767076" cy="2301240"/>
          </a:xfrm>
        </p:grpSpPr>
        <p:sp>
          <p:nvSpPr>
            <p:cNvPr id="29" name="Ellipse 29"/>
            <p:cNvSpPr/>
            <p:nvPr/>
          </p:nvSpPr>
          <p:spPr>
            <a:xfrm>
              <a:off x="9467850" y="2409825"/>
              <a:ext cx="723900" cy="7239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829800" y="25431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829800" y="2771775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0"/>
                  </a:moveTo>
                  <a:lnTo>
                    <a:pt x="190500" y="1143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65389" y="380682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67675" y="4343400"/>
              <a:ext cx="276479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226 打席皆可切換攻守。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609600" y="5362575"/>
            <a:ext cx="10972800" cy="1028700"/>
            <a:chOff x="609600" y="5362575"/>
            <a:chExt cx="10972800" cy="1028700"/>
          </a:xfrm>
        </p:grpSpPr>
        <p:sp>
          <p:nvSpPr>
            <p:cNvPr id="35" name="Rectangle 35"/>
            <p:cNvSpPr/>
            <p:nvPr/>
          </p:nvSpPr>
          <p:spPr>
            <a:xfrm>
              <a:off x="609600" y="5362575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294" y="5429250"/>
              <a:ext cx="7696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下一階段：觀察使用者能否讀懂差距與限制，記錄誤操作及名單問題。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預期減少重複整理；以任務結果與誤解紀錄驗收，不先宣稱有效。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197596" cy="1063625"/>
            <a:chOff x="592836" y="250825"/>
            <a:chExt cx="819759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1975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2026，補齊球員與名單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34</a:t>
            </a:fld>
          </a:p>
        </p:txBody>
      </p:sp>
      <p:grpSp>
        <p:nvGrpSpPr>
          <p:cNvPr id="12" name="years"/>
          <p:cNvGrpSpPr/>
          <p:nvPr/>
        </p:nvGrpSpPr>
        <p:grpSpPr>
          <a:xfrm>
            <a:off x="593217" y="1631950"/>
            <a:ext cx="7766685" cy="1267968"/>
            <a:chOff x="593217" y="1631950"/>
            <a:chExt cx="7766685" cy="1267968"/>
          </a:xfrm>
        </p:grpSpPr>
        <p:sp>
          <p:nvSpPr>
            <p:cNvPr id="7" name="TextBox 7"/>
            <p:cNvSpPr txBox="1"/>
            <p:nvPr/>
          </p:nvSpPr>
          <p:spPr>
            <a:xfrm>
              <a:off x="593217" y="1682750"/>
              <a:ext cx="209382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14750" y="19431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55295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315712" y="1631950"/>
              <a:ext cx="10607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2489200"/>
              <a:ext cx="77609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取得可用資料並確認授權後接入；2026 資料目前未納入本版。</a:t>
              </a:r>
            </a:p>
          </p:txBody>
        </p:sp>
      </p:grpSp>
      <p:grpSp>
        <p:nvGrpSpPr>
          <p:cNvPr id="20" name="future-data-0"/>
          <p:cNvGrpSpPr/>
          <p:nvPr/>
        </p:nvGrpSpPr>
        <p:grpSpPr>
          <a:xfrm>
            <a:off x="599694" y="3219450"/>
            <a:ext cx="2991612" cy="2185416"/>
            <a:chOff x="599694" y="3219450"/>
            <a:chExt cx="2991612" cy="2185416"/>
          </a:xfrm>
        </p:grpSpPr>
        <p:sp>
          <p:nvSpPr>
            <p:cNvPr id="13" name="Rectangle 13"/>
            <p:cNvSpPr/>
            <p:nvPr/>
          </p:nvSpPr>
          <p:spPr>
            <a:xfrm>
              <a:off x="657225" y="3219450"/>
              <a:ext cx="10477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19150" y="342900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66800" y="3476625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19150" y="37147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66800" y="3762375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32051" y="3381375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人員與名單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694" y="4305300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串接正式登錄與逐場名單，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補上逐場守位。</a:t>
              </a:r>
            </a:p>
          </p:txBody>
        </p:sp>
      </p:grpSp>
      <p:grpSp>
        <p:nvGrpSpPr>
          <p:cNvPr id="25" name="future-data-1"/>
          <p:cNvGrpSpPr/>
          <p:nvPr/>
        </p:nvGrpSpPr>
        <p:grpSpPr>
          <a:xfrm>
            <a:off x="4333494" y="3209925"/>
            <a:ext cx="3408756" cy="1835849"/>
            <a:chOff x="4333494" y="3209925"/>
            <a:chExt cx="3408756" cy="1835849"/>
          </a:xfrm>
        </p:grpSpPr>
        <p:sp>
          <p:nvSpPr>
            <p:cNvPr id="21" name="Line 21"/>
            <p:cNvSpPr/>
            <p:nvPr/>
          </p:nvSpPr>
          <p:spPr>
            <a:xfrm>
              <a:off x="4629150" y="3209925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762000"/>
                  </a:moveTo>
                  <a:lnTo>
                    <a:pt x="457200" y="0"/>
                  </a:lnTo>
                </a:path>
              </a:pathLst>
            </a:custGeom>
            <a:noFill/>
            <a:ln w="12382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543425" y="3952875"/>
              <a:ext cx="123825" cy="142875"/>
            </a:xfrm>
            <a:custGeom>
              <a:avLst/>
              <a:gdLst/>
              <a:ahLst/>
              <a:cxnLst/>
              <a:rect l="l" t="t" r="r" b="b"/>
              <a:pathLst>
                <a:path w="123825" h="142875">
                  <a:moveTo>
                    <a:pt x="0" y="142875"/>
                  </a:moveTo>
                  <a:lnTo>
                    <a:pt x="123825" y="0"/>
                  </a:lnTo>
                </a:path>
              </a:pathLst>
            </a:custGeom>
            <a:noFill/>
            <a:ln w="57150">
              <a:solidFill>
                <a:srgbClr val="18344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65851" y="338137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逐球與投球負荷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3494" y="4305300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逐球與出賽資料持續累積；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以球員編號串接跨年度紀錄。</a:t>
              </a:r>
            </a:p>
          </p:txBody>
        </p:sp>
      </p:grpSp>
      <p:grpSp>
        <p:nvGrpSpPr>
          <p:cNvPr id="33" name="future-data-2"/>
          <p:cNvGrpSpPr/>
          <p:nvPr/>
        </p:nvGrpSpPr>
        <p:grpSpPr>
          <a:xfrm>
            <a:off x="8067294" y="3226594"/>
            <a:ext cx="3239262" cy="1819180"/>
            <a:chOff x="8067294" y="3226594"/>
            <a:chExt cx="3239262" cy="1819180"/>
          </a:xfrm>
        </p:grpSpPr>
        <p:sp>
          <p:nvSpPr>
            <p:cNvPr id="26" name="Ellipse 26"/>
            <p:cNvSpPr/>
            <p:nvPr/>
          </p:nvSpPr>
          <p:spPr>
            <a:xfrm>
              <a:off x="8532019" y="3226594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610600" y="3383756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479631" y="3499009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484870" y="364569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610600" y="3645694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9651" y="3381375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新球員的估計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7294" y="4305300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609600" y="5467350"/>
            <a:ext cx="10972800" cy="1028700"/>
            <a:chOff x="609600" y="5467350"/>
            <a:chExt cx="10972800" cy="1028700"/>
          </a:xfrm>
        </p:grpSpPr>
        <p:sp>
          <p:nvSpPr>
            <p:cNvPr id="34" name="Rectangle 34"/>
            <p:cNvSpPr/>
            <p:nvPr/>
          </p:nvSpPr>
          <p:spPr>
            <a:xfrm>
              <a:off x="609600" y="546735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8294" y="5534025"/>
              <a:ext cx="69540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完成條件：人員、轉隊、日期可核對；缺漏名單保留人工確認。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第二項規劃：逐場更新，驗證近期資料權重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35</a:t>
            </a:fld>
          </a:p>
        </p:txBody>
      </p:sp>
      <p:grpSp>
        <p:nvGrpSpPr>
          <p:cNvPr id="26" name="weighted-games"/>
          <p:cNvGrpSpPr/>
          <p:nvPr/>
        </p:nvGrpSpPr>
        <p:grpSpPr>
          <a:xfrm>
            <a:off x="598551" y="1809750"/>
            <a:ext cx="10269474" cy="1805940"/>
            <a:chOff x="598551" y="1809750"/>
            <a:chExt cx="10269474" cy="180594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809750"/>
              <a:ext cx="647847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概念示意：較舊比賽逐步淡化，近期資訊持續加入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4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14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DCE0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02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BCC8C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41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910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91A5A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793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647F8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3D5B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5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4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620250" y="2781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44200" y="27146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775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較舊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2804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</p:grpSp>
      <p:grpSp>
        <p:nvGrpSpPr>
          <p:cNvPr id="29" name="update-0"/>
          <p:cNvGrpSpPr/>
          <p:nvPr/>
        </p:nvGrpSpPr>
        <p:grpSpPr>
          <a:xfrm>
            <a:off x="598551" y="3962400"/>
            <a:ext cx="2745105" cy="1226249"/>
            <a:chOff x="598551" y="3962400"/>
            <a:chExt cx="2745105" cy="1226249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624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每場後更新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6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補入逐球、出賽與負荷，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顯示資料更新日期。</a:t>
              </a:r>
            </a:p>
          </p:txBody>
        </p:sp>
      </p:grpSp>
      <p:grpSp>
        <p:nvGrpSpPr>
          <p:cNvPr id="32" name="update-1"/>
          <p:cNvGrpSpPr/>
          <p:nvPr/>
        </p:nvGrpSpPr>
        <p:grpSpPr>
          <a:xfrm>
            <a:off x="4332351" y="3962400"/>
            <a:ext cx="2745105" cy="1226249"/>
            <a:chOff x="4332351" y="3962400"/>
            <a:chExt cx="2745105" cy="1226249"/>
          </a:xfrm>
        </p:grpSpPr>
        <p:sp>
          <p:nvSpPr>
            <p:cNvPr id="30" name="TextBox 30"/>
            <p:cNvSpPr txBox="1"/>
            <p:nvPr/>
          </p:nvSpPr>
          <p:spPr>
            <a:xfrm>
              <a:off x="4332351" y="39624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樣本不足時保留基準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4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樣本少時降低近期影響。</a:t>
              </a:r>
            </a:p>
          </p:txBody>
        </p:sp>
      </p:grpSp>
      <p:grpSp>
        <p:nvGrpSpPr>
          <p:cNvPr id="35" name="update-2"/>
          <p:cNvGrpSpPr/>
          <p:nvPr/>
        </p:nvGrpSpPr>
        <p:grpSpPr>
          <a:xfrm>
            <a:off x="8066151" y="3962400"/>
            <a:ext cx="3240405" cy="1226249"/>
            <a:chOff x="8066151" y="3962400"/>
            <a:chExt cx="3240405" cy="1226249"/>
          </a:xfrm>
        </p:grpSpPr>
        <p:sp>
          <p:nvSpPr>
            <p:cNvPr id="33" name="TextBox 33"/>
            <p:cNvSpPr txBox="1"/>
            <p:nvPr/>
          </p:nvSpPr>
          <p:spPr>
            <a:xfrm>
              <a:off x="8066151" y="39624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按時間驗證才採用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294" y="44481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與固定權重比較預測誤差；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6" name="Rectangle 36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8294" y="5721350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不預設近期一定較準；權重與視窗由驗證決定，保留版本與回復方式。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第三項規劃：補齊名單、負荷與歷史回放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36</a:t>
            </a:fld>
          </a:p>
        </p:txBody>
      </p:sp>
      <p:grpSp>
        <p:nvGrpSpPr>
          <p:cNvPr id="18" name="practical-0"/>
          <p:cNvGrpSpPr/>
          <p:nvPr/>
        </p:nvGrpSpPr>
        <p:grpSpPr>
          <a:xfrm>
            <a:off x="685800" y="1793875"/>
            <a:ext cx="10228402" cy="1223074"/>
            <a:chOff x="685800" y="1793875"/>
            <a:chExt cx="10228402" cy="1223074"/>
          </a:xfrm>
        </p:grpSpPr>
        <p:sp>
          <p:nvSpPr>
            <p:cNvPr id="7" name="Rectangle 7"/>
            <p:cNvSpPr/>
            <p:nvPr/>
          </p:nvSpPr>
          <p:spPr>
            <a:xfrm>
              <a:off x="685800" y="1819275"/>
              <a:ext cx="1047750" cy="11430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47725" y="20288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95375" y="207645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47725" y="231457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" y="236220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47725" y="2600325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95375" y="2647950"/>
              <a:ext cx="466725" cy="9525"/>
            </a:xfrm>
            <a:custGeom>
              <a:avLst/>
              <a:gdLst/>
              <a:ahLst/>
              <a:cxnLst/>
              <a:rect l="l" t="t" r="r" b="b"/>
              <a:pathLst>
                <a:path w="466725" h="9525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97608" y="179387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99894" y="2276475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保存可用、已上場與已退場名單，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避免重複勾選已退場者。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8125" y="18669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58125" y="23431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狀態可修正，重整可恢復。</a:t>
              </a:r>
            </a:p>
          </p:txBody>
        </p:sp>
      </p:grpSp>
      <p:grpSp>
        <p:nvGrpSpPr>
          <p:cNvPr id="26" name="practical-1"/>
          <p:cNvGrpSpPr/>
          <p:nvPr/>
        </p:nvGrpSpPr>
        <p:grpSpPr>
          <a:xfrm>
            <a:off x="685800" y="3232150"/>
            <a:ext cx="10481488" cy="1223074"/>
            <a:chOff x="685800" y="3232150"/>
            <a:chExt cx="10481488" cy="1223074"/>
          </a:xfrm>
        </p:grpSpPr>
        <p:sp>
          <p:nvSpPr>
            <p:cNvPr id="19" name="Rectangle 19"/>
            <p:cNvSpPr/>
            <p:nvPr/>
          </p:nvSpPr>
          <p:spPr>
            <a:xfrm>
              <a:off x="685800" y="3505200"/>
              <a:ext cx="247650" cy="762000"/>
            </a:xfrm>
            <a:prstGeom prst="roundRect">
              <a:avLst>
                <a:gd name="adj" fmla="val 769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66800" y="3743325"/>
              <a:ext cx="247650" cy="523875"/>
            </a:xfrm>
            <a:prstGeom prst="roundRect">
              <a:avLst>
                <a:gd name="adj" fmla="val 769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47800" y="3314700"/>
              <a:ext cx="247650" cy="952500"/>
            </a:xfrm>
            <a:prstGeom prst="roundRect">
              <a:avLst>
                <a:gd name="adj" fmla="val 769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97608" y="32321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換投候選負荷對照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9894" y="37147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直接看依據，暫不改評分公式。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58125" y="330517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58125" y="378142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數值可追溯，缺資料有提醒。</a:t>
              </a:r>
            </a:p>
          </p:txBody>
        </p:sp>
      </p:grpSp>
      <p:grpSp>
        <p:nvGrpSpPr>
          <p:cNvPr id="34" name="practical-2"/>
          <p:cNvGrpSpPr/>
          <p:nvPr/>
        </p:nvGrpSpPr>
        <p:grpSpPr>
          <a:xfrm>
            <a:off x="857250" y="4670425"/>
            <a:ext cx="10056952" cy="1223074"/>
            <a:chOff x="857250" y="4670425"/>
            <a:chExt cx="10056952" cy="1223074"/>
          </a:xfrm>
        </p:grpSpPr>
        <p:sp>
          <p:nvSpPr>
            <p:cNvPr id="27" name="Ellipse 27"/>
            <p:cNvSpPr/>
            <p:nvPr/>
          </p:nvSpPr>
          <p:spPr>
            <a:xfrm>
              <a:off x="857250" y="4867275"/>
              <a:ext cx="723900" cy="7239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19200" y="50006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219200" y="5229225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0"/>
                  </a:moveTo>
                  <a:lnTo>
                    <a:pt x="190500" y="1143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97608" y="46704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99894" y="51530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取得逐場紀錄後減少推估，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只讀取決策前可得資料。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8125" y="47434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8125" y="52197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後續出賽不改變當時資料。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37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41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8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以重抽樣描述比較的不確定性，不視為候選勝出機率。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3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303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  <a:b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61" cy="1134618"/>
            <a:chOff x="592836" y="3822668"/>
            <a:chExt cx="1781461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38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38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