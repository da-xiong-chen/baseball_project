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16x9"/>
  <p:notesSz cx="6858000" cy="9144000"/>
  <p:defaultTextStyle>
    <a:defPPr>
      <a:defRPr lang="zh-TW"/>
    </a:defPPr>
    <a:lvl1pPr marL="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seball_competition_polished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seball_competition_polished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TW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TW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21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TW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e281946dee02391a.png"/><Relationship Id="rId3" Type="http://schemas.openxmlformats.org/officeDocument/2006/relationships/hyperlink" Target="https://da-xiong-chen.github.io/baseball_project/" TargetMode="External"/><Relationship Id="rId4" Type="http://schemas.openxmlformats.org/officeDocument/2006/relationships/hyperlink" Target="https://github.com/Da-Xiong-Chen/baseball_projec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01c33347c23998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01c33347c23998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ebas-tw/rebas.tw-open-data" TargetMode="External"/><Relationship Id="rId3" Type="http://schemas.openxmlformats.org/officeDocument/2006/relationships/hyperlink" Target="https://github.com/ldkrsi/cpbl-opendata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01c33347c23998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ae6de2bd5180305.jp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1cd136df4f4abfb0.jpg"/><Relationship Id="rId3" Type="http://schemas.openxmlformats.org/officeDocument/2006/relationships/image" Target="../media/image_2a0683c262ba5e3f.jpg"/><Relationship Id="rId4" Type="http://schemas.openxmlformats.org/officeDocument/2006/relationships/image" Target="../media/image_ccaac0f82facf0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fde741cb0cf6af4b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9aa79764314f600d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8e462619b9e79f8e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e915bc76cc43f753.jpg"/><Relationship Id="rId3" Type="http://schemas.openxmlformats.org/officeDocument/2006/relationships/image" Target="../media/image_31962202b34f4cda.jpg"/><Relationship Id="rId4" Type="http://schemas.openxmlformats.org/officeDocument/2006/relationships/image" Target="../media/image_58598c2162cbc34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ea2b3a54fef83679.jpg"/><Relationship Id="rId3" Type="http://schemas.openxmlformats.org/officeDocument/2006/relationships/image" Target="../media/image_f686771611030518.jpg"/><Relationship Id="rId4" Type="http://schemas.openxmlformats.org/officeDocument/2006/relationships/image" Target="../media/image_f781bcb7ad584fa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44de3d25c6c01d2f.png"/><Relationship Id="rId3" Type="http://schemas.openxmlformats.org/officeDocument/2006/relationships/hyperlink" Target="https://da-xiong-chen.github.io/baseball_project/" TargetMode="External"/><Relationship Id="rId4" Type="http://schemas.openxmlformats.org/officeDocument/2006/relationships/hyperlink" Target="https://github.com/Da-Xiong-Chen/baseball_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am"/>
          <p:cNvGrpSpPr/>
          <p:nvPr/>
        </p:nvGrpSpPr>
        <p:grpSpPr>
          <a:xfrm>
            <a:off x="592836" y="488950"/>
            <a:ext cx="3468053" cy="1021207"/>
            <a:chOff x="592836" y="488950"/>
            <a:chExt cx="3468053" cy="1021207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88950"/>
              <a:ext cx="9220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隊名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187450"/>
              <a:ext cx="34596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2026 野革盃　台灣棒球數據黑客松</a:t>
              </a:r>
            </a:p>
          </p:txBody>
        </p:sp>
      </p:grpSp>
      <p:grpSp>
        <p:nvGrpSpPr>
          <p:cNvPr id="7" name="hero"/>
          <p:cNvGrpSpPr/>
          <p:nvPr/>
        </p:nvGrpSpPr>
        <p:grpSpPr>
          <a:xfrm>
            <a:off x="590550" y="1930400"/>
            <a:ext cx="5561838" cy="1542542"/>
            <a:chOff x="590550" y="1930400"/>
            <a:chExt cx="5561838" cy="1542542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930400"/>
              <a:ext cx="464210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臨場用人決策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5508" y="300355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以公開中職資料，比較代打與換投人選</a:t>
              </a:r>
            </a:p>
          </p:txBody>
        </p:sp>
      </p:grpSp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12" name="promise"/>
          <p:cNvGrpSpPr/>
          <p:nvPr/>
        </p:nvGrpSpPr>
        <p:grpSpPr>
          <a:xfrm>
            <a:off x="592836" y="3860800"/>
            <a:ext cx="5364480" cy="1191768"/>
            <a:chOff x="592836" y="3860800"/>
            <a:chExt cx="5364480" cy="1191768"/>
          </a:xfrm>
        </p:grpSpPr>
        <p:sp>
          <p:nvSpPr>
            <p:cNvPr id="10" name="TextBox 10"/>
            <p:cNvSpPr txBox="1"/>
            <p:nvPr/>
          </p:nvSpPr>
          <p:spPr>
            <a:xfrm>
              <a:off x="592836" y="3860800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差多少？誰接守？憑什麼？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464185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參賽者　蘇櫟、陳信安</a:t>
              </a:r>
            </a:p>
          </p:txBody>
        </p:sp>
      </p:grpSp>
      <p:grpSp>
        <p:nvGrpSpPr>
          <p:cNvPr id="15" name="links"/>
          <p:cNvGrpSpPr/>
          <p:nvPr/>
        </p:nvGrpSpPr>
        <p:grpSpPr>
          <a:xfrm>
            <a:off x="597408" y="5422900"/>
            <a:ext cx="5732953" cy="469392"/>
            <a:chOff x="597408" y="5422900"/>
            <a:chExt cx="5732953" cy="469392"/>
          </a:xfrm>
        </p:grpSpPr>
        <p:sp>
          <p:nvSpPr>
            <p:cNvPr id="13" name="TextBox 13">
              <a:hlinkClick r:id="rId3"/>
            </p:cNvPr>
            <p:cNvSpPr txBox="1"/>
            <p:nvPr/>
          </p:nvSpPr>
          <p:spPr>
            <a:xfrm>
              <a:off x="597408" y="5422900"/>
              <a:ext cx="22456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開啟網站 Demo</a:t>
              </a:r>
            </a:p>
          </p:txBody>
        </p:sp>
        <p:sp>
          <p:nvSpPr>
            <p:cNvPr id="14" name="TextBox 14">
              <a:hlinkClick r:id="rId4"/>
            </p:cNvPr>
            <p:cNvSpPr txBox="1"/>
            <p:nvPr/>
          </p:nvSpPr>
          <p:spPr>
            <a:xfrm>
              <a:off x="4178808" y="5422900"/>
              <a:ext cx="21515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GitHub 原始碼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921955" cy="264033"/>
            <a:chOff x="602742" y="177800"/>
            <a:chExt cx="1921955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921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2026 野革盃　簡報目錄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4475988" cy="645414"/>
            <a:chOff x="592836" y="546100"/>
            <a:chExt cx="447598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從臨場難題到網站實作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0" name="part-one"/>
          <p:cNvGrpSpPr/>
          <p:nvPr/>
        </p:nvGrpSpPr>
        <p:grpSpPr>
          <a:xfrm>
            <a:off x="590550" y="1682750"/>
            <a:ext cx="5854446" cy="1121918"/>
            <a:chOff x="590550" y="1682750"/>
            <a:chExt cx="5854446" cy="1121918"/>
          </a:xfrm>
        </p:grpSpPr>
        <p:sp>
          <p:nvSpPr>
            <p:cNvPr id="7" name="TextBox 7">
              <a:hlinkClick r:id="rId2" action="ppaction://hlinksldjump"/>
            </p:cNvPr>
            <p:cNvSpPr txBox="1"/>
            <p:nvPr/>
          </p:nvSpPr>
          <p:spPr>
            <a:xfrm>
              <a:off x="590550" y="1682750"/>
              <a:ext cx="882167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>
              <a:hlinkClick r:id="rId2" action="ppaction://hlinksldjump"/>
            </p:cNvPr>
            <p:cNvSpPr txBox="1"/>
            <p:nvPr/>
          </p:nvSpPr>
          <p:spPr>
            <a:xfrm>
              <a:off x="2464308" y="19177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問題與需求</a:t>
              </a:r>
            </a:p>
          </p:txBody>
        </p:sp>
        <p:sp>
          <p:nvSpPr>
            <p:cNvPr id="9" name="TextBox 9">
              <a:hlinkClick r:id="rId2" action="ppaction://hlinksldjump"/>
            </p:cNvPr>
            <p:cNvSpPr txBox="1"/>
            <p:nvPr/>
          </p:nvSpPr>
          <p:spPr>
            <a:xfrm>
              <a:off x="2465832" y="23939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換人之前，需要比較哪些條件？</a:t>
              </a:r>
            </a:p>
          </p:txBody>
        </p:sp>
      </p:grpSp>
      <p:grpSp>
        <p:nvGrpSpPr>
          <p:cNvPr id="14" name="part-two"/>
          <p:cNvGrpSpPr/>
          <p:nvPr/>
        </p:nvGrpSpPr>
        <p:grpSpPr>
          <a:xfrm>
            <a:off x="590550" y="3130550"/>
            <a:ext cx="5854446" cy="1121918"/>
            <a:chOff x="590550" y="3130550"/>
            <a:chExt cx="5854446" cy="1121918"/>
          </a:xfrm>
        </p:grpSpPr>
        <p:sp>
          <p:nvSpPr>
            <p:cNvPr id="11" name="TextBox 11">
              <a:hlinkClick r:id="rId3" action="ppaction://hlinksldjump"/>
            </p:cNvPr>
            <p:cNvSpPr txBox="1"/>
            <p:nvPr/>
          </p:nvSpPr>
          <p:spPr>
            <a:xfrm>
              <a:off x="590550" y="3130550"/>
              <a:ext cx="882167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>
              <a:hlinkClick r:id="rId3" action="ppaction://hlinksldjump"/>
            </p:cNvPr>
            <p:cNvSpPr txBox="1"/>
            <p:nvPr/>
          </p:nvSpPr>
          <p:spPr>
            <a:xfrm>
              <a:off x="2464308" y="33655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資料與解法</a:t>
              </a:r>
            </a:p>
          </p:txBody>
        </p:sp>
        <p:sp>
          <p:nvSpPr>
            <p:cNvPr id="13" name="TextBox 13">
              <a:hlinkClick r:id="rId3" action="ppaction://hlinksldjump"/>
            </p:cNvPr>
            <p:cNvSpPr txBox="1"/>
            <p:nvPr/>
          </p:nvSpPr>
          <p:spPr>
            <a:xfrm>
              <a:off x="2465832" y="38417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如何用公開資料估計人選差距？</a:t>
              </a:r>
            </a:p>
          </p:txBody>
        </p:sp>
      </p:grpSp>
      <p:grpSp>
        <p:nvGrpSpPr>
          <p:cNvPr id="18" name="part-three"/>
          <p:cNvGrpSpPr/>
          <p:nvPr/>
        </p:nvGrpSpPr>
        <p:grpSpPr>
          <a:xfrm>
            <a:off x="590550" y="4578350"/>
            <a:ext cx="7374636" cy="1121918"/>
            <a:chOff x="590550" y="4578350"/>
            <a:chExt cx="7374636" cy="1121918"/>
          </a:xfrm>
        </p:grpSpPr>
        <p:sp>
          <p:nvSpPr>
            <p:cNvPr id="15" name="TextBox 15">
              <a:hlinkClick r:id="rId4" action="ppaction://hlinksldjump"/>
            </p:cNvPr>
            <p:cNvSpPr txBox="1"/>
            <p:nvPr/>
          </p:nvSpPr>
          <p:spPr>
            <a:xfrm>
              <a:off x="590550" y="4578350"/>
              <a:ext cx="882167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>
              <a:hlinkClick r:id="rId4" action="ppaction://hlinksldjump"/>
            </p:cNvPr>
            <p:cNvSpPr txBox="1"/>
            <p:nvPr/>
          </p:nvSpPr>
          <p:spPr>
            <a:xfrm>
              <a:off x="2464308" y="481330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網站成果與決策體驗</a:t>
              </a:r>
            </a:p>
          </p:txBody>
        </p:sp>
        <p:sp>
          <p:nvSpPr>
            <p:cNvPr id="17" name="TextBox 17">
              <a:hlinkClick r:id="rId4" action="ppaction://hlinksldjump"/>
            </p:cNvPr>
            <p:cNvSpPr txBox="1"/>
            <p:nvPr/>
          </p:nvSpPr>
          <p:spPr>
            <a:xfrm>
              <a:off x="2465832" y="5289550"/>
              <a:ext cx="54993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操作實錄　／　案例判讀　／　UI／UX 設計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number"/>
          <p:cNvGrpSpPr/>
          <p:nvPr/>
        </p:nvGrpSpPr>
        <p:grpSpPr>
          <a:xfrm>
            <a:off x="590550" y="1714500"/>
            <a:ext cx="1520638" cy="1905000"/>
            <a:chOff x="590550" y="1714500"/>
            <a:chExt cx="1520638" cy="190500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714500"/>
              <a:ext cx="1520638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6" name="chapter-heading"/>
          <p:cNvGrpSpPr/>
          <p:nvPr/>
        </p:nvGrpSpPr>
        <p:grpSpPr>
          <a:xfrm>
            <a:off x="3336036" y="1739900"/>
            <a:ext cx="6252972" cy="1204214"/>
            <a:chOff x="3336036" y="1739900"/>
            <a:chExt cx="6252972" cy="1204214"/>
          </a:xfrm>
        </p:grpSpPr>
        <p:sp>
          <p:nvSpPr>
            <p:cNvPr id="4" name="TextBox 4"/>
            <p:cNvSpPr txBox="1"/>
            <p:nvPr/>
          </p:nvSpPr>
          <p:spPr>
            <a:xfrm>
              <a:off x="3344418" y="17399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問題與需求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36036" y="22987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關鍵打席，換人要看哪些條件？</a:t>
              </a:r>
            </a:p>
          </p:txBody>
        </p:sp>
      </p:grpSp>
      <p:grpSp>
        <p:nvGrpSpPr>
          <p:cNvPr id="9" name="chapter-summary"/>
          <p:cNvGrpSpPr/>
          <p:nvPr/>
        </p:nvGrpSpPr>
        <p:grpSpPr>
          <a:xfrm>
            <a:off x="3340608" y="3784600"/>
            <a:ext cx="4547616" cy="1211707"/>
            <a:chOff x="3340608" y="3784600"/>
            <a:chExt cx="4547616" cy="1211707"/>
          </a:xfrm>
        </p:grpSpPr>
        <p:sp>
          <p:nvSpPr>
            <p:cNvPr id="7" name="TextBox 7"/>
            <p:cNvSpPr txBox="1"/>
            <p:nvPr/>
          </p:nvSpPr>
          <p:spPr>
            <a:xfrm>
              <a:off x="3340608" y="378460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優勢、守備與板凳資源一起看。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44418" y="46736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從一個關鍵打席，理解換人需求</a:t>
              </a:r>
            </a:p>
          </p:txBody>
        </p:sp>
      </p:grpSp>
      <p:grpSp>
        <p:nvGrpSpPr>
          <p:cNvPr id="11" name="baseball"/>
          <p:cNvGrpSpPr/>
          <p:nvPr/>
        </p:nvGrpSpPr>
        <p:grpSpPr>
          <a:xfrm>
            <a:off x="9048750" y="4000500"/>
            <a:ext cx="2190750" cy="2190750"/>
            <a:chOff x="9048750" y="4000500"/>
            <a:chExt cx="2190750" cy="219075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8750" y="4000500"/>
              <a:ext cx="2190750" cy="2190750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　問題與需求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5808726" cy="645414"/>
            <a:chOff x="592836" y="546100"/>
            <a:chExt cx="5808726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八局平手，現在該換代打嗎？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9" name="scenario"/>
          <p:cNvGrpSpPr/>
          <p:nvPr/>
        </p:nvGrpSpPr>
        <p:grpSpPr>
          <a:xfrm>
            <a:off x="590550" y="1587500"/>
            <a:ext cx="4837774" cy="1350518"/>
            <a:chOff x="590550" y="1587500"/>
            <a:chExt cx="4837774" cy="1350518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1587500"/>
              <a:ext cx="483777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局上　0 : 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7032" y="252730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兩出局　二三壘有人　樂天進攻</a:t>
              </a:r>
            </a:p>
          </p:txBody>
        </p:sp>
      </p:grpSp>
      <p:grpSp>
        <p:nvGrpSpPr>
          <p:cNvPr id="11" name="scenario-label"/>
          <p:cNvGrpSpPr/>
          <p:nvPr/>
        </p:nvGrpSpPr>
        <p:grpSpPr>
          <a:xfrm>
            <a:off x="10241280" y="2063750"/>
            <a:ext cx="1349502" cy="322707"/>
            <a:chOff x="10241280" y="2063750"/>
            <a:chExt cx="1349502" cy="322707"/>
          </a:xfrm>
        </p:grpSpPr>
        <p:sp>
          <p:nvSpPr>
            <p:cNvPr id="10" name="TextBox 10"/>
            <p:cNvSpPr txBox="1"/>
            <p:nvPr/>
          </p:nvSpPr>
          <p:spPr>
            <a:xfrm>
              <a:off x="10241280" y="20637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自訂示範情境</a:t>
              </a:r>
            </a:p>
          </p:txBody>
        </p:sp>
      </p:grpSp>
      <p:grpSp>
        <p:nvGrpSpPr>
          <p:cNvPr id="14" name="keep"/>
          <p:cNvGrpSpPr/>
          <p:nvPr/>
        </p:nvGrpSpPr>
        <p:grpSpPr>
          <a:xfrm>
            <a:off x="597408" y="3556000"/>
            <a:ext cx="3132582" cy="1001268"/>
            <a:chOff x="597408" y="3556000"/>
            <a:chExt cx="3132582" cy="1001268"/>
          </a:xfrm>
        </p:grpSpPr>
        <p:sp>
          <p:nvSpPr>
            <p:cNvPr id="12" name="TextBox 12"/>
            <p:cNvSpPr txBox="1"/>
            <p:nvPr/>
          </p:nvSpPr>
          <p:spPr>
            <a:xfrm>
              <a:off x="597408" y="35560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讓林智平續打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8932" y="4146550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面對鋼龍，保留板凳資源</a:t>
              </a:r>
            </a:p>
          </p:txBody>
        </p:sp>
      </p:grpSp>
      <p:grpSp>
        <p:nvGrpSpPr>
          <p:cNvPr id="17" name="replace"/>
          <p:cNvGrpSpPr/>
          <p:nvPr/>
        </p:nvGrpSpPr>
        <p:grpSpPr>
          <a:xfrm>
            <a:off x="6388608" y="3556000"/>
            <a:ext cx="3697986" cy="1001268"/>
            <a:chOff x="6388608" y="3556000"/>
            <a:chExt cx="3697986" cy="1001268"/>
          </a:xfrm>
        </p:grpSpPr>
        <p:sp>
          <p:nvSpPr>
            <p:cNvPr id="15" name="TextBox 15"/>
            <p:cNvSpPr txBox="1"/>
            <p:nvPr/>
          </p:nvSpPr>
          <p:spPr>
            <a:xfrm>
              <a:off x="6388608" y="35560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派代打上場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0132" y="4146550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優勢有多大？三壘由誰接守？</a:t>
              </a:r>
            </a:p>
          </p:txBody>
        </p:sp>
      </p:grpSp>
      <p:grpSp>
        <p:nvGrpSpPr>
          <p:cNvPr id="19" name="takeaway"/>
          <p:cNvGrpSpPr/>
          <p:nvPr/>
        </p:nvGrpSpPr>
        <p:grpSpPr>
          <a:xfrm>
            <a:off x="597408" y="5518150"/>
            <a:ext cx="6809232" cy="469392"/>
            <a:chOff x="597408" y="5518150"/>
            <a:chExt cx="6809232" cy="469392"/>
          </a:xfrm>
        </p:grpSpPr>
        <p:sp>
          <p:nvSpPr>
            <p:cNvPr id="18" name="TextBox 18"/>
            <p:cNvSpPr txBox="1"/>
            <p:nvPr/>
          </p:nvSpPr>
          <p:spPr>
            <a:xfrm>
              <a:off x="597408" y="551815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代打優勢，必須連同局勢與接守安排一起評估。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　問題與需求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4475988" cy="645414"/>
            <a:chOff x="592836" y="546100"/>
            <a:chExt cx="447598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讓換人討論有共同依據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1" name="audience"/>
          <p:cNvGrpSpPr/>
          <p:nvPr/>
        </p:nvGrpSpPr>
        <p:grpSpPr>
          <a:xfrm>
            <a:off x="592836" y="1854200"/>
            <a:ext cx="2912745" cy="3599307"/>
            <a:chOff x="592836" y="1854200"/>
            <a:chExt cx="2912745" cy="3599307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18542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主要使用者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2836" y="2286000"/>
              <a:ext cx="2548128" cy="11978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球隊分析人員</a:t>
              </a:r>
              <a:b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與教練團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932" y="3695700"/>
              <a:ext cx="24216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使用情境：備戰模擬</a:t>
              </a:r>
              <a:b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賽後檢討與調度討論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513080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延伸：進階球迷與棒球解說者</a:t>
              </a:r>
            </a:p>
          </p:txBody>
        </p:sp>
      </p:grpSp>
      <p:grpSp>
        <p:nvGrpSpPr>
          <p:cNvPr id="18" name="questions"/>
          <p:cNvGrpSpPr/>
          <p:nvPr/>
        </p:nvGrpSpPr>
        <p:grpSpPr>
          <a:xfrm>
            <a:off x="6079236" y="1765300"/>
            <a:ext cx="3356991" cy="4031107"/>
            <a:chOff x="6079236" y="1765300"/>
            <a:chExt cx="3356991" cy="4031107"/>
          </a:xfrm>
        </p:grpSpPr>
        <p:sp>
          <p:nvSpPr>
            <p:cNvPr id="12" name="TextBox 12"/>
            <p:cNvSpPr txBox="1"/>
            <p:nvPr/>
          </p:nvSpPr>
          <p:spPr>
            <a:xfrm>
              <a:off x="6079236" y="1765300"/>
              <a:ext cx="136626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差多少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87618" y="246380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固定局勢，比較候選與現任的差距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79236" y="3270250"/>
              <a:ext cx="136626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誰接守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87618" y="396875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確認守位安排與額外人力需求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79236" y="4775200"/>
              <a:ext cx="136626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憑什麼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7618" y="547370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檢查樣本量、模型分歧與可用名單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number"/>
          <p:cNvGrpSpPr/>
          <p:nvPr/>
        </p:nvGrpSpPr>
        <p:grpSpPr>
          <a:xfrm>
            <a:off x="590550" y="1714500"/>
            <a:ext cx="1520638" cy="1905000"/>
            <a:chOff x="590550" y="1714500"/>
            <a:chExt cx="1520638" cy="190500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714500"/>
              <a:ext cx="1520638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6" name="chapter-heading"/>
          <p:cNvGrpSpPr/>
          <p:nvPr/>
        </p:nvGrpSpPr>
        <p:grpSpPr>
          <a:xfrm>
            <a:off x="3336036" y="1739900"/>
            <a:ext cx="5808726" cy="1204214"/>
            <a:chOff x="3336036" y="1739900"/>
            <a:chExt cx="5808726" cy="1204214"/>
          </a:xfrm>
        </p:grpSpPr>
        <p:sp>
          <p:nvSpPr>
            <p:cNvPr id="4" name="TextBox 4"/>
            <p:cNvSpPr txBox="1"/>
            <p:nvPr/>
          </p:nvSpPr>
          <p:spPr>
            <a:xfrm>
              <a:off x="3344418" y="17399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資料與解法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36036" y="22987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把公開資料轉為人選比較依據</a:t>
              </a:r>
            </a:p>
          </p:txBody>
        </p:sp>
      </p:grpSp>
      <p:grpSp>
        <p:nvGrpSpPr>
          <p:cNvPr id="9" name="chapter-summary"/>
          <p:cNvGrpSpPr/>
          <p:nvPr/>
        </p:nvGrpSpPr>
        <p:grpSpPr>
          <a:xfrm>
            <a:off x="3340608" y="3784600"/>
            <a:ext cx="4547616" cy="1211707"/>
            <a:chOff x="3340608" y="3784600"/>
            <a:chExt cx="4547616" cy="1211707"/>
          </a:xfrm>
        </p:grpSpPr>
        <p:sp>
          <p:nvSpPr>
            <p:cNvPr id="7" name="TextBox 7"/>
            <p:cNvSpPr txBox="1"/>
            <p:nvPr/>
          </p:nvSpPr>
          <p:spPr>
            <a:xfrm>
              <a:off x="3340608" y="378460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固定投手與局勢，比較換人差距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44418" y="4673600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資料來源　／　估計方法　／　分數解讀</a:t>
              </a:r>
            </a:p>
          </p:txBody>
        </p:sp>
      </p:grpSp>
      <p:grpSp>
        <p:nvGrpSpPr>
          <p:cNvPr id="11" name="baseball"/>
          <p:cNvGrpSpPr/>
          <p:nvPr/>
        </p:nvGrpSpPr>
        <p:grpSpPr>
          <a:xfrm>
            <a:off x="9048750" y="4000500"/>
            <a:ext cx="2190750" cy="2190750"/>
            <a:chOff x="9048750" y="4000500"/>
            <a:chExt cx="2190750" cy="219075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8750" y="4000500"/>
              <a:ext cx="2190750" cy="2190750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資料與解法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252972" cy="645414"/>
            <a:chOff x="592836" y="546100"/>
            <a:chExt cx="6252972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公開資料，如何變成人選比較？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sources"/>
          <p:cNvGrpSpPr/>
          <p:nvPr/>
        </p:nvGrpSpPr>
        <p:grpSpPr>
          <a:xfrm>
            <a:off x="598932" y="1489075"/>
            <a:ext cx="4972155" cy="410718"/>
            <a:chOff x="598932" y="1489075"/>
            <a:chExt cx="4972155" cy="410718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1489075"/>
              <a:ext cx="49721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資料：2024–2025 中職逐球與守位紀錄</a:t>
              </a:r>
            </a:p>
          </p:txBody>
        </p:sp>
      </p:grpSp>
      <p:grpSp>
        <p:nvGrpSpPr>
          <p:cNvPr id="12" name="estimate-one"/>
          <p:cNvGrpSpPr/>
          <p:nvPr/>
        </p:nvGrpSpPr>
        <p:grpSpPr>
          <a:xfrm>
            <a:off x="597408" y="2393950"/>
            <a:ext cx="3756660" cy="1664843"/>
            <a:chOff x="597408" y="2393950"/>
            <a:chExt cx="3756660" cy="1664843"/>
          </a:xfrm>
        </p:grpSpPr>
        <p:sp>
          <p:nvSpPr>
            <p:cNvPr id="9" name="TextBox 9"/>
            <p:cNvSpPr txBox="1"/>
            <p:nvPr/>
          </p:nvSpPr>
          <p:spPr>
            <a:xfrm>
              <a:off x="597408" y="2393950"/>
              <a:ext cx="26591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估計投打能力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29019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階層式部分池化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3248025"/>
              <a:ext cx="37551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綜合能力、左右投打與球路適性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小樣本向整體基準收縮</a:t>
              </a:r>
            </a:p>
          </p:txBody>
        </p:sp>
      </p:grpSp>
      <p:grpSp>
        <p:nvGrpSpPr>
          <p:cNvPr id="16" name="estimate-two"/>
          <p:cNvGrpSpPr/>
          <p:nvPr/>
        </p:nvGrpSpPr>
        <p:grpSpPr>
          <a:xfrm>
            <a:off x="6388608" y="2393950"/>
            <a:ext cx="4023360" cy="1664843"/>
            <a:chOff x="6388608" y="2393950"/>
            <a:chExt cx="4023360" cy="1664843"/>
          </a:xfrm>
        </p:grpSpPr>
        <p:sp>
          <p:nvSpPr>
            <p:cNvPr id="13" name="TextBox 13"/>
            <p:cNvSpPr txBox="1"/>
            <p:nvPr/>
          </p:nvSpPr>
          <p:spPr>
            <a:xfrm>
              <a:off x="6388608" y="2393950"/>
              <a:ext cx="26591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模擬候選打者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2418" y="29019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梯度提升樹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90132" y="3248025"/>
              <a:ext cx="40218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沿用投手歷史投球，替換候選打者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預測逐球結果，換算預期得分</a:t>
              </a:r>
            </a:p>
          </p:txBody>
        </p:sp>
      </p:grpSp>
      <p:grpSp>
        <p:nvGrpSpPr>
          <p:cNvPr id="19" name="output"/>
          <p:cNvGrpSpPr/>
          <p:nvPr/>
        </p:nvGrpSpPr>
        <p:grpSpPr>
          <a:xfrm>
            <a:off x="597408" y="4527550"/>
            <a:ext cx="5260833" cy="792607"/>
            <a:chOff x="597408" y="4527550"/>
            <a:chExt cx="5260833" cy="792607"/>
          </a:xfrm>
        </p:grpSpPr>
        <p:sp>
          <p:nvSpPr>
            <p:cNvPr id="17" name="TextBox 17"/>
            <p:cNvSpPr txBox="1"/>
            <p:nvPr/>
          </p:nvSpPr>
          <p:spPr>
            <a:xfrm>
              <a:off x="597408" y="4527550"/>
              <a:ext cx="526083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整合得分估計 → 依局勢換算勝率差距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1218" y="4997450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逐球模型不可用時，改用階層式估計。</a:t>
              </a:r>
            </a:p>
          </p:txBody>
        </p:sp>
      </p:grpSp>
      <p:grpSp>
        <p:nvGrpSpPr>
          <p:cNvPr id="22" name="credits"/>
          <p:cNvGrpSpPr/>
          <p:nvPr/>
        </p:nvGrpSpPr>
        <p:grpSpPr>
          <a:xfrm>
            <a:off x="602742" y="1949450"/>
            <a:ext cx="5594261" cy="264033"/>
            <a:chOff x="602742" y="1949450"/>
            <a:chExt cx="5594261" cy="264033"/>
          </a:xfrm>
        </p:grpSpPr>
        <p:sp>
          <p:nvSpPr>
            <p:cNvPr id="20" name="TextBox 20">
              <a:hlinkClick r:id="rId2"/>
            </p:cNvPr>
            <p:cNvSpPr txBox="1"/>
            <p:nvPr/>
          </p:nvSpPr>
          <p:spPr>
            <a:xfrm>
              <a:off x="602742" y="1949450"/>
              <a:ext cx="2505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Rebas Open Data（ODC-By）</a:t>
              </a:r>
            </a:p>
          </p:txBody>
        </p:sp>
        <p:sp>
          <p:nvSpPr>
            <p:cNvPr id="21" name="TextBox 21">
              <a:hlinkClick r:id="rId3"/>
            </p:cNvPr>
            <p:cNvSpPr txBox="1"/>
            <p:nvPr/>
          </p:nvSpPr>
          <p:spPr>
            <a:xfrm>
              <a:off x="4222242" y="1949450"/>
              <a:ext cx="19747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ldkrsi 守位紀錄（MIT）</a:t>
              </a:r>
            </a:p>
          </p:txBody>
        </p:sp>
      </p:grpSp>
      <p:grpSp>
        <p:nvGrpSpPr>
          <p:cNvPr id="24" name="model-settings"/>
          <p:cNvGrpSpPr/>
          <p:nvPr/>
        </p:nvGrpSpPr>
        <p:grpSpPr>
          <a:xfrm>
            <a:off x="601218" y="5816600"/>
            <a:ext cx="3570732" cy="322707"/>
            <a:chOff x="601218" y="5816600"/>
            <a:chExt cx="3570732" cy="322707"/>
          </a:xfrm>
        </p:grpSpPr>
        <p:sp>
          <p:nvSpPr>
            <p:cNvPr id="23" name="TextBox 23"/>
            <p:cNvSpPr txBox="1"/>
            <p:nvPr/>
          </p:nvSpPr>
          <p:spPr>
            <a:xfrm>
              <a:off x="601218" y="5816600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八格分群與模型權重由本專案設定。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資料與解法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排名、差距與不確定性，要分開看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2" name="rank"/>
          <p:cNvGrpSpPr/>
          <p:nvPr/>
        </p:nvGrpSpPr>
        <p:grpSpPr>
          <a:xfrm>
            <a:off x="590550" y="1758950"/>
            <a:ext cx="2753106" cy="3086481"/>
            <a:chOff x="590550" y="1758950"/>
            <a:chExt cx="2753106" cy="3086481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17589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誰的相對位置較高？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21844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價值分數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273685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1–100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651250"/>
              <a:ext cx="274396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同一比較池內的相對位置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不是成功機率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694" y="44640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不同對決不宜直接比較</a:t>
              </a:r>
            </a:p>
          </p:txBody>
        </p:sp>
      </p:grpSp>
      <p:grpSp>
        <p:nvGrpSpPr>
          <p:cNvPr id="18" name="difference"/>
          <p:cNvGrpSpPr/>
          <p:nvPr/>
        </p:nvGrpSpPr>
        <p:grpSpPr>
          <a:xfrm>
            <a:off x="4286250" y="1758950"/>
            <a:ext cx="2391537" cy="3086481"/>
            <a:chOff x="4286250" y="1758950"/>
            <a:chExt cx="2391537" cy="3086481"/>
          </a:xfrm>
        </p:grpSpPr>
        <p:sp>
          <p:nvSpPr>
            <p:cNvPr id="13" name="TextBox 13"/>
            <p:cNvSpPr txBox="1"/>
            <p:nvPr/>
          </p:nvSpPr>
          <p:spPr>
            <a:xfrm>
              <a:off x="4296918" y="17589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與現任差多少？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93108" y="21844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模型勝率差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86250" y="273685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rgbClr val="237A53"/>
                  </a:solidFill>
                  <a:latin typeface="+mn-lt"/>
                  <a:ea typeface="+mn-ea"/>
                  <a:cs typeface="+mn-cs"/>
                </a:rPr>
                <a:t>+0.34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95394" y="3651250"/>
              <a:ext cx="175336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單位：百分點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依當下局勢換算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95394" y="44640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相對同一位現任球員</a:t>
              </a:r>
            </a:p>
          </p:txBody>
        </p:sp>
      </p:grpSp>
      <p:grpSp>
        <p:nvGrpSpPr>
          <p:cNvPr id="24" name="uncertainty"/>
          <p:cNvGrpSpPr/>
          <p:nvPr/>
        </p:nvGrpSpPr>
        <p:grpSpPr>
          <a:xfrm>
            <a:off x="7984236" y="1758950"/>
            <a:ext cx="2503170" cy="3086481"/>
            <a:chOff x="7984236" y="1758950"/>
            <a:chExt cx="2503170" cy="3086481"/>
          </a:xfrm>
        </p:grpSpPr>
        <p:sp>
          <p:nvSpPr>
            <p:cNvPr id="19" name="TextBox 19"/>
            <p:cNvSpPr txBox="1"/>
            <p:nvPr/>
          </p:nvSpPr>
          <p:spPr>
            <a:xfrm>
              <a:off x="7992618" y="17589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估計有多不確定？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88808" y="218440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誤差線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84236" y="2927350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近似範圍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91094" y="3651250"/>
              <a:ext cx="249631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來自階層式估計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不是完整集成預測區間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91094" y="44640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也不是候選勝出機率</a:t>
              </a:r>
            </a:p>
          </p:txBody>
        </p:sp>
      </p:grpSp>
      <p:grpSp>
        <p:nvGrpSpPr>
          <p:cNvPr id="27" name="boundaries"/>
          <p:cNvGrpSpPr/>
          <p:nvPr/>
        </p:nvGrpSpPr>
        <p:grpSpPr>
          <a:xfrm>
            <a:off x="598932" y="5413375"/>
            <a:ext cx="6960394" cy="811657"/>
            <a:chOff x="598932" y="5413375"/>
            <a:chExt cx="6960394" cy="811657"/>
          </a:xfrm>
        </p:grpSpPr>
        <p:sp>
          <p:nvSpPr>
            <p:cNvPr id="25" name="TextBox 25"/>
            <p:cNvSpPr txBox="1"/>
            <p:nvPr/>
          </p:nvSpPr>
          <p:spPr>
            <a:xfrm>
              <a:off x="598932" y="541337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歷史回放僅使用決策日前的資料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1218" y="5902325"/>
              <a:ext cx="69581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2024–2025 資料原型；出賽名單、健康狀況與當場守位仍需人工確認。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number"/>
          <p:cNvGrpSpPr/>
          <p:nvPr/>
        </p:nvGrpSpPr>
        <p:grpSpPr>
          <a:xfrm>
            <a:off x="590550" y="1714500"/>
            <a:ext cx="1520638" cy="1905000"/>
            <a:chOff x="590550" y="1714500"/>
            <a:chExt cx="1520638" cy="190500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714500"/>
              <a:ext cx="1520638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6" name="chapter-heading"/>
          <p:cNvGrpSpPr/>
          <p:nvPr/>
        </p:nvGrpSpPr>
        <p:grpSpPr>
          <a:xfrm>
            <a:off x="3336036" y="1739900"/>
            <a:ext cx="5364480" cy="1204214"/>
            <a:chOff x="3336036" y="1739900"/>
            <a:chExt cx="5364480" cy="1204214"/>
          </a:xfrm>
        </p:grpSpPr>
        <p:sp>
          <p:nvSpPr>
            <p:cNvPr id="4" name="TextBox 4"/>
            <p:cNvSpPr txBox="1"/>
            <p:nvPr/>
          </p:nvSpPr>
          <p:spPr>
            <a:xfrm>
              <a:off x="3344418" y="17399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網站成果與決策體驗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36036" y="2298700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用一個打席，回答三個問題</a:t>
              </a:r>
            </a:p>
          </p:txBody>
        </p:sp>
      </p:grpSp>
      <p:grpSp>
        <p:nvGrpSpPr>
          <p:cNvPr id="9" name="chapter-summary"/>
          <p:cNvGrpSpPr/>
          <p:nvPr/>
        </p:nvGrpSpPr>
        <p:grpSpPr>
          <a:xfrm>
            <a:off x="3340608" y="3784600"/>
            <a:ext cx="3901440" cy="1211707"/>
            <a:chOff x="3340608" y="3784600"/>
            <a:chExt cx="3901440" cy="1211707"/>
          </a:xfrm>
        </p:grpSpPr>
        <p:sp>
          <p:nvSpPr>
            <p:cNvPr id="7" name="TextBox 7"/>
            <p:cNvSpPr txBox="1"/>
            <p:nvPr/>
          </p:nvSpPr>
          <p:spPr>
            <a:xfrm>
              <a:off x="3340608" y="378460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差多少、誰接守、憑什麼。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44418" y="4673600"/>
              <a:ext cx="3525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操作 Demo　／　案例　／　UI／UX</a:t>
              </a:r>
            </a:p>
          </p:txBody>
        </p:sp>
      </p:grpSp>
      <p:grpSp>
        <p:nvGrpSpPr>
          <p:cNvPr id="11" name="baseball"/>
          <p:cNvGrpSpPr/>
          <p:nvPr/>
        </p:nvGrpSpPr>
        <p:grpSpPr>
          <a:xfrm>
            <a:off x="9048750" y="4000500"/>
            <a:ext cx="2190750" cy="2190750"/>
            <a:chOff x="9048750" y="4000500"/>
            <a:chExt cx="2190750" cy="219075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8750" y="4000500"/>
              <a:ext cx="2190750" cy="2190750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017522" cy="645414"/>
            <a:chOff x="592836" y="546100"/>
            <a:chExt cx="6017522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01752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37 秒實錄：完成一次代打比較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pic>
        <p:nvPicPr>
          <p:cNvPr id="10" name="實際網站操作 Demo（點選播放，約37秒）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24000" y="144780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5808726" cy="645414"/>
            <a:chOff x="592836" y="546100"/>
            <a:chExt cx="5808726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先確認可用人選，再進行比較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lineup-step-one"/>
          <p:cNvGrpSpPr/>
          <p:nvPr/>
        </p:nvGrpSpPr>
        <p:grpSpPr>
          <a:xfrm>
            <a:off x="597408" y="1536700"/>
            <a:ext cx="2659167" cy="469392"/>
            <a:chOff x="597408" y="1536700"/>
            <a:chExt cx="2659167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1536700"/>
              <a:ext cx="26591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確認場上守位</a:t>
              </a:r>
            </a:p>
          </p:txBody>
        </p:sp>
      </p:grpSp>
      <p:grpSp>
        <p:nvGrpSpPr>
          <p:cNvPr id="10" name="field-focus"/>
          <p:cNvGrpSpPr/>
          <p:nvPr/>
        </p:nvGrpSpPr>
        <p:grpSpPr>
          <a:xfrm>
            <a:off x="609600" y="2095500"/>
            <a:ext cx="5200650" cy="3943350"/>
            <a:chOff x="609600" y="2095500"/>
            <a:chExt cx="5200650" cy="394335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2095500"/>
              <a:ext cx="5200650" cy="3943350"/>
            </a:xfrm>
            <a:prstGeom prst="rect">
              <a:avLst/>
            </a:prstGeom>
          </p:spPr>
        </p:pic>
      </p:grpSp>
      <p:grpSp>
        <p:nvGrpSpPr>
          <p:cNvPr id="12" name="lineup-step-two"/>
          <p:cNvGrpSpPr/>
          <p:nvPr/>
        </p:nvGrpSpPr>
        <p:grpSpPr>
          <a:xfrm>
            <a:off x="6369558" y="1536700"/>
            <a:ext cx="2982255" cy="469392"/>
            <a:chOff x="6369558" y="1536700"/>
            <a:chExt cx="2982255" cy="469392"/>
          </a:xfrm>
        </p:grpSpPr>
        <p:sp>
          <p:nvSpPr>
            <p:cNvPr id="11" name="TextBox 11"/>
            <p:cNvSpPr txBox="1"/>
            <p:nvPr/>
          </p:nvSpPr>
          <p:spPr>
            <a:xfrm>
              <a:off x="6369558" y="1536700"/>
              <a:ext cx="298225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調整棒次並套用</a:t>
              </a:r>
            </a:p>
          </p:txBody>
        </p:sp>
      </p:grpSp>
      <p:grpSp>
        <p:nvGrpSpPr>
          <p:cNvPr id="14" name="order-focus"/>
          <p:cNvGrpSpPr/>
          <p:nvPr/>
        </p:nvGrpSpPr>
        <p:grpSpPr>
          <a:xfrm>
            <a:off x="6381750" y="2152650"/>
            <a:ext cx="5200650" cy="2514600"/>
            <a:chOff x="6381750" y="2152650"/>
            <a:chExt cx="5200650" cy="2514600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1750" y="2152650"/>
              <a:ext cx="5200650" cy="2514600"/>
            </a:xfrm>
            <a:prstGeom prst="rect">
              <a:avLst/>
            </a:prstGeom>
          </p:spPr>
        </p:pic>
      </p:grpSp>
      <p:grpSp>
        <p:nvGrpSpPr>
          <p:cNvPr id="16" name="apply-focus"/>
          <p:cNvGrpSpPr/>
          <p:nvPr/>
        </p:nvGrpSpPr>
        <p:grpSpPr>
          <a:xfrm>
            <a:off x="6391133" y="4981575"/>
            <a:ext cx="5181884" cy="857250"/>
            <a:chOff x="6391133" y="4981575"/>
            <a:chExt cx="5181884" cy="8572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1133" y="4981575"/>
              <a:ext cx="5181884" cy="857250"/>
            </a:xfrm>
            <a:prstGeom prst="rect">
              <a:avLst/>
            </a:prstGeom>
          </p:spPr>
        </p:pic>
      </p:grpSp>
      <p:grpSp>
        <p:nvGrpSpPr>
          <p:cNvPr id="18" name="lineup-limit"/>
          <p:cNvGrpSpPr/>
          <p:nvPr/>
        </p:nvGrpSpPr>
        <p:grpSpPr>
          <a:xfrm>
            <a:off x="6373368" y="5988050"/>
            <a:ext cx="4237101" cy="322707"/>
            <a:chOff x="6373368" y="5988050"/>
            <a:chExt cx="4237101" cy="322707"/>
          </a:xfrm>
        </p:grpSpPr>
        <p:sp>
          <p:nvSpPr>
            <p:cNvPr id="17" name="TextBox 17"/>
            <p:cNvSpPr txBox="1"/>
            <p:nvPr/>
          </p:nvSpPr>
          <p:spPr>
            <a:xfrm>
              <a:off x="6373368" y="5988050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預設名單可調整；出賽名單由使用者確認。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只改候選人選，才看得出換人差距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fixed-title"/>
          <p:cNvGrpSpPr/>
          <p:nvPr/>
        </p:nvGrpSpPr>
        <p:grpSpPr>
          <a:xfrm>
            <a:off x="597408" y="1631950"/>
            <a:ext cx="2932176" cy="469392"/>
            <a:chOff x="597408" y="1631950"/>
            <a:chExt cx="2932176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163195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比較時固定三項條件</a:t>
              </a:r>
            </a:p>
          </p:txBody>
        </p:sp>
      </p:grpSp>
      <p:grpSp>
        <p:nvGrpSpPr>
          <p:cNvPr id="12" name="pitcher"/>
          <p:cNvGrpSpPr/>
          <p:nvPr/>
        </p:nvGrpSpPr>
        <p:grpSpPr>
          <a:xfrm>
            <a:off x="597408" y="2463800"/>
            <a:ext cx="1316736" cy="1369568"/>
            <a:chOff x="597408" y="2463800"/>
            <a:chExt cx="1316736" cy="1369568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638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7408" y="2841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對方投手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34226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鋼龍</a:t>
              </a:r>
            </a:p>
          </p:txBody>
        </p:sp>
      </p:grpSp>
      <p:grpSp>
        <p:nvGrpSpPr>
          <p:cNvPr id="16" name="situation"/>
          <p:cNvGrpSpPr/>
          <p:nvPr/>
        </p:nvGrpSpPr>
        <p:grpSpPr>
          <a:xfrm>
            <a:off x="4293108" y="2463800"/>
            <a:ext cx="2423160" cy="1718818"/>
            <a:chOff x="4293108" y="2463800"/>
            <a:chExt cx="2423160" cy="1718818"/>
          </a:xfrm>
        </p:grpSpPr>
        <p:sp>
          <p:nvSpPr>
            <p:cNvPr id="13" name="TextBox 13"/>
            <p:cNvSpPr txBox="1"/>
            <p:nvPr/>
          </p:nvSpPr>
          <p:spPr>
            <a:xfrm>
              <a:off x="4296918" y="24638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93108" y="2841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比賽局勢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94632" y="3371850"/>
              <a:ext cx="24216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局上，0 : 0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兩出局，二三壘有人</a:t>
              </a:r>
            </a:p>
          </p:txBody>
        </p:sp>
      </p:grpSp>
      <p:grpSp>
        <p:nvGrpSpPr>
          <p:cNvPr id="20" name="current"/>
          <p:cNvGrpSpPr/>
          <p:nvPr/>
        </p:nvGrpSpPr>
        <p:grpSpPr>
          <a:xfrm>
            <a:off x="7988808" y="2463800"/>
            <a:ext cx="1356360" cy="1718818"/>
            <a:chOff x="7988808" y="2463800"/>
            <a:chExt cx="1356360" cy="1718818"/>
          </a:xfrm>
        </p:grpSpPr>
        <p:sp>
          <p:nvSpPr>
            <p:cNvPr id="17" name="TextBox 17"/>
            <p:cNvSpPr txBox="1"/>
            <p:nvPr/>
          </p:nvSpPr>
          <p:spPr>
            <a:xfrm>
              <a:off x="7992618" y="24638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88808" y="2841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現任打者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90332" y="3371850"/>
              <a:ext cx="13548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林智平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目前守三壘</a:t>
              </a:r>
            </a:p>
          </p:txBody>
        </p:sp>
      </p:grpSp>
      <p:grpSp>
        <p:nvGrpSpPr>
          <p:cNvPr id="23" name="candidate-change"/>
          <p:cNvGrpSpPr/>
          <p:nvPr/>
        </p:nvGrpSpPr>
        <p:grpSpPr>
          <a:xfrm>
            <a:off x="597408" y="4699000"/>
            <a:ext cx="4870704" cy="867918"/>
            <a:chOff x="597408" y="4699000"/>
            <a:chExt cx="4870704" cy="867918"/>
          </a:xfrm>
        </p:grpSpPr>
        <p:sp>
          <p:nvSpPr>
            <p:cNvPr id="21" name="TextBox 21"/>
            <p:cNvSpPr txBox="1"/>
            <p:nvPr/>
          </p:nvSpPr>
          <p:spPr>
            <a:xfrm>
              <a:off x="597408" y="4699000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改變候選人選，與林智平續打比較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8932" y="5156200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廖健富　／　梁家榮　／　何品室融</a:t>
              </a:r>
            </a:p>
          </p:txBody>
        </p:sp>
      </p:grpSp>
      <p:grpSp>
        <p:nvGrpSpPr>
          <p:cNvPr id="25" name="condition-conclusion"/>
          <p:cNvGrpSpPr/>
          <p:nvPr/>
        </p:nvGrpSpPr>
        <p:grpSpPr>
          <a:xfrm>
            <a:off x="601218" y="5911850"/>
            <a:ext cx="6236208" cy="322707"/>
            <a:chOff x="601218" y="5911850"/>
            <a:chExt cx="6236208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01218" y="5911850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自訂示範情境；每位候選都使用相同的投手、局勢與比較基準。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5808726" cy="645414"/>
            <a:chOff x="592836" y="546100"/>
            <a:chExt cx="5808726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優勢有多大？還需要誰接守？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9" name="gain"/>
          <p:cNvGrpSpPr/>
          <p:nvPr/>
        </p:nvGrpSpPr>
        <p:grpSpPr>
          <a:xfrm>
            <a:off x="590550" y="1663700"/>
            <a:ext cx="3422142" cy="1445768"/>
            <a:chOff x="590550" y="1663700"/>
            <a:chExt cx="3422142" cy="1445768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1663700"/>
              <a:ext cx="1979762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b="1" dirty="0">
                  <a:solidFill>
                    <a:srgbClr val="237A53"/>
                  </a:solidFill>
                  <a:latin typeface="+mn-lt"/>
                  <a:ea typeface="+mn-ea"/>
                  <a:cs typeface="+mn-cs"/>
                </a:rPr>
                <a:t>+0.34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932" y="2698750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相對林智平，單位為百分點</a:t>
              </a:r>
            </a:p>
          </p:txBody>
        </p:sp>
      </p:grpSp>
      <p:grpSp>
        <p:nvGrpSpPr>
          <p:cNvPr id="12" name="cost"/>
          <p:cNvGrpSpPr/>
          <p:nvPr/>
        </p:nvGrpSpPr>
        <p:grpSpPr>
          <a:xfrm>
            <a:off x="6686550" y="1663700"/>
            <a:ext cx="3987546" cy="1445768"/>
            <a:chOff x="6686550" y="1663700"/>
            <a:chExt cx="3987546" cy="1445768"/>
          </a:xfrm>
        </p:grpSpPr>
        <p:sp>
          <p:nvSpPr>
            <p:cNvPr id="10" name="TextBox 10"/>
            <p:cNvSpPr txBox="1"/>
            <p:nvPr/>
          </p:nvSpPr>
          <p:spPr>
            <a:xfrm>
              <a:off x="6686550" y="1663700"/>
              <a:ext cx="1933415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+1 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94932" y="26987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廖健富代打後，需另安排三壘手</a:t>
              </a:r>
            </a:p>
          </p:txBody>
        </p:sp>
      </p:grpSp>
      <p:grpSp>
        <p:nvGrpSpPr>
          <p:cNvPr id="15" name="decision"/>
          <p:cNvGrpSpPr/>
          <p:nvPr/>
        </p:nvGrpSpPr>
        <p:grpSpPr>
          <a:xfrm>
            <a:off x="597408" y="3403600"/>
            <a:ext cx="6553185" cy="754507"/>
            <a:chOff x="597408" y="3403600"/>
            <a:chExt cx="6553185" cy="754507"/>
          </a:xfrm>
        </p:grpSpPr>
        <p:sp>
          <p:nvSpPr>
            <p:cNvPr id="13" name="TextBox 13"/>
            <p:cNvSpPr txBox="1"/>
            <p:nvPr/>
          </p:nvSpPr>
          <p:spPr>
            <a:xfrm>
              <a:off x="597408" y="3403600"/>
              <a:ext cx="655318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未達 1 百分點門檻，本例以林智平續打為主。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218" y="3835400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接守需求另列供人工判斷；模型差距不等於實際換人效益。</a:t>
              </a:r>
            </a:p>
          </p:txBody>
        </p:sp>
      </p:grpSp>
      <p:graphicFrame>
        <p:nvGraphicFramePr>
          <p:cNvPr id="16" name="candidate-grid"/>
          <p:cNvGraphicFramePr>
            <a:graphicFrameLocks noGrp="1"/>
          </p:cNvGraphicFramePr>
          <p:nvPr/>
        </p:nvGraphicFramePr>
        <p:xfrm>
          <a:off x="609600" y="4248150"/>
          <a:ext cx="10972800" cy="1714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90751"/>
                <a:gridCol w="2857500"/>
                <a:gridCol w="5924549"/>
              </a:tblGrid>
              <a:tr h="428625">
                <a:tc>
                  <a:txBody>
                    <a:bodyPr/>
                    <a:lstStyle/>
                    <a:p>
                      <a:pPr/>
                      <a:r>
                        <a:rPr lang="zh-TW" sz="1650" b="1">
                          <a:solidFill>
                            <a:srgbClr val="F7F5E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候選人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1">
                          <a:solidFill>
                            <a:srgbClr val="F7F5E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相對林智平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1">
                          <a:solidFill>
                            <a:srgbClr val="F7F5E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守備與資料提醒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廖健富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rgbClr val="237A5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+0.34 百分點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另需 1 人接守三壘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梁家榮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rgbClr val="237A5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+0.13 百分點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推估可接守三壘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何品室融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rgbClr val="237A5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+0.09 百分點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資料有限，另需接守人選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換投比較，把後續三棒一起算進來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9" name="bullpen-context"/>
          <p:cNvGrpSpPr/>
          <p:nvPr/>
        </p:nvGrpSpPr>
        <p:grpSpPr>
          <a:xfrm>
            <a:off x="599694" y="1568450"/>
            <a:ext cx="6772856" cy="732282"/>
            <a:chOff x="599694" y="1568450"/>
            <a:chExt cx="6772856" cy="732282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568450"/>
              <a:ext cx="67728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現任：魔神龍，95 球　｜　8 局上，0 : 0，兩出局二三壘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218" y="197802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後續三棒：郭天信、李凱威、吉力吉撈．鞏冠；本例樂天防守。</a:t>
              </a:r>
            </a:p>
          </p:txBody>
        </p:sp>
      </p:grpSp>
      <p:grpSp>
        <p:nvGrpSpPr>
          <p:cNvPr id="11" name="bullpen-chart"/>
          <p:cNvGrpSpPr/>
          <p:nvPr/>
        </p:nvGrpSpPr>
        <p:grpSpPr>
          <a:xfrm>
            <a:off x="613299" y="2457450"/>
            <a:ext cx="10965403" cy="2190750"/>
            <a:chOff x="613299" y="2457450"/>
            <a:chExt cx="10965403" cy="219075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3299" y="2457450"/>
              <a:ext cx="10965403" cy="2190750"/>
            </a:xfrm>
            <a:prstGeom prst="rect">
              <a:avLst/>
            </a:prstGeom>
          </p:spPr>
        </p:pic>
      </p:grpSp>
      <p:grpSp>
        <p:nvGrpSpPr>
          <p:cNvPr id="14" name="bullpen-best"/>
          <p:cNvGrpSpPr/>
          <p:nvPr/>
        </p:nvGrpSpPr>
        <p:grpSpPr>
          <a:xfrm>
            <a:off x="597408" y="5013325"/>
            <a:ext cx="3320689" cy="908431"/>
            <a:chOff x="597408" y="5013325"/>
            <a:chExt cx="3320689" cy="908431"/>
          </a:xfrm>
        </p:grpSpPr>
        <p:sp>
          <p:nvSpPr>
            <p:cNvPr id="12" name="TextBox 12"/>
            <p:cNvSpPr txBox="1"/>
            <p:nvPr/>
          </p:nvSpPr>
          <p:spPr>
            <a:xfrm>
              <a:off x="597408" y="5013325"/>
              <a:ext cx="332068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237A53"/>
                  </a:solidFill>
                  <a:latin typeface="+mn-lt"/>
                  <a:ea typeface="+mn-ea"/>
                  <a:cs typeface="+mn-cs"/>
                </a:rPr>
                <a:t>朱承洋　+2.51 百分點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694" y="55403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相對魔神龍的模型勝率差</a:t>
              </a:r>
            </a:p>
          </p:txBody>
        </p:sp>
      </p:grpSp>
      <p:grpSp>
        <p:nvGrpSpPr>
          <p:cNvPr id="17" name="bullpen-reminders"/>
          <p:cNvGrpSpPr/>
          <p:nvPr/>
        </p:nvGrpSpPr>
        <p:grpSpPr>
          <a:xfrm>
            <a:off x="6390132" y="5051425"/>
            <a:ext cx="3413760" cy="1075182"/>
            <a:chOff x="6390132" y="5051425"/>
            <a:chExt cx="3413760" cy="1075182"/>
          </a:xfrm>
        </p:grpSpPr>
        <p:sp>
          <p:nvSpPr>
            <p:cNvPr id="15" name="TextBox 15"/>
            <p:cNvSpPr txBox="1"/>
            <p:nvPr/>
          </p:nvSpPr>
          <p:spPr>
            <a:xfrm>
              <a:off x="6390132" y="505142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候選差距與資料提醒一起看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2418" y="5480050"/>
              <a:ext cx="16931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陳冠宇：模型分歧</a:t>
              </a:r>
              <a:b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盧冠宇：資料有限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252972" cy="645414"/>
            <a:chOff x="592836" y="546100"/>
            <a:chExt cx="6252972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比例有變，為什麼仍暫不判定？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sample-screen"/>
          <p:cNvGrpSpPr/>
          <p:nvPr/>
        </p:nvGrpSpPr>
        <p:grpSpPr>
          <a:xfrm>
            <a:off x="609600" y="1581150"/>
            <a:ext cx="4572000" cy="3533775"/>
            <a:chOff x="609600" y="1581150"/>
            <a:chExt cx="4572000" cy="3533775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29474" t="51515" r="37053" b="11212"/>
            <a:stretch>
              <a:fillRect/>
            </a:stretch>
          </p:blipFill>
          <p:spPr>
            <a:xfrm>
              <a:off x="609600" y="1581150"/>
              <a:ext cx="4572000" cy="3533775"/>
            </a:xfrm>
            <a:prstGeom prst="rect">
              <a:avLst/>
            </a:prstGeom>
          </p:spPr>
        </p:pic>
      </p:grpSp>
      <p:grpSp>
        <p:nvGrpSpPr>
          <p:cNvPr id="13" name="sample-reading"/>
          <p:cNvGrpSpPr/>
          <p:nvPr/>
        </p:nvGrpSpPr>
        <p:grpSpPr>
          <a:xfrm>
            <a:off x="5645658" y="1765300"/>
            <a:ext cx="4556760" cy="3731768"/>
            <a:chOff x="5645658" y="1765300"/>
            <a:chExt cx="4556760" cy="3731768"/>
          </a:xfrm>
        </p:grpSpPr>
        <p:sp>
          <p:nvSpPr>
            <p:cNvPr id="9" name="TextBox 9"/>
            <p:cNvSpPr txBox="1"/>
            <p:nvPr/>
          </p:nvSpPr>
          <p:spPr>
            <a:xfrm>
              <a:off x="5645658" y="17653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王凱程面對左打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47182" y="2400300"/>
              <a:ext cx="263499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基準期　10 場、93 球</a:t>
              </a:r>
              <a:b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近期　　 5 場、28 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45658" y="365125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比例雖有差異，樣本仍不足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47182" y="4286250"/>
              <a:ext cx="4555236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保留樣本與比例，顯示「暫不判定」。</a:t>
              </a:r>
              <a:b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近期配球僅供同條件下的解讀，</a:t>
              </a:r>
              <a:b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目前不直接調整候選分數。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歷史回放，對照建議、調度與結果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replay-source"/>
          <p:cNvGrpSpPr/>
          <p:nvPr/>
        </p:nvGrpSpPr>
        <p:grpSpPr>
          <a:xfrm>
            <a:off x="599694" y="1511300"/>
            <a:ext cx="6757762" cy="381381"/>
            <a:chOff x="599694" y="1511300"/>
            <a:chExt cx="6757762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511300"/>
              <a:ext cx="67577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2025-09-27　中信對樂天，7 局下　｜　林政華對王凱程</a:t>
              </a:r>
            </a:p>
          </p:txBody>
        </p:sp>
      </p:grpSp>
      <p:grpSp>
        <p:nvGrpSpPr>
          <p:cNvPr id="10" name="replay-context"/>
          <p:cNvGrpSpPr/>
          <p:nvPr/>
        </p:nvGrpSpPr>
        <p:grpSpPr>
          <a:xfrm>
            <a:off x="609600" y="2028825"/>
            <a:ext cx="6667500" cy="2181225"/>
            <a:chOff x="609600" y="2028825"/>
            <a:chExt cx="6667500" cy="218122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2028825"/>
              <a:ext cx="6667500" cy="2181225"/>
            </a:xfrm>
            <a:prstGeom prst="rect">
              <a:avLst/>
            </a:prstGeom>
          </p:spPr>
        </p:pic>
      </p:grpSp>
      <p:grpSp>
        <p:nvGrpSpPr>
          <p:cNvPr id="14" name="replay-message"/>
          <p:cNvGrpSpPr/>
          <p:nvPr/>
        </p:nvGrpSpPr>
        <p:grpSpPr>
          <a:xfrm>
            <a:off x="7722108" y="2136775"/>
            <a:ext cx="2384679" cy="1784731"/>
            <a:chOff x="7722108" y="2136775"/>
            <a:chExt cx="2384679" cy="1784731"/>
          </a:xfrm>
        </p:grpSpPr>
        <p:sp>
          <p:nvSpPr>
            <p:cNvPr id="11" name="TextBox 11"/>
            <p:cNvSpPr txBox="1"/>
            <p:nvPr/>
          </p:nvSpPr>
          <p:spPr>
            <a:xfrm>
              <a:off x="7722108" y="213677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回到當時的資訊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24394" y="2676525"/>
              <a:ext cx="224866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TW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對照模型與實際調度</a:t>
              </a:r>
              <a:br>
                <a:rPr lang="zh-TW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單一打席結果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24394" y="354012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不足以判定調度優劣</a:t>
              </a:r>
            </a:p>
          </p:txBody>
        </p:sp>
      </p:grpSp>
      <p:grpSp>
        <p:nvGrpSpPr>
          <p:cNvPr id="17" name="model-choice"/>
          <p:cNvGrpSpPr/>
          <p:nvPr/>
        </p:nvGrpSpPr>
        <p:grpSpPr>
          <a:xfrm>
            <a:off x="598932" y="4702175"/>
            <a:ext cx="2282952" cy="836168"/>
            <a:chOff x="598932" y="4702175"/>
            <a:chExt cx="2282952" cy="836168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47021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模型建議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8932" y="512762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以林政華續打為主</a:t>
              </a:r>
            </a:p>
          </p:txBody>
        </p:sp>
      </p:grpSp>
      <p:grpSp>
        <p:nvGrpSpPr>
          <p:cNvPr id="20" name="actual-choice"/>
          <p:cNvGrpSpPr/>
          <p:nvPr/>
        </p:nvGrpSpPr>
        <p:grpSpPr>
          <a:xfrm>
            <a:off x="4294632" y="4702175"/>
            <a:ext cx="1434846" cy="836168"/>
            <a:chOff x="4294632" y="4702175"/>
            <a:chExt cx="1434846" cy="836168"/>
          </a:xfrm>
        </p:grpSpPr>
        <p:sp>
          <p:nvSpPr>
            <p:cNvPr id="18" name="TextBox 18"/>
            <p:cNvSpPr txBox="1"/>
            <p:nvPr/>
          </p:nvSpPr>
          <p:spPr>
            <a:xfrm>
              <a:off x="4296918" y="47021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實際調度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94632" y="512762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余德龍代打</a:t>
              </a:r>
            </a:p>
          </p:txBody>
        </p:sp>
      </p:grpSp>
      <p:grpSp>
        <p:nvGrpSpPr>
          <p:cNvPr id="23" name="actual-result"/>
          <p:cNvGrpSpPr/>
          <p:nvPr/>
        </p:nvGrpSpPr>
        <p:grpSpPr>
          <a:xfrm>
            <a:off x="7990332" y="4702175"/>
            <a:ext cx="907542" cy="836168"/>
            <a:chOff x="7990332" y="4702175"/>
            <a:chExt cx="907542" cy="836168"/>
          </a:xfrm>
        </p:grpSpPr>
        <p:sp>
          <p:nvSpPr>
            <p:cNvPr id="21" name="TextBox 21"/>
            <p:cNvSpPr txBox="1"/>
            <p:nvPr/>
          </p:nvSpPr>
          <p:spPr>
            <a:xfrm>
              <a:off x="7992618" y="47021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打席結果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90332" y="512762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出局</a:t>
              </a:r>
            </a:p>
          </p:txBody>
        </p:sp>
      </p:grpSp>
      <p:grpSp>
        <p:nvGrpSpPr>
          <p:cNvPr id="25" name="replay-limit"/>
          <p:cNvGrpSpPr/>
          <p:nvPr/>
        </p:nvGrpSpPr>
        <p:grpSpPr>
          <a:xfrm>
            <a:off x="601218" y="5921375"/>
            <a:ext cx="5569839" cy="322707"/>
            <a:chOff x="601218" y="5921375"/>
            <a:chExt cx="5569839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01218" y="592137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已匯出的代打情境可完整評估；其他打席保留事件資訊。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5808726" cy="645414"/>
            <a:chOff x="592836" y="546100"/>
            <a:chExt cx="5808726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先設局勢，再讀摘要、查明細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0" name="ux-screen"/>
          <p:cNvGrpSpPr/>
          <p:nvPr/>
        </p:nvGrpSpPr>
        <p:grpSpPr>
          <a:xfrm>
            <a:off x="609600" y="1466850"/>
            <a:ext cx="10972800" cy="3921166"/>
            <a:chOff x="609600" y="1466850"/>
            <a:chExt cx="10972800" cy="3921166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1684" t="34343" r="71930" b="16566"/>
            <a:stretch>
              <a:fillRect/>
            </a:stretch>
          </p:blipFill>
          <p:spPr>
            <a:xfrm>
              <a:off x="609600" y="1466850"/>
              <a:ext cx="3033655" cy="3921166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00475" y="1466850"/>
              <a:ext cx="7781925" cy="2019300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00475" y="3676650"/>
              <a:ext cx="7781925" cy="1647825"/>
            </a:xfrm>
            <a:prstGeom prst="rect">
              <a:avLst/>
            </a:prstGeom>
          </p:spPr>
        </p:pic>
      </p:grpSp>
      <p:grpSp>
        <p:nvGrpSpPr>
          <p:cNvPr id="13" name="layout-purpose"/>
          <p:cNvGrpSpPr/>
          <p:nvPr/>
        </p:nvGrpSpPr>
        <p:grpSpPr>
          <a:xfrm>
            <a:off x="597408" y="5556250"/>
            <a:ext cx="2463927" cy="792607"/>
            <a:chOff x="597408" y="5556250"/>
            <a:chExt cx="2463927" cy="792607"/>
          </a:xfrm>
        </p:grpSpPr>
        <p:sp>
          <p:nvSpPr>
            <p:cNvPr id="11" name="TextBox 11"/>
            <p:cNvSpPr txBox="1"/>
            <p:nvPr/>
          </p:nvSpPr>
          <p:spPr>
            <a:xfrm>
              <a:off x="597408" y="5556250"/>
              <a:ext cx="20129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設定局勢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218" y="602615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左側保留設定，方便對照</a:t>
              </a:r>
            </a:p>
          </p:txBody>
        </p:sp>
      </p:grpSp>
      <p:grpSp>
        <p:nvGrpSpPr>
          <p:cNvPr id="16" name="hierarchy-purpose"/>
          <p:cNvGrpSpPr/>
          <p:nvPr/>
        </p:nvGrpSpPr>
        <p:grpSpPr>
          <a:xfrm>
            <a:off x="4445508" y="5556250"/>
            <a:ext cx="2336079" cy="792607"/>
            <a:chOff x="4445508" y="5556250"/>
            <a:chExt cx="2336079" cy="792607"/>
          </a:xfrm>
        </p:grpSpPr>
        <p:sp>
          <p:nvSpPr>
            <p:cNvPr id="14" name="TextBox 14"/>
            <p:cNvSpPr txBox="1"/>
            <p:nvPr/>
          </p:nvSpPr>
          <p:spPr>
            <a:xfrm>
              <a:off x="4445508" y="5556250"/>
              <a:ext cx="23360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讀調度摘要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9318" y="602615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先看續打或換人的判讀</a:t>
              </a:r>
            </a:p>
          </p:txBody>
        </p:sp>
      </p:grpSp>
      <p:grpSp>
        <p:nvGrpSpPr>
          <p:cNvPr id="19" name="baseline-purpose"/>
          <p:cNvGrpSpPr/>
          <p:nvPr/>
        </p:nvGrpSpPr>
        <p:grpSpPr>
          <a:xfrm>
            <a:off x="8293608" y="5556250"/>
            <a:ext cx="2336079" cy="792607"/>
            <a:chOff x="8293608" y="5556250"/>
            <a:chExt cx="2336079" cy="792607"/>
          </a:xfrm>
        </p:grpSpPr>
        <p:sp>
          <p:nvSpPr>
            <p:cNvPr id="17" name="TextBox 17"/>
            <p:cNvSpPr txBox="1"/>
            <p:nvPr/>
          </p:nvSpPr>
          <p:spPr>
            <a:xfrm>
              <a:off x="8293608" y="5556250"/>
              <a:ext cx="23360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　查候選明細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97418" y="602615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再比較人選差距與提醒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提醒放在人選旁，判斷時就看得見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cover-screen"/>
          <p:cNvGrpSpPr/>
          <p:nvPr/>
        </p:nvGrpSpPr>
        <p:grpSpPr>
          <a:xfrm>
            <a:off x="1226218" y="1733550"/>
            <a:ext cx="2767263" cy="1143000"/>
            <a:chOff x="1226218" y="1733550"/>
            <a:chExt cx="2767263" cy="1143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6218" y="1733550"/>
              <a:ext cx="2767263" cy="1143000"/>
            </a:xfrm>
            <a:prstGeom prst="rect">
              <a:avLst/>
            </a:prstGeom>
          </p:spPr>
        </p:pic>
      </p:grpSp>
      <p:grpSp>
        <p:nvGrpSpPr>
          <p:cNvPr id="12" name="cover-reading"/>
          <p:cNvGrpSpPr/>
          <p:nvPr/>
        </p:nvGrpSpPr>
        <p:grpSpPr>
          <a:xfrm>
            <a:off x="5247132" y="1727200"/>
            <a:ext cx="4261866" cy="1020318"/>
            <a:chOff x="5247132" y="1727200"/>
            <a:chExt cx="4261866" cy="1020318"/>
          </a:xfrm>
        </p:grpSpPr>
        <p:sp>
          <p:nvSpPr>
            <p:cNvPr id="9" name="TextBox 9"/>
            <p:cNvSpPr txBox="1"/>
            <p:nvPr/>
          </p:nvSpPr>
          <p:spPr>
            <a:xfrm>
              <a:off x="5249418" y="17780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17108" y="17272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接守需求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7132" y="233680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提醒代打後還需要安排哪個守位。</a:t>
              </a:r>
            </a:p>
          </p:txBody>
        </p:sp>
      </p:grpSp>
      <p:grpSp>
        <p:nvGrpSpPr>
          <p:cNvPr id="14" name="model-screen"/>
          <p:cNvGrpSpPr/>
          <p:nvPr/>
        </p:nvGrpSpPr>
        <p:grpSpPr>
          <a:xfrm>
            <a:off x="609600" y="3276600"/>
            <a:ext cx="4000500" cy="1181100"/>
            <a:chOff x="609600" y="3276600"/>
            <a:chExt cx="4000500" cy="1181100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3276600"/>
              <a:ext cx="4000500" cy="1181100"/>
            </a:xfrm>
            <a:prstGeom prst="rect">
              <a:avLst/>
            </a:prstGeom>
          </p:spPr>
        </p:pic>
      </p:grpSp>
      <p:grpSp>
        <p:nvGrpSpPr>
          <p:cNvPr id="18" name="model-reading"/>
          <p:cNvGrpSpPr/>
          <p:nvPr/>
        </p:nvGrpSpPr>
        <p:grpSpPr>
          <a:xfrm>
            <a:off x="5247132" y="3270250"/>
            <a:ext cx="3979164" cy="1020318"/>
            <a:chOff x="5247132" y="3270250"/>
            <a:chExt cx="3979164" cy="1020318"/>
          </a:xfrm>
        </p:grpSpPr>
        <p:sp>
          <p:nvSpPr>
            <p:cNvPr id="15" name="TextBox 15"/>
            <p:cNvSpPr txBox="1"/>
            <p:nvPr/>
          </p:nvSpPr>
          <p:spPr>
            <a:xfrm>
              <a:off x="5249418" y="332105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17108" y="32702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模型分歧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7132" y="38798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標示估計結果存在分歧的人選。</a:t>
              </a:r>
            </a:p>
          </p:txBody>
        </p:sp>
      </p:grpSp>
      <p:grpSp>
        <p:nvGrpSpPr>
          <p:cNvPr id="20" name="sample-screen"/>
          <p:cNvGrpSpPr/>
          <p:nvPr/>
        </p:nvGrpSpPr>
        <p:grpSpPr>
          <a:xfrm>
            <a:off x="621030" y="4819650"/>
            <a:ext cx="3977640" cy="1200150"/>
            <a:chOff x="621030" y="4819650"/>
            <a:chExt cx="3977640" cy="1200150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030" y="4819650"/>
              <a:ext cx="3977640" cy="1200150"/>
            </a:xfrm>
            <a:prstGeom prst="rect">
              <a:avLst/>
            </a:prstGeom>
          </p:spPr>
        </p:pic>
      </p:grpSp>
      <p:grpSp>
        <p:nvGrpSpPr>
          <p:cNvPr id="24" name="sample-reading"/>
          <p:cNvGrpSpPr/>
          <p:nvPr/>
        </p:nvGrpSpPr>
        <p:grpSpPr>
          <a:xfrm>
            <a:off x="5247132" y="4813300"/>
            <a:ext cx="4261866" cy="1020318"/>
            <a:chOff x="5247132" y="4813300"/>
            <a:chExt cx="4261866" cy="1020318"/>
          </a:xfrm>
        </p:grpSpPr>
        <p:sp>
          <p:nvSpPr>
            <p:cNvPr id="21" name="TextBox 21"/>
            <p:cNvSpPr txBox="1"/>
            <p:nvPr/>
          </p:nvSpPr>
          <p:spPr>
            <a:xfrm>
              <a:off x="5249418" y="48641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17108" y="48133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資料有限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47132" y="542290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比較差距時，同步看見樣本限制。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"/>
          <p:cNvGrpSpPr/>
          <p:nvPr/>
        </p:nvGrpSpPr>
        <p:grpSpPr>
          <a:xfrm>
            <a:off x="590550" y="1390650"/>
            <a:ext cx="6553200" cy="2114550"/>
            <a:chOff x="590550" y="1390650"/>
            <a:chExt cx="6553200" cy="21145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390650"/>
              <a:ext cx="6553200" cy="2114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950"/>
                </a:lnSpc>
              </a:pPr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換人之前，</a:t>
              </a:r>
              <a:b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先看清差距與代價。</a:t>
              </a:r>
            </a:p>
          </p:txBody>
        </p:sp>
      </p:grpSp>
      <p:grpSp>
        <p:nvGrpSpPr>
          <p:cNvPr id="6" name="team"/>
          <p:cNvGrpSpPr/>
          <p:nvPr/>
        </p:nvGrpSpPr>
        <p:grpSpPr>
          <a:xfrm>
            <a:off x="592836" y="3822700"/>
            <a:ext cx="1723644" cy="1134618"/>
            <a:chOff x="592836" y="3822700"/>
            <a:chExt cx="1723644" cy="1134618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3822700"/>
              <a:ext cx="9220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隊名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932" y="45466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蘇櫟、陳信安</a:t>
              </a:r>
            </a:p>
          </p:txBody>
        </p:sp>
      </p:grpSp>
      <p:grpSp>
        <p:nvGrpSpPr>
          <p:cNvPr id="8" name="baseball"/>
          <p:cNvGrpSpPr/>
          <p:nvPr/>
        </p:nvGrpSpPr>
        <p:grpSpPr>
          <a:xfrm>
            <a:off x="8858250" y="3524250"/>
            <a:ext cx="2762250" cy="2762250"/>
            <a:chOff x="8858250" y="3524250"/>
            <a:chExt cx="2762250" cy="276225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3524250"/>
              <a:ext cx="2762250" cy="2762250"/>
            </a:xfrm>
            <a:prstGeom prst="rect">
              <a:avLst/>
            </a:prstGeom>
          </p:spPr>
        </p:pic>
      </p:grpSp>
      <p:grpSp>
        <p:nvGrpSpPr>
          <p:cNvPr id="11" name="links"/>
          <p:cNvGrpSpPr/>
          <p:nvPr/>
        </p:nvGrpSpPr>
        <p:grpSpPr>
          <a:xfrm>
            <a:off x="597408" y="5384800"/>
            <a:ext cx="5732953" cy="469392"/>
            <a:chOff x="597408" y="5384800"/>
            <a:chExt cx="5732953" cy="469392"/>
          </a:xfrm>
        </p:grpSpPr>
        <p:sp>
          <p:nvSpPr>
            <p:cNvPr id="9" name="TextBox 9">
              <a:hlinkClick r:id="rId3"/>
            </p:cNvPr>
            <p:cNvSpPr txBox="1"/>
            <p:nvPr/>
          </p:nvSpPr>
          <p:spPr>
            <a:xfrm>
              <a:off x="597408" y="5384800"/>
              <a:ext cx="22456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開啟網站 Demo</a:t>
              </a:r>
            </a:p>
          </p:txBody>
        </p:sp>
        <p:sp>
          <p:nvSpPr>
            <p:cNvPr id="10" name="TextBox 10">
              <a:hlinkClick r:id="rId4"/>
            </p:cNvPr>
            <p:cNvSpPr txBox="1"/>
            <p:nvPr/>
          </p:nvSpPr>
          <p:spPr>
            <a:xfrm>
              <a:off x="4178808" y="5384800"/>
              <a:ext cx="21515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GitHub 原始碼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eball_competition_polished19">
  <a:themeElements>
    <a:clrScheme name="baseball_competition_polished19">
      <a:dk1>
        <a:srgbClr val="1D2934"/>
      </a:dk1>
      <a:lt1>
        <a:srgbClr val="F7F5EF"/>
      </a:lt1>
      <a:dk2>
        <a:srgbClr val="1F497D"/>
      </a:dk2>
      <a:lt2>
        <a:srgbClr val="ECE5D9"/>
      </a:lt2>
      <a:accent1>
        <a:srgbClr val="18344A"/>
      </a:accent1>
      <a:accent2>
        <a:srgbClr val="B54836"/>
      </a:accent2>
      <a:accent3>
        <a:srgbClr val="9A6118"/>
      </a:accent3>
      <a:accent4>
        <a:srgbClr val="18344A"/>
      </a:accent4>
      <a:accent5>
        <a:srgbClr val="58616B"/>
      </a:accent5>
      <a:accent6>
        <a:srgbClr val="D7D1C5"/>
      </a:accent6>
      <a:hlink>
        <a:srgbClr val="B54836"/>
      </a:hlink>
      <a:folHlink>
        <a:srgbClr val="9A6118"/>
      </a:folHlink>
    </a:clrScheme>
    <a:fontScheme name="baseball_competition_polished19">
      <a:majorFont>
        <a:latin typeface="Arial"/>
        <a:ea typeface="Microsoft JhengHei"/>
        <a:cs typeface="Arial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JhengHei"/>
        <a:cs typeface="Arial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ball_competition_polished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2026-10-15T13:31:12Z</dcterms:created>
  <dcterms:modified xsi:type="dcterms:W3CDTF">2026-10-15T13:31:12Z</dcterms:modified>
  <cp:category/>
  <cp:contentStatus/>
</cp:coreProperties>
</file>